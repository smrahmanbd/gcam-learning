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bcbc523-3bad-699d-17e0-9bfd0d067d30}">
          <p14:sldIdLst>
            <p14:sldId id="256"/>
            <p14:sldId id="257"/>
            <p14:sldId id="258"/>
          </p14:sldIdLst>
        </p14:section>
        <p14:section name="Lecture" id="{e2080b96-9327-5e7a-4985-e22574d3c27a}">
          <p14:sldIdLst>
            <p14:sldId id="259"/>
            <p14:sldId id="260"/>
            <p14:sldId id="261"/>
            <p14:sldId id="262"/>
            <p14:sldId id="263"/>
            <p14:sldId id="264"/>
            <p14:sldId id="265"/>
            <p14:sldId id="266"/>
            <p14:sldId id="267"/>
            <p14:sldId id="268"/>
            <p14:sldId id="269"/>
            <p14:sldId id="270"/>
            <p14:sldId id="271"/>
          </p14:sldIdLst>
        </p14:section>
        <p14:section name="Lab" id="{9b8e7aae-49b3-1e4a-9ea2-ce1082b4c569}">
          <p14:sldIdLst>
            <p14:sldId id="272"/>
            <p14:sldId id="273"/>
            <p14:sldId id="274"/>
            <p14:sldId id="275"/>
            <p14:sldId id="276"/>
            <p14:sldId id="277"/>
          </p14:sldIdLst>
        </p14:section>
        <p14:section name="Recap" id="{4e3e7c52-de24-bff6-8746-9f4cfb2c5541}">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15: Project presentations and course review. Your study, presented, and the whole course in one view. Today has two halves: a lecture that builds the idea step by step with everyday examples, then a guided lab where we try it in R. Nobody is expected to know the material already. New R skill this week: Rerunning the whole project from a clean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15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Can you state the 'if' of your scenario study so clearly that a non-specialist could argue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each team to say its 'if' in one sentence before presenting. Set the order of presentations in advance and keep time strictly, so that every team gets questions. Leave the last twenty minutes for the review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quickly and ask for one thing students would now explain differently than in week 1. The R line of this stage went from installing packages to tidy data and R Markdown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explain the logit choice in one sentence, then another to explain why GCAM solves one period at a time. These are the two ideas that make GCAM different from the week 4 toy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how the R line grew in this stage: lpSolve, sourced functions and Git, batch runs and rpart, then polished figures. Invite feedback on which labs needed more time; that is the most useful input for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thread of the whole course. Most graduates will read model results far more often than they produce them, so the habit of asking what was assumed is the most lasting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team to place its main finding in the left column and its biggest limitation in the right one. That pair is a good final slide for any project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fifth part is the one most often left thin. Remind teams that the code is part of the hand-in: another person should be able to rerun the analysis from the folder, which is the week 12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the talk on whether a non-specialist could repeat the main finding afterwards, not on the amount of model detail. Three to five figures are enough; advise teams to cut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times are illustrative. Writing the run list down keeps a project small enough to finish. Results to compare: CO2 path, carbon price, carbon removal in 2050 and cumulative CO2, all as differences from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the difference from Reference. A level on its own does not show what the policy did. Every result should be read against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difference from Reference. A level on its own does not show what the policy did. Every result should be read against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last check with each team before its talk. The third one catches most hand-in problems: objects left in a session and file paths that only exist on one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Make sure your talk fits 15 minutes, your figures state findings, and your code rebuilds the whole report in a fresh R session.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reproducibility test used all term. A failure here usually means a library or a file read is missing from the report itself. Adjust the report file name to the team's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team to read its chart titles aloud in order. If the titles alone tell the story, the talk will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nearly always run long on model description. The audience needs the 'if', the finding and the limits, not the inside of GCAM.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each audience team to prepare a question keeps everyone engaged and practises the critical reading skill of stage 3. Decide before the day how questions are handled and tell the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Present a scenario study to a non-specialist audience in 15 minutes; Summarise each stage of the course in a few plain sentences; Say what IAMs can and cannot tell us, using your own project; Hand in code that rebuilds every figure in a fresh R session. Ask students to rate themselves on each. Then point to next week: The course ends here. Keep your project repository: it is a complete, reproducible scenario study you can show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15 · Project presentations and course review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15 · Project presentations and course review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7.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Project presentations and course review</a:t>
            </a:r>
            <a:endParaRPr lang="en-US" sz="3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15 OF 15  ·  STAGE 3: ADVANCED METHODS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Your study, presented, and the whole course in one view</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800" b="1" dirty="0">
                <a:solidFill>
                  <a:srgbClr val="6FD3C7"/>
                </a:solidFill>
                <a:latin typeface="Calibri" pitchFamily="34" charset="0"/>
                <a:ea typeface="Calibri" pitchFamily="34" charset="-122"/>
                <a:cs typeface="Calibri" pitchFamily="34" charset="-120"/>
              </a:rPr>
              <a:t>New R skill  </a:t>
            </a:r>
            <a:pPr indent="0" marL="0">
              <a:buNone/>
            </a:pPr>
            <a:r>
              <a:rPr lang="en-US" sz="1800" dirty="0">
                <a:solidFill>
                  <a:srgbClr val="FFFFFF"/>
                </a:solidFill>
                <a:latin typeface="Calibri" pitchFamily="34" charset="0"/>
                <a:ea typeface="Calibri" pitchFamily="34" charset="-122"/>
                <a:cs typeface="Calibri" pitchFamily="34" charset="-120"/>
              </a:rPr>
              <a:t>Rerunning the whole project from a clean session</a:t>
            </a:r>
            <a:endParaRPr lang="en-US" sz="18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9E4DF"/>
          </a:solidFill>
          <a:ln w="12700">
            <a:solidFill>
              <a:srgbClr val="C9E4DF"/>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C9E4DF"/>
          </a:solidFill>
          <a:ln w="12700">
            <a:solidFill>
              <a:srgbClr val="C9E4DF"/>
            </a:solidFill>
            <a:prstDash val="solid"/>
          </a:ln>
        </p:spPr>
      </p:sp>
      <p:sp>
        <p:nvSpPr>
          <p:cNvPr id="37" name="Text 34"/>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38" name="Text 35"/>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39" name="Text 36"/>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0" name="Text 37"/>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1" name="week tile"/>
          <p:cNvSpPr/>
          <p:nvPr/>
        </p:nvSpPr>
        <p:spPr>
          <a:xfrm>
            <a:off x="2468880" y="4617720"/>
            <a:ext cx="1414729" cy="1188720"/>
          </a:xfrm>
          <a:prstGeom prst="roundRect">
            <a:avLst>
              <a:gd name="adj" fmla="val 9231"/>
            </a:avLst>
          </a:prstGeom>
          <a:solidFill>
            <a:srgbClr val="C9E4DF"/>
          </a:solidFill>
          <a:ln w="12700">
            <a:solidFill>
              <a:srgbClr val="C9E4DF"/>
            </a:solidFill>
            <a:prstDash val="solid"/>
          </a:ln>
        </p:spPr>
      </p:sp>
      <p:sp>
        <p:nvSpPr>
          <p:cNvPr id="42" name="Text 39"/>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3" name="Text 40"/>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4" name="week tile"/>
          <p:cNvSpPr/>
          <p:nvPr/>
        </p:nvSpPr>
        <p:spPr>
          <a:xfrm>
            <a:off x="4020769" y="4617720"/>
            <a:ext cx="1414729" cy="1188720"/>
          </a:xfrm>
          <a:prstGeom prst="roundRect">
            <a:avLst>
              <a:gd name="adj" fmla="val 9231"/>
            </a:avLst>
          </a:prstGeom>
          <a:solidFill>
            <a:srgbClr val="C9E4DF"/>
          </a:solidFill>
          <a:ln w="12700">
            <a:solidFill>
              <a:srgbClr val="C9E4DF"/>
            </a:solidFill>
            <a:prstDash val="solid"/>
          </a:ln>
        </p:spPr>
      </p:sp>
      <p:sp>
        <p:nvSpPr>
          <p:cNvPr id="45" name="Text 42"/>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46" name="Text 43"/>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47" name="week tile"/>
          <p:cNvSpPr/>
          <p:nvPr/>
        </p:nvSpPr>
        <p:spPr>
          <a:xfrm>
            <a:off x="5572658" y="4617720"/>
            <a:ext cx="1414729" cy="1188720"/>
          </a:xfrm>
          <a:prstGeom prst="roundRect">
            <a:avLst>
              <a:gd name="adj" fmla="val 9231"/>
            </a:avLst>
          </a:prstGeom>
          <a:solidFill>
            <a:srgbClr val="C9E4DF"/>
          </a:solidFill>
          <a:ln w="12700">
            <a:solidFill>
              <a:srgbClr val="C9E4DF"/>
            </a:solidFill>
            <a:prstDash val="solid"/>
          </a:ln>
        </p:spPr>
      </p:sp>
      <p:sp>
        <p:nvSpPr>
          <p:cNvPr id="48" name="Text 45"/>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49" name="Text 46"/>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0" name="week tile"/>
          <p:cNvSpPr/>
          <p:nvPr/>
        </p:nvSpPr>
        <p:spPr>
          <a:xfrm>
            <a:off x="7124548" y="4617720"/>
            <a:ext cx="1414729" cy="1188720"/>
          </a:xfrm>
          <a:prstGeom prst="roundRect">
            <a:avLst>
              <a:gd name="adj" fmla="val 9231"/>
            </a:avLst>
          </a:prstGeom>
          <a:solidFill>
            <a:srgbClr val="C9E4DF"/>
          </a:solidFill>
          <a:ln w="12700">
            <a:solidFill>
              <a:srgbClr val="C9E4DF"/>
            </a:solidFill>
            <a:prstDash val="solid"/>
          </a:ln>
        </p:spPr>
      </p:sp>
      <p:sp>
        <p:nvSpPr>
          <p:cNvPr id="51" name="Text 48"/>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2" name="Text 49"/>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3" name="week tile"/>
          <p:cNvSpPr/>
          <p:nvPr/>
        </p:nvSpPr>
        <p:spPr>
          <a:xfrm>
            <a:off x="8676437" y="4617720"/>
            <a:ext cx="1414729" cy="1188720"/>
          </a:xfrm>
          <a:prstGeom prst="roundRect">
            <a:avLst>
              <a:gd name="adj" fmla="val 9231"/>
            </a:avLst>
          </a:prstGeom>
          <a:solidFill>
            <a:srgbClr val="C2410C"/>
          </a:solidFill>
          <a:ln w="12700">
            <a:solidFill>
              <a:srgbClr val="C2410C"/>
            </a:solidFill>
            <a:prstDash val="solid"/>
          </a:ln>
        </p:spPr>
      </p:sp>
      <p:sp>
        <p:nvSpPr>
          <p:cNvPr id="54" name="Text 51"/>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15</a:t>
            </a:r>
            <a:endParaRPr lang="en-US" sz="1200" dirty="0"/>
          </a:p>
        </p:txBody>
      </p:sp>
      <p:sp>
        <p:nvSpPr>
          <p:cNvPr id="55" name="Text 52"/>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Present a scenario study to a non-specialist audience in 15 minutes</a:t>
            </a:r>
            <a:endParaRPr lang="en-US" sz="19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Summarise each stage of the course in a few plain sentences</a:t>
            </a:r>
            <a:endParaRPr lang="en-US" sz="19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Say what IAMs can and cannot tell us, using your own project</a:t>
            </a:r>
            <a:endParaRPr lang="en-US" sz="19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Hand in code that rebuilds every figure in a fresh R session</a:t>
            </a:r>
            <a:endParaRPr lang="en-US" sz="19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Can you state the 'if' of your scenario study so clearly that a non-specialist could argue with 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Every model in this course said "if"</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En-ROADS, Hector, DICE, GCAM and the linear program all answered one kind of question: if we assume this, what follows?</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is the "if" of your project, in one sentence?</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Stage 1, foundations: the building blocks</a:t>
            </a:r>
            <a:endParaRPr lang="en-US" sz="3200" dirty="0"/>
          </a:p>
        </p:txBody>
      </p:sp>
      <p:sp>
        <p:nvSpPr>
          <p:cNvPr id="5" name="idea card"/>
          <p:cNvSpPr/>
          <p:nvPr/>
        </p:nvSpPr>
        <p:spPr>
          <a:xfrm>
            <a:off x="548640"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Climate chain</a:t>
            </a:r>
            <a:endParaRPr lang="en-US" sz="2100" dirty="0"/>
          </a:p>
        </p:txBody>
      </p:sp>
      <p:sp>
        <p:nvSpPr>
          <p:cNvPr id="8" name="Text 5"/>
          <p:cNvSpPr txBox="1"/>
          <p:nvPr/>
        </p:nvSpPr>
        <p:spPr>
          <a:xfrm>
            <a:off x="822960"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Emissions build up CO2, which traps heat and warms the planet. Warming follows cumulative emissions (weeks 1 and 2).</a:t>
            </a:r>
            <a:endParaRPr lang="en-US" sz="1800" dirty="0"/>
          </a:p>
        </p:txBody>
      </p:sp>
      <p:sp>
        <p:nvSpPr>
          <p:cNvPr id="9" name="idea card"/>
          <p:cNvSpPr/>
          <p:nvPr/>
        </p:nvSpPr>
        <p:spPr>
          <a:xfrm>
            <a:off x="3390824"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3665144"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3665144"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Kaya</a:t>
            </a:r>
            <a:endParaRPr lang="en-US" sz="2100" dirty="0"/>
          </a:p>
        </p:txBody>
      </p:sp>
      <p:sp>
        <p:nvSpPr>
          <p:cNvPr id="12" name="Text 9"/>
          <p:cNvSpPr txBox="1"/>
          <p:nvPr/>
        </p:nvSpPr>
        <p:spPr>
          <a:xfrm>
            <a:off x="3665144"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CO2 = population × income × energy per dollar × CO2 per unit of energy (week 3).</a:t>
            </a:r>
            <a:endParaRPr lang="en-US" sz="1800" dirty="0"/>
          </a:p>
        </p:txBody>
      </p:sp>
      <p:sp>
        <p:nvSpPr>
          <p:cNvPr id="13" name="idea card"/>
          <p:cNvSpPr/>
          <p:nvPr/>
        </p:nvSpPr>
        <p:spPr>
          <a:xfrm>
            <a:off x="6233008"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6507328"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6507328"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Prices and time</a:t>
            </a:r>
            <a:endParaRPr lang="en-US" sz="2100" dirty="0"/>
          </a:p>
        </p:txBody>
      </p:sp>
      <p:sp>
        <p:nvSpPr>
          <p:cNvPr id="16" name="Text 13"/>
          <p:cNvSpPr txBox="1"/>
          <p:nvPr/>
        </p:nvSpPr>
        <p:spPr>
          <a:xfrm>
            <a:off x="6507328"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 carbon price adds emission factor × price to costs; discounting decides how much the future counts (week 4).</a:t>
            </a:r>
            <a:endParaRPr lang="en-US" sz="1800" dirty="0"/>
          </a:p>
        </p:txBody>
      </p:sp>
      <p:sp>
        <p:nvSpPr>
          <p:cNvPr id="17" name="idea card"/>
          <p:cNvSpPr/>
          <p:nvPr/>
        </p:nvSpPr>
        <p:spPr>
          <a:xfrm>
            <a:off x="9075191"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9349511" y="1828800"/>
            <a:ext cx="548640" cy="548640"/>
          </a:xfrm>
          <a:prstGeom prst="ellipse">
            <a:avLst/>
          </a:prstGeom>
          <a:solidFill>
            <a:srgbClr val="D97706"/>
          </a:solidFill>
          <a:ln>
            <a:solidFill>
              <a:srgbClr val="D9770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9349511"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Models and scenarios</a:t>
            </a:r>
            <a:endParaRPr lang="en-US" sz="2100" dirty="0"/>
          </a:p>
        </p:txBody>
      </p:sp>
      <p:sp>
        <p:nvSpPr>
          <p:cNvPr id="20" name="Text 17"/>
          <p:cNvSpPr txBox="1"/>
          <p:nvPr/>
        </p:nvSpPr>
        <p:spPr>
          <a:xfrm>
            <a:off x="9349511"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DICE joins it all in one loop; SSPs and RCPs organise many futures (weeks 5 and 6).</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Stage 2, inside GCAM: how one big model works</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Markets</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Prices adjust until supply meets demand in every region (week 7)</a:t>
            </a:r>
            <a:endParaRPr lang="en-US" sz="17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Logit choice</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Market shares spread by relative cost, not winner takes all</a:t>
            </a:r>
            <a:endParaRPr lang="en-US" sz="17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Energy, land, water</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Technologies, crops and bioenergy compete (weeks 8 and 9)</a:t>
            </a:r>
            <a:endParaRPr lang="en-US" sz="17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Policy</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Carbon prices, caps and net-zero targets change the mix (week 10)</a:t>
            </a:r>
            <a:endParaRPr lang="en-US" sz="17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R grew alongside: rgcam queries, rchart and rmap figures, one change traced through gcamdata</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Stage 3, methods and limits: reading any model critically</a:t>
            </a:r>
            <a:endParaRPr lang="en-US" sz="26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Week</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Big idea</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One line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Optimisation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cap's shadow price is a carbon price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Disagreement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Structure, inputs, method differ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Uncertainty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Ensembles show which inputs matter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Limits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Removal, equity, transparency, ageing</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bl>
          </a:graphicData>
        </a:graphic>
      </p:graphicFrame>
      <p:sp>
        <p:nvSpPr>
          <p:cNvPr id="6" name="caption pill"/>
          <p:cNvSpPr/>
          <p:nvPr/>
        </p:nvSpPr>
        <p:spPr>
          <a:xfrm>
            <a:off x="548640" y="5038344"/>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5148072"/>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5257434"/>
            <a:ext cx="201900" cy="201900"/>
          </a:xfrm>
          <a:prstGeom prst="rect">
            <a:avLst/>
          </a:prstGeom>
        </p:spPr>
      </p:pic>
      <p:sp>
        <p:nvSpPr>
          <p:cNvPr id="9" name="Text 4"/>
          <p:cNvSpPr txBox="1"/>
          <p:nvPr/>
        </p:nvSpPr>
        <p:spPr>
          <a:xfrm>
            <a:off x="1280160" y="5038344"/>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Together with stage 2, these are the skills your project uses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An IAM is a flight simulator, not a crystal ball</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500" i="1" dirty="0">
                <a:solidFill>
                  <a:srgbClr val="12263A"/>
                </a:solidFill>
                <a:latin typeface="Cambria" pitchFamily="34" charset="0"/>
                <a:ea typeface="Cambria" pitchFamily="34" charset="-122"/>
                <a:cs typeface="Cambria" pitchFamily="34" charset="-120"/>
              </a:rPr>
              <a:t>Pilots train in simulators to learn what happens if an engine fails, not to predict their next flight. An IAM is the same: it shows what follows from a set of choices and assumptions, so we can compare options before trying them in the real world.</a:t>
            </a:r>
            <a:endParaRPr lang="en-US" sz="25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It explores consequences, it does not predict</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Its answers are only as good as its assumptions</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Comparing runs is where the insight lies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What IAMs can and cannot tell us</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They can</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Show what follows from stated assumptions, consistently</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Compare options: carbon price, technology, timing</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Reveal trade-offs between energy, land and water</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Show which assumptions matter most</a:t>
            </a:r>
            <a:endParaRPr lang="en-US" sz="18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They cannot</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Predict the future or give probabilities on their own</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Decide who should pay or what is fair</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Count effects they leave out, such as many damages</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Promise that planned technologies will be delivered</a:t>
            </a:r>
            <a:endParaRPr lang="en-US" sz="18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Your report in five parts</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Part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goes in it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Weeks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 Question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One question a minister understands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1, 6</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2 Scenario design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Reference, 2 variations, 1 sensitivity run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7 to 10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3 Results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Differences from Reference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8, 14</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4 Sensitivity test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Does the main finding survive?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5 What it cannot say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The four-question checklist on yourself</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12, 14</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5276088"/>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5385816"/>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5495178"/>
            <a:ext cx="201900" cy="201900"/>
          </a:xfrm>
          <a:prstGeom prst="rect">
            <a:avLst/>
          </a:prstGeom>
        </p:spPr>
      </p:pic>
      <p:sp>
        <p:nvSpPr>
          <p:cNvPr id="9" name="Text 4"/>
          <p:cNvSpPr txBox="1"/>
          <p:nvPr/>
        </p:nvSpPr>
        <p:spPr>
          <a:xfrm>
            <a:off x="1280160" y="5276088"/>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About 3,000 words, with R scripts that rebuild every figure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 fifteen-minute talk for non-specialists</a:t>
            </a:r>
            <a:endParaRPr lang="en-US" sz="3200" dirty="0"/>
          </a:p>
        </p:txBody>
      </p:sp>
      <p:sp>
        <p:nvSpPr>
          <p:cNvPr id="5" name="step card"/>
          <p:cNvSpPr/>
          <p:nvPr/>
        </p:nvSpPr>
        <p:spPr>
          <a:xfrm>
            <a:off x="54864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0 to 2 min</a:t>
            </a:r>
            <a:endParaRPr lang="en-US" sz="1800" dirty="0"/>
          </a:p>
        </p:txBody>
      </p:sp>
      <p:sp>
        <p:nvSpPr>
          <p:cNvPr id="8" name="Text 5"/>
          <p:cNvSpPr txBox="1"/>
          <p:nvPr/>
        </p:nvSpPr>
        <p:spPr>
          <a:xfrm>
            <a:off x="777240"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question and why anyone should care</a:t>
            </a:r>
            <a:endParaRPr lang="en-US" sz="1400" dirty="0"/>
          </a:p>
        </p:txBody>
      </p:sp>
      <p:sp>
        <p:nvSpPr>
          <p:cNvPr id="9" name="arrow"/>
          <p:cNvSpPr/>
          <p:nvPr/>
        </p:nvSpPr>
        <p:spPr>
          <a:xfrm>
            <a:off x="2372502"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289371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12231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122310"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2 to 5 min</a:t>
            </a:r>
            <a:endParaRPr lang="en-US" sz="1800" dirty="0"/>
          </a:p>
        </p:txBody>
      </p:sp>
      <p:sp>
        <p:nvSpPr>
          <p:cNvPr id="13" name="Text 10"/>
          <p:cNvSpPr txBox="1"/>
          <p:nvPr/>
        </p:nvSpPr>
        <p:spPr>
          <a:xfrm>
            <a:off x="3122310"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"if": your scenarios in one table</a:t>
            </a:r>
            <a:endParaRPr lang="en-US" sz="1400" dirty="0"/>
          </a:p>
        </p:txBody>
      </p:sp>
      <p:sp>
        <p:nvSpPr>
          <p:cNvPr id="14" name="arrow"/>
          <p:cNvSpPr/>
          <p:nvPr/>
        </p:nvSpPr>
        <p:spPr>
          <a:xfrm>
            <a:off x="4717572"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523878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546738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5467380"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5 to 11 min</a:t>
            </a:r>
            <a:endParaRPr lang="en-US" sz="1800" dirty="0"/>
          </a:p>
        </p:txBody>
      </p:sp>
      <p:sp>
        <p:nvSpPr>
          <p:cNvPr id="18" name="Text 15"/>
          <p:cNvSpPr txBox="1"/>
          <p:nvPr/>
        </p:nvSpPr>
        <p:spPr>
          <a:xfrm>
            <a:off x="5467380"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Three charts at most, each title a finding</a:t>
            </a:r>
            <a:endParaRPr lang="en-US" sz="1400" dirty="0"/>
          </a:p>
        </p:txBody>
      </p:sp>
      <p:sp>
        <p:nvSpPr>
          <p:cNvPr id="19" name="arrow"/>
          <p:cNvSpPr/>
          <p:nvPr/>
        </p:nvSpPr>
        <p:spPr>
          <a:xfrm>
            <a:off x="7062643"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758385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7812451"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7812451"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11 to 13 min</a:t>
            </a:r>
            <a:endParaRPr lang="en-US" sz="1800" dirty="0"/>
          </a:p>
        </p:txBody>
      </p:sp>
      <p:sp>
        <p:nvSpPr>
          <p:cNvPr id="23" name="Text 20"/>
          <p:cNvSpPr txBox="1"/>
          <p:nvPr/>
        </p:nvSpPr>
        <p:spPr>
          <a:xfrm>
            <a:off x="7812451"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sensitivity test: does the finding survive?</a:t>
            </a:r>
            <a:endParaRPr lang="en-US" sz="1400" dirty="0"/>
          </a:p>
        </p:txBody>
      </p:sp>
      <p:sp>
        <p:nvSpPr>
          <p:cNvPr id="24" name="arrow"/>
          <p:cNvSpPr/>
          <p:nvPr/>
        </p:nvSpPr>
        <p:spPr>
          <a:xfrm>
            <a:off x="9407713" y="2994660"/>
            <a:ext cx="411480" cy="457200"/>
          </a:xfrm>
          <a:prstGeom prst="rightArrow">
            <a:avLst/>
          </a:prstGeom>
          <a:solidFill>
            <a:srgbClr val="C9E4DF"/>
          </a:solidFill>
          <a:ln w="12700">
            <a:solidFill>
              <a:srgbClr val="C9E4DF"/>
            </a:solidFill>
            <a:prstDash val="solid"/>
          </a:ln>
        </p:spPr>
      </p:sp>
      <p:sp>
        <p:nvSpPr>
          <p:cNvPr id="25" name="step card"/>
          <p:cNvSpPr/>
          <p:nvPr/>
        </p:nvSpPr>
        <p:spPr>
          <a:xfrm>
            <a:off x="992892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6" name="number badge"/>
          <p:cNvSpPr txBox="1"/>
          <p:nvPr/>
        </p:nvSpPr>
        <p:spPr>
          <a:xfrm>
            <a:off x="10157521"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4"/>
          <p:cNvSpPr txBox="1"/>
          <p:nvPr/>
        </p:nvSpPr>
        <p:spPr>
          <a:xfrm>
            <a:off x="10157521"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13 to 15 min</a:t>
            </a:r>
            <a:endParaRPr lang="en-US" sz="1800" dirty="0"/>
          </a:p>
        </p:txBody>
      </p:sp>
      <p:sp>
        <p:nvSpPr>
          <p:cNvPr id="28" name="Text 25"/>
          <p:cNvSpPr txBox="1"/>
          <p:nvPr/>
        </p:nvSpPr>
        <p:spPr>
          <a:xfrm>
            <a:off x="10157521"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What the model cannot tell us, and one recommendation</a:t>
            </a:r>
            <a:endParaRPr lang="en-US" sz="1400" dirty="0"/>
          </a:p>
        </p:txBody>
      </p:sp>
      <p:sp>
        <p:nvSpPr>
          <p:cNvPr id="29"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30" name="Text 27"/>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200" b="1" dirty="0">
                <a:solidFill>
                  <a:srgbClr val="0B5550"/>
                </a:solidFill>
                <a:latin typeface="Calibri" pitchFamily="34" charset="0"/>
                <a:ea typeface="Calibri" pitchFamily="34" charset="-122"/>
                <a:cs typeface="Calibri" pitchFamily="34" charset="-120"/>
              </a:rPr>
              <a:t>Imagine the audience is a farmer, a minister and your grandmother</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planning the runs</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Question: what does delaying a carbon price by ten years do? Each run takes about 2 hours; the team can run 2 at once.</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Scenarios: Reference, price from 2030, price from 2040 = 3 runs</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Sensitivity test: repeat both price runs with limited CO2 storage = 2 more</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Total: 3 + 2 = 5 runs</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Rounds: 5 ÷ 2 = 2.5, so 3 rounds</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Time: 3 rounds × 2 hours = 6 hours</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5 runs, about 6 hours of computing</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 team reports 2050 CO2 of 30 Gt in its policy run. What is missing?</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Nothing, that is the result</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difference from the Reference run</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 bigger font</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model's source code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 team reports 2050 CO2 of 30 Gt in its policy run. What is missing?</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Nothing, that is the result</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The difference from the Reference run</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 bigger font</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The model's source code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 on presentation day</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More scenarios make a better project</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sharp question with Reference, two variations and one honest sensitivity test beats ten runs.</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Show every chart the scripts made</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Three to five charts, each with a title that states a finding.</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code ran last week, so it will run for the marker</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Restart R and rebuild every figure from the folder before handing in.</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11094415"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Reference scenario   </a:t>
            </a:r>
            <a:pPr indent="0" marL="0">
              <a:buNone/>
            </a:pPr>
            <a:r>
              <a:rPr lang="en-US" sz="2000" dirty="0">
                <a:solidFill>
                  <a:srgbClr val="1F2933"/>
                </a:solidFill>
                <a:latin typeface="Calibri" pitchFamily="34" charset="0"/>
                <a:ea typeface="Calibri" pitchFamily="34" charset="-122"/>
                <a:cs typeface="Calibri" pitchFamily="34" charset="-120"/>
              </a:rPr>
              <a:t>The run without your policy or change. Every result is read as a difference from it.</a:t>
            </a:r>
            <a:endParaRPr lang="en-US" sz="2000" dirty="0"/>
          </a:p>
        </p:txBody>
      </p:sp>
      <p:sp>
        <p:nvSpPr>
          <p:cNvPr id="7" name="term card"/>
          <p:cNvSpPr/>
          <p:nvPr/>
        </p:nvSpPr>
        <p:spPr>
          <a:xfrm>
            <a:off x="548640" y="3169920"/>
            <a:ext cx="11094415"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822960" y="316992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Variation   </a:t>
            </a:r>
            <a:pPr indent="0" marL="0">
              <a:buNone/>
            </a:pPr>
            <a:r>
              <a:rPr lang="en-US" sz="2000" dirty="0">
                <a:solidFill>
                  <a:srgbClr val="1F2933"/>
                </a:solidFill>
                <a:latin typeface="Calibri" pitchFamily="34" charset="0"/>
                <a:ea typeface="Calibri" pitchFamily="34" charset="-122"/>
                <a:cs typeface="Calibri" pitchFamily="34" charset="-120"/>
              </a:rPr>
              <a:t>A run that changes one stated thing compared with the reference, such as a carbon price from 2030.</a:t>
            </a:r>
            <a:endParaRPr lang="en-US" sz="2000" dirty="0"/>
          </a:p>
        </p:txBody>
      </p:sp>
      <p:sp>
        <p:nvSpPr>
          <p:cNvPr id="9"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Sensitivity test   </a:t>
            </a:r>
            <a:pPr indent="0" marL="0">
              <a:buNone/>
            </a:pPr>
            <a:r>
              <a:rPr lang="en-US" sz="2000" dirty="0">
                <a:solidFill>
                  <a:srgbClr val="1F2933"/>
                </a:solidFill>
                <a:latin typeface="Calibri" pitchFamily="34" charset="0"/>
                <a:ea typeface="Calibri" pitchFamily="34" charset="-122"/>
                <a:cs typeface="Calibri" pitchFamily="34" charset="-120"/>
              </a:rPr>
              <a:t>Repeating key runs with one uncertain assumption changed, to see whether the main finding survives.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Presentation day checklist</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Make sure your talk fits 15 minutes, your figures state findings, and your code rebuilds the whole report in a fresh R session.</a:t>
            </a:r>
            <a:endParaRPr lang="en-US" sz="24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Rebuild everything from a clean start</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Restart R (Session, Restart R), then knit the report. Every figure must come from the scripts.</a:t>
            </a:r>
            <a:endParaRPr lang="en-US" sz="2000" dirty="0"/>
          </a:p>
        </p:txBody>
      </p:sp>
      <p:sp>
        <p:nvSpPr>
          <p:cNvPr id="7" name="code panel"/>
          <p:cNvSpPr/>
          <p:nvPr/>
        </p:nvSpPr>
        <p:spPr>
          <a:xfrm>
            <a:off x="548640" y="2738120"/>
            <a:ext cx="11094415" cy="1691640"/>
          </a:xfrm>
          <a:prstGeom prst="roundRect">
            <a:avLst>
              <a:gd name="adj" fmla="val 6486"/>
            </a:avLst>
          </a:prstGeom>
          <a:solidFill>
            <a:srgbClr val="1E2A36"/>
          </a:solidFill>
          <a:ln w="12700">
            <a:solidFill>
              <a:srgbClr val="1E2A36"/>
            </a:solidFill>
            <a:prstDash val="solid"/>
          </a:ln>
        </p:spPr>
      </p:sp>
      <p:sp>
        <p:nvSpPr>
          <p:cNvPr id="8" name="Text 5"/>
          <p:cNvSpPr txBox="1"/>
          <p:nvPr/>
        </p:nvSpPr>
        <p:spPr>
          <a:xfrm>
            <a:off x="868680" y="3012440"/>
            <a:ext cx="10545775" cy="128016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after Session &gt; Restart 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rmarkdown::render("report.Rmd")</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list.files("output")   # all figures rebuilt?</a:t>
            </a:r>
            <a:endParaRPr lang="en-US" sz="2400" dirty="0"/>
          </a:p>
        </p:txBody>
      </p:sp>
      <p:pic>
        <p:nvPicPr>
          <p:cNvPr id="9" name="tip icon" descr="preencoded.png">    </p:cNvPr>
          <p:cNvPicPr>
            <a:picLocks noChangeAspect="1"/>
          </p:cNvPicPr>
          <p:nvPr/>
        </p:nvPicPr>
        <p:blipFill>
          <a:blip r:embed="rId1"/>
          <a:stretch>
            <a:fillRect/>
          </a:stretch>
        </p:blipFill>
        <p:spPr>
          <a:xfrm>
            <a:off x="548640" y="4676648"/>
            <a:ext cx="329184" cy="329184"/>
          </a:xfrm>
          <a:prstGeom prst="rect">
            <a:avLst/>
          </a:prstGeom>
        </p:spPr>
      </p:pic>
      <p:sp>
        <p:nvSpPr>
          <p:cNvPr id="10" name="Text 6"/>
          <p:cNvSpPr txBox="1"/>
          <p:nvPr/>
        </p:nvSpPr>
        <p:spPr>
          <a:xfrm>
            <a:off x="1005840" y="465836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Cut to three to five charts</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2</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Keep only charts that support your finding. Rewrite each title as a finding with units on the axis.</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Rehearse to 15 minutes</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3</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Time a full run-through using the five-part plan. Cut detail, not the sensitivity test or the limits.</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Prepare one question for another team</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4</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Use the four-question checklist from week 14 to write one fair question for the team before you.</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report knits in a fresh session and rebuilds every figure</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talk fits 15 minutes with three to five charts</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Your slides include the sensitivity test and what the model cannot tell us</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Write the 'if' of your study in one sentence a non-specialist could argue with.</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Name your main finding and the one assumption most likely to change it.</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For next year's class: which lab most needed more time, and why?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Every IAM answers 'if we assume this, what follows?'; state your 'if' clearly</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Read every result as a difference from Reference, and test whether it survives</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IAMs compare options consistently; they do not predict, price fairness or promise delivery</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 good project is small, reproducible and honest about its limits</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After the course</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course ends here. Keep your project repository: it is a complete, reproducible scenario study you can show others.</a:t>
            </a:r>
            <a:endParaRPr lang="en-US" sz="15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15: try the project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Your own project report and code; Revisit: Carbon Brief (2018), Q&amp;A: How 'integrated assessment models' are used to study climate change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15: Project presentations and course review</dc:title>
  <dc:subject>Modelling Climate and Energy Futures</dc:subject>
  <dc:creator>IAM course team</dc:creator>
  <cp:lastModifiedBy>IAM course team</cp:lastModifiedBy>
  <cp:revision>1</cp:revision>
  <dcterms:created xsi:type="dcterms:W3CDTF">2026-10-22T18:53:48Z</dcterms:created>
  <dcterms:modified xsi:type="dcterms:W3CDTF">2026-10-22T18:53:48Z</dcterms:modified>
</cp:coreProperties>
</file>