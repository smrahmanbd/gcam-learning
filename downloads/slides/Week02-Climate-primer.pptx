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d422bc9-188c-91b2-41c5-9ac2bf55d462}">
          <p14:sldIdLst>
            <p14:sldId id="256"/>
            <p14:sldId id="257"/>
            <p14:sldId id="258"/>
          </p14:sldIdLst>
        </p14:section>
        <p14:section name="Lecture" id="{b2e60dd8-6b19-f74a-a5fe-7821dc013795}">
          <p14:sldIdLst>
            <p14:sldId id="259"/>
            <p14:sldId id="260"/>
            <p14:sldId id="261"/>
            <p14:sldId id="262"/>
            <p14:sldId id="263"/>
            <p14:sldId id="264"/>
            <p14:sldId id="265"/>
            <p14:sldId id="266"/>
            <p14:sldId id="267"/>
            <p14:sldId id="268"/>
            <p14:sldId id="269"/>
            <p14:sldId id="270"/>
            <p14:sldId id="271"/>
          </p14:sldIdLst>
        </p14:section>
        <p14:section name="Lab" id="{be414e25-5f1e-4252-9d15-0f08a9ad609e}">
          <p14:sldIdLst>
            <p14:sldId id="272"/>
            <p14:sldId id="273"/>
            <p14:sldId id="274"/>
            <p14:sldId id="275"/>
            <p14:sldId id="276"/>
            <p14:sldId id="277"/>
          </p14:sldIdLst>
        </p14:section>
        <p14:section name="Recap" id="{ee81c087-be6f-df7d-231c-b9504aa483e9}">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Extra warming (°C)</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Sheet1!$A$2:$A$8</c:f>
              <c:multiLvlStrCache>
                <c:ptCount val="7"/>
                <c:lvl>
                  <c:pt idx="0">
                    <c:v>0</c:v>
                  </c:pt>
                  <c:pt idx="1">
                    <c:v>500</c:v>
                  </c:pt>
                  <c:pt idx="2">
                    <c:v>1000</c:v>
                  </c:pt>
                  <c:pt idx="3">
                    <c:v>1500</c:v>
                  </c:pt>
                  <c:pt idx="4">
                    <c:v>2000</c:v>
                  </c:pt>
                  <c:pt idx="5">
                    <c:v>2500</c:v>
                  </c:pt>
                  <c:pt idx="6">
                    <c:v>3000</c:v>
                  </c:pt>
                </c:lvl>
              </c:multiLvlStrCache>
            </c:multiLvlStrRef>
          </c:cat>
          <c:val>
            <c:numRef>
              <c:f>Sheet1!$B$2:$B$8</c:f>
              <c:numCache>
                <c:formatCode>General</c:formatCode>
                <c:ptCount val="7"/>
                <c:pt idx="0">
                  <c:v>0</c:v>
                </c:pt>
                <c:pt idx="1">
                  <c:v>0.225</c:v>
                </c:pt>
                <c:pt idx="2">
                  <c:v>0.45</c:v>
                </c:pt>
                <c:pt idx="3">
                  <c:v>0.675</c:v>
                </c:pt>
                <c:pt idx="4">
                  <c:v>0.9</c:v>
                </c:pt>
                <c:pt idx="5">
                  <c:v>1.125</c:v>
                </c:pt>
                <c:pt idx="6">
                  <c:v>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CO2 emitted from 2020 onward (GtCO2)</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Extra warming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Flat, then stop</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Sheet1!$A$2:$A$12</c:f>
              <c:multiLvlStrCache>
                <c:ptCount val="11"/>
                <c:lvl>
                  <c:pt idx="0">
                    <c:v>0</c:v>
                  </c:pt>
                  <c:pt idx="1">
                    <c:v>2.5</c:v>
                  </c:pt>
                  <c:pt idx="2">
                    <c:v>5</c:v>
                  </c:pt>
                  <c:pt idx="3">
                    <c:v>7.5</c:v>
                  </c:pt>
                  <c:pt idx="4">
                    <c:v>10</c:v>
                  </c:pt>
                  <c:pt idx="5">
                    <c:v>12.5</c:v>
                  </c:pt>
                  <c:pt idx="6">
                    <c:v>15</c:v>
                  </c:pt>
                  <c:pt idx="7">
                    <c:v>17.5</c:v>
                  </c:pt>
                  <c:pt idx="8">
                    <c:v>20</c:v>
                  </c:pt>
                  <c:pt idx="9">
                    <c:v>22.5</c:v>
                  </c:pt>
                  <c:pt idx="10">
                    <c:v>25</c:v>
                  </c:pt>
                </c:lvl>
              </c:multiLvlStrCache>
            </c:multiLvlStrRef>
          </c:cat>
          <c:val>
            <c:numRef>
              <c:f>Sheet1!$B$2:$B$12</c:f>
              <c:numCache>
                <c:formatCode>General</c:formatCode>
                <c:ptCount val="11"/>
                <c:pt idx="0">
                  <c:v>40</c:v>
                </c:pt>
                <c:pt idx="1">
                  <c:v>40</c:v>
                </c:pt>
                <c:pt idx="2">
                  <c:v>40</c:v>
                </c:pt>
                <c:pt idx="3">
                  <c:v>40</c:v>
                </c:pt>
                <c:pt idx="4">
                  <c:v>40</c:v>
                </c:pt>
                <c:pt idx="5">
                  <c:v>0</c:v>
                </c:pt>
                <c:pt idx="6">
                  <c:v>0</c:v>
                </c:pt>
                <c:pt idx="7">
                  <c:v>0</c:v>
                </c:pt>
                <c:pt idx="8">
                  <c:v>0</c:v>
                </c:pt>
                <c:pt idx="9">
                  <c:v>0</c:v>
                </c:pt>
                <c:pt idx="10">
                  <c:v>0</c:v>
                </c:pt>
              </c:numCache>
            </c:numRef>
          </c:val>
          <c:smooth val="0"/>
        </c:ser>
        <c:ser>
          <c:idx val="1"/>
          <c:order val="1"/>
          <c:tx>
            <c:strRef>
              <c:f>Sheet1!$C$1</c:f>
              <c:strCache>
                <c:ptCount val="1"/>
                <c:pt idx="0">
                  <c:v>Straight line down</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2410C"/>
              </a:solidFill>
              <a:ln w="9525" cap="flat">
                <a:solidFill>
                  <a:srgbClr val="C2410C"/>
                </a:solidFill>
                <a:prstDash val="solid"/>
                <a:round/>
              </a:ln>
              <a:effectLst/>
            </c:spPr>
          </c:marker>
          <c:cat>
            <c:multiLvlStrRef>
              <c:f>Sheet1!$A$2:$A$12</c:f>
              <c:multiLvlStrCache>
                <c:ptCount val="11"/>
                <c:lvl>
                  <c:pt idx="0">
                    <c:v>0</c:v>
                  </c:pt>
                  <c:pt idx="1">
                    <c:v>2.5</c:v>
                  </c:pt>
                  <c:pt idx="2">
                    <c:v>5</c:v>
                  </c:pt>
                  <c:pt idx="3">
                    <c:v>7.5</c:v>
                  </c:pt>
                  <c:pt idx="4">
                    <c:v>10</c:v>
                  </c:pt>
                  <c:pt idx="5">
                    <c:v>12.5</c:v>
                  </c:pt>
                  <c:pt idx="6">
                    <c:v>15</c:v>
                  </c:pt>
                  <c:pt idx="7">
                    <c:v>17.5</c:v>
                  </c:pt>
                  <c:pt idx="8">
                    <c:v>20</c:v>
                  </c:pt>
                  <c:pt idx="9">
                    <c:v>22.5</c:v>
                  </c:pt>
                  <c:pt idx="10">
                    <c:v>25</c:v>
                  </c:pt>
                </c:lvl>
              </c:multiLvlStrCache>
            </c:multiLvlStrRef>
          </c:cat>
          <c:val>
            <c:numRef>
              <c:f>Sheet1!$C$2:$C$12</c:f>
              <c:numCache>
                <c:formatCode>General</c:formatCode>
                <c:ptCount val="11"/>
                <c:pt idx="0">
                  <c:v>40</c:v>
                </c:pt>
                <c:pt idx="1">
                  <c:v>36</c:v>
                </c:pt>
                <c:pt idx="2">
                  <c:v>32</c:v>
                </c:pt>
                <c:pt idx="3">
                  <c:v>28</c:v>
                </c:pt>
                <c:pt idx="4">
                  <c:v>24</c:v>
                </c:pt>
                <c:pt idx="5">
                  <c:v>20</c:v>
                </c:pt>
                <c:pt idx="6">
                  <c:v>16</c:v>
                </c:pt>
                <c:pt idx="7">
                  <c:v>12</c:v>
                </c:pt>
                <c:pt idx="8">
                  <c:v>8</c:v>
                </c:pt>
                <c:pt idx="9">
                  <c:v>4</c:v>
                </c:pt>
                <c:pt idx="1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Years from now</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CO2 emissions (Gt per year)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2: Climate primer. How CO2 becomes warming, and why the total matters. Today has two halves: a lecture that builds the idea step by step with everyday examples, then a guided lab where we try it in R. Nobody is expected to know the material already. New R skill this week: Vectors and data frames; reading CSV files; a first ggplot2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2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Does a tonne of CO2 burned in 1960 still matter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guess. The answer we are building towards: the climate cares about the total emitted, not when. So a temperature limit becomes a fixed allowance, like a bank balance. That allowance is the carbon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picture of the week. Ask: if we turn the tap down by half, does the level fall? No, it still rises, just more slowly. That answers the most common beginner mistake before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IAM has some version of this chain. Cost-benefit models like DICE squeeze it into a few equations. GCAM passes its emissions to Hector, a simple climate model. In the lab students run Hector themselves and see step 4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Scientists find that warming plotted against total CO2 emitted is close to a straight line. The slope of about 0.45 °C per 1,000 Gt is a central estimate; check the AR6 Working Group I value before teaching. This line is why every serious temperature target ends at net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budgets are quoted from memory; check them against the AR6 Working Group I Summary for Policymakers before teaching. Ask students: if 500 Gt is the budget and we emit 40 a year, roughly how long does it last? Answer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both shapes on the board. A straight-line decline buys twice the time of a cliff edge, but the line has to reach zero either way. This is why 1.5 °C pathways reach net-zero CO2 around mid-century.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path is more realistic. Nobody can switch off the world economy in one year, so real pathways look like the second line, or curve more gently. The point is that the budget fixes the area, and the area has to end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1,150 ÷ 40 = 28.75, about 29 years. Follow-up: if emissions fall in a straight line, ½ × 40 × T = 1,150 gives T = 57.5 years, the third option. Students who chose C answered the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1,150 ÷ 40 = 28.75, about 29 years. Follow-up: if emissions fall in a straight line, ½ × 40 × T = 1,150 gives T = 57.5 years, the third option. Students who chose C answered the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Emissions are a flow, concentration is a stock. A news headline saying 'emissions fell, so CO2 levels will fall' confuses the two. Concentration keeps rising as long as emissions are above what nature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point confuses even strong students. 0.45 × 500 ÷ 1,000 = 0.225 °C of extra CO2 warming, on top of the warming that has already happened. The budget is what is left once other gases are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ggplot has the same three parts. Ask students to swap geom_line for geom_point to see that only the last part changes. Remind them that file paths start from the project folder, which is why we made a project in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Read a CO2 data file and plot it, then run the Hector climate model for a low and a high emissions path and compare the temperatures.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has two columns, year and ppm. If read_csv cannot find the file, the project is not open or the file is not in the data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describe the shape in one sentence. It should rise faster in recent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SSP1-2.6 is a strong-mitigation path; the labels are explained in week 6. Older Hector versions call the variable GLOBAL_TEMP(); test the script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fetchvars returns columns scenario, year, variable, value and units, which is why it plots directly. The two lines should be close until about 2040 and then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Trace the four steps from emissions to temperature; Explain why warming follows the running total of CO2; Work out how long a carbon budget lasts; Read a CSV file into R and draw a first chart with ggplot2. Ask students to rate themselves on each. Then point to next week: Week 3 asks where the emissions come from: energy, and the four factors of the Kaya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2 · Climate primer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2 · Climate primer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6.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Climate primer</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2 OF 15  ·  STAGE 1: FOUNDATIONS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How CO2 becomes warming, and why the total matters</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Vectors and data frames; reading CSV files; a first ggplot2 chart</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2410C"/>
          </a:solidFill>
          <a:ln w="12700">
            <a:solidFill>
              <a:srgbClr val="C2410C"/>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F7FAF9"/>
          </a:solidFill>
          <a:ln w="12700">
            <a:solidFill>
              <a:srgbClr val="F7FAF9"/>
            </a:solidFill>
            <a:prstDash val="solid"/>
          </a:ln>
        </p:spPr>
      </p:sp>
      <p:sp>
        <p:nvSpPr>
          <p:cNvPr id="14" name="Shape 11"/>
          <p:cNvSpPr/>
          <p:nvPr/>
        </p:nvSpPr>
        <p:spPr>
          <a:xfrm>
            <a:off x="5572658" y="1600200"/>
            <a:ext cx="1414729" cy="1188720"/>
          </a:xfrm>
          <a:prstGeom prst="roundRect">
            <a:avLst>
              <a:gd name="adj" fmla="val 9231"/>
            </a:avLst>
          </a:prstGeom>
          <a:solidFill>
            <a:srgbClr val="F7FAF9"/>
          </a:solidFill>
          <a:ln w="12700">
            <a:solidFill>
              <a:srgbClr val="D5DDDB"/>
            </a:solidFill>
            <a:prstDash val="solid"/>
          </a:ln>
        </p:spPr>
      </p:sp>
      <p:sp>
        <p:nvSpPr>
          <p:cNvPr id="15" name="Text 12"/>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6" name="Text 13"/>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7" name="week tile"/>
          <p:cNvSpPr/>
          <p:nvPr/>
        </p:nvSpPr>
        <p:spPr>
          <a:xfrm>
            <a:off x="7124548" y="1600200"/>
            <a:ext cx="1414729" cy="1188720"/>
          </a:xfrm>
          <a:prstGeom prst="roundRect">
            <a:avLst>
              <a:gd name="adj" fmla="val 9231"/>
            </a:avLst>
          </a:prstGeom>
          <a:solidFill>
            <a:srgbClr val="F7FAF9"/>
          </a:solidFill>
          <a:ln w="12700">
            <a:solidFill>
              <a:srgbClr val="F7FAF9"/>
            </a:solidFill>
            <a:prstDash val="solid"/>
          </a:ln>
        </p:spPr>
      </p:sp>
      <p:sp>
        <p:nvSpPr>
          <p:cNvPr id="18" name="Shape 15"/>
          <p:cNvSpPr/>
          <p:nvPr/>
        </p:nvSpPr>
        <p:spPr>
          <a:xfrm>
            <a:off x="7124548" y="1600200"/>
            <a:ext cx="1414729" cy="1188720"/>
          </a:xfrm>
          <a:prstGeom prst="roundRect">
            <a:avLst>
              <a:gd name="adj" fmla="val 9231"/>
            </a:avLst>
          </a:prstGeom>
          <a:solidFill>
            <a:srgbClr val="F7FAF9"/>
          </a:solidFill>
          <a:ln w="12700">
            <a:solidFill>
              <a:srgbClr val="D5DDDB"/>
            </a:solidFill>
            <a:prstDash val="solid"/>
          </a:ln>
        </p:spPr>
      </p:sp>
      <p:sp>
        <p:nvSpPr>
          <p:cNvPr id="19" name="Text 16"/>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20" name="Text 17"/>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21" name="week tile"/>
          <p:cNvSpPr/>
          <p:nvPr/>
        </p:nvSpPr>
        <p:spPr>
          <a:xfrm>
            <a:off x="8676437" y="1600200"/>
            <a:ext cx="1414729" cy="1188720"/>
          </a:xfrm>
          <a:prstGeom prst="roundRect">
            <a:avLst>
              <a:gd name="adj" fmla="val 9231"/>
            </a:avLst>
          </a:prstGeom>
          <a:solidFill>
            <a:srgbClr val="F7FAF9"/>
          </a:solidFill>
          <a:ln w="12700">
            <a:solidFill>
              <a:srgbClr val="F7FAF9"/>
            </a:solidFill>
            <a:prstDash val="solid"/>
          </a:ln>
        </p:spPr>
      </p:sp>
      <p:sp>
        <p:nvSpPr>
          <p:cNvPr id="22" name="Shape 19"/>
          <p:cNvSpPr/>
          <p:nvPr/>
        </p:nvSpPr>
        <p:spPr>
          <a:xfrm>
            <a:off x="8676437" y="1600200"/>
            <a:ext cx="1414729" cy="1188720"/>
          </a:xfrm>
          <a:prstGeom prst="roundRect">
            <a:avLst>
              <a:gd name="adj" fmla="val 9231"/>
            </a:avLst>
          </a:prstGeom>
          <a:solidFill>
            <a:srgbClr val="F7FAF9"/>
          </a:solidFill>
          <a:ln w="12700">
            <a:solidFill>
              <a:srgbClr val="D5DDDB"/>
            </a:solidFill>
            <a:prstDash val="solid"/>
          </a:ln>
        </p:spPr>
      </p:sp>
      <p:sp>
        <p:nvSpPr>
          <p:cNvPr id="23" name="Text 20"/>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4" name="Text 21"/>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5" name="week tile"/>
          <p:cNvSpPr/>
          <p:nvPr/>
        </p:nvSpPr>
        <p:spPr>
          <a:xfrm>
            <a:off x="10228326" y="1600200"/>
            <a:ext cx="1414729" cy="1188720"/>
          </a:xfrm>
          <a:prstGeom prst="roundRect">
            <a:avLst>
              <a:gd name="adj" fmla="val 9231"/>
            </a:avLst>
          </a:prstGeom>
          <a:solidFill>
            <a:srgbClr val="F7FAF9"/>
          </a:solidFill>
          <a:ln w="12700">
            <a:solidFill>
              <a:srgbClr val="F7FAF9"/>
            </a:solidFill>
            <a:prstDash val="solid"/>
          </a:ln>
        </p:spPr>
      </p:sp>
      <p:sp>
        <p:nvSpPr>
          <p:cNvPr id="26" name="Shape 23"/>
          <p:cNvSpPr/>
          <p:nvPr/>
        </p:nvSpPr>
        <p:spPr>
          <a:xfrm>
            <a:off x="10228326" y="1600200"/>
            <a:ext cx="1414729" cy="1188720"/>
          </a:xfrm>
          <a:prstGeom prst="roundRect">
            <a:avLst>
              <a:gd name="adj" fmla="val 9231"/>
            </a:avLst>
          </a:prstGeom>
          <a:solidFill>
            <a:srgbClr val="F7FAF9"/>
          </a:solidFill>
          <a:ln w="12700">
            <a:solidFill>
              <a:srgbClr val="D5DDDB"/>
            </a:solidFill>
            <a:prstDash val="solid"/>
          </a:ln>
        </p:spPr>
      </p:sp>
      <p:sp>
        <p:nvSpPr>
          <p:cNvPr id="27" name="Text 24"/>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8" name="Text 25"/>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9" name="Text 26"/>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30" name="Text 27"/>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31" name="week tile"/>
          <p:cNvSpPr/>
          <p:nvPr/>
        </p:nvSpPr>
        <p:spPr>
          <a:xfrm>
            <a:off x="2468880" y="3108960"/>
            <a:ext cx="1414729" cy="1188720"/>
          </a:xfrm>
          <a:prstGeom prst="roundRect">
            <a:avLst>
              <a:gd name="adj" fmla="val 9231"/>
            </a:avLst>
          </a:prstGeom>
          <a:solidFill>
            <a:srgbClr val="F7FAF9"/>
          </a:solidFill>
          <a:ln w="12700">
            <a:solidFill>
              <a:srgbClr val="F7FAF9"/>
            </a:solidFill>
            <a:prstDash val="solid"/>
          </a:ln>
        </p:spPr>
      </p:sp>
      <p:sp>
        <p:nvSpPr>
          <p:cNvPr id="32" name="Shape 29"/>
          <p:cNvSpPr/>
          <p:nvPr/>
        </p:nvSpPr>
        <p:spPr>
          <a:xfrm>
            <a:off x="2468880" y="3108960"/>
            <a:ext cx="1414729" cy="1188720"/>
          </a:xfrm>
          <a:prstGeom prst="roundRect">
            <a:avLst>
              <a:gd name="adj" fmla="val 9231"/>
            </a:avLst>
          </a:prstGeom>
          <a:solidFill>
            <a:srgbClr val="F7FAF9"/>
          </a:solidFill>
          <a:ln w="12700">
            <a:solidFill>
              <a:srgbClr val="D5DDDB"/>
            </a:solidFill>
            <a:prstDash val="solid"/>
          </a:ln>
        </p:spPr>
      </p:sp>
      <p:sp>
        <p:nvSpPr>
          <p:cNvPr id="33" name="Text 30"/>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34" name="Text 31"/>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5"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6" name="Shape 33"/>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7" name="Text 34"/>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8" name="Text 35"/>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9"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40" name="Shape 37"/>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41" name="Text 38"/>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42" name="Text 39"/>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43"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44" name="Shape 41"/>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5" name="Text 42"/>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6" name="Text 43"/>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7" name="Text 44"/>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8" name="Text 45"/>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9"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50" name="Shape 47"/>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51" name="Text 48"/>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52" name="Text 49"/>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53"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54" name="Shape 51"/>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5" name="Text 52"/>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6" name="Text 53"/>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7"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8" name="Shape 55"/>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9" name="Text 56"/>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60" name="Text 57"/>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61"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62" name="Shape 59"/>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63" name="Text 60"/>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64" name="Text 61"/>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5"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6" name="Shape 63"/>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7" name="Text 64"/>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8" name="Text 65"/>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Trace the four steps from emissions to temperature</a:t>
            </a:r>
            <a:endParaRPr lang="en-US" sz="22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Explain why warming follows the running total of CO2</a:t>
            </a:r>
            <a:endParaRPr lang="en-US" sz="22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Work out how long a carbon budget lasts</a:t>
            </a:r>
            <a:endParaRPr lang="en-US" sz="22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Read a CSV file into R and draw a first chart with ggplot2</a:t>
            </a:r>
            <a:endParaRPr lang="en-US" sz="22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Does a tonne of CO2 burned in 1960 still matter today?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Does old CO2 still count?</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A tonne of CO2 burned in 1960 still warms the planet today about as much as a tonne burned this morning.</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If that is true, what kind of limit does a temperature target set on our emissions?</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atmosphere is a bathtub</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The tap is the CO2 we emit each year. The plug hole is small: oceans and forests take up some CO2, but a little under half of each year's emissions stays in the air. The water level keeps rising as long as the tap runs faster than the drain.</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Tap = yearly emissions</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Water level = CO2 in the air</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Only turning the tap (almost) off stops the rise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From emissions to temperature in four steps</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1 Emissions</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Fossil fuels and land clearing release CO2 each year</a:t>
            </a:r>
            <a:endParaRPr lang="en-US" sz="18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2 Concentration</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 little under half stays in the air: 280 to over 420 ppm</a:t>
            </a:r>
            <a:endParaRPr lang="en-US" sz="18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3 Forcing</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Extra CO2 traps heat, measured in W/m²</a:t>
            </a:r>
            <a:endParaRPr lang="en-US" sz="18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4 Temperature</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The surface warms until energy in and out balance</a:t>
            </a:r>
            <a:endParaRPr lang="en-US" sz="18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Steps 2 to 4 are what the Hector model calculates. GCAM hands its emissions to Hector in week 10.</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Warming tracks the running total of CO2</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Computed from ΔT ≈ 0.45 °C × cumulative CO2 ÷ 1,000 Gt</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Each 1,000 GtCO2 adds about 0.45 °C</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straight line: no 'safe' emissions that do not count</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Warming stops rising only at net zero</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NUMBERS TO REMEMBER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Two carbon budgets to remember</a:t>
            </a:r>
            <a:endParaRPr lang="en-US" sz="3200" dirty="0"/>
          </a:p>
        </p:txBody>
      </p:sp>
      <p:sp>
        <p:nvSpPr>
          <p:cNvPr id="5" name="stat card"/>
          <p:cNvSpPr/>
          <p:nvPr/>
        </p:nvSpPr>
        <p:spPr>
          <a:xfrm>
            <a:off x="548640" y="1554480"/>
            <a:ext cx="3515258" cy="3566160"/>
          </a:xfrm>
          <a:prstGeom prst="roundRect">
            <a:avLst>
              <a:gd name="adj" fmla="val 3121"/>
            </a:avLst>
          </a:prstGeom>
          <a:solidFill>
            <a:srgbClr val="E6F2F0"/>
          </a:solidFill>
          <a:ln w="12700">
            <a:solidFill>
              <a:srgbClr val="E6F2F0"/>
            </a:solidFill>
            <a:prstDash val="solid"/>
          </a:ln>
        </p:spPr>
      </p:sp>
      <p:sp>
        <p:nvSpPr>
          <p:cNvPr id="6" name="Text 3"/>
          <p:cNvSpPr txBox="1"/>
          <p:nvPr/>
        </p:nvSpPr>
        <p:spPr>
          <a:xfrm>
            <a:off x="822960" y="1920240"/>
            <a:ext cx="2966618" cy="1371600"/>
          </a:xfrm>
          <a:prstGeom prst="rect">
            <a:avLst/>
          </a:prstGeom>
          <a:noFill/>
          <a:ln/>
        </p:spPr>
        <p:txBody>
          <a:bodyPr wrap="square" lIns="0" tIns="0" rIns="0" bIns="0" rtlCol="0" anchor="t"/>
          <a:lstStyle/>
          <a:p>
            <a:pPr indent="0" marL="0">
              <a:buNone/>
            </a:pPr>
            <a:r>
              <a:rPr lang="en-US" sz="6000" b="1" dirty="0">
                <a:solidFill>
                  <a:srgbClr val="0F766E"/>
                </a:solidFill>
                <a:latin typeface="Cambria" pitchFamily="34" charset="0"/>
                <a:ea typeface="Cambria" pitchFamily="34" charset="-122"/>
                <a:cs typeface="Cambria" pitchFamily="34" charset="-120"/>
              </a:rPr>
              <a:t>500 Gt</a:t>
            </a:r>
            <a:endParaRPr lang="en-US" sz="6000" dirty="0"/>
          </a:p>
        </p:txBody>
      </p:sp>
      <p:sp>
        <p:nvSpPr>
          <p:cNvPr id="7" name="Text 4"/>
          <p:cNvSpPr txBox="1"/>
          <p:nvPr/>
        </p:nvSpPr>
        <p:spPr>
          <a:xfrm>
            <a:off x="822960"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CO2 from 2020 for a 50% chance of 1.5 °C</a:t>
            </a:r>
            <a:endParaRPr lang="en-US" sz="2000" dirty="0"/>
          </a:p>
        </p:txBody>
      </p:sp>
      <p:sp>
        <p:nvSpPr>
          <p:cNvPr id="8" name="stat card"/>
          <p:cNvSpPr/>
          <p:nvPr/>
        </p:nvSpPr>
        <p:spPr>
          <a:xfrm>
            <a:off x="4338218" y="1554480"/>
            <a:ext cx="3515258" cy="3566160"/>
          </a:xfrm>
          <a:prstGeom prst="roundRect">
            <a:avLst>
              <a:gd name="adj" fmla="val 3121"/>
            </a:avLst>
          </a:prstGeom>
          <a:solidFill>
            <a:srgbClr val="F7FAF9"/>
          </a:solidFill>
          <a:ln w="12700">
            <a:solidFill>
              <a:srgbClr val="F7FAF9"/>
            </a:solidFill>
            <a:prstDash val="solid"/>
          </a:ln>
        </p:spPr>
      </p:sp>
      <p:sp>
        <p:nvSpPr>
          <p:cNvPr id="9" name="Text 6"/>
          <p:cNvSpPr txBox="1"/>
          <p:nvPr/>
        </p:nvSpPr>
        <p:spPr>
          <a:xfrm>
            <a:off x="4612538"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1,150 Gt</a:t>
            </a:r>
            <a:endParaRPr lang="en-US" sz="6000" dirty="0"/>
          </a:p>
        </p:txBody>
      </p:sp>
      <p:sp>
        <p:nvSpPr>
          <p:cNvPr id="10" name="Text 7"/>
          <p:cNvSpPr txBox="1"/>
          <p:nvPr/>
        </p:nvSpPr>
        <p:spPr>
          <a:xfrm>
            <a:off x="4612538"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CO2 from 2020 for a 67% chance of 2 °C</a:t>
            </a:r>
            <a:endParaRPr lang="en-US" sz="2000" dirty="0"/>
          </a:p>
        </p:txBody>
      </p:sp>
      <p:sp>
        <p:nvSpPr>
          <p:cNvPr id="11" name="stat card"/>
          <p:cNvSpPr/>
          <p:nvPr/>
        </p:nvSpPr>
        <p:spPr>
          <a:xfrm>
            <a:off x="8127797" y="1554480"/>
            <a:ext cx="3515258" cy="3566160"/>
          </a:xfrm>
          <a:prstGeom prst="roundRect">
            <a:avLst>
              <a:gd name="adj" fmla="val 3121"/>
            </a:avLst>
          </a:prstGeom>
          <a:solidFill>
            <a:srgbClr val="F7FAF9"/>
          </a:solidFill>
          <a:ln w="12700">
            <a:solidFill>
              <a:srgbClr val="F7FAF9"/>
            </a:solidFill>
            <a:prstDash val="solid"/>
          </a:ln>
        </p:spPr>
      </p:sp>
      <p:sp>
        <p:nvSpPr>
          <p:cNvPr id="12" name="Text 9"/>
          <p:cNvSpPr txBox="1"/>
          <p:nvPr/>
        </p:nvSpPr>
        <p:spPr>
          <a:xfrm>
            <a:off x="8402117"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~40 Gt</a:t>
            </a:r>
            <a:endParaRPr lang="en-US" sz="6000" dirty="0"/>
          </a:p>
        </p:txBody>
      </p:sp>
      <p:sp>
        <p:nvSpPr>
          <p:cNvPr id="13" name="Text 10"/>
          <p:cNvSpPr txBox="1"/>
          <p:nvPr/>
        </p:nvSpPr>
        <p:spPr>
          <a:xfrm>
            <a:off x="8402117"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CO2 the world emits each year</a:t>
            </a:r>
            <a:endParaRPr lang="en-US" sz="2000" dirty="0"/>
          </a:p>
        </p:txBody>
      </p:sp>
      <p:sp>
        <p:nvSpPr>
          <p:cNvPr id="14" name="Text 11"/>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i="1" dirty="0">
                <a:solidFill>
                  <a:srgbClr val="5B6875"/>
                </a:solidFill>
                <a:latin typeface="Calibri" pitchFamily="34" charset="0"/>
                <a:ea typeface="Calibri" pitchFamily="34" charset="-122"/>
                <a:cs typeface="Calibri" pitchFamily="34" charset="-120"/>
              </a:rPr>
              <a:t>Budgets from IPCC AR6 Working Group I (2021), counted from the start of 2020; part is already used.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how long does 500 Gt last?</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The 1.5 °C budget is 500 GtCO2. The world emits about 40 Gt a year. How long does the budget last?</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If emissions stay flat: 500 ÷ 40 = 12.5 years, then a sudden stop</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If they fall in a straight line to zero over T years, the total is a triangle</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Triangle area = ½ × 40 × T</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Set it equal to the budget: ½ × 40 × T = 500, so 20T = 500</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 = 500 ÷ 20 = 25 years</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12.5 years if flat; 25 years with a steady straight-line decline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Same budget, two shapes</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Illustrative paths for the 500 Gt budget at 40 Gt a year</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area under each line is the CO2 emitted</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Both areas equal 500 Gt</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Both end at zero</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The 2 °C budget is 1,150 GtCO2. At 40 Gt a year, how long does it last if emissions stay flat?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12 years</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29 years</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58 years</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115 years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The 2 °C budget is 1,150 GtCO2. At 40 Gt a year, how long does it last if emissions stay flat?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12 years</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About 29 years</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58 years</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115 years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Two numbers people mix up</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Emissions</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What we add each year</a:t>
            </a:r>
            <a:endParaRPr lang="en-US" sz="2200" dirty="0"/>
          </a:p>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Measured in Gt of CO2 per year</a:t>
            </a:r>
            <a:endParaRPr lang="en-US" sz="2200" dirty="0"/>
          </a:p>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About 40 Gt per year today</a:t>
            </a:r>
            <a:endParaRPr lang="en-US" sz="2200" dirty="0"/>
          </a:p>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The tap in the bathtub</a:t>
            </a:r>
            <a:endParaRPr lang="en-US" sz="22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Concentration</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What is in the air now</a:t>
            </a:r>
            <a:endParaRPr lang="en-US" sz="2200" dirty="0"/>
          </a:p>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Measured in parts per million (ppm)</a:t>
            </a:r>
            <a:endParaRPr lang="en-US" sz="2200" dirty="0"/>
          </a:p>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About 280 before industry, over 420 today</a:t>
            </a:r>
            <a:endParaRPr lang="en-US" sz="2200" dirty="0"/>
          </a:p>
          <a:p>
            <a:pPr marL="228600" indent="-228600">
              <a:spcAft>
                <a:spcPts val="1000"/>
              </a:spcAft>
              <a:buSzPct val="100000"/>
              <a:buChar char="•"/>
            </a:pPr>
            <a:r>
              <a:rPr lang="en-US" sz="2200" dirty="0">
                <a:solidFill>
                  <a:srgbClr val="1F2933"/>
                </a:solidFill>
                <a:latin typeface="Calibri" pitchFamily="34" charset="0"/>
                <a:ea typeface="Calibri" pitchFamily="34" charset="-122"/>
                <a:cs typeface="Calibri" pitchFamily="34" charset="-120"/>
              </a:rPr>
              <a:t>The water level in the bathtub</a:t>
            </a:r>
            <a:endParaRPr lang="en-US" sz="22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Halve emissions and you halve warming.</a:t>
            </a:r>
            <a:endParaRPr lang="en-US" sz="20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Halving the yearly rate only slows the rise. Warming stops rising only at net zero.</a:t>
            </a:r>
            <a:endParaRPr lang="en-US" sz="20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ppm and Gt per year measure the same thing.</a:t>
            </a:r>
            <a:endParaRPr lang="en-US" sz="20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ppm is what is in the air (the level). Gt per year is what we add (the tap).</a:t>
            </a:r>
            <a:endParaRPr lang="en-US" sz="20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500 Gt of CO2 gives 1.5 °C of warming on its own.</a:t>
            </a:r>
            <a:endParaRPr lang="en-US" sz="20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It gives about 0.225 °C more. We are already near 1.1 °C, and room is kept for methane and other gases.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IN 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Your first chart in R</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A data frame is a table; each column is a vector</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 picks one column out of a table</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Every ggplot: data, aes (what goes on which axis), a geom</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co2 &lt;- read_csv("data/co2_annual.csv")</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glimpse(co2)</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max(co2$ppm)</a:t>
            </a:r>
            <a:endParaRPr lang="en-US" sz="2200" dirty="0"/>
          </a:p>
          <a:p>
            <a:pPr indent="0" marL="0">
              <a:lnSpc>
                <a:spcPct val="100000"/>
              </a:lnSpc>
              <a:buNone/>
            </a:pP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ggplot(co2, aes(x = year, y = ppm))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geom_line()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labs(y = "CO2 (ppm)")</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Concentration   </a:t>
            </a:r>
            <a:pPr indent="0" marL="0">
              <a:buNone/>
            </a:pPr>
            <a:r>
              <a:rPr lang="en-US" sz="2000" dirty="0">
                <a:solidFill>
                  <a:srgbClr val="1F2933"/>
                </a:solidFill>
                <a:latin typeface="Calibri" pitchFamily="34" charset="0"/>
                <a:ea typeface="Calibri" pitchFamily="34" charset="-122"/>
                <a:cs typeface="Calibri" pitchFamily="34" charset="-120"/>
              </a:rPr>
              <a:t>How much CO2 is in the air, measured in parts per million (ppm). About 280 before industry, over 420 today.</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Radiative forcing   </a:t>
            </a:r>
            <a:pPr indent="0" marL="0">
              <a:buNone/>
            </a:pPr>
            <a:r>
              <a:rPr lang="en-US" sz="2000" dirty="0">
                <a:solidFill>
                  <a:srgbClr val="1F2933"/>
                </a:solidFill>
                <a:latin typeface="Calibri" pitchFamily="34" charset="0"/>
                <a:ea typeface="Calibri" pitchFamily="34" charset="-122"/>
                <a:cs typeface="Calibri" pitchFamily="34" charset="-120"/>
              </a:rPr>
              <a:t>Extra heat trapped by greenhouse gases, measured in watts per square metre (W/m²). A thicker 'blanket'.</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Cumulative emissions   </a:t>
            </a:r>
            <a:pPr indent="0" marL="0">
              <a:buNone/>
            </a:pPr>
            <a:r>
              <a:rPr lang="en-US" sz="2000" dirty="0">
                <a:solidFill>
                  <a:srgbClr val="1F2933"/>
                </a:solidFill>
                <a:latin typeface="Calibri" pitchFamily="34" charset="0"/>
                <a:ea typeface="Calibri" pitchFamily="34" charset="-122"/>
                <a:cs typeface="Calibri" pitchFamily="34" charset="-120"/>
              </a:rPr>
              <a:t>All the CO2 emitted added up over the years: the running total.</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Carbon budget   </a:t>
            </a:r>
            <a:pPr indent="0" marL="0">
              <a:buNone/>
            </a:pPr>
            <a:r>
              <a:rPr lang="en-US" sz="2000" dirty="0">
                <a:solidFill>
                  <a:srgbClr val="1F2933"/>
                </a:solidFill>
                <a:latin typeface="Calibri" pitchFamily="34" charset="0"/>
                <a:ea typeface="Calibri" pitchFamily="34" charset="-122"/>
                <a:cs typeface="Calibri" pitchFamily="34" charset="-120"/>
              </a:rPr>
              <a:t>The total CO2 that can still be emitted while keeping warming below a chosen limit.</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Net zero   </a:t>
            </a:r>
            <a:pPr indent="0" marL="0">
              <a:buNone/>
            </a:pPr>
            <a:r>
              <a:rPr lang="en-US" sz="2000" dirty="0">
                <a:solidFill>
                  <a:srgbClr val="1F2933"/>
                </a:solidFill>
                <a:latin typeface="Calibri" pitchFamily="34" charset="0"/>
                <a:ea typeface="Calibri" pitchFamily="34" charset="-122"/>
                <a:cs typeface="Calibri" pitchFamily="34" charset="-120"/>
              </a:rPr>
              <a:t>The point where CO2 added to the air each year is balanced by CO2 removed, so the running total stops growing.</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2800" b="1" dirty="0">
                <a:solidFill>
                  <a:srgbClr val="FFFFFF"/>
                </a:solidFill>
                <a:latin typeface="Cambria" pitchFamily="34" charset="0"/>
                <a:ea typeface="Cambria" pitchFamily="34" charset="-122"/>
                <a:cs typeface="Cambria" pitchFamily="34" charset="-120"/>
              </a:rPr>
              <a:t>Lab 2: first plots and the Hector climate model</a:t>
            </a:r>
            <a:endParaRPr lang="en-US" sz="28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Read a CO2 data file and plot it, then run the Hector climate model for a low and a high emissions path and compare the temperatures.</a:t>
            </a:r>
            <a:endParaRPr lang="en-US" sz="24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labs/lab2.R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Read and look at the data</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read_csv() loads a table. glimpse() and head() show what is inside before you plot anything.</a:t>
            </a:r>
            <a:endParaRPr lang="en-US" sz="2000" dirty="0"/>
          </a:p>
        </p:txBody>
      </p:sp>
      <p:sp>
        <p:nvSpPr>
          <p:cNvPr id="7" name="code panel"/>
          <p:cNvSpPr/>
          <p:nvPr/>
        </p:nvSpPr>
        <p:spPr>
          <a:xfrm>
            <a:off x="548640" y="2738120"/>
            <a:ext cx="11094415" cy="2788920"/>
          </a:xfrm>
          <a:prstGeom prst="roundRect">
            <a:avLst>
              <a:gd name="adj" fmla="val 3934"/>
            </a:avLst>
          </a:prstGeom>
          <a:solidFill>
            <a:srgbClr val="1E2A36"/>
          </a:solidFill>
          <a:ln w="12700">
            <a:solidFill>
              <a:srgbClr val="1E2A36"/>
            </a:solidFill>
            <a:prstDash val="solid"/>
          </a:ln>
        </p:spPr>
      </p:sp>
      <p:sp>
        <p:nvSpPr>
          <p:cNvPr id="8" name="Text 5"/>
          <p:cNvSpPr txBox="1"/>
          <p:nvPr/>
        </p:nvSpPr>
        <p:spPr>
          <a:xfrm>
            <a:off x="868680" y="3012440"/>
            <a:ext cx="10545775" cy="237744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library(tidyverse)</a:t>
            </a:r>
            <a:endParaRPr lang="en-US" sz="2400" dirty="0"/>
          </a:p>
          <a:p>
            <a:pPr indent="0" marL="0">
              <a:lnSpc>
                <a:spcPct val="100000"/>
              </a:lnSpc>
              <a:buNone/>
            </a:pP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 &lt;- read_csv("data/co2_annual.csv")</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glimpse(co2)</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head(co2)</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max(co2$ppm)</a:t>
            </a:r>
            <a:endParaRPr lang="en-US" sz="2400" dirty="0"/>
          </a:p>
        </p:txBody>
      </p:sp>
      <p:pic>
        <p:nvPicPr>
          <p:cNvPr id="9" name="tip icon" descr="preencoded.png">    </p:cNvPr>
          <p:cNvPicPr>
            <a:picLocks noChangeAspect="1"/>
          </p:cNvPicPr>
          <p:nvPr/>
        </p:nvPicPr>
        <p:blipFill>
          <a:blip r:embed="rId1"/>
          <a:stretch>
            <a:fillRect/>
          </a:stretch>
        </p:blipFill>
        <p:spPr>
          <a:xfrm>
            <a:off x="548640" y="5773928"/>
            <a:ext cx="329184" cy="329184"/>
          </a:xfrm>
          <a:prstGeom prst="rect">
            <a:avLst/>
          </a:prstGeom>
        </p:spPr>
      </p:pic>
      <p:sp>
        <p:nvSpPr>
          <p:cNvPr id="10" name="Text 6"/>
          <p:cNvSpPr txBox="1"/>
          <p:nvPr/>
        </p:nvSpPr>
        <p:spPr>
          <a:xfrm>
            <a:off x="1005840" y="575564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Draw the CO2 chart</a:t>
            </a:r>
            <a:endParaRPr lang="en-US" sz="3200" dirty="0"/>
          </a:p>
        </p:txBody>
      </p:sp>
      <p:sp>
        <p:nvSpPr>
          <p:cNvPr id="5" name="explain card"/>
          <p:cNvSpPr/>
          <p:nvPr/>
        </p:nvSpPr>
        <p:spPr>
          <a:xfrm>
            <a:off x="548640" y="1508760"/>
            <a:ext cx="11094415" cy="728980"/>
          </a:xfrm>
          <a:prstGeom prst="roundRect">
            <a:avLst>
              <a:gd name="adj" fmla="val 15052"/>
            </a:avLst>
          </a:prstGeom>
          <a:solidFill>
            <a:srgbClr val="E6F2F0"/>
          </a:solidFill>
          <a:ln w="12700">
            <a:solidFill>
              <a:srgbClr val="E6F2F0"/>
            </a:solidFill>
            <a:prstDash val="solid"/>
          </a:ln>
        </p:spPr>
      </p:sp>
      <p:sp>
        <p:nvSpPr>
          <p:cNvPr id="6" name="Text 3"/>
          <p:cNvSpPr txBox="1"/>
          <p:nvPr/>
        </p:nvSpPr>
        <p:spPr>
          <a:xfrm>
            <a:off x="777240" y="1600200"/>
            <a:ext cx="10637215" cy="5461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Map year to x and ppm to y, then draw a line.</a:t>
            </a:r>
            <a:endParaRPr lang="en-US" sz="2000" dirty="0"/>
          </a:p>
        </p:txBody>
      </p:sp>
      <p:sp>
        <p:nvSpPr>
          <p:cNvPr id="7" name="code panel"/>
          <p:cNvSpPr/>
          <p:nvPr/>
        </p:nvSpPr>
        <p:spPr>
          <a:xfrm>
            <a:off x="548640" y="2420620"/>
            <a:ext cx="11094415" cy="1691640"/>
          </a:xfrm>
          <a:prstGeom prst="roundRect">
            <a:avLst>
              <a:gd name="adj" fmla="val 6486"/>
            </a:avLst>
          </a:prstGeom>
          <a:solidFill>
            <a:srgbClr val="1E2A36"/>
          </a:solidFill>
          <a:ln w="12700">
            <a:solidFill>
              <a:srgbClr val="1E2A36"/>
            </a:solidFill>
            <a:prstDash val="solid"/>
          </a:ln>
        </p:spPr>
      </p:sp>
      <p:sp>
        <p:nvSpPr>
          <p:cNvPr id="8" name="Text 5"/>
          <p:cNvSpPr txBox="1"/>
          <p:nvPr/>
        </p:nvSpPr>
        <p:spPr>
          <a:xfrm>
            <a:off x="868680" y="2694940"/>
            <a:ext cx="10545775" cy="128016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ggplot(co2, aes(x = year, y = ppm))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geom_line()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labs(y = "CO2 (ppm)")</a:t>
            </a:r>
            <a:endParaRPr lang="en-US" sz="2400" dirty="0"/>
          </a:p>
        </p:txBody>
      </p:sp>
      <p:pic>
        <p:nvPicPr>
          <p:cNvPr id="9" name="tip icon" descr="preencoded.png">    </p:cNvPr>
          <p:cNvPicPr>
            <a:picLocks noChangeAspect="1"/>
          </p:cNvPicPr>
          <p:nvPr/>
        </p:nvPicPr>
        <p:blipFill>
          <a:blip r:embed="rId1"/>
          <a:stretch>
            <a:fillRect/>
          </a:stretch>
        </p:blipFill>
        <p:spPr>
          <a:xfrm>
            <a:off x="548640" y="4359148"/>
            <a:ext cx="329184" cy="329184"/>
          </a:xfrm>
          <a:prstGeom prst="rect">
            <a:avLst/>
          </a:prstGeom>
        </p:spPr>
      </p:pic>
      <p:sp>
        <p:nvSpPr>
          <p:cNvPr id="10" name="Text 6"/>
          <p:cNvSpPr txBox="1"/>
          <p:nvPr/>
        </p:nvSpPr>
        <p:spPr>
          <a:xfrm>
            <a:off x="1005840" y="434086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Run Hector for a low path</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Hector is the simple climate model inside GCAM. newcore() sets it up, run() runs it, fetchvars() pulls out temperature.</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library(hector)</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ini &lt;- system.file("input/hector_ssp126.ini",</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package = "hector")</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low &lt;- newcore(ini, name = "low")</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run(low)</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t_low &lt;- fetchvars(low, 2000:2100,</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GLOBAL_TAS())</a:t>
            </a:r>
            <a:endParaRPr lang="en-US" sz="23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Run a high path and compare</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Repeat with SSP5-8.5, stack the two results and colour the lines by scenario.</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ini &lt;- system.file("input/hector_ssp585.ini",</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                   package = "hector")</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high &lt;- newcore(ini, name = "high")</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run(high)</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t_high &lt;- fetchvars(high, 2000:2100,</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                    GLOBAL_TAS())</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temps &lt;- bind_rows(t_low, t_high)</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ggplot(temps, aes(year, value,</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                  colour = scenario)) +</a:t>
            </a:r>
            <a:endParaRPr lang="en-US" sz="1900" dirty="0"/>
          </a:p>
          <a:p>
            <a:pPr indent="0" marL="0">
              <a:lnSpc>
                <a:spcPct val="100000"/>
              </a:lnSpc>
              <a:buNone/>
            </a:pPr>
            <a:r>
              <a:rPr lang="en-US" sz="1900" dirty="0">
                <a:solidFill>
                  <a:srgbClr val="E8EEF2"/>
                </a:solidFill>
                <a:latin typeface="Courier New" pitchFamily="34" charset="0"/>
                <a:ea typeface="Courier New" pitchFamily="34" charset="-122"/>
                <a:cs typeface="Courier New" pitchFamily="34" charset="-120"/>
              </a:rPr>
              <a:t>  geom_line()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Your CO2 chart rises over time and ends above 400 ppm</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two Hector lines are close until about 2040, then split</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By 2100 the high path is several degrees warmer than the low path</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Why do the two temperature paths differ so little by 2050? Use the idea of cumulative emissions.</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What is the highest CO2 value in the file, and in which year?</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Change geom_line() to geom_point(). What changed and what stayed the same?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Emissions raise CO2 in the air, which traps heat (forcing), which warms the surface</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Warming follows the running total of CO2: about 0.45 °C per 1,000 Gt</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So a temperature limit becomes a carbon budget, and warming stops only at net zero</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In R: read_csv() loads a table, ggplot() + aes() + a geom draws it</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3</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3 asks where the emissions come from: energy, and the four factors of the Kaya identity.</a:t>
            </a:r>
            <a:endParaRPr lang="en-US" sz="16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2: try the budget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IPCC AR6 Working Group I (2021), Summary for Policymakers: sections on carbon budgets; R for Data Science: data visualisation chapter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Climate primer</dc:title>
  <dc:subject>Modelling Climate and Energy Futures</dc:subject>
  <dc:creator>IAM course team</dc:creator>
  <cp:lastModifiedBy>IAM course team</cp:lastModifiedBy>
  <cp:revision>1</cp:revision>
  <dcterms:created xsi:type="dcterms:W3CDTF">2026-10-22T18:53:46Z</dcterms:created>
  <dcterms:modified xsi:type="dcterms:W3CDTF">2026-10-22T18:53:46Z</dcterms:modified>
</cp:coreProperties>
</file>