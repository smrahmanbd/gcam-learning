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0933e08-29ee-d43c-3a75-765a20a26004}">
          <p14:sldIdLst>
            <p14:sldId id="256"/>
            <p14:sldId id="257"/>
            <p14:sldId id="258"/>
          </p14:sldIdLst>
        </p14:section>
        <p14:section name="Lecture" id="{70d72693-123a-e42d-717b-1b6d84399f3b}">
          <p14:sldIdLst>
            <p14:sldId id="259"/>
            <p14:sldId id="260"/>
            <p14:sldId id="261"/>
            <p14:sldId id="262"/>
            <p14:sldId id="263"/>
            <p14:sldId id="264"/>
            <p14:sldId id="265"/>
            <p14:sldId id="266"/>
            <p14:sldId id="267"/>
            <p14:sldId id="268"/>
            <p14:sldId id="269"/>
            <p14:sldId id="270"/>
          </p14:sldIdLst>
        </p14:section>
        <p14:section name="Lab" id="{5f603e28-54f0-db8d-01ca-9b5c81440363}">
          <p14:sldIdLst>
            <p14:sldId id="271"/>
            <p14:sldId id="272"/>
            <p14:sldId id="273"/>
            <p14:sldId id="274"/>
            <p14:sldId id="275"/>
            <p14:sldId id="276"/>
          </p14:sldIdLst>
        </p14:section>
        <p14:section name="Recap" id="{8376676c-7e06-b13a-d2e4-01a6e5e716b4}">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13: Uncertainty and scenario discovery. One run is one guess; many runs show what matters. Today has two halves: a lecture that builds the idea step by step with everyday examples, then a guided lab where we try it in R. Nobody is expected to know the material already. New R skill this week: Batch runs; scenario discovery with a classification tree (rpart).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13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We do not know future solar costs, population or policy. How can a model help us decide anything when its inputs are so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explain-a-paper talk, remind students of the week 5 lab where they ran DICE with different discount rates. That was their first sensitivity analysis. Today adds a way to make sense of many runs at once. Quiz 3 is this week, so keep time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are numbers we could in principle measure better. Structure is only revealed by comparing models. The future of society is not a measurement problem at all, which is why scenarios are stories, not forecasts. Ask each team which kind its sensitivity test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works for the idea of looking at a spread. Point out the limit at once: a weather ensemble samples measured uncertainty, while our ensemble uses values we chose to try. So in our case the share of runs is not a probability. This becomes a trap on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times are illustrative. Each new input multiplies the count, which is why ensembles are designed with care and why large studies sample combinations instead of running all of them. Lamontagne and colleagues ran 33,750 GCAM scenarios in a 2018 study; check that number against the paper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Bryant and Lempert used a related algorithm called PRIM; a classification tree is simpler and enough for this course. Stress step 2: the label is a modelling choice. Move the cut-off and the discovered scenario can change, which the worksheet asks students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runs. A classification tree does exactly this: at each step it picks the input split that best separates HIGH from the rest. Read the result aloud as a sentence; that sentence is the discovered scenario. Remind students that the tree describes the model's behaviour, not cause and effect in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it describes the runs under the values we chose to try. Pick different values and the share changes. An ensemble shows the spread of outcomes, not their likelihood. This is the most common error in worksheet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it describes the runs under the values we chose to try. Pick different values and the share changes. An ensemble shows the spread of outcomes, not their likelihood. This is the most common error in worksheet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it through: A's regrets are 0, 0 and 75; B's are 15, 8 and 0. A least-cost model that trusts future 1 picks A. A robust analysis picks B, whose worst regret is five times smaller. Robust decision making was developed at RAND by Lempert, Popper and Bankes. Link to week 11: perfect foresight is the purest form of betting on one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Emulators exist because large models are slow. Students have already met one: Hector stands in for big Earth system models, and AR6 used climate emulators to assign temperatures to scenarios; check that description against AR6 before teaching. Keep this slide brief; the aim is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appear in quizzes and worksheets. The third is the beginning of an idea called overfitting; students do not need the word, only the habit of preferring a short tree they can read as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See how a 36-run GCAM ensemble was set up, label the high-emission runs and let a classification tree find which inputs lead to them.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GCAM ensemble takes hours, so the instructor made the runs before the session. Walk through the four inputs: solar cost, CO2 storage, SSP and carbon price. Batch mode is documented in the GCAM user guide: set BatchMode to 1, name the batch file under Files, and GCAM runs every combination of the file sets. Our batch file has not been run; its header lists what to check against the installed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column names are the course's own choice; gcam-files/ensemble_configuration_changes.txt explains how the instructor builds this file from the 36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0.75 about 9 of 36 runs are high. The cut-off is a judgement; the worksheet asks what happens when it moves to 0.5. The script also draws a histogram of 2050 emissions coloured by label, worth showing before the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minsplit = 6 lets the tree split small groups. A run goes left when the condition at the split is true. The expected pattern is carbon price first and the SSP second, but confirm on your own file before the session. The complete script is solutions/lab13_solution.R.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Name three kinds of uncertainty and how each is explored; Count the runs in an ensemble and explain why they grow so fast; Use a classification tree to find which inputs lead to high emissions; Explain robust decisions and emulators in plain words. Ask students to rate themselves on each. Then point to next week: Week 14 looks at where IAMs are heading and at the main criticisms of them, and turns your draft results into clear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13 · Uncertainty and scenario discovery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13 · Uncertainty and scenario discovery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7.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6.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6.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Uncertainty and scenario discovery</a:t>
            </a:r>
            <a:endParaRPr lang="en-US" sz="3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13 OF 15  ·  STAGE 3: ADVANCED METHODS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One run is one guess; many runs show what matters</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Batch runs; scenario discovery with a classification tree (rpart)</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9E4DF"/>
          </a:solidFill>
          <a:ln w="12700">
            <a:solidFill>
              <a:srgbClr val="C9E4DF"/>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C9E4DF"/>
          </a:solidFill>
          <a:ln w="12700">
            <a:solidFill>
              <a:srgbClr val="C9E4DF"/>
            </a:solidFill>
            <a:prstDash val="solid"/>
          </a:ln>
        </p:spPr>
      </p:sp>
      <p:sp>
        <p:nvSpPr>
          <p:cNvPr id="31" name="Text 28"/>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2" name="Text 29"/>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3" name="week tile"/>
          <p:cNvSpPr/>
          <p:nvPr/>
        </p:nvSpPr>
        <p:spPr>
          <a:xfrm>
            <a:off x="5572658" y="3108960"/>
            <a:ext cx="1414729" cy="1188720"/>
          </a:xfrm>
          <a:prstGeom prst="roundRect">
            <a:avLst>
              <a:gd name="adj" fmla="val 9231"/>
            </a:avLst>
          </a:prstGeom>
          <a:solidFill>
            <a:srgbClr val="C9E4DF"/>
          </a:solidFill>
          <a:ln w="12700">
            <a:solidFill>
              <a:srgbClr val="C9E4DF"/>
            </a:solidFill>
            <a:prstDash val="solid"/>
          </a:ln>
        </p:spPr>
      </p:sp>
      <p:sp>
        <p:nvSpPr>
          <p:cNvPr id="34" name="Text 31"/>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5" name="Text 32"/>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6" name="week tile"/>
          <p:cNvSpPr/>
          <p:nvPr/>
        </p:nvSpPr>
        <p:spPr>
          <a:xfrm>
            <a:off x="7124548" y="3108960"/>
            <a:ext cx="1414729" cy="1188720"/>
          </a:xfrm>
          <a:prstGeom prst="roundRect">
            <a:avLst>
              <a:gd name="adj" fmla="val 9231"/>
            </a:avLst>
          </a:prstGeom>
          <a:solidFill>
            <a:srgbClr val="C9E4DF"/>
          </a:solidFill>
          <a:ln w="12700">
            <a:solidFill>
              <a:srgbClr val="C9E4DF"/>
            </a:solidFill>
            <a:prstDash val="solid"/>
          </a:ln>
        </p:spPr>
      </p:sp>
      <p:sp>
        <p:nvSpPr>
          <p:cNvPr id="37" name="Text 34"/>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38" name="Text 35"/>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39" name="Text 36"/>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0" name="Text 37"/>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1" name="week tile"/>
          <p:cNvSpPr/>
          <p:nvPr/>
        </p:nvSpPr>
        <p:spPr>
          <a:xfrm>
            <a:off x="2468880" y="4617720"/>
            <a:ext cx="1414729" cy="1188720"/>
          </a:xfrm>
          <a:prstGeom prst="roundRect">
            <a:avLst>
              <a:gd name="adj" fmla="val 9231"/>
            </a:avLst>
          </a:prstGeom>
          <a:solidFill>
            <a:srgbClr val="C9E4DF"/>
          </a:solidFill>
          <a:ln w="12700">
            <a:solidFill>
              <a:srgbClr val="C9E4DF"/>
            </a:solidFill>
            <a:prstDash val="solid"/>
          </a:ln>
        </p:spPr>
      </p:sp>
      <p:sp>
        <p:nvSpPr>
          <p:cNvPr id="42" name="Text 39"/>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3" name="Text 40"/>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4" name="week tile"/>
          <p:cNvSpPr/>
          <p:nvPr/>
        </p:nvSpPr>
        <p:spPr>
          <a:xfrm>
            <a:off x="4020769" y="4617720"/>
            <a:ext cx="1414729" cy="1188720"/>
          </a:xfrm>
          <a:prstGeom prst="roundRect">
            <a:avLst>
              <a:gd name="adj" fmla="val 9231"/>
            </a:avLst>
          </a:prstGeom>
          <a:solidFill>
            <a:srgbClr val="C9E4DF"/>
          </a:solidFill>
          <a:ln w="12700">
            <a:solidFill>
              <a:srgbClr val="C9E4DF"/>
            </a:solidFill>
            <a:prstDash val="solid"/>
          </a:ln>
        </p:spPr>
      </p:sp>
      <p:sp>
        <p:nvSpPr>
          <p:cNvPr id="45" name="Text 42"/>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46" name="Text 43"/>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47" name="week tile"/>
          <p:cNvSpPr/>
          <p:nvPr/>
        </p:nvSpPr>
        <p:spPr>
          <a:xfrm>
            <a:off x="5572658" y="4617720"/>
            <a:ext cx="1414729" cy="1188720"/>
          </a:xfrm>
          <a:prstGeom prst="roundRect">
            <a:avLst>
              <a:gd name="adj" fmla="val 9231"/>
            </a:avLst>
          </a:prstGeom>
          <a:solidFill>
            <a:srgbClr val="C2410C"/>
          </a:solidFill>
          <a:ln w="12700">
            <a:solidFill>
              <a:srgbClr val="C2410C"/>
            </a:solidFill>
            <a:prstDash val="solid"/>
          </a:ln>
        </p:spPr>
      </p:sp>
      <p:sp>
        <p:nvSpPr>
          <p:cNvPr id="48" name="Text 45"/>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13</a:t>
            </a:r>
            <a:endParaRPr lang="en-US" sz="1200" dirty="0"/>
          </a:p>
        </p:txBody>
      </p:sp>
      <p:sp>
        <p:nvSpPr>
          <p:cNvPr id="49" name="Text 46"/>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Uncertainty</a:t>
            </a:r>
            <a:endParaRPr lang="en-US" sz="1400" dirty="0"/>
          </a:p>
        </p:txBody>
      </p:sp>
      <p:sp>
        <p:nvSpPr>
          <p:cNvPr id="50"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1" name="Shape 48"/>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52" name="Text 49"/>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53" name="Text 50"/>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54"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55" name="Shape 52"/>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56" name="Text 53"/>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57" name="Text 54"/>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Name three kinds of uncertainty and how each is explored</a:t>
            </a:r>
            <a:endParaRPr lang="en-US" sz="19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Count the runs in an ensemble and explain why they grow so fast</a:t>
            </a:r>
            <a:endParaRPr lang="en-US" sz="19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Use a classification tree to find which inputs lead to high emissions</a:t>
            </a:r>
            <a:endParaRPr lang="en-US" sz="19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Explain robust decisions and emulators in plain words</a:t>
            </a:r>
            <a:endParaRPr lang="en-US" sz="19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We do not know future solar costs, population or policy. How can a model help us decide anything when its inputs are so uncertain?</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Write the scenario after the runs</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Usually you invent a scenario and then run the model. Today we run the model dozens of times first, and let the computer tell us which combinations of assumptions lead to trouble.</a:t>
            </a:r>
            <a:endParaRPr lang="en-US" sz="23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would you want to know before trusting a single model run?</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Three kinds of uncertainty, three ways to explore them</a:t>
            </a:r>
            <a:endParaRPr lang="en-US" sz="26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698138"/>
                <a:gridCol w="3698138"/>
                <a:gridCol w="3698138"/>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Kind</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Example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How to explore it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Inputs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Future solar cost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Sensitivity runs, ensembles (today)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Model structure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Models built differently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Compare models (week 12)</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Future society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Population, growth, policy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Scenarios such as the SSPs (week 6)</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4142232"/>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4251960"/>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4361322"/>
            <a:ext cx="201900" cy="201900"/>
          </a:xfrm>
          <a:prstGeom prst="rect">
            <a:avLst/>
          </a:prstGeom>
        </p:spPr>
      </p:pic>
      <p:sp>
        <p:nvSpPr>
          <p:cNvPr id="9" name="Text 4"/>
          <p:cNvSpPr txBox="1"/>
          <p:nvPr/>
        </p:nvSpPr>
        <p:spPr>
          <a:xfrm>
            <a:off x="1280160" y="4142232"/>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Your project's sensitivity test usually covers inputs; say what it leaves out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Weather forecasters never trust one run</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A weather service runs its forecast model many times with slightly different starting conditions. If 45 of 50 runs bring rain, you take an umbrella. If they split, you know the forecast is shaky. One run alone would hide that.</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Many runs show how stable a result is</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An ensemble varies several inputs together</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But our inputs are chosen, not random draws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counting ensemble runs</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The lab ensemble varies solar cost (2 values), CO2 storage (2), SSP (3) and carbon price (3). How many runs?</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Every combination: 2 × 2 × 3 × 3</a:t>
            </a:r>
            <a:endParaRPr lang="en-US" sz="21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2 × 2 = 4, then 4 × 3 = 12, then 12 × 3 = 36 runs</a:t>
            </a:r>
            <a:endParaRPr lang="en-US" sz="21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Add a fifth input with 3 values: 36 × 3 = 108 runs</a:t>
            </a:r>
            <a:endParaRPr lang="en-US" sz="21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At 2 hours a run, 4 runs at once: 108 × 2 ÷ 4 = 54 hours</a:t>
            </a:r>
            <a:endParaRPr lang="en-US" sz="21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200" b="1" dirty="0">
                <a:solidFill>
                  <a:srgbClr val="12263A"/>
                </a:solidFill>
                <a:latin typeface="Cambria" pitchFamily="34" charset="0"/>
                <a:ea typeface="Cambria" pitchFamily="34" charset="-122"/>
                <a:cs typeface="Cambria" pitchFamily="34" charset="-120"/>
              </a:rPr>
              <a:t>36 runs in the lab; 108 runs and about 54 hours with one more input</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Scenario discovery in four steps</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Run many cases</a:t>
            </a:r>
            <a:endParaRPr lang="en-US" sz="18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Inputs differ: price, solar cost, CO2 storage, SSP</a:t>
            </a:r>
            <a:endParaRPr lang="en-US" sz="20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Label each run</a:t>
            </a:r>
            <a:endParaRPr lang="en-US" sz="18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High emissions in 2050: yes or no?</a:t>
            </a:r>
            <a:endParaRPr lang="en-US" sz="20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Fit a tree</a:t>
            </a:r>
            <a:endParaRPr lang="en-US" sz="18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It splits runs by input values</a:t>
            </a:r>
            <a:endParaRPr lang="en-US" sz="20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Read the leaves</a:t>
            </a:r>
            <a:endParaRPr lang="en-US" sz="18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Which settings lead to trouble?</a:t>
            </a:r>
            <a:endParaRPr lang="en-US" sz="20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Bryant and Lempert introduced the idea; Lamontagne et al. (2018) applied it to a large GCAM ensemble</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growing a tree by hand</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Eight runs; three are labelled HIGH. Which input settings explain them?</a:t>
            </a:r>
            <a:endParaRPr lang="en-US" sz="2000" dirty="0"/>
          </a:p>
        </p:txBody>
      </p:sp>
      <p:sp>
        <p:nvSpPr>
          <p:cNvPr id="9" name="number badge"/>
          <p:cNvSpPr txBox="1"/>
          <p:nvPr/>
        </p:nvSpPr>
        <p:spPr>
          <a:xfrm>
            <a:off x="548640" y="267690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Split on carbon price. Low price: 4 runs, 3 HIGH. High price: 4 runs, 0 HIGH</a:t>
            </a:r>
            <a:endParaRPr lang="en-US" sz="1900" dirty="0"/>
          </a:p>
        </p:txBody>
      </p:sp>
      <p:sp>
        <p:nvSpPr>
          <p:cNvPr id="11" name="number badge"/>
          <p:cNvSpPr txBox="1"/>
          <p:nvPr/>
        </p:nvSpPr>
        <p:spPr>
          <a:xfrm>
            <a:off x="548640" y="311124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08610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That is a clean split, so carbon price comes first</a:t>
            </a:r>
            <a:endParaRPr lang="en-US" sz="1900" dirty="0"/>
          </a:p>
        </p:txBody>
      </p:sp>
      <p:sp>
        <p:nvSpPr>
          <p:cNvPr id="13" name="number badge"/>
          <p:cNvSpPr txBox="1"/>
          <p:nvPr/>
        </p:nvSpPr>
        <p:spPr>
          <a:xfrm>
            <a:off x="548640" y="354558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52044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Split the low-price group on solar cost. Solar high: 2 runs, both HIGH</a:t>
            </a:r>
            <a:endParaRPr lang="en-US" sz="1900" dirty="0"/>
          </a:p>
        </p:txBody>
      </p:sp>
      <p:sp>
        <p:nvSpPr>
          <p:cNvPr id="15" name="number badge"/>
          <p:cNvSpPr txBox="1"/>
          <p:nvPr/>
        </p:nvSpPr>
        <p:spPr>
          <a:xfrm>
            <a:off x="548640" y="397992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395478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Solar low: 2 runs, 1 HIGH</a:t>
            </a:r>
            <a:endParaRPr lang="en-US" sz="1900" dirty="0"/>
          </a:p>
        </p:txBody>
      </p:sp>
      <p:sp>
        <p:nvSpPr>
          <p:cNvPr id="17" name="number badge"/>
          <p:cNvSpPr txBox="1"/>
          <p:nvPr/>
        </p:nvSpPr>
        <p:spPr>
          <a:xfrm>
            <a:off x="548640" y="441426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38912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Rule: low carbon price AND high solar cost → HIGH</a:t>
            </a:r>
            <a:endParaRPr lang="en-US" sz="1900" dirty="0"/>
          </a:p>
        </p:txBody>
      </p:sp>
      <p:sp>
        <p:nvSpPr>
          <p:cNvPr id="19" name="number badge"/>
          <p:cNvSpPr txBox="1"/>
          <p:nvPr/>
        </p:nvSpPr>
        <p:spPr>
          <a:xfrm>
            <a:off x="548640" y="484860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0" name="Text 16"/>
          <p:cNvSpPr txBox="1"/>
          <p:nvPr/>
        </p:nvSpPr>
        <p:spPr>
          <a:xfrm>
            <a:off x="1143000" y="4823460"/>
            <a:ext cx="10454335" cy="434340"/>
          </a:xfrm>
          <a:prstGeom prst="rect">
            <a:avLst/>
          </a:prstGeom>
          <a:noFill/>
          <a:ln/>
        </p:spPr>
        <p:txBody>
          <a:bodyPr wrap="square" lIns="0" tIns="0" rIns="0" bIns="0" rtlCol="0" anchor="ctr"/>
          <a:lstStyle/>
          <a:p>
            <a:pPr indent="0" marL="0">
              <a:buNone/>
            </a:pPr>
            <a:r>
              <a:rPr lang="en-US" sz="1900" dirty="0">
                <a:solidFill>
                  <a:srgbClr val="1F2933"/>
                </a:solidFill>
                <a:latin typeface="Calibri" pitchFamily="34" charset="0"/>
                <a:ea typeface="Calibri" pitchFamily="34" charset="-122"/>
                <a:cs typeface="Calibri" pitchFamily="34" charset="-120"/>
              </a:rPr>
              <a:t>The rule is right on 7 of 8 runs = 87.5%</a:t>
            </a:r>
            <a:endParaRPr lang="en-US" sz="1900" dirty="0"/>
          </a:p>
        </p:txBody>
      </p:sp>
      <p:sp>
        <p:nvSpPr>
          <p:cNvPr id="21"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2"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3"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4" name="Text 19"/>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1900" b="1" dirty="0">
                <a:solidFill>
                  <a:srgbClr val="C2410C"/>
                </a:solidFill>
                <a:latin typeface="Calibri" pitchFamily="34" charset="0"/>
                <a:ea typeface="Calibri" pitchFamily="34" charset="-122"/>
                <a:cs typeface="Calibri" pitchFamily="34" charset="-120"/>
              </a:rPr>
              <a:t>Answer  </a:t>
            </a:r>
            <a:pPr indent="0" marL="0">
              <a:buNone/>
            </a:pPr>
            <a:r>
              <a:rPr lang="en-US" sz="1900" b="1" dirty="0">
                <a:solidFill>
                  <a:srgbClr val="12263A"/>
                </a:solidFill>
                <a:latin typeface="Calibri" pitchFamily="34" charset="0"/>
                <a:ea typeface="Calibri" pitchFamily="34" charset="-122"/>
                <a:cs typeface="Calibri" pitchFamily="34" charset="-120"/>
              </a:rPr>
              <a:t>Low carbon price with high solar cost leads to high emissions (right on 7 of 8)</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In the lab, 9 of 36 runs are labelled high. What does that tell you?</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There is a 25% chance of high emissions</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Under the values we chose, a quarter of runs end high</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 other 27 runs are wrong</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High emissions are unlikely</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In the lab, 9 of 36 runs are labelled high. What does that tell you?</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There is a 25% chance of high emissions</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Under the values we chose, a quarter of runs end high</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The other 27 runs are wrong</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High emissions are unlikely</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Robust choice: keep the worst regret small</a:t>
            </a:r>
            <a:endParaRPr lang="en-US" sz="32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18883"/>
                <a:gridCol w="2218883"/>
                <a:gridCol w="2218883"/>
                <a:gridCol w="2218883"/>
                <a:gridCol w="2218883"/>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Strategy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Future 1</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Future 2</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Future 3</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Worst regret</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A: rely on one technology</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110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200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200 − 125 = 75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B: spread across several</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115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118</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125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115 − 100 = 15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676656">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Best in each future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110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125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4361688"/>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4471416"/>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4580778"/>
            <a:ext cx="201900" cy="201900"/>
          </a:xfrm>
          <a:prstGeom prst="rect">
            <a:avLst/>
          </a:prstGeom>
        </p:spPr>
      </p:pic>
      <p:sp>
        <p:nvSpPr>
          <p:cNvPr id="9" name="Text 4"/>
          <p:cNvSpPr txBox="1"/>
          <p:nvPr/>
        </p:nvSpPr>
        <p:spPr>
          <a:xfrm>
            <a:off x="1280160" y="4361688"/>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Cost to meet a target, index. Regret = your cost − the best cost in that future. Illustrative.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Two more tools for a very uncertain future</a:t>
            </a:r>
            <a:endParaRPr lang="en-US" sz="3200" dirty="0"/>
          </a:p>
        </p:txBody>
      </p:sp>
      <p:sp>
        <p:nvSpPr>
          <p:cNvPr id="5" name="idea card"/>
          <p:cNvSpPr/>
          <p:nvPr/>
        </p:nvSpPr>
        <p:spPr>
          <a:xfrm>
            <a:off x="548640"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Emulators</a:t>
            </a:r>
            <a:endParaRPr lang="en-US" sz="2100" dirty="0"/>
          </a:p>
        </p:txBody>
      </p:sp>
      <p:sp>
        <p:nvSpPr>
          <p:cNvPr id="8" name="Text 5"/>
          <p:cNvSpPr txBox="1"/>
          <p:nvPr/>
        </p:nvSpPr>
        <p:spPr>
          <a:xfrm>
            <a:off x="822960"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 fast stand-in for a slow model. Week 2's rule, 0.45 °C per 1,000 GtCO2, is an emulator of full climate models.</a:t>
            </a:r>
            <a:endParaRPr lang="en-US" sz="2000" dirty="0"/>
          </a:p>
        </p:txBody>
      </p:sp>
      <p:sp>
        <p:nvSpPr>
          <p:cNvPr id="9" name="idea card"/>
          <p:cNvSpPr/>
          <p:nvPr/>
        </p:nvSpPr>
        <p:spPr>
          <a:xfrm>
            <a:off x="4338218"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4612538"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4612538"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Robust decision making</a:t>
            </a:r>
            <a:endParaRPr lang="en-US" sz="2100" dirty="0"/>
          </a:p>
        </p:txBody>
      </p:sp>
      <p:sp>
        <p:nvSpPr>
          <p:cNvPr id="12" name="Text 9"/>
          <p:cNvSpPr txBox="1"/>
          <p:nvPr/>
        </p:nvSpPr>
        <p:spPr>
          <a:xfrm>
            <a:off x="4612538"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Examine a very wide range of futures and look for near-term choices that hold up in nearly all of them.</a:t>
            </a:r>
            <a:endParaRPr lang="en-US" sz="2000" dirty="0"/>
          </a:p>
        </p:txBody>
      </p:sp>
      <p:sp>
        <p:nvSpPr>
          <p:cNvPr id="13" name="idea card"/>
          <p:cNvSpPr/>
          <p:nvPr/>
        </p:nvSpPr>
        <p:spPr>
          <a:xfrm>
            <a:off x="8127797"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8402117"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8402117" y="2560320"/>
            <a:ext cx="2966618"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Why they matter</a:t>
            </a:r>
            <a:endParaRPr lang="en-US" sz="2100" dirty="0"/>
          </a:p>
        </p:txBody>
      </p:sp>
      <p:sp>
        <p:nvSpPr>
          <p:cNvPr id="16" name="Text 13"/>
          <p:cNvSpPr txBox="1"/>
          <p:nvPr/>
        </p:nvSpPr>
        <p:spPr>
          <a:xfrm>
            <a:off x="8402117"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Thousands of runs need cheap runs; good decisions need to survive the futures we did not expect.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9 of 36 runs are high, so there is a 25% chance</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share depends on the values you chose to try. It is not a probability.</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tree shows what causes high emissions in the real world</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It describes how this model behaves across these runs, nothing more.</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 tree that fits every run perfectly is the best tree</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It may just memorise the runs. Keep it small and check its accuracy.</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Sensitivity analysis   </a:t>
            </a:r>
            <a:pPr indent="0" marL="0">
              <a:buNone/>
            </a:pPr>
            <a:r>
              <a:rPr lang="en-US" sz="2000" dirty="0">
                <a:solidFill>
                  <a:srgbClr val="1F2933"/>
                </a:solidFill>
                <a:latin typeface="Calibri" pitchFamily="34" charset="0"/>
                <a:ea typeface="Calibri" pitchFamily="34" charset="-122"/>
                <a:cs typeface="Calibri" pitchFamily="34" charset="-120"/>
              </a:rPr>
              <a:t>Changing one input at a time, holding the rest fixed, to see how far the result moves. You did this with DICE in week 5.</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Ensemble   </a:t>
            </a:r>
            <a:pPr indent="0" marL="0">
              <a:buNone/>
            </a:pPr>
            <a:r>
              <a:rPr lang="en-US" sz="2000" dirty="0">
                <a:solidFill>
                  <a:srgbClr val="1F2933"/>
                </a:solidFill>
                <a:latin typeface="Calibri" pitchFamily="34" charset="0"/>
                <a:ea typeface="Calibri" pitchFamily="34" charset="-122"/>
                <a:cs typeface="Calibri" pitchFamily="34" charset="-120"/>
              </a:rPr>
              <a:t>A set of model runs that changes several inputs together, running every combination or a sample of them.</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Scenario discovery   </a:t>
            </a:r>
            <a:pPr indent="0" marL="0">
              <a:buNone/>
            </a:pPr>
            <a:r>
              <a:rPr lang="en-US" sz="2000" dirty="0">
                <a:solidFill>
                  <a:srgbClr val="1F2933"/>
                </a:solidFill>
                <a:latin typeface="Calibri" pitchFamily="34" charset="0"/>
                <a:ea typeface="Calibri" pitchFamily="34" charset="-122"/>
                <a:cs typeface="Calibri" pitchFamily="34" charset="-120"/>
              </a:rPr>
              <a:t>Running many cases first, labelling the outcomes you care about, then letting a computer find which input settings lead to them.</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Emulator   </a:t>
            </a:r>
            <a:pPr indent="0" marL="0">
              <a:buNone/>
            </a:pPr>
            <a:r>
              <a:rPr lang="en-US" sz="2000" dirty="0">
                <a:solidFill>
                  <a:srgbClr val="1F2933"/>
                </a:solidFill>
                <a:latin typeface="Calibri" pitchFamily="34" charset="0"/>
                <a:ea typeface="Calibri" pitchFamily="34" charset="-122"/>
                <a:cs typeface="Calibri" pitchFamily="34" charset="-120"/>
              </a:rPr>
              <a:t>A fast, simple formula fitted to a slow model's runs, so thousands of cases can be tried in seconds.</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Robust decision   </a:t>
            </a:r>
            <a:pPr indent="0" marL="0">
              <a:buNone/>
            </a:pPr>
            <a:r>
              <a:rPr lang="en-US" sz="2000" dirty="0">
                <a:solidFill>
                  <a:srgbClr val="1F2933"/>
                </a:solidFill>
                <a:latin typeface="Calibri" pitchFamily="34" charset="0"/>
                <a:ea typeface="Calibri" pitchFamily="34" charset="-122"/>
                <a:cs typeface="Calibri" pitchFamily="34" charset="-120"/>
              </a:rPr>
              <a:t>A choice that works acceptably across many possible futures, instead of being best in one.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Lab 13: an ensemble and scenario discovery</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400" dirty="0">
                <a:solidFill>
                  <a:srgbClr val="C9D6DF"/>
                </a:solidFill>
                <a:latin typeface="Calibri" pitchFamily="34" charset="0"/>
                <a:ea typeface="Calibri" pitchFamily="34" charset="-122"/>
                <a:cs typeface="Calibri" pitchFamily="34" charset="-120"/>
              </a:rPr>
              <a:t>See how a 36-run GCAM ensemble was set up, label the high-emission runs and let a classification tree find which inputs lead to them.</a:t>
            </a:r>
            <a:endParaRPr lang="en-US" sz="24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labs/lab13.R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Read the batch file (no code)</a:t>
            </a:r>
            <a:endParaRPr lang="en-US" sz="3200" dirty="0"/>
          </a:p>
        </p:txBody>
      </p:sp>
      <p:sp>
        <p:nvSpPr>
          <p:cNvPr id="5" name="number badge"/>
          <p:cNvSpPr txBox="1"/>
          <p:nvPr/>
        </p:nvSpPr>
        <p:spPr>
          <a:xfrm>
            <a:off x="731520" y="2377440"/>
            <a:ext cx="2011680" cy="201168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1</a:t>
            </a:r>
            <a:endParaRPr lang="en-US" sz="8000" dirty="0"/>
          </a:p>
        </p:txBody>
      </p:sp>
      <p:sp>
        <p:nvSpPr>
          <p:cNvPr id="6" name="Text 3"/>
          <p:cNvSpPr txBox="1"/>
          <p:nvPr/>
        </p:nvSpPr>
        <p:spPr>
          <a:xfrm>
            <a:off x="3291840" y="1691640"/>
            <a:ext cx="8351215" cy="4343400"/>
          </a:xfrm>
          <a:prstGeom prst="rect">
            <a:avLst/>
          </a:prstGeom>
          <a:noFill/>
          <a:ln/>
        </p:spPr>
        <p:txBody>
          <a:bodyPr wrap="square" lIns="0" tIns="0" rIns="0" bIns="0" rtlCol="0" anchor="ctr"/>
          <a:lstStyle/>
          <a:p>
            <a:pPr indent="0" marL="0">
              <a:spcAft>
                <a:spcPts val="800"/>
              </a:spcAft>
              <a:buNone/>
            </a:pPr>
            <a:r>
              <a:rPr lang="en-US" sz="3000" dirty="0">
                <a:solidFill>
                  <a:srgbClr val="12263A"/>
                </a:solidFill>
                <a:latin typeface="Calibri" pitchFamily="34" charset="0"/>
                <a:ea typeface="Calibri" pitchFamily="34" charset="-122"/>
                <a:cs typeface="Calibri" pitchFamily="34" charset="-120"/>
              </a:rPr>
              <a:t>Open gcam-files/ensemble_​batch.xml. Each ComponentSet is one input; GCAM runs every combination: 2 × 2 × 3 × 3 = 36.</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Load the results</a:t>
            </a:r>
            <a:endParaRPr lang="en-US" sz="3200" dirty="0"/>
          </a:p>
        </p:txBody>
      </p:sp>
      <p:sp>
        <p:nvSpPr>
          <p:cNvPr id="5" name="explain card"/>
          <p:cNvSpPr/>
          <p:nvPr/>
        </p:nvSpPr>
        <p:spPr>
          <a:xfrm>
            <a:off x="548640" y="1508760"/>
            <a:ext cx="11094415" cy="728980"/>
          </a:xfrm>
          <a:prstGeom prst="roundRect">
            <a:avLst>
              <a:gd name="adj" fmla="val 15052"/>
            </a:avLst>
          </a:prstGeom>
          <a:solidFill>
            <a:srgbClr val="E6F2F0"/>
          </a:solidFill>
          <a:ln w="12700">
            <a:solidFill>
              <a:srgbClr val="E6F2F0"/>
            </a:solidFill>
            <a:prstDash val="solid"/>
          </a:ln>
        </p:spPr>
      </p:sp>
      <p:sp>
        <p:nvSpPr>
          <p:cNvPr id="6" name="Text 3"/>
          <p:cNvSpPr txBox="1"/>
          <p:nvPr/>
        </p:nvSpPr>
        <p:spPr>
          <a:xfrm>
            <a:off x="777240" y="1600200"/>
            <a:ext cx="10637215" cy="5461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One row per run. rpart wants text columns as factors, so convert them.</a:t>
            </a:r>
            <a:endParaRPr lang="en-US" sz="2000" dirty="0"/>
          </a:p>
        </p:txBody>
      </p:sp>
      <p:sp>
        <p:nvSpPr>
          <p:cNvPr id="7" name="code panel"/>
          <p:cNvSpPr/>
          <p:nvPr/>
        </p:nvSpPr>
        <p:spPr>
          <a:xfrm>
            <a:off x="548640" y="2420620"/>
            <a:ext cx="11094415" cy="3154680"/>
          </a:xfrm>
          <a:prstGeom prst="roundRect">
            <a:avLst>
              <a:gd name="adj" fmla="val 3478"/>
            </a:avLst>
          </a:prstGeom>
          <a:solidFill>
            <a:srgbClr val="1E2A36"/>
          </a:solidFill>
          <a:ln w="12700">
            <a:solidFill>
              <a:srgbClr val="1E2A36"/>
            </a:solidFill>
            <a:prstDash val="solid"/>
          </a:ln>
        </p:spPr>
      </p:sp>
      <p:sp>
        <p:nvSpPr>
          <p:cNvPr id="8" name="Text 5"/>
          <p:cNvSpPr txBox="1"/>
          <p:nvPr/>
        </p:nvSpPr>
        <p:spPr>
          <a:xfrm>
            <a:off x="868680" y="2694940"/>
            <a:ext cx="10545775" cy="274320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library(tidyverse)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library(rpart)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ens &lt;- read_csv("data/ensemble_results.csv") |&gt;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mutate(across(where(is.character), factor))</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glimpse(ens)</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count(ens, solar_cost, ccs_storage,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ssp, carbon_price)   # 36 rows, n = 1</a:t>
            </a:r>
            <a:endParaRPr lang="en-US" sz="2400" dirty="0"/>
          </a:p>
        </p:txBody>
      </p:sp>
      <p:pic>
        <p:nvPicPr>
          <p:cNvPr id="9" name="tip icon" descr="preencoded.png">    </p:cNvPr>
          <p:cNvPicPr>
            <a:picLocks noChangeAspect="1"/>
          </p:cNvPicPr>
          <p:nvPr/>
        </p:nvPicPr>
        <p:blipFill>
          <a:blip r:embed="rId1"/>
          <a:stretch>
            <a:fillRect/>
          </a:stretch>
        </p:blipFill>
        <p:spPr>
          <a:xfrm>
            <a:off x="548640" y="5822188"/>
            <a:ext cx="329184" cy="329184"/>
          </a:xfrm>
          <a:prstGeom prst="rect">
            <a:avLst/>
          </a:prstGeom>
        </p:spPr>
      </p:pic>
      <p:sp>
        <p:nvSpPr>
          <p:cNvPr id="10" name="Text 6"/>
          <p:cNvSpPr txBox="1"/>
          <p:nvPr/>
        </p:nvSpPr>
        <p:spPr>
          <a:xfrm>
            <a:off x="1005840" y="580390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Label the high-emission runs</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A run is high if its 2050 CO2 is above a cut-off you choose. Fill GAP 1: 0.75 marks the top quarter.</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cut_off &lt;- quantile(ens$co2_2050, ___)  # GAP 1</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ens &lt;- ens |&gt;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mutate(high = factor(if_else(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co2_2050 &gt; cut_off, "high", "other")))</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count(ens, high)</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Fill each ___ gap before running that line. Stuck? The solution file has the complete version.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Fit the tree and read it</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The tree splits runs on one input at a time. Fill GAP 2 with "class" so predict returns labels.</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tree &lt;- rpart(high ~ solar_cost + ccs_storage +</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ssp + carbon_price,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data = ens, method = "class",</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minsplit = 6)</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plot(tree, margin = 0.1)</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text(tree, use.n = TRUE, pretty = 0)</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ens &lt;- ens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mutate(pred = predict(tree, type = ___))  # GAP 2</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mean(ens$pred == ens$high)</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count(ens, high) shows about 9 high and 27 other</a:t>
            </a:r>
            <a:endParaRPr lang="en-US" sz="16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The tree's first split is on an input you can name</a:t>
            </a:r>
            <a:endParaRPr lang="en-US" sz="16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The share of runs the tree gets right is printed</a:t>
            </a:r>
            <a:endParaRPr lang="en-US" sz="16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Read one path from the top of your tree to a high leaf as a sentence.</a:t>
            </a:r>
            <a:endParaRPr lang="en-US" sz="16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Which input does the tree use first? Is that what you expected, and why?</a:t>
            </a:r>
            <a:endParaRPr lang="en-US" sz="16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Change the cut-off to 0.5 and fit the tree again. Does the first split stay the same? What does that say about the label?</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837944"/>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Uncertainty comes from inputs, model structure and the future of society</a:t>
            </a:r>
            <a:endParaRPr lang="en-US" sz="1800" dirty="0"/>
          </a:p>
        </p:txBody>
      </p:sp>
      <p:sp>
        <p:nvSpPr>
          <p:cNvPr id="6" name="number badge"/>
          <p:cNvSpPr txBox="1"/>
          <p:nvPr/>
        </p:nvSpPr>
        <p:spPr>
          <a:xfrm>
            <a:off x="548640" y="2587752"/>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441448"/>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Ensembles vary several inputs together; every new input multiplies the number of runs</a:t>
            </a:r>
            <a:endParaRPr lang="en-US" sz="1800" dirty="0"/>
          </a:p>
        </p:txBody>
      </p:sp>
      <p:sp>
        <p:nvSpPr>
          <p:cNvPr id="8" name="number badge"/>
          <p:cNvSpPr txBox="1"/>
          <p:nvPr/>
        </p:nvSpPr>
        <p:spPr>
          <a:xfrm>
            <a:off x="548640" y="333756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191256"/>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Scenario discovery labels runs and fits a tree to find the settings that lead to trouble</a:t>
            </a:r>
            <a:endParaRPr lang="en-US" sz="1800" dirty="0"/>
          </a:p>
        </p:txBody>
      </p:sp>
      <p:sp>
        <p:nvSpPr>
          <p:cNvPr id="10" name="number badge"/>
          <p:cNvSpPr txBox="1"/>
          <p:nvPr/>
        </p:nvSpPr>
        <p:spPr>
          <a:xfrm>
            <a:off x="548640" y="4087368"/>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3941064"/>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share of runs is not a probability, and a tree describes the model, not the world</a:t>
            </a:r>
            <a:endParaRPr lang="en-US" sz="1800" dirty="0"/>
          </a:p>
        </p:txBody>
      </p:sp>
      <p:sp>
        <p:nvSpPr>
          <p:cNvPr id="12" name="number badge"/>
          <p:cNvSpPr txBox="1"/>
          <p:nvPr/>
        </p:nvSpPr>
        <p:spPr>
          <a:xfrm>
            <a:off x="548640" y="4837176"/>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3" name="Text 11"/>
          <p:cNvSpPr txBox="1"/>
          <p:nvPr/>
        </p:nvSpPr>
        <p:spPr>
          <a:xfrm>
            <a:off x="1234440" y="4690872"/>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Robust choices keep the worst regret small; emulators make many runs affordable</a:t>
            </a:r>
            <a:endParaRPr lang="en-US" sz="1800" dirty="0"/>
          </a:p>
        </p:txBody>
      </p:sp>
      <p:sp>
        <p:nvSpPr>
          <p:cNvPr id="14"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5" name="Text 13"/>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14</a:t>
            </a:r>
            <a:endParaRPr lang="en-US" sz="1600" dirty="0"/>
          </a:p>
        </p:txBody>
      </p:sp>
      <p:sp>
        <p:nvSpPr>
          <p:cNvPr id="16" name="Text 14"/>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Week 14 looks at where IAMs are heading and at the main criticisms of them, and turns your draft results into clear figures.</a:t>
            </a:r>
            <a:endParaRPr lang="en-US" sz="1400" dirty="0"/>
          </a:p>
        </p:txBody>
      </p:sp>
      <p:sp>
        <p:nvSpPr>
          <p:cNvPr id="17"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8" name="Text 16"/>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9" name="Text 17"/>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13: try the ensemble explorer and the 5-question quiz.</a:t>
            </a:r>
            <a:endParaRPr lang="en-US" sz="1400" dirty="0"/>
          </a:p>
        </p:txBody>
      </p:sp>
      <p:sp>
        <p:nvSpPr>
          <p:cNvPr id="20" name="Text 18"/>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200" dirty="0">
                <a:solidFill>
                  <a:srgbClr val="C9D6DF"/>
                </a:solidFill>
                <a:latin typeface="Calibri" pitchFamily="34" charset="0"/>
                <a:ea typeface="Calibri" pitchFamily="34" charset="-122"/>
                <a:cs typeface="Calibri" pitchFamily="34" charset="-120"/>
              </a:rPr>
              <a:t>Readings: Lamontagne et al. (2018), Large ensemble analytic framework for consequence-driven discovery of climate change scenarios, Earth's Future; rpart package documentation; GCAM v8.2 documentation: How to Get Started (batch mode), Shared Socioeconomic Pathways</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13: Uncertainty and scenario discovery</dc:title>
  <dc:subject>Modelling Climate and Energy Futures</dc:subject>
  <dc:creator>IAM course team</dc:creator>
  <cp:lastModifiedBy>IAM course team</cp:lastModifiedBy>
  <cp:revision>1</cp:revision>
  <dcterms:created xsi:type="dcterms:W3CDTF">2026-10-22T18:53:47Z</dcterms:created>
  <dcterms:modified xsi:type="dcterms:W3CDTF">2026-10-22T18:53:47Z</dcterms:modified>
</cp:coreProperties>
</file>