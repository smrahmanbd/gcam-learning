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f6d91eb-62e2-7000-c727-998854759fe0}">
          <p14:sldIdLst>
            <p14:sldId id="256"/>
            <p14:sldId id="257"/>
            <p14:sldId id="258"/>
          </p14:sldIdLst>
        </p14:section>
        <p14:section name="Lecture" id="{778a2dbe-1a31-6ff1-6ac2-0b9dda5a0b62}">
          <p14:sldIdLst>
            <p14:sldId id="259"/>
            <p14:sldId id="260"/>
            <p14:sldId id="261"/>
            <p14:sldId id="262"/>
            <p14:sldId id="263"/>
            <p14:sldId id="264"/>
            <p14:sldId id="265"/>
            <p14:sldId id="266"/>
            <p14:sldId id="267"/>
            <p14:sldId id="268"/>
            <p14:sldId id="269"/>
            <p14:sldId id="270"/>
            <p14:sldId id="271"/>
          </p14:sldIdLst>
        </p14:section>
        <p14:section name="Lab" id="{dec9c038-f9aa-8ebd-aa23-d64fc746d1de}">
          <p14:sldIdLst>
            <p14:sldId id="272"/>
            <p14:sldId id="273"/>
            <p14:sldId id="274"/>
            <p14:sldId id="275"/>
            <p14:sldId id="276"/>
            <p14:sldId id="277"/>
          </p14:sldIdLst>
        </p14:section>
        <p14:section name="Recap" id="{021f8d82-b7cc-7160-4121-d2e84c082194}">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Carbon price (1990 $ per tonne of carbon)</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0F766E"/>
              </a:solidFill>
              <a:ln w="9525" cap="flat">
                <a:solidFill>
                  <a:srgbClr val="0F766E"/>
                </a:solidFill>
                <a:prstDash val="solid"/>
                <a:round/>
              </a:ln>
              <a:effectLst/>
            </c:spPr>
          </c:marker>
          <c:cat>
            <c:multiLvlStrRef>
              <c:f>Sheet1!$A$2:$A$17</c:f>
              <c:multiLvlStrCache>
                <c:ptCount val="16"/>
                <c:lvl>
                  <c:pt idx="0">
                    <c:v>2025</c:v>
                  </c:pt>
                  <c:pt idx="1">
                    <c:v>2030</c:v>
                  </c:pt>
                  <c:pt idx="2">
                    <c:v>2035</c:v>
                  </c:pt>
                  <c:pt idx="3">
                    <c:v>2040</c:v>
                  </c:pt>
                  <c:pt idx="4">
                    <c:v>2045</c:v>
                  </c:pt>
                  <c:pt idx="5">
                    <c:v>2050</c:v>
                  </c:pt>
                  <c:pt idx="6">
                    <c:v>2055</c:v>
                  </c:pt>
                  <c:pt idx="7">
                    <c:v>2060</c:v>
                  </c:pt>
                  <c:pt idx="8">
                    <c:v>2065</c:v>
                  </c:pt>
                  <c:pt idx="9">
                    <c:v>2070</c:v>
                  </c:pt>
                  <c:pt idx="10">
                    <c:v>2075</c:v>
                  </c:pt>
                  <c:pt idx="11">
                    <c:v>2080</c:v>
                  </c:pt>
                  <c:pt idx="12">
                    <c:v>2085</c:v>
                  </c:pt>
                  <c:pt idx="13">
                    <c:v>2090</c:v>
                  </c:pt>
                  <c:pt idx="14">
                    <c:v>2095</c:v>
                  </c:pt>
                  <c:pt idx="15">
                    <c:v>2100</c:v>
                  </c:pt>
                </c:lvl>
              </c:multiLvlStrCache>
            </c:multiLvlStrRef>
          </c:cat>
          <c:val>
            <c:numRef>
              <c:f>Sheet1!$B$2:$B$17</c:f>
              <c:numCache>
                <c:formatCode>General</c:formatCode>
                <c:ptCount val="16"/>
                <c:pt idx="0">
                  <c:v>25</c:v>
                </c:pt>
                <c:pt idx="1">
                  <c:v>31.9</c:v>
                </c:pt>
                <c:pt idx="2">
                  <c:v>40.7</c:v>
                </c:pt>
                <c:pt idx="3">
                  <c:v>52</c:v>
                </c:pt>
                <c:pt idx="4">
                  <c:v>66.3</c:v>
                </c:pt>
                <c:pt idx="5">
                  <c:v>84.7</c:v>
                </c:pt>
                <c:pt idx="6">
                  <c:v>108</c:v>
                </c:pt>
                <c:pt idx="7">
                  <c:v>137.9</c:v>
                </c:pt>
                <c:pt idx="8">
                  <c:v>176</c:v>
                </c:pt>
                <c:pt idx="9">
                  <c:v>224.6</c:v>
                </c:pt>
                <c:pt idx="10">
                  <c:v>286.7</c:v>
                </c:pt>
                <c:pt idx="11">
                  <c:v>365.9</c:v>
                </c:pt>
                <c:pt idx="12">
                  <c:v>467</c:v>
                </c:pt>
                <c:pt idx="13">
                  <c:v>596</c:v>
                </c:pt>
                <c:pt idx="14">
                  <c:v>760.7</c:v>
                </c:pt>
                <c:pt idx="15">
                  <c:v>970.8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Year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1990 $ per tonne of carbon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10: Emissions, carbon removal and policy. Set a price or set a limit: two doors to the same room. Today has two halves: a lecture that builds the idea step by step with everyday examples, then a guided lab where we try it in R. Nobody is expected to know the material already. New R skill this week: gcamdata: finding a chunk, editing an assumption, running the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10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Should a government say 'emissions cost $50 a tonne' or 'emissions must reach zero by 2050', and what does a model do with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one minute. The answer: with a price the model finds emissions; with a limit it finds the price. That mirror is the core of this week and you met it in week 4 with prices against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every time step GCAM passes its emissions to Hector, which returns concentrations, forcing and temperature (Source: GCAM v8.2 documentation, Climate page). Fossil CO2 comes from fuel use and carbon content; land-use change CO2 is tracked in the land system. A good check question: which steps change if you swap Hector for another climate model? Answer: 3 and 4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numbers from the study guide. A carbon price cuts CO2 mainly by changing which technologies are used, and cuts other gases by abatement along cost curves read from input files. The 0.9 factor is week 4's coal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makes the mirror concrete. In GCAM's CarbonPrice scenario you set the toll and read emissions. In NetZero you set the gate and GCAM searches for the price, which is why NetZero takes longer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that rises at a steady percentage is common in modelling because it treats a tonne cut later as worth the same, after discounting, as a tonne cut now; economists link this to Hotelling's rule. Stress the units: GCAM prices are in 1990 dollars per tonne of carbon, so 85 per tonne of carbon is about 23 per tonne of CO2. The units are confirmed by the GCAM v8.2 documentation's policy examples, which state prices in 1990 dollars per tonne of carbon.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about 41. 1.05 to the power 10 is 1.63, and 25 x 1.63 = 40.7. A common wrong answer is 37.5, from adding 5 percent of 25 ten times; growth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about 41. 1.05 to the power 10 is 1.63, and 25 x 1.63 = 40.7. A common wrong answer is 37.5, from adding 5 percent of 25 ten times; growth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one and two are mirror images: set a price and GCAM finds emissions, or set a limit and the solver finds the price that meets it. The documentation's Policies page lists carbon or greenhouse gas prices, emissions constraints and climate constraints, plus standards for sectors and land. It has no net-zero or NDC page, so our NetZero scenario is built as an emissions constraint, and a pledge like an NDC must be translated into caps or prices by the modeller; students state that choice in the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curve read in opposite directions. Real cost curves bend upward, so the last cuts are much dearer than the first. The widget lets students set a price path and see the cut each year using this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option sits in a part of the model students already know, so each has a visible cost. The Land page's 30 to 100 years for forests to take up their carbon matters for 2050 targets. Carbon in land is valued as a subsidy to landowners for holding carbon stocks, tied to the carbon price (Source: GCAM v8.2 documentation, Land and Policies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arithmetic: 3 billion tonnes times 6 GJ per tonne is 18 billion GJ, or 18 EJ. That energy must itself come from somewhere, ideally low-carbon. The 6 GJ per tonne is a round illustrative number; published estimates vary widely, so check before quoting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the study guide traps. The third catches many students when they compare GCAM prices with news reports, which quote dollars per tonne of CO2 in today's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Start a CarbonPrice run, compare CarbonPrice and NetZero with Reference for emissions, temperature and price, then change one number in gcamdata and rebuild.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edits are in gcam-files/lab10_carbonprice_config_snippet.xml: add carbon_price_global.xml as the last input with its full path, and set scenarioName to CarbonPrice. NetZero uses two policy files that ship with GCAM and was run by the instructor ahead of time because a limit makes GCAM search for the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NetZero; listScenariosInDB(conn) shows the exact name. conn is created as in lab 8 at the top of the script. The full version is solutions/lab10_solution.R. The NetZero limit covers all greenhouse gases, so its CO2 line can end slightly above or below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the global mean temperature query; listQueries(prj) shows its exact title. Temperature comes from Hector, which students ran alone in lab 2. CO2 prices is empty for Reference and CheapSolar and rgcam warns; that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2050. The capacity factor is the share of the year a plant runs at full output; a higher value makes solar cheaper per MWh. driver_drake rebuilds only chunks downstream of the edited file. Warn students not to touch R/constants.R, which forces a full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Trace how GCAM turns activity into emissions and Hector turns emissions into warming; Explain the mirror between a carbon price and an emissions limit; Describe three ways GCAM removes CO2 and what each one costs the rest of the model; Run policy scenarios and change one assumption in gcamdata. Ask students to rate themselves on each. Then point to next week: Week 11 opens the advanced stage: optimisation models that look ahead, starting with a three-technology power system as a linear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10 · Emissions, carbon removal and policy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10 · Emissions, carbon removal and policy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Emissions, carbon removal and policy</a:t>
            </a:r>
            <a:endParaRPr lang="en-US" sz="3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10 OF 15  ·  STAGE 2: GCAM IN DEPTH</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Set a price or set a limit: two doors to the same room</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gcamdata: finding a chunk, editing an assumption, running the driver</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9E4DF"/>
          </a:solidFill>
          <a:ln w="12700">
            <a:solidFill>
              <a:srgbClr val="C9E4DF"/>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C2410C"/>
          </a:solidFill>
          <a:ln w="12700">
            <a:solidFill>
              <a:srgbClr val="C2410C"/>
            </a:solidFill>
            <a:prstDash val="solid"/>
          </a:ln>
        </p:spPr>
      </p:sp>
      <p:sp>
        <p:nvSpPr>
          <p:cNvPr id="37" name="Text 34"/>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10</a:t>
            </a:r>
            <a:endParaRPr lang="en-US" sz="1200" dirty="0"/>
          </a:p>
        </p:txBody>
      </p:sp>
      <p:sp>
        <p:nvSpPr>
          <p:cNvPr id="38" name="Text 35"/>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Emissions and policy</a:t>
            </a:r>
            <a:endParaRPr lang="en-US" sz="1400" dirty="0"/>
          </a:p>
        </p:txBody>
      </p:sp>
      <p:sp>
        <p:nvSpPr>
          <p:cNvPr id="39" name="Text 36"/>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0" name="Text 37"/>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1"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2" name="Shape 39"/>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3" name="Text 40"/>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4" name="Text 41"/>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5"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46" name="Shape 43"/>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47" name="Text 44"/>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48" name="Text 45"/>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49"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0" name="Shape 47"/>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1" name="Text 48"/>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2" name="Text 49"/>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3"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4" name="Shape 51"/>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5" name="Text 52"/>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6" name="Text 53"/>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7"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58" name="Shape 55"/>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59" name="Text 56"/>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0" name="Text 57"/>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Trace how GCAM turns activity into emissions and Hector turns emissions into warming</a:t>
            </a:r>
            <a:endParaRPr lang="en-US" sz="21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Explain the mirror between a carbon price and an emissions limit</a:t>
            </a:r>
            <a:endParaRPr lang="en-US" sz="21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Describe three ways GCAM removes CO2 and what each one costs the rest of the model</a:t>
            </a:r>
            <a:endParaRPr lang="en-US" sz="21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Run policy scenarios and change one assumption in gcamdata</a:t>
            </a:r>
            <a:endParaRPr lang="en-US" sz="21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Should a government say 'emissions cost $50 a tonne' or 'emissions must reach zero by 2050', and what does a model do with each?</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Two ways to tell a model about climate policy</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Option A: 'Every tonne of CO2 costs $50.' Option B: 'Emissions must be zero in 2050.'</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With option A, what does the model work out? With option B?</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From activity to temperature</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Activity</a:t>
            </a:r>
            <a:endParaRPr lang="en-US" sz="20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Fuel burned, land cleared, goods made, animals raised</a:t>
            </a:r>
            <a:endParaRPr lang="en-US" sz="18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Emissions</a:t>
            </a:r>
            <a:endParaRPr lang="en-US" sz="20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Activity × emission factor, less any abatement</a:t>
            </a:r>
            <a:endParaRPr lang="en-US" sz="18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Hector</a:t>
            </a:r>
            <a:endParaRPr lang="en-US" sz="20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Turns emissions into concentrations and forcing</a:t>
            </a:r>
            <a:endParaRPr lang="en-US" sz="18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Temperature</a:t>
            </a:r>
            <a:endParaRPr lang="en-US" sz="20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Global mean warming for the scenario</a:t>
            </a:r>
            <a:endParaRPr lang="en-US" sz="18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Steps 1 and 2 happen inside GCAM; steps 3 and 4 are Hector, the model you ran in week 2</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counting emissions</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Emissions = activity × emission factor × (1 − abatement share). A region makes 1,000 TWh of coal power; a landfill emits 2 Mt of methane.</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Coal power factor: 0.9 Mt CO2 per TWh (0.9 t per MWh)</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CO2 = 1,000 × 0.9 = 900 Mt</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carbon price makes 30% methane capture worthwhile (cost curve)</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Methane = 2 × (1 − 0.30) = 2 × 0.7 = 1.4 Mt</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800" b="1" dirty="0">
                <a:solidFill>
                  <a:srgbClr val="12263A"/>
                </a:solidFill>
                <a:latin typeface="Cambria" pitchFamily="34" charset="0"/>
                <a:ea typeface="Cambria" pitchFamily="34" charset="-122"/>
                <a:cs typeface="Cambria" pitchFamily="34" charset="-120"/>
              </a:rPr>
              <a:t>900 Mt CO2 from power; methane falls from 2 to 1.4 Mt</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 toll road or a gate</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A toll road charges every car $5. You know the cost per car, but not how many will drive. A gate lets exactly 500 cars through. You know the number, but drivers bid up what a pass is worth. A carbon price is the toll; an emissions limit is the gate.</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Price fixed → quantity (emissions) found</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Cap fixed → price found</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Same cost curve, read in opposite directions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course's carbon price rises 5% a year</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From carbon_​price_global.​xml used in lab 10, copied from GCAM's carbon_​tax_25_5.xml</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Starts at 25 in 2025, × 1.05 each year</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2050: 25 × 1.05^25 ≈ 85</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Per tonne of CO2, divide by 3.67</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 carbon price starts at 25 and rises 5% a year. Roughly what is it 10 years later?</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30</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35</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41</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50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 carbon price starts at 25 and rises 5% a year. Roughly what is it 10 years later?</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30</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35</a:t>
            </a:r>
            <a:endParaRPr lang="en-US" sz="2000" dirty="0"/>
          </a:p>
        </p:txBody>
      </p:sp>
      <p:sp>
        <p:nvSpPr>
          <p:cNvPr id="12" name="option"/>
          <p:cNvSpPr/>
          <p:nvPr/>
        </p:nvSpPr>
        <p:spPr>
          <a:xfrm>
            <a:off x="548640" y="4297680"/>
            <a:ext cx="5410048" cy="1325880"/>
          </a:xfrm>
          <a:prstGeom prst="roundRect">
            <a:avLst>
              <a:gd name="adj" fmla="val 8276"/>
            </a:avLst>
          </a:prstGeom>
          <a:solidFill>
            <a:srgbClr val="E7F5EC"/>
          </a:solidFill>
          <a:ln w="12700">
            <a:solidFill>
              <a:srgbClr val="E7F5EC"/>
            </a:solidFill>
            <a:prstDash val="solid"/>
          </a:ln>
        </p:spPr>
      </p:sp>
      <p:sp>
        <p:nvSpPr>
          <p:cNvPr id="13" name="number badge"/>
          <p:cNvSpPr txBox="1"/>
          <p:nvPr/>
        </p:nvSpPr>
        <p:spPr>
          <a:xfrm>
            <a:off x="822960" y="46863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41</a:t>
            </a:r>
            <a:endParaRPr lang="en-US" sz="2000" dirty="0"/>
          </a:p>
        </p:txBody>
      </p:sp>
      <p:sp>
        <p:nvSpPr>
          <p:cNvPr id="15" name="icon circle"/>
          <p:cNvSpPr/>
          <p:nvPr/>
        </p:nvSpPr>
        <p:spPr>
          <a:xfrm>
            <a:off x="5364328" y="4434840"/>
            <a:ext cx="411480" cy="411480"/>
          </a:xfrm>
          <a:prstGeom prst="ellipse">
            <a:avLst/>
          </a:prstGeom>
          <a:solidFill>
            <a:srgbClr val="15803D"/>
          </a:solidFill>
          <a:ln w="12700">
            <a:solidFill>
              <a:srgbClr val="15803D"/>
            </a:solidFill>
            <a:prstDash val="solid"/>
          </a:ln>
        </p:spPr>
      </p:sp>
      <p:pic>
        <p:nvPicPr>
          <p:cNvPr id="16" name="icon" descr="preencoded.png">    </p:cNvPr>
          <p:cNvPicPr>
            <a:picLocks noChangeAspect="1"/>
          </p:cNvPicPr>
          <p:nvPr/>
        </p:nvPicPr>
        <p:blipFill>
          <a:blip r:embed="rId1"/>
          <a:stretch>
            <a:fillRect/>
          </a:stretch>
        </p:blipFill>
        <p:spPr>
          <a:xfrm>
            <a:off x="5471312" y="4541825"/>
            <a:ext cx="197510" cy="197510"/>
          </a:xfrm>
          <a:prstGeom prst="rect">
            <a:avLst/>
          </a:prstGeom>
        </p:spPr>
      </p:pic>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50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Policy enters as a price, a limit or a rule</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Policy type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You set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GCAM finds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Course scenario</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Carbon price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price each period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Emissions each period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CarbonPrice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Emissions limit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cap each period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The price that meets it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NetZero</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Climate target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forcing level in a year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least-cost price path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Not run: slow</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Sector or land rule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share, cap or protected land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The tax or subsidy needed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Not run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bl>
          </a:graphicData>
        </a:graphic>
      </p:graphicFrame>
      <p:sp>
        <p:nvSpPr>
          <p:cNvPr id="6" name="caption pill"/>
          <p:cNvSpPr/>
          <p:nvPr/>
        </p:nvSpPr>
        <p:spPr>
          <a:xfrm>
            <a:off x="548640" y="4818888"/>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928616"/>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5037978"/>
            <a:ext cx="201900" cy="201900"/>
          </a:xfrm>
          <a:prstGeom prst="rect">
            <a:avLst/>
          </a:prstGeom>
        </p:spPr>
      </p:pic>
      <p:sp>
        <p:nvSpPr>
          <p:cNvPr id="9" name="Text 4"/>
          <p:cNvSpPr txBox="1"/>
          <p:nvPr/>
        </p:nvSpPr>
        <p:spPr>
          <a:xfrm>
            <a:off x="1280160" y="4818888"/>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Regions that share a market name share one carbon price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price or cap, the mirror</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Suppose each extra 1% cut costs $2 more per tonne, so price = 2 × cut%. A straight-line cost curve, for illustration.</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CarbonPrice: you set $50</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GCAM finds the cut: 50 ÷ 2 = 25% below Reference</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NetZero-style cap: you require a 60% cut</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GCAM finds the price: 2 × 60 = $120 per tonne</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800" b="1" dirty="0">
                <a:solidFill>
                  <a:srgbClr val="12263A"/>
                </a:solidFill>
                <a:latin typeface="Cambria" pitchFamily="34" charset="0"/>
                <a:ea typeface="Cambria" pitchFamily="34" charset="-122"/>
                <a:cs typeface="Cambria" pitchFamily="34" charset="-120"/>
              </a:rPr>
              <a:t>Price $50 → 25% cut; cap of 60% cut → price $120</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Three ways GCAM removes CO2</a:t>
            </a:r>
            <a:endParaRPr lang="en-US" sz="3200" dirty="0"/>
          </a:p>
        </p:txBody>
      </p:sp>
      <p:sp>
        <p:nvSpPr>
          <p:cNvPr id="5" name="idea card"/>
          <p:cNvSpPr/>
          <p:nvPr/>
        </p:nvSpPr>
        <p:spPr>
          <a:xfrm>
            <a:off x="548640"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Bioenergy with capture</a:t>
            </a:r>
            <a:endParaRPr lang="en-US" sz="2100" dirty="0"/>
          </a:p>
        </p:txBody>
      </p:sp>
      <p:sp>
        <p:nvSpPr>
          <p:cNvPr id="8" name="Text 5"/>
          <p:cNvSpPr txBox="1"/>
          <p:nvPr/>
        </p:nvSpPr>
        <p:spPr>
          <a:xfrm>
            <a:off x="822960"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Grow crops, burn them for energy, store the CO2. Needs land, water and fertiliser (week 9).</a:t>
            </a:r>
            <a:endParaRPr lang="en-US" sz="2000" dirty="0"/>
          </a:p>
        </p:txBody>
      </p:sp>
      <p:sp>
        <p:nvSpPr>
          <p:cNvPr id="9" name="idea card"/>
          <p:cNvSpPr/>
          <p:nvPr/>
        </p:nvSpPr>
        <p:spPr>
          <a:xfrm>
            <a:off x="4338218"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4612538"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4612538"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More forest</a:t>
            </a:r>
            <a:endParaRPr lang="en-US" sz="2100" dirty="0"/>
          </a:p>
        </p:txBody>
      </p:sp>
      <p:sp>
        <p:nvSpPr>
          <p:cNvPr id="12" name="Text 9"/>
          <p:cNvSpPr txBox="1"/>
          <p:nvPr/>
        </p:nvSpPr>
        <p:spPr>
          <a:xfrm>
            <a:off x="4612538"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Trees store carbon as they grow. Needs land, and uptake takes 30 to 100 years.</a:t>
            </a:r>
            <a:endParaRPr lang="en-US" sz="2000" dirty="0"/>
          </a:p>
        </p:txBody>
      </p:sp>
      <p:sp>
        <p:nvSpPr>
          <p:cNvPr id="13" name="idea card"/>
          <p:cNvSpPr/>
          <p:nvPr/>
        </p:nvSpPr>
        <p:spPr>
          <a:xfrm>
            <a:off x="8127797"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8402117"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8402117"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Direct air capture</a:t>
            </a:r>
            <a:endParaRPr lang="en-US" sz="2100" dirty="0"/>
          </a:p>
        </p:txBody>
      </p:sp>
      <p:sp>
        <p:nvSpPr>
          <p:cNvPr id="16" name="Text 13"/>
          <p:cNvSpPr txBox="1"/>
          <p:nvPr/>
        </p:nvSpPr>
        <p:spPr>
          <a:xfrm>
            <a:off x="8402117"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Machines pull CO2 from the air. Needs a lot of electricity or heat.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NUMBERS TO REMEMBER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Balancing a net-zero year</a:t>
            </a:r>
            <a:endParaRPr lang="en-US" sz="3200" dirty="0"/>
          </a:p>
        </p:txBody>
      </p:sp>
      <p:sp>
        <p:nvSpPr>
          <p:cNvPr id="5" name="stat card"/>
          <p:cNvSpPr/>
          <p:nvPr/>
        </p:nvSpPr>
        <p:spPr>
          <a:xfrm>
            <a:off x="548640" y="1554480"/>
            <a:ext cx="3515258" cy="3566160"/>
          </a:xfrm>
          <a:prstGeom prst="roundRect">
            <a:avLst>
              <a:gd name="adj" fmla="val 3121"/>
            </a:avLst>
          </a:prstGeom>
          <a:solidFill>
            <a:srgbClr val="E6F2F0"/>
          </a:solidFill>
          <a:ln w="12700">
            <a:solidFill>
              <a:srgbClr val="E6F2F0"/>
            </a:solidFill>
            <a:prstDash val="solid"/>
          </a:ln>
        </p:spPr>
      </p:sp>
      <p:sp>
        <p:nvSpPr>
          <p:cNvPr id="6" name="Text 3"/>
          <p:cNvSpPr txBox="1"/>
          <p:nvPr/>
        </p:nvSpPr>
        <p:spPr>
          <a:xfrm>
            <a:off x="822960" y="1920240"/>
            <a:ext cx="2966618" cy="1371600"/>
          </a:xfrm>
          <a:prstGeom prst="rect">
            <a:avLst/>
          </a:prstGeom>
          <a:noFill/>
          <a:ln/>
        </p:spPr>
        <p:txBody>
          <a:bodyPr wrap="square" lIns="0" tIns="0" rIns="0" bIns="0" rtlCol="0" anchor="t"/>
          <a:lstStyle/>
          <a:p>
            <a:pPr indent="0" marL="0">
              <a:buNone/>
            </a:pPr>
            <a:r>
              <a:rPr lang="en-US" sz="6000" b="1" dirty="0">
                <a:solidFill>
                  <a:srgbClr val="0F766E"/>
                </a:solidFill>
                <a:latin typeface="Cambria" pitchFamily="34" charset="0"/>
                <a:ea typeface="Cambria" pitchFamily="34" charset="-122"/>
                <a:cs typeface="Cambria" pitchFamily="34" charset="-120"/>
              </a:rPr>
              <a:t>10 Gt</a:t>
            </a:r>
            <a:endParaRPr lang="en-US" sz="6000" dirty="0"/>
          </a:p>
        </p:txBody>
      </p:sp>
      <p:sp>
        <p:nvSpPr>
          <p:cNvPr id="7" name="Text 4"/>
          <p:cNvSpPr txBox="1"/>
          <p:nvPr/>
        </p:nvSpPr>
        <p:spPr>
          <a:xfrm>
            <a:off x="822960"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CO2 still emitted in 2050, to be balanced by removals</a:t>
            </a:r>
            <a:endParaRPr lang="en-US" sz="2000" dirty="0"/>
          </a:p>
        </p:txBody>
      </p:sp>
      <p:sp>
        <p:nvSpPr>
          <p:cNvPr id="8" name="stat card"/>
          <p:cNvSpPr/>
          <p:nvPr/>
        </p:nvSpPr>
        <p:spPr>
          <a:xfrm>
            <a:off x="4338218" y="1554480"/>
            <a:ext cx="3515258" cy="3566160"/>
          </a:xfrm>
          <a:prstGeom prst="roundRect">
            <a:avLst>
              <a:gd name="adj" fmla="val 3121"/>
            </a:avLst>
          </a:prstGeom>
          <a:solidFill>
            <a:srgbClr val="F7FAF9"/>
          </a:solidFill>
          <a:ln w="12700">
            <a:solidFill>
              <a:srgbClr val="F7FAF9"/>
            </a:solidFill>
            <a:prstDash val="solid"/>
          </a:ln>
        </p:spPr>
      </p:sp>
      <p:sp>
        <p:nvSpPr>
          <p:cNvPr id="9" name="Text 6"/>
          <p:cNvSpPr txBox="1"/>
          <p:nvPr/>
        </p:nvSpPr>
        <p:spPr>
          <a:xfrm>
            <a:off x="4612538"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3 Gt</a:t>
            </a:r>
            <a:endParaRPr lang="en-US" sz="6000" dirty="0"/>
          </a:p>
        </p:txBody>
      </p:sp>
      <p:sp>
        <p:nvSpPr>
          <p:cNvPr id="10" name="Text 7"/>
          <p:cNvSpPr txBox="1"/>
          <p:nvPr/>
        </p:nvSpPr>
        <p:spPr>
          <a:xfrm>
            <a:off x="4612538"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of that removed by direct air capture</a:t>
            </a:r>
            <a:endParaRPr lang="en-US" sz="2000" dirty="0"/>
          </a:p>
        </p:txBody>
      </p:sp>
      <p:sp>
        <p:nvSpPr>
          <p:cNvPr id="11" name="stat card"/>
          <p:cNvSpPr/>
          <p:nvPr/>
        </p:nvSpPr>
        <p:spPr>
          <a:xfrm>
            <a:off x="8127797" y="1554480"/>
            <a:ext cx="3515258" cy="3566160"/>
          </a:xfrm>
          <a:prstGeom prst="roundRect">
            <a:avLst>
              <a:gd name="adj" fmla="val 3121"/>
            </a:avLst>
          </a:prstGeom>
          <a:solidFill>
            <a:srgbClr val="F7FAF9"/>
          </a:solidFill>
          <a:ln w="12700">
            <a:solidFill>
              <a:srgbClr val="F7FAF9"/>
            </a:solidFill>
            <a:prstDash val="solid"/>
          </a:ln>
        </p:spPr>
      </p:sp>
      <p:sp>
        <p:nvSpPr>
          <p:cNvPr id="12" name="Text 9"/>
          <p:cNvSpPr txBox="1"/>
          <p:nvPr/>
        </p:nvSpPr>
        <p:spPr>
          <a:xfrm>
            <a:off x="8402117"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18 EJ</a:t>
            </a:r>
            <a:endParaRPr lang="en-US" sz="6000" dirty="0"/>
          </a:p>
        </p:txBody>
      </p:sp>
      <p:sp>
        <p:nvSpPr>
          <p:cNvPr id="13" name="Text 10"/>
          <p:cNvSpPr txBox="1"/>
          <p:nvPr/>
        </p:nvSpPr>
        <p:spPr>
          <a:xfrm>
            <a:off x="8402117"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energy needed: 3 × 10^9 t × 6 GJ per tonne</a:t>
            </a:r>
            <a:endParaRPr lang="en-US" sz="2000" dirty="0"/>
          </a:p>
        </p:txBody>
      </p:sp>
      <p:sp>
        <p:nvSpPr>
          <p:cNvPr id="14" name="Text 11"/>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i="1" dirty="0">
                <a:solidFill>
                  <a:srgbClr val="5B6875"/>
                </a:solidFill>
                <a:latin typeface="Calibri" pitchFamily="34" charset="0"/>
                <a:ea typeface="Calibri" pitchFamily="34" charset="-122"/>
                <a:cs typeface="Calibri" pitchFamily="34" charset="-120"/>
              </a:rPr>
              <a:t>Illustrative split: 4 Gt bioenergy with capture + 3 Gt forest + 3 Gt air capture = 10 Gt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Net zero means no emissions</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means remaining emissions equal removals, and every removal uses land, energy or water.</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GCAM has a built-in setting for each country's NDC</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Turning a pledge into caps or prices is your modelling choice. State it in your report.</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GCAM carbon prices are per tonne of CO2</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They are in 1990 dollars per tonne of carbon. Divide by 3.67 for CO2.</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Abatement   </a:t>
            </a:r>
            <a:pPr indent="0" marL="0">
              <a:buNone/>
            </a:pPr>
            <a:r>
              <a:rPr lang="en-US" sz="2000" dirty="0">
                <a:solidFill>
                  <a:srgbClr val="1F2933"/>
                </a:solidFill>
                <a:latin typeface="Calibri" pitchFamily="34" charset="0"/>
                <a:ea typeface="Calibri" pitchFamily="34" charset="-122"/>
                <a:cs typeface="Calibri" pitchFamily="34" charset="-120"/>
              </a:rPr>
              <a:t>Cutting emissions of a gas, for example capturing methane at a landfill. GCAM reads its cost from cost curves.</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Emissions limit   </a:t>
            </a:r>
            <a:pPr indent="0" marL="0">
              <a:buNone/>
            </a:pPr>
            <a:r>
              <a:rPr lang="en-US" sz="2000" dirty="0">
                <a:solidFill>
                  <a:srgbClr val="1F2933"/>
                </a:solidFill>
                <a:latin typeface="Calibri" pitchFamily="34" charset="0"/>
                <a:ea typeface="Calibri" pitchFamily="34" charset="-122"/>
                <a:cs typeface="Calibri" pitchFamily="34" charset="-120"/>
              </a:rPr>
              <a:t>A cap on how much may be emitted each period. The model finds the carbon price needed to meet it.</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Carbon dioxide removal   </a:t>
            </a:r>
            <a:pPr indent="0" marL="0">
              <a:buNone/>
            </a:pPr>
            <a:r>
              <a:rPr lang="en-US" sz="2000" dirty="0">
                <a:solidFill>
                  <a:srgbClr val="1F2933"/>
                </a:solidFill>
                <a:latin typeface="Calibri" pitchFamily="34" charset="0"/>
                <a:ea typeface="Calibri" pitchFamily="34" charset="-122"/>
                <a:cs typeface="Calibri" pitchFamily="34" charset="-120"/>
              </a:rPr>
              <a:t>Taking CO2 out of the air and storing it, for example in forests, or with bioenergy plus capture, or machines (CDR).</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Net zero   </a:t>
            </a:r>
            <a:pPr indent="0" marL="0">
              <a:buNone/>
            </a:pPr>
            <a:r>
              <a:rPr lang="en-US" sz="2000" dirty="0">
                <a:solidFill>
                  <a:srgbClr val="1F2933"/>
                </a:solidFill>
                <a:latin typeface="Calibri" pitchFamily="34" charset="0"/>
                <a:ea typeface="Calibri" pitchFamily="34" charset="-122"/>
                <a:cs typeface="Calibri" pitchFamily="34" charset="-120"/>
              </a:rPr>
              <a:t>Remaining emissions equal removals, so the total added to the air is zero. It does not mean no emissions.</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NDC   </a:t>
            </a:r>
            <a:pPr indent="0" marL="0">
              <a:buNone/>
            </a:pPr>
            <a:r>
              <a:rPr lang="en-US" sz="2000" dirty="0">
                <a:solidFill>
                  <a:srgbClr val="1F2933"/>
                </a:solidFill>
                <a:latin typeface="Calibri" pitchFamily="34" charset="0"/>
                <a:ea typeface="Calibri" pitchFamily="34" charset="-122"/>
                <a:cs typeface="Calibri" pitchFamily="34" charset="-120"/>
              </a:rPr>
              <a:t>Nationally Determined Contribution: a country's climate pledge under the Paris Agreement.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10: CarbonPrice, NetZero and gcamdata</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Start a CarbonPrice run, compare CarbonPrice and NetZero with Reference for emissions, temperature and price, then change one number in gcamdata and rebuild.</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labs/lab10.R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Build the CarbonPrice run (Terminal tab)</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Same routine as week 8: copy, make two edits, start. The add-on file is carbon_​price_global.​xml from your gcam-files folder.</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cd ~/gcam/exe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cp configuration_ref.xml config_carbonprice.xml</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edit config_carbonprice.xml (two changes), then:</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nohup ./gcam.exe -C config_carbonprice.xml &amp;</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tail -n 3 logs/main_log.txt</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Add both policy scenarios (gap 1)</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A for loop adds each scenario. Fill the gap with the second policy scenario's name.</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prj &lt;- loadProject("output/gcam_course.dat")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for (s in c("CarbonPrice", "___")) {  # 2nd policy</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prj &lt;- addScenario(conn, prj, s,</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"gcam-files/course_queries.xml")</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co2 &lt;- getQuery(prj, "CO2 emissions by region")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group_by(scenario, year)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summarise(value = sum(value), .groups = "drop")</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ggplot(co2, aes(year, value, colour = scenario)) +</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geom_line()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Temperature and carbon prices (gap 2)</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Fill the gap with the query title that returns global mean temperature. Then look at the carbon price in each market.</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temp &lt;- getQuery(prj, "___")  # a query title</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ggplot(temp, aes(year, value, colour = scenario)) +</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geom_line()</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price &lt;- getQuery(prj, "CO2 prices")</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ggplot(price, aes(year, value, colour = scenario)) +</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geom_line() +</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facet_wrap(~ market)</a:t>
            </a:r>
            <a:endParaRPr lang="en-US" sz="23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Change one number in gcamdata (gap 3)</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In your gcamdata project, raise solar's 2050 capacity factor in one CSV, rebuild only what depends on it, and compare.</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devtools::load_all(".")</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obj &lt;- "L223.GlobalIntTechCapFac_elec"</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before &lt;- drake::readd(obj, character_only = TRUE)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file.edit(file.path("inst/extdata/energy",</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"A23.globaltech_capacity_factor.csv"))</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change the PV value for 2050, save, then:</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devtools::load_all(".")</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driver_drake()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after &lt;- drake::readd(obj, character_only = TRUE)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filter(after, subsector.name == "solar",</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year == ___)  # the year you edited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Three or four emission lines, with NetZero falling to about zero by 2050</a:t>
            </a:r>
            <a:endParaRPr lang="en-US" sz="18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Temperature lines stay close until mid-century, then separate</a:t>
            </a:r>
            <a:endParaRPr lang="en-US" sz="18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after shows your new 2050 capacity factor for solar</a:t>
            </a:r>
            <a:endParaRPr lang="en-US" sz="18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By how much are 2050 CO2 emissions below Reference in CarbonPrice and in NetZero?</a:t>
            </a:r>
            <a:endParaRPr lang="en-US" sz="18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Why do the temperature lines separate later than the emission lines? Use week 2's idea of cumulative emissions.</a:t>
            </a:r>
            <a:endParaRPr lang="en-US" sz="18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List the files driver_​drake rebuilt after your edit. Which XML file would GCAM read?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837944"/>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GCAM counts emissions from activity; Hector turns them into warming</a:t>
            </a:r>
            <a:endParaRPr lang="en-US" sz="1800" dirty="0"/>
          </a:p>
        </p:txBody>
      </p:sp>
      <p:sp>
        <p:nvSpPr>
          <p:cNvPr id="6" name="number badge"/>
          <p:cNvSpPr txBox="1"/>
          <p:nvPr/>
        </p:nvSpPr>
        <p:spPr>
          <a:xfrm>
            <a:off x="548640" y="2587752"/>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441448"/>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carbon price fixes cost and finds emissions; a limit fixes emissions and finds the price</a:t>
            </a:r>
            <a:endParaRPr lang="en-US" sz="1800" dirty="0"/>
          </a:p>
        </p:txBody>
      </p:sp>
      <p:sp>
        <p:nvSpPr>
          <p:cNvPr id="8" name="number badge"/>
          <p:cNvSpPr txBox="1"/>
          <p:nvPr/>
        </p:nvSpPr>
        <p:spPr>
          <a:xfrm>
            <a:off x="548640" y="333756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191256"/>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course price starts at 25 (1990 $/tC) in 2025 and rises 5% a year</a:t>
            </a:r>
            <a:endParaRPr lang="en-US" sz="1800" dirty="0"/>
          </a:p>
        </p:txBody>
      </p:sp>
      <p:sp>
        <p:nvSpPr>
          <p:cNvPr id="10" name="number badge"/>
          <p:cNvSpPr txBox="1"/>
          <p:nvPr/>
        </p:nvSpPr>
        <p:spPr>
          <a:xfrm>
            <a:off x="548640" y="4087368"/>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3941064"/>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Net zero balances leftover emissions with removals, which use land, energy or water</a:t>
            </a:r>
            <a:endParaRPr lang="en-US" sz="1800" dirty="0"/>
          </a:p>
        </p:txBody>
      </p:sp>
      <p:sp>
        <p:nvSpPr>
          <p:cNvPr id="12" name="number badge"/>
          <p:cNvSpPr txBox="1"/>
          <p:nvPr/>
        </p:nvSpPr>
        <p:spPr>
          <a:xfrm>
            <a:off x="548640" y="4837176"/>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3" name="Text 11"/>
          <p:cNvSpPr txBox="1"/>
          <p:nvPr/>
        </p:nvSpPr>
        <p:spPr>
          <a:xfrm>
            <a:off x="1234440" y="4690872"/>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Turning pledges into model inputs is a choice you must state</a:t>
            </a:r>
            <a:endParaRPr lang="en-US" sz="1800" dirty="0"/>
          </a:p>
        </p:txBody>
      </p:sp>
      <p:sp>
        <p:nvSpPr>
          <p:cNvPr id="14"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5" name="Text 13"/>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11</a:t>
            </a:r>
            <a:endParaRPr lang="en-US" sz="1600" dirty="0"/>
          </a:p>
        </p:txBody>
      </p:sp>
      <p:sp>
        <p:nvSpPr>
          <p:cNvPr id="16" name="Text 14"/>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Week 11 opens the advanced stage: optimisation models that look ahead, starting with a three-technology power system as a linear program.</a:t>
            </a:r>
            <a:endParaRPr lang="en-US" sz="1400" dirty="0"/>
          </a:p>
        </p:txBody>
      </p:sp>
      <p:sp>
        <p:nvSpPr>
          <p:cNvPr id="17"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8" name="Text 16"/>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9" name="Text 17"/>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10: try the carbonprice explorer and the 5-question quiz.</a:t>
            </a:r>
            <a:endParaRPr lang="en-US" sz="1400" dirty="0"/>
          </a:p>
        </p:txBody>
      </p:sp>
      <p:sp>
        <p:nvSpPr>
          <p:cNvPr id="20" name="Text 18"/>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Fawcett et al. (2015), Can Paris pledges avert severe climate change?, Science; gcamdata guide: running the driver; GCAM v8.2 documentation: Emissions, Climate (Hector), Policies and costs, Policy examples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10: Emissions, carbon removal and policy</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