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af82565-3bde-f35d-46a2-08957b377cc6}">
          <p14:sldIdLst>
            <p14:sldId id="256"/>
            <p14:sldId id="257"/>
            <p14:sldId id="258"/>
          </p14:sldIdLst>
        </p14:section>
        <p14:section name="Lecture" id="{1d83115b-2694-9815-06b2-4e4bcfc32f06}">
          <p14:sldIdLst>
            <p14:sldId id="259"/>
            <p14:sldId id="260"/>
            <p14:sldId id="261"/>
            <p14:sldId id="262"/>
            <p14:sldId id="263"/>
            <p14:sldId id="264"/>
            <p14:sldId id="265"/>
            <p14:sldId id="266"/>
            <p14:sldId id="267"/>
            <p14:sldId id="268"/>
            <p14:sldId id="269"/>
            <p14:sldId id="270"/>
            <p14:sldId id="271"/>
          </p14:sldIdLst>
        </p14:section>
        <p14:section name="Lab" id="{1c628000-b7b1-c048-c5b5-a29eaf927b2a}">
          <p14:sldIdLst>
            <p14:sldId id="272"/>
            <p14:sldId id="273"/>
            <p14:sldId id="274"/>
            <p14:sldId id="275"/>
            <p14:sldId id="276"/>
            <p14:sldId id="277"/>
          </p14:sldIdLst>
        </p14:section>
        <p14:section name="Recap" id="{fa458039-6087-e45c-c120-4a8b08185d65}">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Solar share of new investment</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Sheet1!$B$2:$B$8</c:f>
              <c:numCache>
                <c:formatCode>General</c:formatCode>
                <c:ptCount val="7"/>
                <c:pt idx="0">
                  <c:v>39.4</c:v>
                </c:pt>
                <c:pt idx="1">
                  <c:v>39.4</c:v>
                </c:pt>
                <c:pt idx="2">
                  <c:v>39.4</c:v>
                </c:pt>
                <c:pt idx="3">
                  <c:v>39.4</c:v>
                </c:pt>
                <c:pt idx="4">
                  <c:v>39.4</c:v>
                </c:pt>
                <c:pt idx="5">
                  <c:v>39.4</c:v>
                </c:pt>
                <c:pt idx="6">
                  <c:v>39.4</c:v>
                </c:pt>
              </c:numCache>
            </c:numRef>
          </c:val>
          <c:smooth val="0"/>
        </c:ser>
        <c:ser>
          <c:idx val="1"/>
          <c:order val="1"/>
          <c:tx>
            <c:strRef>
              <c:f>Sheet1!$C$1</c:f>
              <c:strCache>
                <c:ptCount val="1"/>
                <c:pt idx="0">
                  <c:v>Solar share of whole fleet</c:v>
                </c:pt>
              </c:strCache>
            </c:strRef>
          </c:tx>
          <c:spPr>
            <a:solidFill>
              <a:srgbClr val="C2410C"/>
            </a:solidFill>
            <a:ln w="3810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2410C"/>
              </a:solidFill>
              <a:ln w="9525" cap="flat">
                <a:solidFill>
                  <a:srgbClr val="C2410C"/>
                </a:solidFill>
                <a:prstDash val="solid"/>
                <a:round/>
              </a:ln>
              <a:effectLst/>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Sheet1!$C$2:$C$8</c:f>
              <c:numCache>
                <c:formatCode>General</c:formatCode>
                <c:ptCount val="7"/>
                <c:pt idx="0">
                  <c:v>10</c:v>
                </c:pt>
                <c:pt idx="1">
                  <c:v>15.9</c:v>
                </c:pt>
                <c:pt idx="2">
                  <c:v>20.6</c:v>
                </c:pt>
                <c:pt idx="3">
                  <c:v>24.3</c:v>
                </c:pt>
                <c:pt idx="4">
                  <c:v>27.4</c:v>
                </c:pt>
                <c:pt idx="5">
                  <c:v>29.8</c:v>
                </c:pt>
                <c:pt idx="6">
                  <c:v>31.7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Years after solar becomes cheaper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Solar share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8: The energy system in GCAM. Change one cost and follow the ripples. Today has two halves: a lecture that builds the idea step by step with everyday examples, then a guided lab where we try it in R. Nobody is expected to know the material already. New R skill this week: Comparing scenarios: differences from reference with a join; rchart for standard GCAM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8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If solar power becomes much cheaper, how fast does the electricity mix change, and why not overnight?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guesses and write them on the board. Most students guess fast change. By the end of the lecture they will be able to calculate why the whole fleet changes much more slowly than new investment. The lab tests the guess with the CheapSolar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stop two of the study guide memory route, the engine hall. Link back to week 3: primary, secondary and final energy are the three belts. Demand for services pulls fuel along the belts, so read the chain right to left as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 has six manufacturing sectors: iron and steel, chemicals, aluminium, cement, fertiliser and other industry, plus food processing, construction, mining and farm energy use (Source: GCAM v8.2 documentation, Energy Demand page). Hydrogen is a future commodity with no use in the base years. GCAM works out the last two Kaya factors, energy intensity and carbon intensity, from these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4's table was this formula in disguise. Only the first term is an input you set directly; the fuel price comes from the gas market and the carbon price from the policy. That is why one cost change ripples through the model. Numbers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GCAM does not discover that solar gets cheaper. You tell it so in the input files. A result where cheap solar wins partly restates your assumption, which is why the report must state every assumption it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$105. Fuel 14 / 0.4 = 35. Emissions 0.36 / 0.4 = 0.9 t per MWh of electricity, times 50 = 45. Total 25 + 35 + 45 = 105, which is week 4's coal number with the tax. This is the study guide's try-it question for week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$105. Fuel 14 / 0.4 = 35. Emissions 0.36 / 0.4 = 0.9 t per MWh of electricity, times 50 = 45. Total 25 + 35 + 45 = 105, which is week 4's coal number with the tax. This is the study guide's try-it question for week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 jumps from 17 to 39 percent of new investment. Gas and coal both lose a little and neither drops to zero, which is the logit rule from week 7. Illustrative numbers, not GCAM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first step aloud: 0.8 x 10 + 0.2 x 39.4 = 15.9 percent. Then 20.6, 24.3 and so on. This is why the CheapSolar lab shows a small change in 2030 and a larger one by 2050. GCAM tracks each plant's vintage, so this slow turnover is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Analysts often build future cost paths from learning curves: every doubling of total installed capacity cuts cost by a fixed percentage. In the GCAM releases we use, costs are read from input files by year rather than learned inside the model during a run, so a learning curve is one way to write those input numbers. The GCAM v8.2 Technology Representation page describes costs as levelised input costs and does not mention learning inside the model; still check your release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solar_adv.xml ships with GCAM and holds lower solar costs, so nobody writes XML by hand today. If a student forgets to change the scenario name, the run is stored as a second Reference with a later date; this is a useful mistake to discuss. Confirm before the lab that solar_adv.xml exists in your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cover most worksheet 7 errors. The second becomes a habit for the rest of the course: every result is reported as a difference from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Build and start a CheapSolar run with an add-on file, then add the instructor's CheapSolar results to your project and compute differences from Reference.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edits are in gcam-files/lab8_cheapsolar_config_snippet.xml: add solar_adv.xml as the last input before the solver line, and change scenarioName to CheapSolar. Students can edit the file in the RStudio editor. This is the last lab with a complete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getQuery now returns both scenarios stacked, with the scenario column telling them apart. Replace db_dir with the real server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left_join warns about a many-to-many match, the query returned more than one row per fuel group and year; the script has two commented lines that add them up first. Expected: change is zero in historical years, because the add-on changes future costs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names(charts) first, because names gain a region suffix when the table holds more than one region. The teaching point: the rchart difference chart and the hand-made one show the same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Trace energy from resources through power plants and refineries to final demand; Calculate a technology's levelised cost from its three parts; Explain why new investment changes fast but the whole fleet changes slowly; Run a scenario with an add-on file and compute differences from Reference in R. Ask students to rate themselves on each. Then point to next week: Week 9 turns to the other half of GCAM: farms, forests and water, and how energy, land and water pull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8 · The energy system in GCAM</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8 · The energy system in GCAM</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6.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7.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The energy system in GCAM</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8 OF 15  ·  STAGE 2: GCAM IN DEPTH</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Change one cost and follow the ripples</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Comparing scenarios: differences from reference with a join; rchart for standard GCAM charts</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9E4DF"/>
          </a:solidFill>
          <a:ln w="12700">
            <a:solidFill>
              <a:srgbClr val="C9E4DF"/>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C2410C"/>
          </a:solidFill>
          <a:ln w="12700">
            <a:solidFill>
              <a:srgbClr val="C2410C"/>
            </a:solidFill>
            <a:prstDash val="solid"/>
          </a:ln>
        </p:spPr>
      </p:sp>
      <p:sp>
        <p:nvSpPr>
          <p:cNvPr id="31" name="Text 28"/>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8</a:t>
            </a:r>
            <a:endParaRPr lang="en-US" sz="1200" dirty="0"/>
          </a:p>
        </p:txBody>
      </p:sp>
      <p:sp>
        <p:nvSpPr>
          <p:cNvPr id="32" name="Text 29"/>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Energy in GCAM</a:t>
            </a:r>
            <a:endParaRPr lang="en-US" sz="1400" dirty="0"/>
          </a:p>
        </p:txBody>
      </p:sp>
      <p:sp>
        <p:nvSpPr>
          <p:cNvPr id="33" name="week tile"/>
          <p:cNvSpPr/>
          <p:nvPr/>
        </p:nvSpPr>
        <p:spPr>
          <a:xfrm>
            <a:off x="5572658" y="3108960"/>
            <a:ext cx="1414729" cy="1188720"/>
          </a:xfrm>
          <a:prstGeom prst="roundRect">
            <a:avLst>
              <a:gd name="adj" fmla="val 9231"/>
            </a:avLst>
          </a:prstGeom>
          <a:solidFill>
            <a:srgbClr val="F7FAF9"/>
          </a:solidFill>
          <a:ln w="12700">
            <a:solidFill>
              <a:srgbClr val="F7FAF9"/>
            </a:solidFill>
            <a:prstDash val="solid"/>
          </a:ln>
        </p:spPr>
      </p:sp>
      <p:sp>
        <p:nvSpPr>
          <p:cNvPr id="34" name="Shape 31"/>
          <p:cNvSpPr/>
          <p:nvPr/>
        </p:nvSpPr>
        <p:spPr>
          <a:xfrm>
            <a:off x="5572658" y="3108960"/>
            <a:ext cx="1414729" cy="1188720"/>
          </a:xfrm>
          <a:prstGeom prst="roundRect">
            <a:avLst>
              <a:gd name="adj" fmla="val 9231"/>
            </a:avLst>
          </a:prstGeom>
          <a:solidFill>
            <a:srgbClr val="F7FAF9"/>
          </a:solidFill>
          <a:ln w="12700">
            <a:solidFill>
              <a:srgbClr val="D5DDDB"/>
            </a:solidFill>
            <a:prstDash val="solid"/>
          </a:ln>
        </p:spPr>
      </p:sp>
      <p:sp>
        <p:nvSpPr>
          <p:cNvPr id="35" name="Text 32"/>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6" name="Text 33"/>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7"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38" name="Shape 35"/>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39" name="Text 36"/>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40" name="Text 37"/>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1" name="Text 38"/>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2" name="Text 39"/>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3"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44" name="Shape 41"/>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45" name="Text 42"/>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6" name="Text 43"/>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7"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48" name="Shape 45"/>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49" name="Text 46"/>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50" name="Text 47"/>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1"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2" name="Shape 49"/>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3" name="Text 50"/>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4" name="Text 51"/>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5"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6" name="Shape 53"/>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57" name="Text 54"/>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58" name="Text 55"/>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59"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60" name="Shape 57"/>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1" name="Text 58"/>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2" name="Text 59"/>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Trace energy from resources through power plants and refineries to final demand</a:t>
            </a:r>
            <a:endParaRPr lang="en-US" sz="19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Calculate a technology's levelised cost from its three parts</a:t>
            </a:r>
            <a:endParaRPr lang="en-US" sz="19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Explain why new investment changes fast but the whole fleet changes slowly</a:t>
            </a:r>
            <a:endParaRPr lang="en-US" sz="19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Run a scenario with an add-on file and compute differences from Reference in R</a:t>
            </a:r>
            <a:endParaRPr lang="en-US" sz="19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If solar power becomes much cheaper, how fast does the electricity mix change, and why not overnight?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Solar gets cheaper tomorrow. What happens?</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Suppose new solar panels suddenly cost the same as coal. Your region's power plants are mostly coal and gas today.</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long until most of the electricity comes from solar: 5 years, 20 years, or longer?</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Energy moves along three conveyor belts</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400" i="1" dirty="0">
                <a:solidFill>
                  <a:srgbClr val="12263A"/>
                </a:solidFill>
                <a:latin typeface="Cambria" pitchFamily="34" charset="0"/>
                <a:ea typeface="Cambria" pitchFamily="34" charset="-122"/>
                <a:cs typeface="Cambria" pitchFamily="34" charset="-120"/>
              </a:rPr>
              <a:t>Think of an engine hall with three belts. The first carries raw resources: oil barrels, coal, sunlight and wind. The second runs through power stations, refineries and hydrogen plants. The third delivers to homes, lorries and steel mills. Every handover between belts is a market with a price.</a:t>
            </a:r>
            <a:endParaRPr lang="en-US" sz="24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Belt 1: resources (primary energy)</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Belt 2: transformation (electricity, fuels, hydrogen)</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Belt 3: final demand in buildings, transport and industry</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Demand for services pulls energy through the system</a:t>
            </a:r>
            <a:endParaRPr lang="en-US" sz="26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Resources</a:t>
            </a:r>
            <a:endParaRPr lang="en-US" sz="18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Oil, gas, coal, uranium, wind, sun, biomass</a:t>
            </a:r>
            <a:endParaRPr lang="en-US" sz="19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Transformation</a:t>
            </a:r>
            <a:endParaRPr lang="en-US" sz="18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Power plants, refineries, hydrogen production</a:t>
            </a:r>
            <a:endParaRPr lang="en-US" sz="19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Final energy</a:t>
            </a:r>
            <a:endParaRPr lang="en-US" sz="18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Electricity, liquid fuels, gas, hydrogen delivered</a:t>
            </a:r>
            <a:endParaRPr lang="en-US" sz="19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Services</a:t>
            </a:r>
            <a:endParaRPr lang="en-US" sz="18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Warm homes, kilometres travelled, tonnes of steel</a:t>
            </a:r>
            <a:endParaRPr lang="en-US" sz="19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Fossil resources are graded: the cheap grades are used first, so extraction cost rises over time</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what does gas power cost?</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Levelised cost = non-energy cost + fuel price ÷ efficiency + carbon price × emissions per MWh. Gas plant, 50% efficient, carbon price $50/t.</a:t>
            </a:r>
            <a:endParaRPr lang="en-US" sz="2000" dirty="0"/>
          </a:p>
        </p:txBody>
      </p:sp>
      <p:sp>
        <p:nvSpPr>
          <p:cNvPr id="9" name="number badge"/>
          <p:cNvSpPr txBox="1"/>
          <p:nvPr/>
        </p:nvSpPr>
        <p:spPr>
          <a:xfrm>
            <a:off x="548640" y="27203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Non-energy cost (building and running the plant): $20 per MWh</a:t>
            </a:r>
            <a:endParaRPr lang="en-US" sz="2200" dirty="0"/>
          </a:p>
        </p:txBody>
      </p:sp>
      <p:sp>
        <p:nvSpPr>
          <p:cNvPr id="11" name="number badge"/>
          <p:cNvSpPr txBox="1"/>
          <p:nvPr/>
        </p:nvSpPr>
        <p:spPr>
          <a:xfrm>
            <a:off x="548640" y="3241548"/>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172968"/>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Fuel: gas at $25 per MWh ÷ 0.5 efficiency = $50</a:t>
            </a:r>
            <a:endParaRPr lang="en-US" sz="2200" dirty="0"/>
          </a:p>
        </p:txBody>
      </p:sp>
      <p:sp>
        <p:nvSpPr>
          <p:cNvPr id="13" name="number badge"/>
          <p:cNvSpPr txBox="1"/>
          <p:nvPr/>
        </p:nvSpPr>
        <p:spPr>
          <a:xfrm>
            <a:off x="548640" y="376275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694176"/>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Emissions: 0.2 t per MWh of gas ÷ 0.5 = 0.4 t per MWh of electricity</a:t>
            </a:r>
            <a:endParaRPr lang="en-US" sz="2200" dirty="0"/>
          </a:p>
        </p:txBody>
      </p:sp>
      <p:sp>
        <p:nvSpPr>
          <p:cNvPr id="15" name="number badge"/>
          <p:cNvSpPr txBox="1"/>
          <p:nvPr/>
        </p:nvSpPr>
        <p:spPr>
          <a:xfrm>
            <a:off x="548640" y="4283964"/>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4215384"/>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Carbon cost: 0.4 × $50 = $20</a:t>
            </a:r>
            <a:endParaRPr lang="en-US" sz="2200" dirty="0"/>
          </a:p>
        </p:txBody>
      </p:sp>
      <p:sp>
        <p:nvSpPr>
          <p:cNvPr id="17" name="number badge"/>
          <p:cNvSpPr txBox="1"/>
          <p:nvPr/>
        </p:nvSpPr>
        <p:spPr>
          <a:xfrm>
            <a:off x="548640" y="4805172"/>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736592"/>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Total: 20 + 50 + 20 = $90 per MWh</a:t>
            </a:r>
            <a:endParaRPr lang="en-US" sz="2200" dirty="0"/>
          </a:p>
        </p:txBody>
      </p:sp>
      <p:sp>
        <p:nvSpPr>
          <p:cNvPr id="19"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0"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1"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2" name="Text 17"/>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Answer  </a:t>
            </a:r>
            <a:pPr indent="0" marL="0">
              <a:buNone/>
            </a:pPr>
            <a:r>
              <a:rPr lang="en-US" sz="2000" b="1" dirty="0">
                <a:solidFill>
                  <a:srgbClr val="12263A"/>
                </a:solidFill>
                <a:latin typeface="Calibri" pitchFamily="34" charset="0"/>
                <a:ea typeface="Calibri" pitchFamily="34" charset="-122"/>
                <a:cs typeface="Calibri" pitchFamily="34" charset="-120"/>
              </a:rPr>
              <a:t>$90 per MWh, the same as week 4's gas cost with a $50 carbon price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Three parts of cost, three different sources</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698138"/>
                <a:gridCol w="3698138"/>
                <a:gridCol w="3698138"/>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Part of cost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Where it comes from</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Example change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Non-energy cost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Input file, per technology and year</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CheapSolar lowers it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Fuel ÷ efficiency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The fuel market, solved by GCAM</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 gas shortage raises it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Carbon price × emissions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The policy you add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CarbonPrice in week 10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4142232"/>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4251960"/>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4361322"/>
            <a:ext cx="201900" cy="201900"/>
          </a:xfrm>
          <a:prstGeom prst="rect">
            <a:avLst/>
          </a:prstGeom>
        </p:spPr>
      </p:pic>
      <p:sp>
        <p:nvSpPr>
          <p:cNvPr id="9" name="Text 4"/>
          <p:cNvSpPr txBox="1"/>
          <p:nvPr/>
        </p:nvSpPr>
        <p:spPr>
          <a:xfrm>
            <a:off x="1280160" y="4142232"/>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Future costs and efficiencies are assumptions written in input files before the run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Coal plant: non-energy $25/MWh, coal $14/MWh, 40% efficient, 0.36 tCO2 per MWh of coal. Cost at $50/t?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$75</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$85</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$105</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$120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Coal plant: non-energy $25/MWh, coal $14/MWh, 40% efficient, 0.36 tCO2 per MWh of coal. Cost at $50/t?</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$75</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$85</a:t>
            </a:r>
            <a:endParaRPr lang="en-US" sz="2000" dirty="0"/>
          </a:p>
        </p:txBody>
      </p:sp>
      <p:sp>
        <p:nvSpPr>
          <p:cNvPr id="12" name="option"/>
          <p:cNvSpPr/>
          <p:nvPr/>
        </p:nvSpPr>
        <p:spPr>
          <a:xfrm>
            <a:off x="548640" y="4297680"/>
            <a:ext cx="5410048" cy="1325880"/>
          </a:xfrm>
          <a:prstGeom prst="roundRect">
            <a:avLst>
              <a:gd name="adj" fmla="val 8276"/>
            </a:avLst>
          </a:prstGeom>
          <a:solidFill>
            <a:srgbClr val="E7F5EC"/>
          </a:solidFill>
          <a:ln w="12700">
            <a:solidFill>
              <a:srgbClr val="E7F5EC"/>
            </a:solidFill>
            <a:prstDash val="solid"/>
          </a:ln>
        </p:spPr>
      </p:sp>
      <p:sp>
        <p:nvSpPr>
          <p:cNvPr id="13" name="number badge"/>
          <p:cNvSpPr txBox="1"/>
          <p:nvPr/>
        </p:nvSpPr>
        <p:spPr>
          <a:xfrm>
            <a:off x="822960" y="46863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$105</a:t>
            </a:r>
            <a:endParaRPr lang="en-US" sz="2000" dirty="0"/>
          </a:p>
        </p:txBody>
      </p:sp>
      <p:sp>
        <p:nvSpPr>
          <p:cNvPr id="15" name="icon circle"/>
          <p:cNvSpPr/>
          <p:nvPr/>
        </p:nvSpPr>
        <p:spPr>
          <a:xfrm>
            <a:off x="5364328" y="4434840"/>
            <a:ext cx="411480" cy="411480"/>
          </a:xfrm>
          <a:prstGeom prst="ellipse">
            <a:avLst/>
          </a:prstGeom>
          <a:solidFill>
            <a:srgbClr val="15803D"/>
          </a:solidFill>
          <a:ln w="12700">
            <a:solidFill>
              <a:srgbClr val="15803D"/>
            </a:solidFill>
            <a:prstDash val="solid"/>
          </a:ln>
        </p:spPr>
      </p:sp>
      <p:pic>
        <p:nvPicPr>
          <p:cNvPr id="16" name="icon" descr="preencoded.png">    </p:cNvPr>
          <p:cNvPicPr>
            <a:picLocks noChangeAspect="1"/>
          </p:cNvPicPr>
          <p:nvPr/>
        </p:nvPicPr>
        <p:blipFill>
          <a:blip r:embed="rId1"/>
          <a:stretch>
            <a:fillRect/>
          </a:stretch>
        </p:blipFill>
        <p:spPr>
          <a:xfrm>
            <a:off x="5471312" y="4541825"/>
            <a:ext cx="197510" cy="197510"/>
          </a:xfrm>
          <a:prstGeom prst="rect">
            <a:avLst/>
          </a:prstGeom>
        </p:spPr>
      </p:pic>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$120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CheapSolar's new investment</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Before: coal $60, gas $70, solar $80, exponent −4 gave 54 / 29 / 17. CheapSolar makes solar cost $60.</a:t>
            </a:r>
            <a:endParaRPr lang="en-US" sz="2000" dirty="0"/>
          </a:p>
        </p:txBody>
      </p:sp>
      <p:sp>
        <p:nvSpPr>
          <p:cNvPr id="9" name="number badge"/>
          <p:cNvSpPr txBox="1"/>
          <p:nvPr/>
        </p:nvSpPr>
        <p:spPr>
          <a:xfrm>
            <a:off x="548640" y="27203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Coal: 60^−4 = 7.72 × 10^−8</a:t>
            </a:r>
            <a:endParaRPr lang="en-US" sz="2200" dirty="0"/>
          </a:p>
        </p:txBody>
      </p:sp>
      <p:sp>
        <p:nvSpPr>
          <p:cNvPr id="11" name="number badge"/>
          <p:cNvSpPr txBox="1"/>
          <p:nvPr/>
        </p:nvSpPr>
        <p:spPr>
          <a:xfrm>
            <a:off x="548640" y="3241548"/>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172968"/>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Solar now also 60^−4 = 7.72 × 10^−8</a:t>
            </a:r>
            <a:endParaRPr lang="en-US" sz="2200" dirty="0"/>
          </a:p>
        </p:txBody>
      </p:sp>
      <p:sp>
        <p:nvSpPr>
          <p:cNvPr id="13" name="number badge"/>
          <p:cNvSpPr txBox="1"/>
          <p:nvPr/>
        </p:nvSpPr>
        <p:spPr>
          <a:xfrm>
            <a:off x="548640" y="376275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694176"/>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Gas: 70^−4 = 4.16 × 10^−8</a:t>
            </a:r>
            <a:endParaRPr lang="en-US" sz="2200" dirty="0"/>
          </a:p>
        </p:txBody>
      </p:sp>
      <p:sp>
        <p:nvSpPr>
          <p:cNvPr id="15" name="number badge"/>
          <p:cNvSpPr txBox="1"/>
          <p:nvPr/>
        </p:nvSpPr>
        <p:spPr>
          <a:xfrm>
            <a:off x="548640" y="4283964"/>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4215384"/>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Sum = 7.72 + 7.72 + 4.16 = 19.6 (× 10^−8)</a:t>
            </a:r>
            <a:endParaRPr lang="en-US" sz="2200" dirty="0"/>
          </a:p>
        </p:txBody>
      </p:sp>
      <p:sp>
        <p:nvSpPr>
          <p:cNvPr id="17" name="number badge"/>
          <p:cNvSpPr txBox="1"/>
          <p:nvPr/>
        </p:nvSpPr>
        <p:spPr>
          <a:xfrm>
            <a:off x="548640" y="4805172"/>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736592"/>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Shares: 7.72 ÷ 19.6 = 39%, gas 4.16 ÷ 19.6 = 21%</a:t>
            </a:r>
            <a:endParaRPr lang="en-US" sz="2200" dirty="0"/>
          </a:p>
        </p:txBody>
      </p:sp>
      <p:sp>
        <p:nvSpPr>
          <p:cNvPr id="19"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0"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1"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2" name="Text 17"/>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Answer  </a:t>
            </a:r>
            <a:pPr indent="0" marL="0">
              <a:buNone/>
            </a:pPr>
            <a:r>
              <a:rPr lang="en-US" sz="2000" b="1" dirty="0">
                <a:solidFill>
                  <a:srgbClr val="12263A"/>
                </a:solidFill>
                <a:latin typeface="Calibri" pitchFamily="34" charset="0"/>
                <a:ea typeface="Calibri" pitchFamily="34" charset="-122"/>
                <a:cs typeface="Calibri" pitchFamily="34" charset="-120"/>
              </a:rPr>
              <a:t>Coal 39%, gas 21%, solar 39% of new investment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New investment jumps; the whole fleet creeps</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Illustrative fleet: solar starts at 10%, 20% replaced per period</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Each 5 years, 20% of the fleet retires and is replaced</a:t>
            </a:r>
            <a:endParaRPr lang="en-US" sz="19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Next fleet share = 0.8 × old + 0.2 × 39.4%</a:t>
            </a:r>
            <a:endParaRPr lang="en-US" sz="19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After 30 years solar is still under a third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Where future cost assumptions come from: learning curves</a:t>
            </a:r>
            <a:endParaRPr lang="en-US" sz="26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547208"/>
                <a:gridCol w="5547208"/>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Installed capacity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Cost index (20% learning rate)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1× today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2× today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80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4× today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64</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8× today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51</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16× today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41</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4617720"/>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4727448"/>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4836810"/>
            <a:ext cx="201900" cy="201900"/>
          </a:xfrm>
          <a:prstGeom prst="rect">
            <a:avLst/>
          </a:prstGeom>
        </p:spPr>
      </p:pic>
      <p:sp>
        <p:nvSpPr>
          <p:cNvPr id="9" name="Text 4"/>
          <p:cNvSpPr txBox="1"/>
          <p:nvPr/>
        </p:nvSpPr>
        <p:spPr>
          <a:xfrm>
            <a:off x="1280160" y="4617720"/>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Each doubling of capacity cuts cost by 20%. Illustrative learning rate.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How to build a CheapSolar scenario</a:t>
            </a:r>
            <a:endParaRPr lang="en-US" sz="3200" dirty="0"/>
          </a:p>
        </p:txBody>
      </p:sp>
      <p:sp>
        <p:nvSpPr>
          <p:cNvPr id="5" name="idea card"/>
          <p:cNvSpPr/>
          <p:nvPr/>
        </p:nvSpPr>
        <p:spPr>
          <a:xfrm>
            <a:off x="548640"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019224" cy="77724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Copy the configuration</a:t>
            </a:r>
            <a:endParaRPr lang="en-US" sz="2000" dirty="0"/>
          </a:p>
        </p:txBody>
      </p:sp>
      <p:sp>
        <p:nvSpPr>
          <p:cNvPr id="8" name="Text 5"/>
          <p:cNvSpPr txBox="1"/>
          <p:nvPr/>
        </p:nvSpPr>
        <p:spPr>
          <a:xfrm>
            <a:off x="822960"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cp configuration_​ref.xml config_​cheapsolar.​xml. Never edit the original.</a:t>
            </a:r>
            <a:endParaRPr lang="en-US" sz="1800" dirty="0"/>
          </a:p>
        </p:txBody>
      </p:sp>
      <p:sp>
        <p:nvSpPr>
          <p:cNvPr id="9" name="idea card"/>
          <p:cNvSpPr/>
          <p:nvPr/>
        </p:nvSpPr>
        <p:spPr>
          <a:xfrm>
            <a:off x="3390824"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3665144"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3665144" y="2560320"/>
            <a:ext cx="2019224" cy="77724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Add one file, last</a:t>
            </a:r>
            <a:endParaRPr lang="en-US" sz="2000" dirty="0"/>
          </a:p>
        </p:txBody>
      </p:sp>
      <p:sp>
        <p:nvSpPr>
          <p:cNvPr id="12" name="Text 9"/>
          <p:cNvSpPr txBox="1"/>
          <p:nvPr/>
        </p:nvSpPr>
        <p:spPr>
          <a:xfrm>
            <a:off x="3665144"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List solar_adv.xml at the end of the inputs, just before the solver line. Later files win.</a:t>
            </a:r>
            <a:endParaRPr lang="en-US" sz="1800" dirty="0"/>
          </a:p>
        </p:txBody>
      </p:sp>
      <p:sp>
        <p:nvSpPr>
          <p:cNvPr id="13" name="idea card"/>
          <p:cNvSpPr/>
          <p:nvPr/>
        </p:nvSpPr>
        <p:spPr>
          <a:xfrm>
            <a:off x="6233008"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6507328"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6507328" y="2560320"/>
            <a:ext cx="2019224" cy="77724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Rename the scenario</a:t>
            </a:r>
            <a:endParaRPr lang="en-US" sz="2000" dirty="0"/>
          </a:p>
        </p:txBody>
      </p:sp>
      <p:sp>
        <p:nvSpPr>
          <p:cNvPr id="16" name="Text 13"/>
          <p:cNvSpPr txBox="1"/>
          <p:nvPr/>
        </p:nvSpPr>
        <p:spPr>
          <a:xfrm>
            <a:off x="6507328"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Change scenarioName from Reference to CheapSolar, or your results overwrite each other's labels.</a:t>
            </a:r>
            <a:endParaRPr lang="en-US" sz="1800" dirty="0"/>
          </a:p>
        </p:txBody>
      </p:sp>
      <p:sp>
        <p:nvSpPr>
          <p:cNvPr id="17" name="idea card"/>
          <p:cNvSpPr/>
          <p:nvPr/>
        </p:nvSpPr>
        <p:spPr>
          <a:xfrm>
            <a:off x="9075191"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9349511" y="1828800"/>
            <a:ext cx="548640" cy="548640"/>
          </a:xfrm>
          <a:prstGeom prst="ellipse">
            <a:avLst/>
          </a:prstGeom>
          <a:solidFill>
            <a:srgbClr val="D97706"/>
          </a:solidFill>
          <a:ln>
            <a:solidFill>
              <a:srgbClr val="D9770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9349511" y="2560320"/>
            <a:ext cx="2019224" cy="77724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Compare, don't eyeball</a:t>
            </a:r>
            <a:endParaRPr lang="en-US" sz="2000" dirty="0"/>
          </a:p>
        </p:txBody>
      </p:sp>
      <p:sp>
        <p:nvSpPr>
          <p:cNvPr id="20" name="Text 17"/>
          <p:cNvSpPr txBox="1"/>
          <p:nvPr/>
        </p:nvSpPr>
        <p:spPr>
          <a:xfrm>
            <a:off x="9349511" y="3429000"/>
            <a:ext cx="2019224" cy="242316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Subtract Reference from CheapSolar year by year in 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GCAM shows that solar will get cheaper</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You told it so. Future costs are inputs; cheap solar winning partly restates your assumption.</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Comparing two scenarios' totals by eye</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Always compute the difference from Reference, year by year.</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 cheaper technology takes over within one period</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Only new investment shifts. Old plants keep running until they retire.</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Levelised cost   </a:t>
            </a:r>
            <a:pPr indent="0" marL="0">
              <a:buNone/>
            </a:pPr>
            <a:r>
              <a:rPr lang="en-US" sz="1900" dirty="0">
                <a:solidFill>
                  <a:srgbClr val="1F2933"/>
                </a:solidFill>
                <a:latin typeface="Calibri" pitchFamily="34" charset="0"/>
                <a:ea typeface="Calibri" pitchFamily="34" charset="-122"/>
                <a:cs typeface="Calibri" pitchFamily="34" charset="-120"/>
              </a:rPr>
              <a:t>The average cost of one unit of output (for example one MWh) over a plant's whole life, including building, fuel and any carbon price.</a:t>
            </a:r>
            <a:endParaRPr lang="en-US" sz="19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Efficiency   </a:t>
            </a:r>
            <a:pPr indent="0" marL="0">
              <a:buNone/>
            </a:pPr>
            <a:r>
              <a:rPr lang="en-US" sz="1900" dirty="0">
                <a:solidFill>
                  <a:srgbClr val="1F2933"/>
                </a:solidFill>
                <a:latin typeface="Calibri" pitchFamily="34" charset="0"/>
                <a:ea typeface="Calibri" pitchFamily="34" charset="-122"/>
                <a:cs typeface="Calibri" pitchFamily="34" charset="-120"/>
              </a:rPr>
              <a:t>How much useful output you get per unit of fuel. A 50% efficient plant burns 2 MWh of gas for every 1 MWh of electricity.</a:t>
            </a:r>
            <a:endParaRPr lang="en-US" sz="19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Vintage   </a:t>
            </a:r>
            <a:pPr indent="0" marL="0">
              <a:buNone/>
            </a:pPr>
            <a:r>
              <a:rPr lang="en-US" sz="1900" dirty="0">
                <a:solidFill>
                  <a:srgbClr val="1F2933"/>
                </a:solidFill>
                <a:latin typeface="Calibri" pitchFamily="34" charset="0"/>
                <a:ea typeface="Calibri" pitchFamily="34" charset="-122"/>
                <a:cs typeface="Calibri" pitchFamily="34" charset="-120"/>
              </a:rPr>
              <a:t>The year a plant was built. GCAM keeps track of vintages, so old plants keep running until they retire.</a:t>
            </a:r>
            <a:endParaRPr lang="en-US" sz="19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Add-on file   </a:t>
            </a:r>
            <a:pPr indent="0" marL="0">
              <a:buNone/>
            </a:pPr>
            <a:r>
              <a:rPr lang="en-US" sz="1900" dirty="0">
                <a:solidFill>
                  <a:srgbClr val="1F2933"/>
                </a:solidFill>
                <a:latin typeface="Calibri" pitchFamily="34" charset="0"/>
                <a:ea typeface="Calibri" pitchFamily="34" charset="-122"/>
                <a:cs typeface="Calibri" pitchFamily="34" charset="-120"/>
              </a:rPr>
              <a:t>An extra input file listed last in the configuration. It overrides earlier data, so you can change one assumption without editing the originals.</a:t>
            </a:r>
            <a:endParaRPr lang="en-US" sz="19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Learning rate   </a:t>
            </a:r>
            <a:pPr indent="0" marL="0">
              <a:buNone/>
            </a:pPr>
            <a:r>
              <a:rPr lang="en-US" sz="1900" dirty="0">
                <a:solidFill>
                  <a:srgbClr val="1F2933"/>
                </a:solidFill>
                <a:latin typeface="Calibri" pitchFamily="34" charset="0"/>
                <a:ea typeface="Calibri" pitchFamily="34" charset="-122"/>
                <a:cs typeface="Calibri" pitchFamily="34" charset="-120"/>
              </a:rPr>
              <a:t>The percentage a technology's cost falls each time its total installed capacity doubles. A common way to build future cost assumptions.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Lab 8: CheapSolar versus Reference</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Build and start a CheapSolar run with an add-on file, then add the instructor's CheapSolar results to your project and compute differences from Reference.</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labs/lab8.R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Build the CheapSolar run (Terminal tab)</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Copy the configuration, make the two edits shown in the snippet file, and start the run.</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cd ~/gcam/exe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tail -n 3 logs/main_log.txt   # did lab 7 finish?</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cp configuration_ref.xml config_cheapsolar.xml</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edit config_cheapsolar.xml (two changes), then:</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nohup ./gcam.exe -C config_cheapsolar.xml &amp;</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Add CheapSolar to your project</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Load last week's project and add the new scenario. Queries already stored for Reference are not run again.</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library(tidyverse)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library(rgcam)</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db_dir &lt;- "/course/gcam/output"  # from instructor</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conn &lt;- localDBConn(db_dir, "database_basexdb")</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prj &lt;- loadProject("output/gcam_course.dat")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prj &lt;- addScenario(conn, prj, "CheapSolar",</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"gcam-files/course_queries.xml")</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elec &lt;- getQuery(prj, "elec gen by subsector")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filter(region == "Japan")   # your region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Take differences from Reference</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Make a small Reference table, join it to CheapSolar by fuel and year, and subtract.</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ref &lt;- elec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filter(scenario == "Reference")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select(subsector, year, ref = value)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dif &lt;- elec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filter(scenario == "CheapSolar")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left_join(ref, by = c("subsector", "year"))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mutate(change = value - ref)</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ggplot(dif, aes(year, change, fill = subsector)) +</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geom_col()</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Let rchart draw the standard charts</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rchart wants columns scenario, region, year, value, class and param. With scenRef set, it also draws difference charts.</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library(rchart)</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rc &lt;- elec |&gt;</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select(scenario, region, year, value,</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class = subsector) |&gt;</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mutate(param = "Electricity")</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charts &lt;- chart(rc, scenRef = "Reference",</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save = FALSE)</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names(charts)</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charts$chart_class_diff_absolute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dif has one row per fuel group and year</a:t>
            </a:r>
            <a:endParaRPr lang="en-US" sz="18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Changes are zero before the first future period</a:t>
            </a:r>
            <a:endParaRPr lang="en-US" sz="18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Solar's change is positive; coal and gas lose a little each</a:t>
            </a:r>
            <a:endParaRPr lang="en-US" sz="18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By how many units does solar generation change in your region in 2030 and in 2050? Why is 2050 larger?</a:t>
            </a:r>
            <a:endParaRPr lang="en-US" sz="18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Does total electricity change? Explain using the electricity price.</a:t>
            </a:r>
            <a:endParaRPr lang="en-US" sz="18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Repeat the difference for CO2 emissions. Is cheap solar alone a climate policy?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837944"/>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Energy flows from resources through transformation to final demand; each handover is a market</a:t>
            </a:r>
            <a:endParaRPr lang="en-US" sz="1800" dirty="0"/>
          </a:p>
        </p:txBody>
      </p:sp>
      <p:sp>
        <p:nvSpPr>
          <p:cNvPr id="6" name="number badge"/>
          <p:cNvSpPr txBox="1"/>
          <p:nvPr/>
        </p:nvSpPr>
        <p:spPr>
          <a:xfrm>
            <a:off x="548640" y="2587752"/>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441448"/>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Levelised cost = non-energy cost + fuel ÷ efficiency + carbon price × emissions</a:t>
            </a:r>
            <a:endParaRPr lang="en-US" sz="1800" dirty="0"/>
          </a:p>
        </p:txBody>
      </p:sp>
      <p:sp>
        <p:nvSpPr>
          <p:cNvPr id="8" name="number badge"/>
          <p:cNvSpPr txBox="1"/>
          <p:nvPr/>
        </p:nvSpPr>
        <p:spPr>
          <a:xfrm>
            <a:off x="548640" y="333756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191256"/>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Future costs are assumptions you set; learning curves are one way to choose them</a:t>
            </a:r>
            <a:endParaRPr lang="en-US" sz="1800" dirty="0"/>
          </a:p>
        </p:txBody>
      </p:sp>
      <p:sp>
        <p:nvSpPr>
          <p:cNvPr id="10" name="number badge"/>
          <p:cNvSpPr txBox="1"/>
          <p:nvPr/>
        </p:nvSpPr>
        <p:spPr>
          <a:xfrm>
            <a:off x="548640" y="4087368"/>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3941064"/>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cost cut shifts new investment fast, but the fleet turns over slowly</a:t>
            </a:r>
            <a:endParaRPr lang="en-US" sz="1800" dirty="0"/>
          </a:p>
        </p:txBody>
      </p:sp>
      <p:sp>
        <p:nvSpPr>
          <p:cNvPr id="12" name="number badge"/>
          <p:cNvSpPr txBox="1"/>
          <p:nvPr/>
        </p:nvSpPr>
        <p:spPr>
          <a:xfrm>
            <a:off x="548640" y="4837176"/>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3" name="Text 11"/>
          <p:cNvSpPr txBox="1"/>
          <p:nvPr/>
        </p:nvSpPr>
        <p:spPr>
          <a:xfrm>
            <a:off x="1234440" y="4690872"/>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Always report results as differences from Reference</a:t>
            </a:r>
            <a:endParaRPr lang="en-US" sz="1800" dirty="0"/>
          </a:p>
        </p:txBody>
      </p:sp>
      <p:sp>
        <p:nvSpPr>
          <p:cNvPr id="14"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5" name="Text 13"/>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9</a:t>
            </a:r>
            <a:endParaRPr lang="en-US" sz="1600" dirty="0"/>
          </a:p>
        </p:txBody>
      </p:sp>
      <p:sp>
        <p:nvSpPr>
          <p:cNvPr id="16" name="Text 14"/>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9 turns to the other half of GCAM: farms, forests and water, and how energy, land and water pull on each other.</a:t>
            </a:r>
            <a:endParaRPr lang="en-US" sz="1600" dirty="0"/>
          </a:p>
        </p:txBody>
      </p:sp>
      <p:sp>
        <p:nvSpPr>
          <p:cNvPr id="17"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8" name="Text 16"/>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9" name="Text 17"/>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8: try the learning explorer and the 5-question quiz.</a:t>
            </a:r>
            <a:endParaRPr lang="en-US" sz="1400" dirty="0"/>
          </a:p>
        </p:txBody>
      </p:sp>
      <p:sp>
        <p:nvSpPr>
          <p:cNvPr id="20" name="Text 18"/>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rchart package guide; GCAM v8.2 documentation: Energy Supply, Energy Demand, Technology Representation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The energy system in GCAM</dc:title>
  <dc:subject>Modelling Climate and Energy Futures</dc:subject>
  <dc:creator>IAM course team</dc:creator>
  <cp:lastModifiedBy>IAM course team</cp:lastModifiedBy>
  <cp:revision>1</cp:revision>
  <dcterms:created xsi:type="dcterms:W3CDTF">2026-10-22T18:53:47Z</dcterms:created>
  <dcterms:modified xsi:type="dcterms:W3CDTF">2026-10-22T18:53:47Z</dcterms:modified>
</cp:coreProperties>
</file>