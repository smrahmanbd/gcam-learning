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d6e8c7-808b-0b76-ed7e-da8c626fa9a6}">
          <p14:sldIdLst>
            <p14:sldId id="256"/>
            <p14:sldId id="257"/>
            <p14:sldId id="258"/>
          </p14:sldIdLst>
        </p14:section>
        <p14:section name="Lecture" id="{9f74dae0-c9a6-bd04-66b1-1175b0441b0b}">
          <p14:sldIdLst>
            <p14:sldId id="259"/>
            <p14:sldId id="260"/>
            <p14:sldId id="261"/>
            <p14:sldId id="262"/>
            <p14:sldId id="263"/>
            <p14:sldId id="264"/>
            <p14:sldId id="265"/>
            <p14:sldId id="266"/>
            <p14:sldId id="267"/>
            <p14:sldId id="268"/>
            <p14:sldId id="269"/>
            <p14:sldId id="270"/>
            <p14:sldId id="271"/>
          </p14:sldIdLst>
        </p14:section>
        <p14:section name="Lab" id="{3244a40f-8faf-e310-7ef1-3ee684c3368b}">
          <p14:sldIdLst>
            <p14:sldId id="272"/>
            <p14:sldId id="273"/>
            <p14:sldId id="274"/>
            <p14:sldId id="275"/>
            <p14:sldId id="276"/>
            <p14:sldId id="277"/>
          </p14:sldIdLst>
        </p14:section>
        <p14:section name="Recap" id="{70132695-d362-cce6-21ed-13921ce72b4f}">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Model A</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Sheet1!$A$2:$A$5</c:f>
              <c:multiLvlStrCache>
                <c:ptCount val="4"/>
                <c:lvl>
                  <c:pt idx="0">
                    <c:v>2020</c:v>
                  </c:pt>
                  <c:pt idx="1">
                    <c:v>2030</c:v>
                  </c:pt>
                  <c:pt idx="2">
                    <c:v>2040</c:v>
                  </c:pt>
                  <c:pt idx="3">
                    <c:v>2050</c:v>
                  </c:pt>
                </c:lvl>
              </c:multiLvlStrCache>
            </c:multiLvlStrRef>
          </c:cat>
          <c:val>
            <c:numRef>
              <c:f>Sheet1!$B$2:$B$5</c:f>
              <c:numCache>
                <c:formatCode>General</c:formatCode>
                <c:ptCount val="4"/>
                <c:pt idx="0">
                  <c:v>40</c:v>
                </c:pt>
                <c:pt idx="1">
                  <c:v>32</c:v>
                </c:pt>
                <c:pt idx="2">
                  <c:v>24</c:v>
                </c:pt>
                <c:pt idx="3">
                  <c:v>16</c:v>
                </c:pt>
              </c:numCache>
            </c:numRef>
          </c:val>
          <c:smooth val="0"/>
        </c:ser>
        <c:ser>
          <c:idx val="1"/>
          <c:order val="1"/>
          <c:tx>
            <c:strRef>
              <c:f>Sheet1!$C$1</c:f>
              <c:strCache>
                <c:ptCount val="1"/>
                <c:pt idx="0">
                  <c:v>Model B</c:v>
                </c:pt>
              </c:strCache>
            </c:strRef>
          </c:tx>
          <c:spPr>
            <a:solidFill>
              <a:srgbClr val="C2410C"/>
            </a:solidFill>
            <a:ln w="38100" cap="flat">
              <a:solidFill>
                <a:srgbClr val="C241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2410C"/>
              </a:solidFill>
              <a:ln w="9525" cap="flat">
                <a:solidFill>
                  <a:srgbClr val="C2410C"/>
                </a:solidFill>
                <a:prstDash val="solid"/>
                <a:round/>
              </a:ln>
              <a:effectLst/>
            </c:spPr>
          </c:marker>
          <c:cat>
            <c:multiLvlStrRef>
              <c:f>Sheet1!$A$2:$A$5</c:f>
              <c:multiLvlStrCache>
                <c:ptCount val="4"/>
                <c:lvl>
                  <c:pt idx="0">
                    <c:v>2020</c:v>
                  </c:pt>
                  <c:pt idx="1">
                    <c:v>2030</c:v>
                  </c:pt>
                  <c:pt idx="2">
                    <c:v>2040</c:v>
                  </c:pt>
                  <c:pt idx="3">
                    <c:v>2050</c:v>
                  </c:pt>
                </c:lvl>
              </c:multiLvlStrCache>
            </c:multiLvlStrRef>
          </c:cat>
          <c:val>
            <c:numRef>
              <c:f>Sheet1!$C$2:$C$5</c:f>
              <c:numCache>
                <c:formatCode>General</c:formatCode>
                <c:ptCount val="4"/>
                <c:pt idx="0">
                  <c:v>40</c:v>
                </c:pt>
                <c:pt idx="1">
                  <c:v>34.7</c:v>
                </c:pt>
                <c:pt idx="2">
                  <c:v>29.3</c:v>
                </c:pt>
                <c:pt idx="3">
                  <c:v>24</c:v>
                </c:pt>
              </c:numCache>
            </c:numRef>
          </c:val>
          <c:smooth val="0"/>
        </c:ser>
        <c:ser>
          <c:idx val="2"/>
          <c:order val="2"/>
          <c:tx>
            <c:strRef>
              <c:f>Sheet1!$D$1</c:f>
              <c:strCache>
                <c:ptCount val="1"/>
                <c:pt idx="0">
                  <c:v>Model C</c:v>
                </c:pt>
              </c:strCache>
            </c:strRef>
          </c:tx>
          <c:spPr>
            <a:solidFill>
              <a:srgbClr val="12263A"/>
            </a:solidFill>
            <a:ln w="38100" cap="flat">
              <a:solidFill>
                <a:srgbClr val="1226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2263A"/>
              </a:solidFill>
              <a:ln w="9525" cap="flat">
                <a:solidFill>
                  <a:srgbClr val="12263A"/>
                </a:solidFill>
                <a:prstDash val="solid"/>
                <a:round/>
              </a:ln>
              <a:effectLst/>
            </c:spPr>
          </c:marker>
          <c:cat>
            <c:multiLvlStrRef>
              <c:f>Sheet1!$A$2:$A$5</c:f>
              <c:multiLvlStrCache>
                <c:ptCount val="4"/>
                <c:lvl>
                  <c:pt idx="0">
                    <c:v>2020</c:v>
                  </c:pt>
                  <c:pt idx="1">
                    <c:v>2030</c:v>
                  </c:pt>
                  <c:pt idx="2">
                    <c:v>2040</c:v>
                  </c:pt>
                  <c:pt idx="3">
                    <c:v>2050</c:v>
                  </c:pt>
                </c:lvl>
              </c:multiLvlStrCache>
            </c:multiLvlStrRef>
          </c:cat>
          <c:val>
            <c:numRef>
              <c:f>Sheet1!$D$2:$D$5</c:f>
              <c:numCache>
                <c:formatCode>General</c:formatCode>
                <c:ptCount val="4"/>
                <c:pt idx="0">
                  <c:v>40</c:v>
                </c:pt>
                <c:pt idx="1">
                  <c:v>36</c:v>
                </c:pt>
                <c:pt idx="2">
                  <c:v>32</c:v>
                </c:pt>
                <c:pt idx="3">
                  <c:v>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Year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CO2 (Gt per year)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12: Why models disagree. Same question, different models, different answers. Today has two halves: a lecture that builds the idea step by step with everyday examples, then a guided lab where we try it in R. Nobody is expected to know the material already. New R skill this week: Reproducible analysis: folders, sourced scripts, Git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12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If several respected models get the same carbon price and give different emissions, which one should we believe, and what does the spread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explain-a-paper talk. Then put the question to the room. Collect answers that blame a bug, and answers that say the models assume different things. The rest of the lecture shows that disagreement is not a failure: it is the only window we have on how much the tools themselves are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recipe card is exactly what an intercomparison project does: it fixes the inputs it can, so the differences left over can be traced to structure and method. Keep the three words; every later slide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sort some differences into the boxes: number of regions (structure), cost of solar in 2050 (inputs), foresight (method), base year (inputs). Inputs are the easiest to harmonise, which is why comparison projects start there. Note that Reference against CheapSolar is GCAM against GCAM, so it tests inputs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intercomparison project is often shortened to MIP; spell it out the first time. The Stanford Energy Modeling Forum (EMF) has run many such studies. The reporting template is why data/ar6_world.csv has the same variable names for every model, which made lab 6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behind a diagnostic study: one standard test, many models. Ask what could make model C respond least. Possible answers: no carbon capture technology (structure), expensive solar (inputs), or no foresight (method). Each answer is a question to check in the model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percentage cut under a standard price is one of the diagnostic indicators researchers use. Harmsen and colleagues applied six indicators to 17 models and found large differences, even between versions of the same model; check those counts against the paper before teaching. The next question is never a number: it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most models behave that way under the agreed assumptions. Models are not independent draws: many share data, assumptions and even code. A count across models describes the tools, not the probability of the outcome. This is the same warning as week 6 about bands on scenario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most models behave that way under the agreed assumptions. Models are not independent draws: many share data, assumptions and even code. A count across models describes the tools, not the probability of the outcome. This is the same warning as week 6 about bands on scenario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 the 44 over 12 and your GCAM line sits at about a quarter of every other model. Also match the scope: GCAM's query covers energy and industry, not land use, so compare with the AR6 variable Emissions|CO2|Energy and Industrial Processes. Both checks are built into the lab 12 helper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EMF 27 was a study of the Stanford Energy Modeling Forum; its overview paper is Kriegler et al. (2014). These findings are quoted from memory of that overview, so check them against the source before teaching. Use the last finding as a hook for week 14, where heavy reliance on bioenergy and carbon capture is criticised.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your run with others is only useful if someone else can repeat it. The rule to teach: functions live in R, scripts in labs only load, call and plot. Restarting R is the real test, because a script that only works in a used session is not reproducible. The project hand-in uses exactly this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mistakes appear in almost every first draft of the lab 12 worksheet. The third matters for the explain-a-paper talks: an outlier model is often the most informative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Turn repeated code into two functions, place your CarbonPrice run among AR6 scenarios with a similar carbon price, and save the work with Git.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variable. Students then move get_co2 to R/gcam_helpers.R in the same way and uncomment the two source() lines at the top of the script. The complete version is solutions/lab12_solution.R with the two helper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before the session that the project file holds this query for every region, not only the example region. If the GCAM line later sits far below all AR6 lines, the 44/12 conversion or the sum over regions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2050 price of the CarbonPrice run in the unit of the AR6 variable, since GCAM reports prices in different units. co2_var is Emissions|CO2|Energy and Industrial Processes, to match the scope of the GCAM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commit message should say what changed, for example Move AR6 and GCAM helpers into R folder. .gitignore keeps databases, project files and the output folder out of Git; it must be in place before the first git add, because files already tracked are not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Name the three sources of difference: structure, inputs and method; Explain how an intercomparison project makes model results comparable; Compare a GCAM run with AR6 scenarios after matching units and scope; Organise an analysis into sourced functions and save it with Git. Ask students to rate themselves on each. Then point to next week: Week 13 runs GCAM many times on purpose, and uses a decision tree to discover which assumptions lead to high emissions.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12 · Why models disagree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12 · Why models disagree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6.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Why models disagree</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12 OF 15  ·  STAGE 3: ADVANCED METHODS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Same question, different models, different answers</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Reproducible analysis: folders, sourced scripts, Git basics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9E4DF"/>
          </a:solidFill>
          <a:ln w="12700">
            <a:solidFill>
              <a:srgbClr val="C9E4DF"/>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C9E4DF"/>
          </a:solidFill>
          <a:ln w="12700">
            <a:solidFill>
              <a:srgbClr val="C9E4DF"/>
            </a:solidFill>
            <a:prstDash val="solid"/>
          </a:ln>
        </p:spPr>
      </p:sp>
      <p:sp>
        <p:nvSpPr>
          <p:cNvPr id="37" name="Text 34"/>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8" name="Text 35"/>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39" name="Text 36"/>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0" name="Text 37"/>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1" name="week tile"/>
          <p:cNvSpPr/>
          <p:nvPr/>
        </p:nvSpPr>
        <p:spPr>
          <a:xfrm>
            <a:off x="2468880" y="4617720"/>
            <a:ext cx="1414729" cy="1188720"/>
          </a:xfrm>
          <a:prstGeom prst="roundRect">
            <a:avLst>
              <a:gd name="adj" fmla="val 9231"/>
            </a:avLst>
          </a:prstGeom>
          <a:solidFill>
            <a:srgbClr val="C9E4DF"/>
          </a:solidFill>
          <a:ln w="12700">
            <a:solidFill>
              <a:srgbClr val="C9E4DF"/>
            </a:solidFill>
            <a:prstDash val="solid"/>
          </a:ln>
        </p:spPr>
      </p:sp>
      <p:sp>
        <p:nvSpPr>
          <p:cNvPr id="42" name="Text 39"/>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3" name="Text 40"/>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4" name="week tile"/>
          <p:cNvSpPr/>
          <p:nvPr/>
        </p:nvSpPr>
        <p:spPr>
          <a:xfrm>
            <a:off x="4020769" y="4617720"/>
            <a:ext cx="1414729" cy="1188720"/>
          </a:xfrm>
          <a:prstGeom prst="roundRect">
            <a:avLst>
              <a:gd name="adj" fmla="val 9231"/>
            </a:avLst>
          </a:prstGeom>
          <a:solidFill>
            <a:srgbClr val="C2410C"/>
          </a:solidFill>
          <a:ln w="12700">
            <a:solidFill>
              <a:srgbClr val="C2410C"/>
            </a:solidFill>
            <a:prstDash val="solid"/>
          </a:ln>
        </p:spPr>
      </p:sp>
      <p:sp>
        <p:nvSpPr>
          <p:cNvPr id="45" name="Text 42"/>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12</a:t>
            </a:r>
            <a:endParaRPr lang="en-US" sz="1200" dirty="0"/>
          </a:p>
        </p:txBody>
      </p:sp>
      <p:sp>
        <p:nvSpPr>
          <p:cNvPr id="46" name="Text 43"/>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Why models disagree</a:t>
            </a:r>
            <a:endParaRPr lang="en-US" sz="1400" dirty="0"/>
          </a:p>
        </p:txBody>
      </p:sp>
      <p:sp>
        <p:nvSpPr>
          <p:cNvPr id="47"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48" name="Shape 45"/>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49" name="Text 46"/>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0" name="Text 47"/>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1"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2" name="Shape 49"/>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3" name="Text 50"/>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4" name="Text 51"/>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5"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6" name="Shape 53"/>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57" name="Text 54"/>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58" name="Text 55"/>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Name the three sources of difference: structure, inputs and method</a:t>
            </a:r>
            <a:endParaRPr lang="en-US" sz="18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Explain how an intercomparison project makes model results comparable</a:t>
            </a:r>
            <a:endParaRPr lang="en-US" sz="18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Compare a GCAM run with AR6 scenarios after matching units and scope</a:t>
            </a:r>
            <a:endParaRPr lang="en-US" sz="18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800" dirty="0">
                <a:solidFill>
                  <a:srgbClr val="1F2933"/>
                </a:solidFill>
                <a:latin typeface="Calibri" pitchFamily="34" charset="0"/>
                <a:ea typeface="Calibri" pitchFamily="34" charset="-122"/>
                <a:cs typeface="Calibri" pitchFamily="34" charset="-120"/>
              </a:rPr>
              <a:t>Organise an analysis into sourced functions and save it with Git</a:t>
            </a:r>
            <a:endParaRPr lang="en-US" sz="18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1900" b="1" dirty="0">
                <a:solidFill>
                  <a:srgbClr val="0B5550"/>
                </a:solidFill>
                <a:latin typeface="Calibri" pitchFamily="34" charset="0"/>
                <a:ea typeface="Calibri" pitchFamily="34" charset="-122"/>
                <a:cs typeface="Calibri" pitchFamily="34" charset="-120"/>
              </a:rPr>
              <a:t>Big question  </a:t>
            </a:r>
            <a:pPr indent="0" marL="0">
              <a:buNone/>
            </a:pPr>
            <a:r>
              <a:rPr lang="en-US" sz="1900" dirty="0">
                <a:solidFill>
                  <a:srgbClr val="1F2933"/>
                </a:solidFill>
                <a:latin typeface="Calibri" pitchFamily="34" charset="0"/>
                <a:ea typeface="Calibri" pitchFamily="34" charset="-122"/>
                <a:cs typeface="Calibri" pitchFamily="34" charset="-120"/>
              </a:rPr>
              <a:t>If several respected models get the same carbon price and give different emissions, which one should we believe, and what does the spread tell us?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Same carbon price, three different futures</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Three models get the same carbon price path. By 2050 one has cut CO2 by 60%, one by 40% and one by only 30%.</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Is one of them wrong, or are they telling us something?</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cooks, one recipe name</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500" i="1" dirty="0">
                <a:solidFill>
                  <a:srgbClr val="12263A"/>
                </a:solidFill>
                <a:latin typeface="Cambria" pitchFamily="34" charset="0"/>
                <a:ea typeface="Cambria" pitchFamily="34" charset="-122"/>
                <a:cs typeface="Cambria" pitchFamily="34" charset="-120"/>
              </a:rPr>
              <a:t>Ask three cooks for "a chocolate cake" and you get three cakes. One has a different oven, one used different cocoa, one followed a different method. Hand them all the same recipe card and the differences that remain point to ovens and methods.</a:t>
            </a:r>
            <a:endParaRPr lang="en-US" sz="25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Different oven = different model structure</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Different cocoa = different inputs</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Different recipe steps = different method</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Three reasons models give different answers</a:t>
            </a:r>
            <a:endParaRPr lang="en-US" sz="3200" dirty="0"/>
          </a:p>
        </p:txBody>
      </p:sp>
      <p:sp>
        <p:nvSpPr>
          <p:cNvPr id="5" name="idea card"/>
          <p:cNvSpPr/>
          <p:nvPr/>
        </p:nvSpPr>
        <p:spPr>
          <a:xfrm>
            <a:off x="548640"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Structure</a:t>
            </a:r>
            <a:endParaRPr lang="en-US" sz="2200" dirty="0"/>
          </a:p>
        </p:txBody>
      </p:sp>
      <p:sp>
        <p:nvSpPr>
          <p:cNvPr id="8" name="Text 5"/>
          <p:cNvSpPr txBox="1"/>
          <p:nvPr/>
        </p:nvSpPr>
        <p:spPr>
          <a:xfrm>
            <a:off x="822960"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regions, sectors and technologies exist. A model with no land sector cannot trade bioenergy against food.</a:t>
            </a:r>
            <a:endParaRPr lang="en-US" sz="2000" dirty="0"/>
          </a:p>
        </p:txBody>
      </p:sp>
      <p:sp>
        <p:nvSpPr>
          <p:cNvPr id="9" name="idea card"/>
          <p:cNvSpPr/>
          <p:nvPr/>
        </p:nvSpPr>
        <p:spPr>
          <a:xfrm>
            <a:off x="4338218"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4612538"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4612538"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Inputs</a:t>
            </a:r>
            <a:endParaRPr lang="en-US" sz="2200" dirty="0"/>
          </a:p>
        </p:txBody>
      </p:sp>
      <p:sp>
        <p:nvSpPr>
          <p:cNvPr id="12" name="Text 9"/>
          <p:cNvSpPr txBox="1"/>
          <p:nvPr/>
        </p:nvSpPr>
        <p:spPr>
          <a:xfrm>
            <a:off x="4612538"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Technology costs, resources, population, income. Your CheapSolar run changed one input and the whole mix moved.</a:t>
            </a:r>
            <a:endParaRPr lang="en-US" sz="2000" dirty="0"/>
          </a:p>
        </p:txBody>
      </p:sp>
      <p:sp>
        <p:nvSpPr>
          <p:cNvPr id="13" name="idea card"/>
          <p:cNvSpPr/>
          <p:nvPr/>
        </p:nvSpPr>
        <p:spPr>
          <a:xfrm>
            <a:off x="8127797" y="1554480"/>
            <a:ext cx="3515258" cy="4526280"/>
          </a:xfrm>
          <a:prstGeom prst="roundRect">
            <a:avLst>
              <a:gd name="adj" fmla="val 312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8402117"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402117" y="2560320"/>
            <a:ext cx="2966618" cy="777240"/>
          </a:xfrm>
          <a:prstGeom prst="rect">
            <a:avLst/>
          </a:prstGeom>
          <a:noFill/>
          <a:ln/>
        </p:spPr>
        <p:txBody>
          <a:bodyPr wrap="square" lIns="0" tIns="0" rIns="0" bIns="0" rtlCol="0" anchor="t"/>
          <a:lstStyle/>
          <a:p>
            <a:pPr indent="0" marL="0">
              <a:buNone/>
            </a:pPr>
            <a:r>
              <a:rPr lang="en-US" sz="2200" b="1" dirty="0">
                <a:solidFill>
                  <a:srgbClr val="12263A"/>
                </a:solidFill>
                <a:latin typeface="Cambria" pitchFamily="34" charset="0"/>
                <a:ea typeface="Cambria" pitchFamily="34" charset="-122"/>
                <a:cs typeface="Cambria" pitchFamily="34" charset="-120"/>
              </a:rPr>
              <a:t>Method</a:t>
            </a:r>
            <a:endParaRPr lang="en-US" sz="2200" dirty="0"/>
          </a:p>
        </p:txBody>
      </p:sp>
      <p:sp>
        <p:nvSpPr>
          <p:cNvPr id="16" name="Text 13"/>
          <p:cNvSpPr txBox="1"/>
          <p:nvPr/>
        </p:nvSpPr>
        <p:spPr>
          <a:xfrm>
            <a:off x="8402117" y="3429000"/>
            <a:ext cx="2966618"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Simulation or optimisation, myopic or perfect foresight (week 11). The same data can give different plans.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How an intercomparison project works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Agree the task</a:t>
            </a:r>
            <a:endParaRPr lang="en-US" sz="18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Shared scenarios written down in a protocol</a:t>
            </a:r>
            <a:endParaRPr lang="en-US" sz="20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Each team runs it</a:t>
            </a:r>
            <a:endParaRPr lang="en-US" sz="18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Every model keeps its own structure and method</a:t>
            </a:r>
            <a:endParaRPr lang="en-US" sz="20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Report one way</a:t>
            </a:r>
            <a:endParaRPr lang="en-US" sz="18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Same variable names, same units, one template</a:t>
            </a:r>
            <a:endParaRPr lang="en-US" sz="20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1800" b="1" dirty="0">
                <a:solidFill>
                  <a:srgbClr val="12263A"/>
                </a:solidFill>
                <a:latin typeface="Cambria" pitchFamily="34" charset="0"/>
                <a:ea typeface="Cambria" pitchFamily="34" charset="-122"/>
                <a:cs typeface="Cambria" pitchFamily="34" charset="-120"/>
              </a:rPr>
              <a:t>Compare, explain</a:t>
            </a:r>
            <a:endParaRPr lang="en-US" sz="18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Where do results agree, and why not?</a:t>
            </a:r>
            <a:endParaRPr lang="en-US" sz="20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The AR6 files you used in lab 6 share column names because teams agreed a reporting template</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Same price path, three responses</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models with straight-line paths, not real results</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All three start at 40 Gt in 2020</a:t>
            </a:r>
            <a:endParaRPr lang="en-US" sz="19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In 2050: A 16, B 24, C 28 Gt</a:t>
            </a:r>
            <a:endParaRPr lang="en-US" sz="19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The spread starts an explanation; it is not a probability</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a simple diagnostic indicator</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Three models start at 40 Gt in 2020. Under the same price, in 2050 A emits 16, B 24 and C 28 Gt. How much does each cut?</a:t>
            </a:r>
            <a:endParaRPr lang="en-US" sz="2000" dirty="0"/>
          </a:p>
        </p:txBody>
      </p:sp>
      <p:sp>
        <p:nvSpPr>
          <p:cNvPr id="9" name="number badge"/>
          <p:cNvSpPr txBox="1"/>
          <p:nvPr/>
        </p:nvSpPr>
        <p:spPr>
          <a:xfrm>
            <a:off x="548640" y="27203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1143000" y="2651760"/>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Cut = (2020 value − 2050 value) ÷ 2020 value</a:t>
            </a:r>
            <a:endParaRPr lang="en-US" sz="2200" dirty="0"/>
          </a:p>
        </p:txBody>
      </p:sp>
      <p:sp>
        <p:nvSpPr>
          <p:cNvPr id="11" name="number badge"/>
          <p:cNvSpPr txBox="1"/>
          <p:nvPr/>
        </p:nvSpPr>
        <p:spPr>
          <a:xfrm>
            <a:off x="548640" y="3241548"/>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8"/>
          <p:cNvSpPr txBox="1"/>
          <p:nvPr/>
        </p:nvSpPr>
        <p:spPr>
          <a:xfrm>
            <a:off x="1143000" y="3172968"/>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 (40 − 16) ÷ 40 = 24 ÷ 40 = 60%</a:t>
            </a:r>
            <a:endParaRPr lang="en-US" sz="2200" dirty="0"/>
          </a:p>
        </p:txBody>
      </p:sp>
      <p:sp>
        <p:nvSpPr>
          <p:cNvPr id="13" name="number badge"/>
          <p:cNvSpPr txBox="1"/>
          <p:nvPr/>
        </p:nvSpPr>
        <p:spPr>
          <a:xfrm>
            <a:off x="548640" y="3762756"/>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0"/>
          <p:cNvSpPr txBox="1"/>
          <p:nvPr/>
        </p:nvSpPr>
        <p:spPr>
          <a:xfrm>
            <a:off x="1143000" y="3694176"/>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B: (40 − 24) ÷ 40 = 16 ÷ 40 = 40%</a:t>
            </a:r>
            <a:endParaRPr lang="en-US" sz="2200" dirty="0"/>
          </a:p>
        </p:txBody>
      </p:sp>
      <p:sp>
        <p:nvSpPr>
          <p:cNvPr id="15" name="number badge"/>
          <p:cNvSpPr txBox="1"/>
          <p:nvPr/>
        </p:nvSpPr>
        <p:spPr>
          <a:xfrm>
            <a:off x="548640" y="4283964"/>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2"/>
          <p:cNvSpPr txBox="1"/>
          <p:nvPr/>
        </p:nvSpPr>
        <p:spPr>
          <a:xfrm>
            <a:off x="1143000" y="4215384"/>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C: (40 − 28) ÷ 40 = 12 ÷ 40 = 30%</a:t>
            </a:r>
            <a:endParaRPr lang="en-US" sz="2200" dirty="0"/>
          </a:p>
        </p:txBody>
      </p:sp>
      <p:sp>
        <p:nvSpPr>
          <p:cNvPr id="17" name="number badge"/>
          <p:cNvSpPr txBox="1"/>
          <p:nvPr/>
        </p:nvSpPr>
        <p:spPr>
          <a:xfrm>
            <a:off x="548640" y="4805172"/>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4"/>
          <p:cNvSpPr txBox="1"/>
          <p:nvPr/>
        </p:nvSpPr>
        <p:spPr>
          <a:xfrm>
            <a:off x="1143000" y="4736592"/>
            <a:ext cx="10454335" cy="521208"/>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 responds 60 ÷ 30 = 2 times as strongly as C</a:t>
            </a:r>
            <a:endParaRPr lang="en-US" sz="2200" dirty="0"/>
          </a:p>
        </p:txBody>
      </p:sp>
      <p:sp>
        <p:nvSpPr>
          <p:cNvPr id="19" name="answer bar"/>
          <p:cNvSpPr/>
          <p:nvPr/>
        </p:nvSpPr>
        <p:spPr>
          <a:xfrm>
            <a:off x="548640" y="5440680"/>
            <a:ext cx="11094415" cy="731520"/>
          </a:xfrm>
          <a:prstGeom prst="roundRect">
            <a:avLst>
              <a:gd name="adj" fmla="val 15000"/>
            </a:avLst>
          </a:prstGeom>
          <a:solidFill>
            <a:srgbClr val="FCEDE5"/>
          </a:solidFill>
          <a:ln w="12700">
            <a:solidFill>
              <a:srgbClr val="FCEDE5"/>
            </a:solidFill>
            <a:prstDash val="solid"/>
          </a:ln>
        </p:spPr>
      </p:sp>
      <p:sp>
        <p:nvSpPr>
          <p:cNvPr id="20" name="icon circle"/>
          <p:cNvSpPr/>
          <p:nvPr/>
        </p:nvSpPr>
        <p:spPr>
          <a:xfrm>
            <a:off x="685800" y="5568696"/>
            <a:ext cx="475488" cy="475488"/>
          </a:xfrm>
          <a:prstGeom prst="ellipse">
            <a:avLst/>
          </a:prstGeom>
          <a:solidFill>
            <a:srgbClr val="C2410C"/>
          </a:solidFill>
          <a:ln w="12700">
            <a:solidFill>
              <a:srgbClr val="C2410C"/>
            </a:solidFill>
            <a:prstDash val="solid"/>
          </a:ln>
        </p:spPr>
      </p:sp>
      <p:pic>
        <p:nvPicPr>
          <p:cNvPr id="21" name="icon" descr="preencoded.png">    </p:cNvPr>
          <p:cNvPicPr>
            <a:picLocks noChangeAspect="1"/>
          </p:cNvPicPr>
          <p:nvPr/>
        </p:nvPicPr>
        <p:blipFill>
          <a:blip r:embed="rId2"/>
          <a:stretch>
            <a:fillRect/>
          </a:stretch>
        </p:blipFill>
        <p:spPr>
          <a:xfrm>
            <a:off x="809427" y="5692323"/>
            <a:ext cx="228234" cy="228234"/>
          </a:xfrm>
          <a:prstGeom prst="rect">
            <a:avLst/>
          </a:prstGeom>
        </p:spPr>
      </p:pic>
      <p:sp>
        <p:nvSpPr>
          <p:cNvPr id="22" name="Text 17"/>
          <p:cNvSpPr txBox="1"/>
          <p:nvPr/>
        </p:nvSpPr>
        <p:spPr>
          <a:xfrm>
            <a:off x="1325880" y="5440680"/>
            <a:ext cx="10180015" cy="731520"/>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Answer  </a:t>
            </a:r>
            <a:pPr indent="0" marL="0">
              <a:buNone/>
            </a:pPr>
            <a:r>
              <a:rPr lang="en-US" sz="2000" b="1" dirty="0">
                <a:solidFill>
                  <a:srgbClr val="12263A"/>
                </a:solidFill>
                <a:latin typeface="Calibri" pitchFamily="34" charset="0"/>
                <a:ea typeface="Calibri" pitchFamily="34" charset="-122"/>
                <a:cs typeface="Calibri" pitchFamily="34" charset="-120"/>
              </a:rPr>
              <a:t>Cuts of 60%, 40% and 30%: A responds twice as strongly as C</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12 of 18 models show fast solar growth. What can you conclude?</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Fast solar growth is 67% likely</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Most models behave that way under these assumptions</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other 6 models are wrong</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Solar growth is certain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12 of 18 models show fast solar growth. What can you conclude?</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Fast solar growth is 67% likely</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Most models behave that way under these assumptions</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The other 6 models are wrong</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Solar growth is certain</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match the units before comparing</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GCAM reports a world total of 10,000 MtC (million tonnes of carbon). AR6 reports GtCO2. Convert.</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 CO2 molecule weighs 44; its carbon atom weighs 12</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So 1 tonne of carbon = 44 ÷ 12 = 3.667 tonnes of CO2</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10,000 MtC × 44 ÷ 12 = 36,667 MtCO2</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36,667 ÷ 1,000 = 36.7 GtCO2</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800" b="1" dirty="0">
                <a:solidFill>
                  <a:srgbClr val="12263A"/>
                </a:solidFill>
                <a:latin typeface="Cambria" pitchFamily="34" charset="0"/>
                <a:ea typeface="Cambria" pitchFamily="34" charset="-122"/>
                <a:cs typeface="Cambria" pitchFamily="34" charset="-120"/>
              </a:rPr>
              <a:t>10,000 MtC = 36.7 GtCO2</a:t>
            </a: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POINTS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What one big comparison found: EMF 27</a:t>
            </a:r>
            <a:endParaRPr lang="en-US" sz="3200" dirty="0"/>
          </a:p>
        </p:txBody>
      </p:sp>
      <p:sp>
        <p:nvSpPr>
          <p:cNvPr id="5" name="icon circle"/>
          <p:cNvSpPr/>
          <p:nvPr/>
        </p:nvSpPr>
        <p:spPr>
          <a:xfrm>
            <a:off x="548640" y="1737360"/>
            <a:ext cx="457200" cy="457200"/>
          </a:xfrm>
          <a:prstGeom prst="ellipse">
            <a:avLst/>
          </a:prstGeom>
          <a:solidFill>
            <a:srgbClr val="0F766E"/>
          </a:solidFill>
          <a:ln w="12700">
            <a:solidFill>
              <a:srgbClr val="0F766E"/>
            </a:solidFill>
            <a:prstDash val="solid"/>
          </a:ln>
        </p:spPr>
      </p:sp>
      <p:pic>
        <p:nvPicPr>
          <p:cNvPr id="6" name="icon" descr="preencoded.png">    </p:cNvPr>
          <p:cNvPicPr>
            <a:picLocks noChangeAspect="1"/>
          </p:cNvPicPr>
          <p:nvPr/>
        </p:nvPicPr>
        <p:blipFill>
          <a:blip r:embed="rId1"/>
          <a:stretch>
            <a:fillRect/>
          </a:stretch>
        </p:blipFill>
        <p:spPr>
          <a:xfrm>
            <a:off x="667512" y="1856232"/>
            <a:ext cx="219456" cy="219456"/>
          </a:xfrm>
          <a:prstGeom prst="rect">
            <a:avLst/>
          </a:prstGeom>
        </p:spPr>
      </p:pic>
      <p:sp>
        <p:nvSpPr>
          <p:cNvPr id="7" name="Text 3"/>
          <p:cNvSpPr txBox="1"/>
          <p:nvPr/>
        </p:nvSpPr>
        <p:spPr>
          <a:xfrm>
            <a:off x="1280160" y="15087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18 energy-economy and integrated models ran the same technology and climate scenarios</a:t>
            </a:r>
            <a:endParaRPr lang="en-US" sz="2200" dirty="0"/>
          </a:p>
        </p:txBody>
      </p:sp>
      <p:sp>
        <p:nvSpPr>
          <p:cNvPr id="8" name="icon circle"/>
          <p:cNvSpPr/>
          <p:nvPr/>
        </p:nvSpPr>
        <p:spPr>
          <a:xfrm>
            <a:off x="548640" y="2651760"/>
            <a:ext cx="457200" cy="457200"/>
          </a:xfrm>
          <a:prstGeom prst="ellipse">
            <a:avLst/>
          </a:prstGeom>
          <a:solidFill>
            <a:srgbClr val="12263A"/>
          </a:solidFill>
          <a:ln w="12700">
            <a:solidFill>
              <a:srgbClr val="12263A"/>
            </a:solidFill>
            <a:prstDash val="solid"/>
          </a:ln>
        </p:spPr>
      </p:sp>
      <p:pic>
        <p:nvPicPr>
          <p:cNvPr id="9" name="icon" descr="preencoded.png">    </p:cNvPr>
          <p:cNvPicPr>
            <a:picLocks noChangeAspect="1"/>
          </p:cNvPicPr>
          <p:nvPr/>
        </p:nvPicPr>
        <p:blipFill>
          <a:blip r:embed="rId2"/>
          <a:stretch>
            <a:fillRect/>
          </a:stretch>
        </p:blipFill>
        <p:spPr>
          <a:xfrm>
            <a:off x="667512" y="2770632"/>
            <a:ext cx="219456" cy="219456"/>
          </a:xfrm>
          <a:prstGeom prst="rect">
            <a:avLst/>
          </a:prstGeom>
        </p:spPr>
      </p:pic>
      <p:sp>
        <p:nvSpPr>
          <p:cNvPr id="10" name="Text 5"/>
          <p:cNvSpPr txBox="1"/>
          <p:nvPr/>
        </p:nvSpPr>
        <p:spPr>
          <a:xfrm>
            <a:off x="1280160" y="24231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They agreed on efficiency, electrification and fast clean-up of power</a:t>
            </a:r>
            <a:endParaRPr lang="en-US" sz="2200" dirty="0"/>
          </a:p>
        </p:txBody>
      </p:sp>
      <p:sp>
        <p:nvSpPr>
          <p:cNvPr id="11" name="icon circle"/>
          <p:cNvSpPr/>
          <p:nvPr/>
        </p:nvSpPr>
        <p:spPr>
          <a:xfrm>
            <a:off x="548640" y="3566160"/>
            <a:ext cx="457200" cy="457200"/>
          </a:xfrm>
          <a:prstGeom prst="ellipse">
            <a:avLst/>
          </a:prstGeom>
          <a:solidFill>
            <a:srgbClr val="0F766E"/>
          </a:solidFill>
          <a:ln w="12700">
            <a:solidFill>
              <a:srgbClr val="0F766E"/>
            </a:solidFill>
            <a:prstDash val="solid"/>
          </a:ln>
        </p:spPr>
      </p:sp>
      <p:pic>
        <p:nvPicPr>
          <p:cNvPr id="12" name="icon" descr="preencoded.png">    </p:cNvPr>
          <p:cNvPicPr>
            <a:picLocks noChangeAspect="1"/>
          </p:cNvPicPr>
          <p:nvPr/>
        </p:nvPicPr>
        <p:blipFill>
          <a:blip r:embed="rId3"/>
          <a:stretch>
            <a:fillRect/>
          </a:stretch>
        </p:blipFill>
        <p:spPr>
          <a:xfrm>
            <a:off x="667512" y="3685032"/>
            <a:ext cx="219456" cy="219456"/>
          </a:xfrm>
          <a:prstGeom prst="rect">
            <a:avLst/>
          </a:prstGeom>
        </p:spPr>
      </p:pic>
      <p:sp>
        <p:nvSpPr>
          <p:cNvPr id="13" name="Text 7"/>
          <p:cNvSpPr txBox="1"/>
          <p:nvPr/>
        </p:nvSpPr>
        <p:spPr>
          <a:xfrm>
            <a:off x="1280160" y="33375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They found transport and other non-electric uses hardest to clean up</a:t>
            </a:r>
            <a:endParaRPr lang="en-US" sz="2200" dirty="0"/>
          </a:p>
        </p:txBody>
      </p:sp>
      <p:sp>
        <p:nvSpPr>
          <p:cNvPr id="14" name="icon circle"/>
          <p:cNvSpPr/>
          <p:nvPr/>
        </p:nvSpPr>
        <p:spPr>
          <a:xfrm>
            <a:off x="548640" y="4480560"/>
            <a:ext cx="457200" cy="457200"/>
          </a:xfrm>
          <a:prstGeom prst="ellipse">
            <a:avLst/>
          </a:prstGeom>
          <a:solidFill>
            <a:srgbClr val="12263A"/>
          </a:solidFill>
          <a:ln w="12700">
            <a:solidFill>
              <a:srgbClr val="12263A"/>
            </a:solidFill>
            <a:prstDash val="solid"/>
          </a:ln>
        </p:spPr>
      </p:sp>
      <p:pic>
        <p:nvPicPr>
          <p:cNvPr id="15" name="icon" descr="preencoded.png">    </p:cNvPr>
          <p:cNvPicPr>
            <a:picLocks noChangeAspect="1"/>
          </p:cNvPicPr>
          <p:nvPr/>
        </p:nvPicPr>
        <p:blipFill>
          <a:blip r:embed="rId4"/>
          <a:stretch>
            <a:fillRect/>
          </a:stretch>
        </p:blipFill>
        <p:spPr>
          <a:xfrm>
            <a:off x="667512" y="4599432"/>
            <a:ext cx="219456" cy="219456"/>
          </a:xfrm>
          <a:prstGeom prst="rect">
            <a:avLst/>
          </a:prstGeom>
        </p:spPr>
      </p:pic>
      <p:sp>
        <p:nvSpPr>
          <p:cNvPr id="16" name="Text 9"/>
          <p:cNvSpPr txBox="1"/>
          <p:nvPr/>
        </p:nvSpPr>
        <p:spPr>
          <a:xfrm>
            <a:off x="1280160" y="42519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They found bioenergy and carbon capture especially valuable</a:t>
            </a:r>
            <a:endParaRPr lang="en-US" sz="2200" dirty="0"/>
          </a:p>
        </p:txBody>
      </p:sp>
      <p:sp>
        <p:nvSpPr>
          <p:cNvPr id="17" name="icon circle"/>
          <p:cNvSpPr/>
          <p:nvPr/>
        </p:nvSpPr>
        <p:spPr>
          <a:xfrm>
            <a:off x="548640" y="5394960"/>
            <a:ext cx="457200" cy="457200"/>
          </a:xfrm>
          <a:prstGeom prst="ellipse">
            <a:avLst/>
          </a:prstGeom>
          <a:solidFill>
            <a:srgbClr val="0F766E"/>
          </a:solidFill>
          <a:ln w="12700">
            <a:solidFill>
              <a:srgbClr val="0F766E"/>
            </a:solidFill>
            <a:prstDash val="solid"/>
          </a:ln>
        </p:spPr>
      </p:sp>
      <p:pic>
        <p:nvPicPr>
          <p:cNvPr id="18" name="icon" descr="preencoded.png">    </p:cNvPr>
          <p:cNvPicPr>
            <a:picLocks noChangeAspect="1"/>
          </p:cNvPicPr>
          <p:nvPr/>
        </p:nvPicPr>
        <p:blipFill>
          <a:blip r:embed="rId5"/>
          <a:stretch>
            <a:fillRect/>
          </a:stretch>
        </p:blipFill>
        <p:spPr>
          <a:xfrm>
            <a:off x="667512" y="5513832"/>
            <a:ext cx="219456" cy="219456"/>
          </a:xfrm>
          <a:prstGeom prst="rect">
            <a:avLst/>
          </a:prstGeom>
        </p:spPr>
      </p:pic>
      <p:sp>
        <p:nvSpPr>
          <p:cNvPr id="19" name="Text 11"/>
          <p:cNvSpPr txBox="1"/>
          <p:nvPr/>
        </p:nvSpPr>
        <p:spPr>
          <a:xfrm>
            <a:off x="1280160" y="51663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Agreement and disagreement are both findings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From a messy script to a reproducible analysis</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Works on my laptop today</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One long script with copied code blocks</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Relies on objects left in the console</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Files named final2_​really_​final.R</a:t>
            </a:r>
            <a:endParaRPr lang="en-US" sz="24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Anyone can rerun it</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Functions live in the R folder and are sourced</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Runs in a fresh session (Session, Restart R)</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Every change saved as a Git commit with a message</a:t>
            </a:r>
            <a:endParaRPr lang="en-US" sz="24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Most models show X, so X is likely</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Models share data and code. A spread describes the tools, not the odds.</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Compare GCAM's MtC directly with AR6's MtCO2</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Multiply by 44/12 first, and compare energy-and-industry CO2 with the same scope.</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A model that disagrees with the others is broken</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may have a different structure, input or method. Find out which before judging.</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Model intercomparison   </a:t>
            </a:r>
            <a:pPr indent="0" marL="0">
              <a:buNone/>
            </a:pPr>
            <a:r>
              <a:rPr lang="en-US" sz="1900" dirty="0">
                <a:solidFill>
                  <a:srgbClr val="1F2933"/>
                </a:solidFill>
                <a:latin typeface="Calibri" pitchFamily="34" charset="0"/>
                <a:ea typeface="Calibri" pitchFamily="34" charset="-122"/>
                <a:cs typeface="Calibri" pitchFamily="34" charset="-120"/>
              </a:rPr>
              <a:t>A project where many modelling teams run the same agreed scenarios and report results in one shared format, so differences can be explained.</a:t>
            </a:r>
            <a:endParaRPr lang="en-US" sz="19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Model structure   </a:t>
            </a:r>
            <a:pPr indent="0" marL="0">
              <a:buNone/>
            </a:pPr>
            <a:r>
              <a:rPr lang="en-US" sz="1900" dirty="0">
                <a:solidFill>
                  <a:srgbClr val="1F2933"/>
                </a:solidFill>
                <a:latin typeface="Calibri" pitchFamily="34" charset="0"/>
                <a:ea typeface="Calibri" pitchFamily="34" charset="-122"/>
                <a:cs typeface="Calibri" pitchFamily="34" charset="-120"/>
              </a:rPr>
              <a:t>How a model is built: which regions, sectors and technologies exist and how they connect. It is fixed in the code.</a:t>
            </a:r>
            <a:endParaRPr lang="en-US" sz="19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Diagnostic indicator   </a:t>
            </a:r>
            <a:pPr indent="0" marL="0">
              <a:buNone/>
            </a:pPr>
            <a:r>
              <a:rPr lang="en-US" sz="1900" dirty="0">
                <a:solidFill>
                  <a:srgbClr val="1F2933"/>
                </a:solidFill>
                <a:latin typeface="Calibri" pitchFamily="34" charset="0"/>
                <a:ea typeface="Calibri" pitchFamily="34" charset="-122"/>
                <a:cs typeface="Calibri" pitchFamily="34" charset="-120"/>
              </a:rPr>
              <a:t>A standard number recorded for every model under the same test, such as how much emissions fall under one carbon price path.</a:t>
            </a:r>
            <a:endParaRPr lang="en-US" sz="19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Reproducible analysis   </a:t>
            </a:r>
            <a:pPr indent="0" marL="0">
              <a:buNone/>
            </a:pPr>
            <a:r>
              <a:rPr lang="en-US" sz="1900" dirty="0">
                <a:solidFill>
                  <a:srgbClr val="1F2933"/>
                </a:solidFill>
                <a:latin typeface="Calibri" pitchFamily="34" charset="0"/>
                <a:ea typeface="Calibri" pitchFamily="34" charset="-122"/>
                <a:cs typeface="Calibri" pitchFamily="34" charset="-120"/>
              </a:rPr>
              <a:t>An analysis that anyone can rerun from the folder of files and scripts and get the same tables and figures.</a:t>
            </a:r>
            <a:endParaRPr lang="en-US" sz="19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1900" b="1" dirty="0">
                <a:solidFill>
                  <a:srgbClr val="0B5550"/>
                </a:solidFill>
                <a:latin typeface="Cambria" pitchFamily="34" charset="0"/>
                <a:ea typeface="Cambria" pitchFamily="34" charset="-122"/>
                <a:cs typeface="Cambria" pitchFamily="34" charset="-120"/>
              </a:rPr>
              <a:t>Git   </a:t>
            </a:r>
            <a:pPr indent="0" marL="0">
              <a:buNone/>
            </a:pPr>
            <a:r>
              <a:rPr lang="en-US" sz="1900" dirty="0">
                <a:solidFill>
                  <a:srgbClr val="1F2933"/>
                </a:solidFill>
                <a:latin typeface="Calibri" pitchFamily="34" charset="0"/>
                <a:ea typeface="Calibri" pitchFamily="34" charset="-122"/>
                <a:cs typeface="Calibri" pitchFamily="34" charset="-120"/>
              </a:rPr>
              <a:t>A tool that saves snapshots (commits) of your files with a short message, so you can see and undo every change.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12: your GCAM run among AR6 scenarios</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Turn repeated code into two functions, place your CarbonPrice run among AR6 scenarios with a similar carbon price, and save the work with Git.</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labs/lab12.R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Turn the lab 6 reshape into a function</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to_long gives any AR6 variable in long form. Fill GAP 1 with the function's argument, then move the block to R/ar6_helpers.​R.</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to_long &lt;- function(ar6, variable) {</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ar6 |&gt;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filter(Variable == ___) |&gt;   # GAP 1</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pivot_longer(matches("^[0-9]{4}$"),</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names_to = "year", values_to = "value") |&gt;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mutate(year = as.integer(year)) |&gt;</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    drop_na(value)</a:t>
            </a:r>
            <a:endParaRPr lang="en-US" sz="2000" dirty="0"/>
          </a:p>
          <a:p>
            <a:pPr indent="0" marL="0">
              <a:lnSpc>
                <a:spcPct val="100000"/>
              </a:lnSpc>
              <a:buNone/>
            </a:pPr>
            <a:r>
              <a:rPr lang="en-US" sz="2000" dirty="0">
                <a:solidFill>
                  <a:srgbClr val="E8EEF2"/>
                </a:solidFill>
                <a:latin typeface="Courier New" pitchFamily="34" charset="0"/>
                <a:ea typeface="Courier New" pitchFamily="34" charset="-122"/>
                <a:cs typeface="Courier New" pitchFamily="34" charset="-120"/>
              </a:rPr>
              <a:t>}</a:t>
            </a:r>
            <a:endParaRPr lang="en-US" sz="20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Read GCAM's CO2 in GtCO2</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get_co2 sums all regions and converts million tonnes of carbon to GtCO2 with 44/12 and a division by 1,000.</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get_co2 &lt;- function(prj, scen) {</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getQuery(prj, "CO2 emissions by region",</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scenarios = scen)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group_by(scenario, year)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summarise(gt = sum(value) * 44 / 12 / 1000,</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.groups = "drop")</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prj  &lt;- loadProject("output/gcam_course.dat")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gcam &lt;- get_co2(prj, "CarbonPrice")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Pick AR6 runs with a similar price</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Choose a band around your 2050 carbon price, for example half to double. Fill GAPS 2 and 3.</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similar &lt;- to_long(ar6, "Price|Carbon") |&gt;</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filter(year == 2050,</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value &gt; ___, value &lt; ___)  # GAPS 2, 3</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nrow(similar)        # aim for 20 to 100</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ar6_co2 &lt;- to_long(ar6, co2_var) |&gt;</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semi_join(similar, by = c("Model", "Scenario")) |&gt;</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mutate(run = paste(Model, Scenario))</a:t>
            </a:r>
            <a:endParaRPr lang="en-US" sz="23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Save your work with Git</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Type these in the Terminal pane, not the Console. Copy gitignore_​lab12.txt to .gitignore first.</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git init</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git status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git add .gitignore R labs</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git commit -m "write your own message here"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git log --oneline</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nrow(similar) gives 20 to 100 scenarios</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Your orange GCAM line sits among the grey AR6 lines, not at a quarter of them</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git log --oneline shows your commit</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Is your 2050 CO2 inside the AR6 range for a similar carbon price? Give the numbers.</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Give two reasons from structure, inputs or method why your GCAM run could differ from the AR6 median.</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files did you leave out of Git, and why?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837944"/>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Models differ because of structure, inputs and method</a:t>
            </a:r>
            <a:endParaRPr lang="en-US" sz="1800" dirty="0"/>
          </a:p>
        </p:txBody>
      </p:sp>
      <p:sp>
        <p:nvSpPr>
          <p:cNvPr id="6" name="number badge"/>
          <p:cNvSpPr txBox="1"/>
          <p:nvPr/>
        </p:nvSpPr>
        <p:spPr>
          <a:xfrm>
            <a:off x="548640" y="2587752"/>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441448"/>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Intercomparison projects fix inputs and a reporting format so the spread can be explained</a:t>
            </a:r>
            <a:endParaRPr lang="en-US" sz="1800" dirty="0"/>
          </a:p>
        </p:txBody>
      </p:sp>
      <p:sp>
        <p:nvSpPr>
          <p:cNvPr id="8" name="number badge"/>
          <p:cNvSpPr txBox="1"/>
          <p:nvPr/>
        </p:nvSpPr>
        <p:spPr>
          <a:xfrm>
            <a:off x="548640" y="333756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191256"/>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 spread across models describes the tools, not the probability of an outcome</a:t>
            </a:r>
            <a:endParaRPr lang="en-US" sz="1800" dirty="0"/>
          </a:p>
        </p:txBody>
      </p:sp>
      <p:sp>
        <p:nvSpPr>
          <p:cNvPr id="10" name="number badge"/>
          <p:cNvSpPr txBox="1"/>
          <p:nvPr/>
        </p:nvSpPr>
        <p:spPr>
          <a:xfrm>
            <a:off x="548640" y="4087368"/>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3941064"/>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Match units (× 44/12) and scope before comparing GCAM with AR6</a:t>
            </a:r>
            <a:endParaRPr lang="en-US" sz="1800" dirty="0"/>
          </a:p>
        </p:txBody>
      </p:sp>
      <p:sp>
        <p:nvSpPr>
          <p:cNvPr id="12" name="number badge"/>
          <p:cNvSpPr txBox="1"/>
          <p:nvPr/>
        </p:nvSpPr>
        <p:spPr>
          <a:xfrm>
            <a:off x="548640" y="4837176"/>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3" name="Text 11"/>
          <p:cNvSpPr txBox="1"/>
          <p:nvPr/>
        </p:nvSpPr>
        <p:spPr>
          <a:xfrm>
            <a:off x="1234440" y="4690872"/>
            <a:ext cx="6949440" cy="704088"/>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Functions in sourced files plus Git commits make an analysis reproducible</a:t>
            </a:r>
            <a:endParaRPr lang="en-US" sz="1800" dirty="0"/>
          </a:p>
        </p:txBody>
      </p:sp>
      <p:sp>
        <p:nvSpPr>
          <p:cNvPr id="14"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5" name="Text 13"/>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13</a:t>
            </a:r>
            <a:endParaRPr lang="en-US" sz="1600" dirty="0"/>
          </a:p>
        </p:txBody>
      </p:sp>
      <p:sp>
        <p:nvSpPr>
          <p:cNvPr id="16" name="Text 14"/>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Week 13 runs GCAM many times on purpose, and uses a decision tree to discover which assumptions lead to high emissions.</a:t>
            </a:r>
            <a:endParaRPr lang="en-US" sz="1500" dirty="0"/>
          </a:p>
        </p:txBody>
      </p:sp>
      <p:sp>
        <p:nvSpPr>
          <p:cNvPr id="17"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8" name="Text 16"/>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9" name="Text 17"/>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12: try the disagree explorer and the 5-question quiz.</a:t>
            </a:r>
            <a:endParaRPr lang="en-US" sz="1400" dirty="0"/>
          </a:p>
        </p:txBody>
      </p:sp>
      <p:sp>
        <p:nvSpPr>
          <p:cNvPr id="20" name="Text 18"/>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Keppo et al. (2021), Exploring the possibility space, Environmental Research Letters; IPCC AR6 Working Group III, Annex III; GCAM v8.2 documentation: Emissions outputs, Community guidelines for articles using GCAM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Why models disagree</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