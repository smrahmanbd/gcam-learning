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de1aa8-f7ff-3119-fd7a-661bccbb69c1}">
          <p14:sldIdLst>
            <p14:sldId id="256"/>
            <p14:sldId id="257"/>
            <p14:sldId id="258"/>
          </p14:sldIdLst>
        </p14:section>
        <p14:section name="Lecture" id="{b96c9ec0-371a-7b4f-682c-4cbce947d6ab}">
          <p14:sldIdLst>
            <p14:sldId id="259"/>
            <p14:sldId id="260"/>
            <p14:sldId id="261"/>
            <p14:sldId id="262"/>
            <p14:sldId id="263"/>
            <p14:sldId id="264"/>
            <p14:sldId id="265"/>
            <p14:sldId id="266"/>
            <p14:sldId id="267"/>
            <p14:sldId id="268"/>
            <p14:sldId id="269"/>
            <p14:sldId id="270"/>
            <p14:sldId id="271"/>
          </p14:sldIdLst>
        </p14:section>
        <p14:section name="Lab" id="{a7c7cf8f-771a-725e-808d-3665bbff4b3b}">
          <p14:sldIdLst>
            <p14:sldId id="272"/>
            <p14:sldId id="273"/>
            <p14:sldId id="274"/>
            <p14:sldId id="275"/>
            <p14:sldId id="276"/>
            <p14:sldId id="277"/>
          </p14:sldIdLst>
        </p14:section>
        <p14:section name="Recap" id="{80446e4c-d5ce-7a72-2d2a-023f6e32e3cc}">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GtCO2, 2020 to 2100</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Gross emitted</c:v>
                  </c:pt>
                  <c:pt idx="1">
                    <c:v>Net if all removal works</c:v>
                  </c:pt>
                  <c:pt idx="2">
                    <c:v>Net if half works</c:v>
                  </c:pt>
                </c:lvl>
              </c:multiLvlStrCache>
            </c:multiLvlStrRef>
          </c:cat>
          <c:val>
            <c:numRef>
              <c:f>Sheet1!$B$2:$B$4</c:f>
              <c:numCache>
                <c:formatCode>General</c:formatCode>
                <c:ptCount val="3"/>
                <c:pt idx="0">
                  <c:v>800</c:v>
                </c:pt>
                <c:pt idx="1">
                  <c:v>600</c:v>
                </c:pt>
                <c:pt idx="2">
                  <c:v>700</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GtCO2, 2020 to 2100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14: Frontiers and limits. Where IAMs are growing, and where they fall short. Today has two halves: a lecture that builds the idea step by step with everyday examples, then a guided lab where we try it in R. Nobody is expected to know the material already. New R skill this week: Polishing charts and tables for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14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What can IAMs now say about health, materials and energy demand, and which of their habits should make us cautious?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low energy demand scenario of Grubler and colleagues (2018). Let students guess why most earlier pathways leaned on carbon removal: models assumed demand keeps growing, and removal was the cheapest way to fill the gap on paper. The lecture has two halves: where IAMs are expanding, then the criticisms taken seriously. Check the 40% figure against the paper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these as three doors rather than three topics to master. The materials door is the industrial ecology thread of the NTNU course this one follows. Ask which door each project team could mention in the limits section of its report. Check each one-line summary against the paper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week 3 and the Kaya identity: population and income still grow in this scenario, so energy per dollar of income has to fall very fast. The 408 EJ is derived from the paper's own 40% statement, not an independent statistic; check both numbers against the source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Anderson and Peters (2016) warn that if negative emission technologies are not delivered at the assumed scale, society is locked into a higher-temperature pathway. Keep the analogy fair: borrowing is not always wrong, but a plan that depends on it is only as good as the promise. The next two slides put numbers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bars from left to right. The left bar does not change whatever happens to removal, because those emissions already took place. Only the clean-up is uncertain. The worked example on the next slide turns the 100 Gt gap into degrees using week 2's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scale up: 0.45 x 400 / 1,000 = 0.18 °C, enough to turn 1.5 into about 1.7 °C. Many 1.5 °C pathways assume several hundred gigatonnes of removal this century; check the typical amounts in AR6 Working Group III before teaching. The widget lets students try their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equity, link to week 4: a discount rate weighs future generations, and a global least-cost solution places cuts where they are cheapest without saying who pays. Gambhir and colleagues review the criticisms and conclude that IAMs should be kept and supplemented with other methods. Creutzig is not on the reading list, so check that citation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a third of 300 is 100 delivered, so the shortfall is 200 Gt. 0.45 x 200 / 1,000 = 0.09 °C. Common wrong answer: 0.045, from using the 100 Gt delivered instead of the 200 Gt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third of 300 is 100 delivered, so the shortfall is 200 Gt. 0.45 x 200 / 1,000 = 0.09 °C. Common wrong answer: 0.045, from using the 100 Gt delivered instead of the 200 Gt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is week 11, question 2 is week 12 and today's criticisms, question 3 is week 13, question 4 is today. Run it as an exercise: pairs answer the four questions for one explain-a-paper abstract in five minutes. Then each team answers them for its own study; that is a first draft of the report's fifth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 in one slide. A reader should get the main point from the title alone. Fixing the order and colours once at the top of the script, or in R/style.R, keeps every figure consistent. The example title is illustrative; teams write their own from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point protects against overcorrection after a lecture full of criticism. The third is the single most common fix in the project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Bring your draft results and polish them: one scenario order and colour set, titles that state findings, units, figures saved at a fixed size and a clean summary table.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course scenarios with your team's own. A named colour vector means each scenario keeps its colour even if a figure shows only some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scen_order. Without factor levels ggplot sorts alphabetically, so the reference case lands in the middle of the legend. Replace Japan with your team's region and check the Units column before converting.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sentence such as Net zero halves 2040 emissions, written from the team's own results, not a description like CO2 by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width and height ggsave uses the plot window, so the same script gives different figures on different laptops. The complete script is solutions/lab14_solution.R. Before teams leave, ask each to show you one figure and one table, and which assumption their sensitivity test will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Describe three frontiers: air and health, materials, low demand; Calculate what happens to warming if planned carbon removal falls short; State four common criticisms of IAMs and a fair answer to each; Polish project figures: fixed order and colours, finding titles, units. Ask students to rate themselves on each. Then point to next week: Week 15 is presentation day: each team presents its scenario study, and we review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14 · Frontiers and limits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14 · Frontiers and limits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Frontiers and limits</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14 OF 15  ·  STAGE 3: ADVANCED METHODS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Where IAMs are growing, and where they fall short</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800" b="1" dirty="0">
                <a:solidFill>
                  <a:srgbClr val="6FD3C7"/>
                </a:solidFill>
                <a:latin typeface="Calibri" pitchFamily="34" charset="0"/>
                <a:ea typeface="Calibri" pitchFamily="34" charset="-122"/>
                <a:cs typeface="Calibri" pitchFamily="34" charset="-120"/>
              </a:rPr>
              <a:t>New R skill  </a:t>
            </a:r>
            <a:pPr indent="0" marL="0">
              <a:buNone/>
            </a:pPr>
            <a:r>
              <a:rPr lang="en-US" sz="1800" dirty="0">
                <a:solidFill>
                  <a:srgbClr val="FFFFFF"/>
                </a:solidFill>
                <a:latin typeface="Calibri" pitchFamily="34" charset="0"/>
                <a:ea typeface="Calibri" pitchFamily="34" charset="-122"/>
                <a:cs typeface="Calibri" pitchFamily="34" charset="-120"/>
              </a:rPr>
              <a:t>Polishing charts and tables for a report</a:t>
            </a:r>
            <a:endParaRPr lang="en-US" sz="18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9E4DF"/>
          </a:solidFill>
          <a:ln w="12700">
            <a:solidFill>
              <a:srgbClr val="C9E4DF"/>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C9E4DF"/>
          </a:solidFill>
          <a:ln w="12700">
            <a:solidFill>
              <a:srgbClr val="C9E4DF"/>
            </a:solidFill>
            <a:prstDash val="solid"/>
          </a:ln>
        </p:spPr>
      </p:sp>
      <p:sp>
        <p:nvSpPr>
          <p:cNvPr id="42" name="Text 3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3" name="Text 4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4" name="week tile"/>
          <p:cNvSpPr/>
          <p:nvPr/>
        </p:nvSpPr>
        <p:spPr>
          <a:xfrm>
            <a:off x="4020769" y="4617720"/>
            <a:ext cx="1414729" cy="1188720"/>
          </a:xfrm>
          <a:prstGeom prst="roundRect">
            <a:avLst>
              <a:gd name="adj" fmla="val 9231"/>
            </a:avLst>
          </a:prstGeom>
          <a:solidFill>
            <a:srgbClr val="C9E4DF"/>
          </a:solidFill>
          <a:ln w="12700">
            <a:solidFill>
              <a:srgbClr val="C9E4DF"/>
            </a:solidFill>
            <a:prstDash val="solid"/>
          </a:ln>
        </p:spPr>
      </p:sp>
      <p:sp>
        <p:nvSpPr>
          <p:cNvPr id="45" name="Text 42"/>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6" name="Text 43"/>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47" name="week tile"/>
          <p:cNvSpPr/>
          <p:nvPr/>
        </p:nvSpPr>
        <p:spPr>
          <a:xfrm>
            <a:off x="5572658" y="4617720"/>
            <a:ext cx="1414729" cy="1188720"/>
          </a:xfrm>
          <a:prstGeom prst="roundRect">
            <a:avLst>
              <a:gd name="adj" fmla="val 9231"/>
            </a:avLst>
          </a:prstGeom>
          <a:solidFill>
            <a:srgbClr val="C9E4DF"/>
          </a:solidFill>
          <a:ln w="12700">
            <a:solidFill>
              <a:srgbClr val="C9E4DF"/>
            </a:solidFill>
            <a:prstDash val="solid"/>
          </a:ln>
        </p:spPr>
      </p:sp>
      <p:sp>
        <p:nvSpPr>
          <p:cNvPr id="48" name="Text 45"/>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49" name="Text 46"/>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0" name="week tile"/>
          <p:cNvSpPr/>
          <p:nvPr/>
        </p:nvSpPr>
        <p:spPr>
          <a:xfrm>
            <a:off x="7124548" y="4617720"/>
            <a:ext cx="1414729" cy="1188720"/>
          </a:xfrm>
          <a:prstGeom prst="roundRect">
            <a:avLst>
              <a:gd name="adj" fmla="val 9231"/>
            </a:avLst>
          </a:prstGeom>
          <a:solidFill>
            <a:srgbClr val="C2410C"/>
          </a:solidFill>
          <a:ln w="12700">
            <a:solidFill>
              <a:srgbClr val="C2410C"/>
            </a:solidFill>
            <a:prstDash val="solid"/>
          </a:ln>
        </p:spPr>
      </p:sp>
      <p:sp>
        <p:nvSpPr>
          <p:cNvPr id="51" name="Text 48"/>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14</a:t>
            </a:r>
            <a:endParaRPr lang="en-US" sz="1200" dirty="0"/>
          </a:p>
        </p:txBody>
      </p:sp>
      <p:sp>
        <p:nvSpPr>
          <p:cNvPr id="52" name="Text 49"/>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Frontiers and limits</a:t>
            </a:r>
            <a:endParaRPr lang="en-US" sz="1400" dirty="0"/>
          </a:p>
        </p:txBody>
      </p:sp>
      <p:sp>
        <p:nvSpPr>
          <p:cNvPr id="53"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4" name="Shape 51"/>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55" name="Text 52"/>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56" name="Text 53"/>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Describe three frontiers: air and health, materials, low demand</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Calculate what happens to warming if planned carbon removal falls short</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State four common criticisms of IAMs and a fair answer to each</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Polish project figures: fixed order and colours, finding titles, units</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What can IAMs now say about health, materials and energy demand, and which of their habits should make us cautious?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1.5 °C with 40% less energy?</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One published scenario meets 1.5 °C with final energy in 2050 about 40% below today, and no technologies that remove CO2 from the air at all.</a:t>
            </a:r>
            <a:endParaRPr lang="en-US" sz="23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that is possible, why do so many pathways rely on removing CO2 later?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frontiers: IAMs reaching into other fields</a:t>
            </a:r>
            <a:endParaRPr lang="en-US" sz="3200" dirty="0"/>
          </a:p>
        </p:txBody>
      </p:sp>
      <p:sp>
        <p:nvSpPr>
          <p:cNvPr id="5" name="idea card"/>
          <p:cNvSpPr/>
          <p:nvPr/>
        </p:nvSpPr>
        <p:spPr>
          <a:xfrm>
            <a:off x="548640"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Air and health</a:t>
            </a:r>
            <a:endParaRPr lang="en-US" sz="2200" dirty="0"/>
          </a:p>
        </p:txBody>
      </p:sp>
      <p:sp>
        <p:nvSpPr>
          <p:cNvPr id="8" name="Text 5"/>
          <p:cNvSpPr txBox="1"/>
          <p:nvPr/>
        </p:nvSpPr>
        <p:spPr>
          <a:xfrm>
            <a:off x="822960"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Burning less fossil fuel also cleans the air. Studies set these health gains beside the cost of mitigation (Markandya et al., 2018).</a:t>
            </a:r>
            <a:endParaRPr lang="en-US" sz="2000" dirty="0"/>
          </a:p>
        </p:txBody>
      </p:sp>
      <p:sp>
        <p:nvSpPr>
          <p:cNvPr id="9" name="idea card"/>
          <p:cNvSpPr/>
          <p:nvPr/>
        </p:nvSpPr>
        <p:spPr>
          <a:xfrm>
            <a:off x="4338218"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4612538"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4612538"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Materials</a:t>
            </a:r>
            <a:endParaRPr lang="en-US" sz="2200" dirty="0"/>
          </a:p>
        </p:txBody>
      </p:sp>
      <p:sp>
        <p:nvSpPr>
          <p:cNvPr id="12" name="Text 9"/>
          <p:cNvSpPr txBox="1"/>
          <p:nvPr/>
        </p:nvSpPr>
        <p:spPr>
          <a:xfrm>
            <a:off x="4612538"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Industrial ecology tracks steel, cement and plastics through the economy. IAMs are starting to link to it (Pauliuk et al., 2017).</a:t>
            </a:r>
            <a:endParaRPr lang="en-US" sz="2000" dirty="0"/>
          </a:p>
        </p:txBody>
      </p:sp>
      <p:sp>
        <p:nvSpPr>
          <p:cNvPr id="13" name="idea card"/>
          <p:cNvSpPr/>
          <p:nvPr/>
        </p:nvSpPr>
        <p:spPr>
          <a:xfrm>
            <a:off x="8127797"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8402117"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402117"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Low demand</a:t>
            </a:r>
            <a:endParaRPr lang="en-US" sz="2200" dirty="0"/>
          </a:p>
        </p:txBody>
      </p:sp>
      <p:sp>
        <p:nvSpPr>
          <p:cNvPr id="16" name="Text 13"/>
          <p:cNvSpPr txBox="1"/>
          <p:nvPr/>
        </p:nvSpPr>
        <p:spPr>
          <a:xfrm>
            <a:off x="8402117"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Same services, much less energy: efficient buildings, shared transport, better devices (Grubler et al., 2018).</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how big is low demand?</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The low-demand scenario uses 245 EJ of final energy in 2050, about 40% below today. Roughly how much is used today?</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245 EJ is 100% − 40% = 60% of today</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Today ≈ 245 ÷ 0.6</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245 ÷ 0.6 ≈ 408 EJ</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So the scenario cuts about 408 − 245 = 163 EJ of final energy</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300" b="1" dirty="0">
                <a:solidFill>
                  <a:srgbClr val="12263A"/>
                </a:solidFill>
                <a:latin typeface="Cambria" pitchFamily="34" charset="0"/>
                <a:ea typeface="Cambria" pitchFamily="34" charset="-122"/>
                <a:cs typeface="Cambria" pitchFamily="34" charset="-120"/>
              </a:rPr>
              <a:t>Today is roughly 408 EJ; the scenario uses about 163 EJ less</a:t>
            </a:r>
            <a:endParaRPr lang="en-US" sz="2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Carbon removal is like a promise to pay later</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Buying on a credit card lets you have things now and pay later. A pathway that emits now and plans to remove CO2 later works the same way. If the payment never comes, the debt stays: the CO2 is already in the air.</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Gross emissions: what is put into the air</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Net emissions: gross minus what is removed</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Removal not delivered means more warming</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Undelivered removal leaves more CO2 in the air</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pathway, not a published scenario</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Plan: emit 800 Gt, remove 200 Gt</a:t>
            </a:r>
            <a:endParaRPr lang="en-US" sz="17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Half the removal delivered: 100 Gt more stays in the air</a:t>
            </a:r>
            <a:endParaRPr lang="en-US" sz="17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The emissions happened; only the clean-up was postponed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what if removal falls short?</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A pathway emits 800 GtCO2 and plans to remove 200 Gt, but only half the removal is delivered. How much extra warming?</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Planned net: 800 − 200 = 600 Gt</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Delivered removal: 200 ÷ 2 = 100 Gt, so net = 800 − 100 = 700 Gt</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Extra net CO2 = 700 − 600 = 100 Gt</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Week 2 rule: 0.45 °C per 1,000 Gt</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Extra warming = 0.45 × 100 ÷ 1,000 = 0.045 °C</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About 0.045 °C extra; a 400 Gt shortfall would add about 0.18 °C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Four criticisms every IAM user should know</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Criticism</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The point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Reliance on carbon removal</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If removal falls short, warming is higher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Anderson and Peters (2016)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Equity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Cheapest cuts, but who pays is left open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Week 4: discounting</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Transparency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Hard to inspect; open code helps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Gambhir et al. (2019)</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Assumptions that age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Models kept underestimating solar growth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Creutzig et al. (2017)</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bl>
          </a:graphicData>
        </a:graphic>
      </p:graphicFrame>
      <p:sp>
        <p:nvSpPr>
          <p:cNvPr id="6" name="caption pill"/>
          <p:cNvSpPr/>
          <p:nvPr/>
        </p:nvSpPr>
        <p:spPr>
          <a:xfrm>
            <a:off x="548640" y="5038344"/>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5148072"/>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5257434"/>
            <a:ext cx="201900" cy="201900"/>
          </a:xfrm>
          <a:prstGeom prst="rect">
            <a:avLst/>
          </a:prstGeom>
        </p:spPr>
      </p:pic>
      <p:sp>
        <p:nvSpPr>
          <p:cNvPr id="9" name="Text 4"/>
          <p:cNvSpPr txBox="1"/>
          <p:nvPr/>
        </p:nvSpPr>
        <p:spPr>
          <a:xfrm>
            <a:off x="1280160" y="5038344"/>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Give each criticism its strongest form before answering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pathway plans 300 Gt of removal but only a third is delivered. Extra warming at 0.45 °C per 1,000 Gt?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0.045 °C</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0.09 °C</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0.135 °C</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0.3 °C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A pathway plans 300 Gt of removal but only a third is delivered. Extra warming at 0.45 °C per 1,000 Gt?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0.045 °C</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0.09 °C</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0.135 °C</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0.3 °C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Four questions to ask of any IAM result</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What kind of model?</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Simulation or optimisation, foresight, energy only or whole economy</a:t>
            </a:r>
            <a:endParaRPr lang="en-US" sz="17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What was assumed?</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Technology costs, energy demand, how much carbon removal is allowed</a:t>
            </a:r>
            <a:endParaRPr lang="en-US" sz="17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One run or many?</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Look for sensitivity tests, an ensemble, a range across models</a:t>
            </a:r>
            <a:endParaRPr lang="en-US" sz="17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What is left out?</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Regions, future generations, effects the model does not count</a:t>
            </a:r>
            <a:endParaRPr lang="en-US" sz="17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Builds on week 6's questions for reading a scenario chart. Apply it to your own project first.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Project clinic: a chart that says something</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Before</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Title names the variable: 'CO2 by scenario'</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Scenarios in alphabetical order, colours change</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No units on the axis; size depends on the laptop</a:t>
            </a:r>
            <a:endParaRPr lang="en-US" sz="23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After</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Title states the finding: 'Net zero halves 2040 emissions'</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Reference first, same colour in every figure</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Units on the axis; saved at 16 × 10 cm, 300 dpi</a:t>
            </a:r>
            <a:endParaRPr lang="en-US" sz="23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criticisms mean IAMs are useless</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They tell you which questions to ask. One review's verdict: keep the models and supplement them.</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Removal later cancels emissions now, so the timing does not matter</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CO2 is in the air until removal is delivered, and delivery is uncertain.</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chart title should name the variable</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should state the finding, with the variable and units on the axis.</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Co-benefit   </a:t>
            </a:r>
            <a:pPr indent="0" marL="0">
              <a:buNone/>
            </a:pPr>
            <a:r>
              <a:rPr lang="en-US" sz="2000" dirty="0">
                <a:solidFill>
                  <a:srgbClr val="1F2933"/>
                </a:solidFill>
                <a:latin typeface="Calibri" pitchFamily="34" charset="0"/>
                <a:ea typeface="Calibri" pitchFamily="34" charset="-122"/>
                <a:cs typeface="Calibri" pitchFamily="34" charset="-120"/>
              </a:rPr>
              <a:t>A gain that comes with climate action without being its goal, such as cleaner air from burning less coal.</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Industrial ecology   </a:t>
            </a:r>
            <a:pPr indent="0" marL="0">
              <a:buNone/>
            </a:pPr>
            <a:r>
              <a:rPr lang="en-US" sz="2000" dirty="0">
                <a:solidFill>
                  <a:srgbClr val="1F2933"/>
                </a:solidFill>
                <a:latin typeface="Calibri" pitchFamily="34" charset="0"/>
                <a:ea typeface="Calibri" pitchFamily="34" charset="-122"/>
                <a:cs typeface="Calibri" pitchFamily="34" charset="-120"/>
              </a:rPr>
              <a:t>The study of how materials such as steel and cement flow through the economy, using tools like life cycle assessment.</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Low-demand scenario   </a:t>
            </a:r>
            <a:pPr indent="0" marL="0">
              <a:buNone/>
            </a:pPr>
            <a:r>
              <a:rPr lang="en-US" sz="2000" dirty="0">
                <a:solidFill>
                  <a:srgbClr val="1F2933"/>
                </a:solidFill>
                <a:latin typeface="Calibri" pitchFamily="34" charset="0"/>
                <a:ea typeface="Calibri" pitchFamily="34" charset="-122"/>
                <a:cs typeface="Calibri" pitchFamily="34" charset="-120"/>
              </a:rPr>
              <a:t>A pathway where people get the same services with much less energy, through efficiency and changes in how we live and travel.</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Carbon removal   </a:t>
            </a:r>
            <a:pPr indent="0" marL="0">
              <a:buNone/>
            </a:pPr>
            <a:r>
              <a:rPr lang="en-US" sz="2000" dirty="0">
                <a:solidFill>
                  <a:srgbClr val="1F2933"/>
                </a:solidFill>
                <a:latin typeface="Calibri" pitchFamily="34" charset="0"/>
                <a:ea typeface="Calibri" pitchFamily="34" charset="-122"/>
                <a:cs typeface="Calibri" pitchFamily="34" charset="-120"/>
              </a:rPr>
              <a:t>Taking CO2 back out of the air and storing it, for example with forests or bioenergy plus carbon capture.</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Equity   </a:t>
            </a:r>
            <a:pPr indent="0" marL="0">
              <a:buNone/>
            </a:pPr>
            <a:r>
              <a:rPr lang="en-US" sz="2000" dirty="0">
                <a:solidFill>
                  <a:srgbClr val="1F2933"/>
                </a:solidFill>
                <a:latin typeface="Calibri" pitchFamily="34" charset="0"/>
                <a:ea typeface="Calibri" pitchFamily="34" charset="-122"/>
                <a:cs typeface="Calibri" pitchFamily="34" charset="-120"/>
              </a:rPr>
              <a:t>Fairness: who pays for cutting emissions, who suffers the damages, and how present and future generations are weighed.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Lab 14: project clinic</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Bring your draft results and polish them: one scenario order and colour set, titles that state findings, units, figures saved at a fixed size and a clean summary table.</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labs/lab14.R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Fix one order and one colour set</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Define these once at the top of the script, or in R/style.R, and use them in every figure.</a:t>
            </a:r>
            <a:endParaRPr lang="en-US" sz="2000" dirty="0"/>
          </a:p>
        </p:txBody>
      </p:sp>
      <p:sp>
        <p:nvSpPr>
          <p:cNvPr id="7" name="code panel"/>
          <p:cNvSpPr/>
          <p:nvPr/>
        </p:nvSpPr>
        <p:spPr>
          <a:xfrm>
            <a:off x="548640" y="2738120"/>
            <a:ext cx="11094415" cy="2788920"/>
          </a:xfrm>
          <a:prstGeom prst="roundRect">
            <a:avLst>
              <a:gd name="adj" fmla="val 3934"/>
            </a:avLst>
          </a:prstGeom>
          <a:solidFill>
            <a:srgbClr val="1E2A36"/>
          </a:solidFill>
          <a:ln w="12700">
            <a:solidFill>
              <a:srgbClr val="1E2A36"/>
            </a:solidFill>
            <a:prstDash val="solid"/>
          </a:ln>
        </p:spPr>
      </p:sp>
      <p:sp>
        <p:nvSpPr>
          <p:cNvPr id="8" name="Text 5"/>
          <p:cNvSpPr txBox="1"/>
          <p:nvPr/>
        </p:nvSpPr>
        <p:spPr>
          <a:xfrm>
            <a:off x="868680" y="3012440"/>
            <a:ext cx="10545775" cy="237744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scen_order &lt;- c("Reference", "CheapSolar",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"CarbonPrice", "NetZero")</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scen_cols &lt;- c(Reference   = "#5E6E73",</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CheapSolar  = "#E69F00",</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CarbonPrice = "#0072B2",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NetZero     = "#009E73")</a:t>
            </a:r>
            <a:endParaRPr lang="en-US" sz="2400" dirty="0"/>
          </a:p>
        </p:txBody>
      </p:sp>
      <p:pic>
        <p:nvPicPr>
          <p:cNvPr id="9" name="tip icon" descr="preencoded.png">    </p:cNvPr>
          <p:cNvPicPr>
            <a:picLocks noChangeAspect="1"/>
          </p:cNvPicPr>
          <p:nvPr/>
        </p:nvPicPr>
        <p:blipFill>
          <a:blip r:embed="rId1"/>
          <a:stretch>
            <a:fillRect/>
          </a:stretch>
        </p:blipFill>
        <p:spPr>
          <a:xfrm>
            <a:off x="548640" y="5773928"/>
            <a:ext cx="329184" cy="329184"/>
          </a:xfrm>
          <a:prstGeom prst="rect">
            <a:avLst/>
          </a:prstGeom>
        </p:spPr>
      </p:pic>
      <p:sp>
        <p:nvSpPr>
          <p:cNvPr id="10" name="Text 6"/>
          <p:cNvSpPr txBox="1"/>
          <p:nvPr/>
        </p:nvSpPr>
        <p:spPr>
          <a:xfrm>
            <a:off x="1005840" y="57556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Put the scenarios in order</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Turn scenario into a factor with your order. Fill GAP 1 with the order vector.</a:t>
            </a:r>
            <a:endParaRPr lang="en-US" sz="2000" dirty="0"/>
          </a:p>
        </p:txBody>
      </p:sp>
      <p:sp>
        <p:nvSpPr>
          <p:cNvPr id="7" name="code panel"/>
          <p:cNvSpPr/>
          <p:nvPr/>
        </p:nvSpPr>
        <p:spPr>
          <a:xfrm>
            <a:off x="548640" y="2420620"/>
            <a:ext cx="11094415" cy="2788920"/>
          </a:xfrm>
          <a:prstGeom prst="roundRect">
            <a:avLst>
              <a:gd name="adj" fmla="val 3934"/>
            </a:avLst>
          </a:prstGeom>
          <a:solidFill>
            <a:srgbClr val="1E2A36"/>
          </a:solidFill>
          <a:ln w="12700">
            <a:solidFill>
              <a:srgbClr val="1E2A36"/>
            </a:solidFill>
            <a:prstDash val="solid"/>
          </a:ln>
        </p:spPr>
      </p:sp>
      <p:sp>
        <p:nvSpPr>
          <p:cNvPr id="8" name="Text 5"/>
          <p:cNvSpPr txBox="1"/>
          <p:nvPr/>
        </p:nvSpPr>
        <p:spPr>
          <a:xfrm>
            <a:off x="868680" y="2694940"/>
            <a:ext cx="10545775" cy="237744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 &lt;- getQuery(prj, "CO2 emissions by region")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filter(region == "Japan", year &gt;= 2020)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mutate(mt = value * 44 / 12)   # MTC to MtCO2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 &lt;- co2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mutate(scenario = factor(scenario,</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levels = ___))  # GAP 1</a:t>
            </a:r>
            <a:endParaRPr lang="en-US" sz="2400" dirty="0"/>
          </a:p>
        </p:txBody>
      </p:sp>
      <p:pic>
        <p:nvPicPr>
          <p:cNvPr id="9" name="tip icon" descr="preencoded.png">    </p:cNvPr>
          <p:cNvPicPr>
            <a:picLocks noChangeAspect="1"/>
          </p:cNvPicPr>
          <p:nvPr/>
        </p:nvPicPr>
        <p:blipFill>
          <a:blip r:embed="rId1"/>
          <a:stretch>
            <a:fillRect/>
          </a:stretch>
        </p:blipFill>
        <p:spPr>
          <a:xfrm>
            <a:off x="548640" y="5456428"/>
            <a:ext cx="329184" cy="329184"/>
          </a:xfrm>
          <a:prstGeom prst="rect">
            <a:avLst/>
          </a:prstGeom>
        </p:spPr>
      </p:pic>
      <p:sp>
        <p:nvSpPr>
          <p:cNvPr id="10" name="Text 6"/>
          <p:cNvSpPr txBox="1"/>
          <p:nvPr/>
        </p:nvSpPr>
        <p:spPr>
          <a:xfrm>
            <a:off x="1005840" y="54381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Write a title that states the finding</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Fill GAP 2 with your finding in one line. Units go on the axis, the source in the caption.</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p &lt;- ggplot(co2, aes(year, mt, colour = scenario)) +</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geom_line(linewidth = 1) +</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scale_colour_manual(values = scen_cols) +</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labs(title = "___",                # GAP 2</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x = NULL,</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y = "CO2 emissions (MtCO2 per year)",</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colour = NULL,</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caption = "Source: own GCAM runs.") +</a:t>
            </a:r>
            <a:endParaRPr lang="en-US" sz="1600" dirty="0"/>
          </a:p>
          <a:p>
            <a:pPr indent="0" marL="0">
              <a:lnSpc>
                <a:spcPct val="100000"/>
              </a:lnSpc>
              <a:buNone/>
            </a:pPr>
            <a:r>
              <a:rPr lang="en-US" sz="1600" dirty="0">
                <a:solidFill>
                  <a:srgbClr val="E8EEF2"/>
                </a:solidFill>
                <a:latin typeface="Courier New" pitchFamily="34" charset="0"/>
                <a:ea typeface="Courier New" pitchFamily="34" charset="-122"/>
                <a:cs typeface="Courier New" pitchFamily="34" charset="-120"/>
              </a:rPr>
              <a:t>  theme_minimal(base_size = 14)</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Save at a fixed size and make a table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Fix width, height and resolution in code. Fill GAP 3 with 300 for print quality.</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ggsave("output/fig1_co2.png", plot = p,</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width = 16, height = 10,</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units = "cm", dpi = ___)   # GAP 3</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tab &lt;- co2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filter(year %in% c(2030, 2050))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select(scenario, year, mt)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pivot_wider(names_from = year, values_from = mt)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knitr::kable(tab, digits = 0,</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caption = "CO2 emissions, MtCO2 per year")</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The legend lists scenarios in your order, Reference first</a:t>
            </a:r>
            <a:endParaRPr lang="en-US" sz="18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Each figure title states a finding, and the axis shows units</a:t>
            </a:r>
            <a:endParaRPr lang="en-US" sz="18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output/​fig1_co2.png exists and the table has no decimals</a:t>
            </a:r>
            <a:endParaRPr lang="en-US" sz="18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Write the title of your project's main figure as a finding, and say which number in your results supports it.</a:t>
            </a:r>
            <a:endParaRPr lang="en-US" sz="18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Apply the four-question checklist to your own project in four sentences.</a:t>
            </a:r>
            <a:endParaRPr lang="en-US" sz="18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Which of the four criticisms applies most to your study, and how will your report say so?</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837944"/>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IAMs are reaching into air quality and health, materials, and low-demand futures</a:t>
            </a:r>
            <a:endParaRPr lang="en-US" sz="1800" dirty="0"/>
          </a:p>
        </p:txBody>
      </p:sp>
      <p:sp>
        <p:nvSpPr>
          <p:cNvPr id="6" name="number badge"/>
          <p:cNvSpPr txBox="1"/>
          <p:nvPr/>
        </p:nvSpPr>
        <p:spPr>
          <a:xfrm>
            <a:off x="548640" y="2587752"/>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441448"/>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Removal not delivered leaves CO2 in the air: 0.45 °C per 1,000 Gt shortfall</a:t>
            </a:r>
            <a:endParaRPr lang="en-US" sz="1800" dirty="0"/>
          </a:p>
        </p:txBody>
      </p:sp>
      <p:sp>
        <p:nvSpPr>
          <p:cNvPr id="8" name="number badge"/>
          <p:cNvSpPr txBox="1"/>
          <p:nvPr/>
        </p:nvSpPr>
        <p:spPr>
          <a:xfrm>
            <a:off x="548640" y="333756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191256"/>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Four criticisms: reliance on removal, equity, transparency and assumptions that age</a:t>
            </a:r>
            <a:endParaRPr lang="en-US" sz="1800" dirty="0"/>
          </a:p>
        </p:txBody>
      </p:sp>
      <p:sp>
        <p:nvSpPr>
          <p:cNvPr id="10" name="number badge"/>
          <p:cNvSpPr txBox="1"/>
          <p:nvPr/>
        </p:nvSpPr>
        <p:spPr>
          <a:xfrm>
            <a:off x="548640" y="4087368"/>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3941064"/>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Read every result, including your own, with the four-question checklist</a:t>
            </a:r>
            <a:endParaRPr lang="en-US" sz="1800" dirty="0"/>
          </a:p>
        </p:txBody>
      </p:sp>
      <p:sp>
        <p:nvSpPr>
          <p:cNvPr id="12" name="number badge"/>
          <p:cNvSpPr txBox="1"/>
          <p:nvPr/>
        </p:nvSpPr>
        <p:spPr>
          <a:xfrm>
            <a:off x="548640" y="4837176"/>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3" name="Text 11"/>
          <p:cNvSpPr txBox="1"/>
          <p:nvPr/>
        </p:nvSpPr>
        <p:spPr>
          <a:xfrm>
            <a:off x="1234440" y="4690872"/>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Good project figures state a finding, keep one order and colour set, and show units</a:t>
            </a:r>
            <a:endParaRPr lang="en-US" sz="1800" dirty="0"/>
          </a:p>
        </p:txBody>
      </p:sp>
      <p:sp>
        <p:nvSpPr>
          <p:cNvPr id="14"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5" name="Text 13"/>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15</a:t>
            </a:r>
            <a:endParaRPr lang="en-US" sz="1600" dirty="0"/>
          </a:p>
        </p:txBody>
      </p:sp>
      <p:sp>
        <p:nvSpPr>
          <p:cNvPr id="16" name="Text 14"/>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15 is presentation day: each team presents its scenario study, and we review the whole course.</a:t>
            </a:r>
            <a:endParaRPr lang="en-US" sz="1600" dirty="0"/>
          </a:p>
        </p:txBody>
      </p:sp>
      <p:sp>
        <p:nvSpPr>
          <p:cNvPr id="17"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8" name="Text 16"/>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9" name="Text 17"/>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14: try the cdr explorer and the 5-question quiz.</a:t>
            </a:r>
            <a:endParaRPr lang="en-US" sz="1400" dirty="0"/>
          </a:p>
        </p:txBody>
      </p:sp>
      <p:sp>
        <p:nvSpPr>
          <p:cNvPr id="20" name="Text 18"/>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Pauliuk et al. (2017), Industrial ecology in integrated assessment models, Nature Climate Change; Anderson and Peters (2016), The trouble with negative emissions, Science; Optional: Gambhir et al. (2019), Energies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14: Frontiers and limits</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