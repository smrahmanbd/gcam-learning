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b92547d-f2ef-5a1f-6dc4-7bd51cb168ed}">
          <p14:sldIdLst>
            <p14:sldId id="256"/>
            <p14:sldId id="257"/>
            <p14:sldId id="258"/>
          </p14:sldIdLst>
        </p14:section>
        <p14:section name="Lecture" id="{6bafd931-8360-b70a-9838-1ed3ee06b551}">
          <p14:sldIdLst>
            <p14:sldId id="259"/>
            <p14:sldId id="260"/>
            <p14:sldId id="261"/>
            <p14:sldId id="262"/>
            <p14:sldId id="263"/>
            <p14:sldId id="264"/>
            <p14:sldId id="265"/>
            <p14:sldId id="266"/>
            <p14:sldId id="267"/>
            <p14:sldId id="268"/>
            <p14:sldId id="269"/>
            <p14:sldId id="270"/>
            <p14:sldId id="271"/>
          </p14:sldIdLst>
        </p14:section>
        <p14:section name="Lab" id="{5295bab9-8aa2-e654-cf9d-fee87af61bda}">
          <p14:sldIdLst>
            <p14:sldId id="272"/>
            <p14:sldId id="273"/>
            <p14:sldId id="274"/>
            <p14:sldId id="275"/>
            <p14:sldId id="276"/>
            <p14:sldId id="277"/>
          </p14:sldIdLst>
        </p14:section>
        <p14:section name="Recap" id="{534156be-2573-f658-3995-fa12a48df442}">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1: Why model the future?. What an integrated assessment model is and who uses it. Today has two halves: a lecture that builds the idea step by step with everyday examples, then a guided lab where we try it in R. Nobody is expected to know the material already. New R skill this week: Install R and RStudio; console, scripts, projects,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1 of 15. The course climbs in three stages: foundations (weeks 1 to 6), GCAM in depth (weeks 7 to 10) and advanced methods (weeks 11 to 15). Point out what came just before this week and what it prepares for, so students see each week as one step on a path rather than an isolated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and ask students to keep them in mind. We come back to them on the recap slide at the end. Big question for today: Climate reports show charts running to 2100. How can anyone say anything about 2100 when we cannot forecast the weather two weeks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for answers before moving on. Some will say 'they are guesses'. Steer toward the key idea of the week: the charts are not forecasts. Each line answers one question: if we assume this, what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word consistent. The model does not know the future. Its value is that every number agrees with every other number. The analogy breaks in one place: two IAMs given the same ingredients can still bake different cakes, because their equations differ. That is week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first box and say: policies are something you type in, not something the model predicts. Ask students which input they think matters most. Write the answers down and come back to them in week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bioenergy example to show why separate models miss things. An energy model alone would call bioenergy clean. A land model alone would not know why farmers plant it. Only together do you see the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arithmetic on the board. Then say: an IAM does this bookkeeping for thousands of numbers at once, and it also lets energy use respond to the new prices. The numbers here are illustrative. In the lab students repeat this calculation in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think 'the model' is one thing. Make the split concrete. DICE gives one global carbon price. GCAM gives an energy mix for each of its 32 regions. We meet DICE first because it is small enough to read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think and vote with fingers (1 to 4) before showing the next slide. Answer: B. It asks how a goal is met, with which technologies, which is the process-based question. A is a cost-benefit question. C is weather, which no IAM does. D is an ethical and economic choice that models take as an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It asks how a goal is met, with which technologies, which is the process-based question. A is a cost-benefit question. C is weather, which no IAM does. D is an ethical and economic choice that models take as an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IPCC Working Group III report from 2022 sorted about 1,200 pathways from many models. Check the exact count against the AR6 Working Group III report before teaching. IAM results are also used in national climate plans and by companies and investors.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anyone has seen an IAM result without knowing it. The common answer is the IPCC 1.5 °C pathways in the news. Mention that the central-bank climate scenarios (NGFS) also come from IAMs, including GCAM.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mix-up appears in news stories all the time. Ask students to rephrase a headline such as 'models predict 3 °C' into correct IAM language: 'if current policies continue, models find about 3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 ppm is the CO2 level before industrialisation, and today it is about 420 ppm. ppm means parts per million. The script shows the rise is 140 ppm, or 1.5 times the old level. In the lab students type this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new terms this week. Ask two students to read them aloud and add them to the shared class glossary. If any definition is unclear, rewrite it together in plainer words; that rewriting is part of learning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time. Try climate policies in the En-ROADS simulator, then install R and RStudio and run a first script. Open the course project in RStudio first so file paths work. Rule for getting stuck: read the error message aloud to a neighbour, check the "you should see" slide, then raise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about 40 minutes here. Collect the questions En-ROADS cannot answer, such as which technology in which region, or land and water trade-offs. Keep the list for week 7; those questions are why GCAM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Installation always takes longer than planned. Keep the installers on a USB stick in case the network is slow. Nobody should leave without a working setup or a booked drop-in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Installing the tidyverse can take several minutes. Start it early and explain project folders while 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three ideas out loud: the arrow stores a value under a name, c() combines values into a vector, and a hash starts a comment. If they see 140 and 1.5, the setup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last twenty minutes. Students compare their output with the left column, then start the worksheet questions on the right. Anyone whose results differ should compare their code with a neighbour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goals from the start: Explain in plain words what an integrated assessment model (IAM) does; Name the main inputs and outputs of an IAM; Tell the two model families apart: cost-benefit and process-based; Install R and RStudio and run a first script. Ask students to rate themselves on each. Then point to next week: Week 2 opens the climate box: how CO2 becomes warming, and why the total emitted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34">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28">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32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1 · Why model the future?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6">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26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1 · Why model the future?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cap">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8229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6.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6.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6.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6.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6.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6.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5400" b="1" dirty="0">
                <a:solidFill>
                  <a:srgbClr val="FFFFFF"/>
                </a:solidFill>
                <a:latin typeface="Cambria" pitchFamily="34" charset="0"/>
                <a:ea typeface="Cambria" pitchFamily="34" charset="-122"/>
                <a:cs typeface="Cambria" pitchFamily="34" charset="-120"/>
              </a:rPr>
              <a:t>Why model the future?</a:t>
            </a:r>
            <a:endParaRPr lang="en-US" sz="5400" dirty="0"/>
          </a:p>
        </p:txBody>
      </p:sp>
      <p:sp>
        <p:nvSpPr>
          <p:cNvPr id="3" name="Text 1"/>
          <p:cNvSpPr txBox="1"/>
          <p:nvPr/>
        </p:nvSpPr>
        <p:spPr>
          <a:xfrm>
            <a:off x="548640" y="822960"/>
            <a:ext cx="11094415" cy="365760"/>
          </a:xfrm>
          <a:prstGeom prst="rect">
            <a:avLst/>
          </a:prstGeom>
          <a:noFill/>
          <a:ln/>
        </p:spPr>
        <p:txBody>
          <a:bodyPr wrap="square" lIns="0" tIns="0" rIns="0" bIns="0" rtlCol="0" anchor="t"/>
          <a:lstStyle/>
          <a:p>
            <a:pPr indent="0" marL="0">
              <a:buNone/>
            </a:pPr>
            <a:r>
              <a:rPr lang="en-US" sz="1600" b="1" spc="300" kern="0" dirty="0">
                <a:solidFill>
                  <a:srgbClr val="6FD3C7"/>
                </a:solidFill>
                <a:latin typeface="Calibri" pitchFamily="34" charset="0"/>
                <a:ea typeface="Calibri" pitchFamily="34" charset="-122"/>
                <a:cs typeface="Calibri" pitchFamily="34" charset="-120"/>
              </a:rPr>
              <a:t>WEEK 1 OF 15  ·  STAGE 1: FOUNDATIONS</a:t>
            </a:r>
            <a:endParaRPr lang="en-US" sz="1600" dirty="0"/>
          </a:p>
        </p:txBody>
      </p:sp>
      <p:sp>
        <p:nvSpPr>
          <p:cNvPr id="4" name="Text 2"/>
          <p:cNvSpPr txBox="1"/>
          <p:nvPr/>
        </p:nvSpPr>
        <p:spPr>
          <a:xfrm>
            <a:off x="548640" y="3246120"/>
            <a:ext cx="9601200" cy="822960"/>
          </a:xfrm>
          <a:prstGeom prst="rect">
            <a:avLst/>
          </a:prstGeom>
          <a:noFill/>
          <a:ln/>
        </p:spPr>
        <p:txBody>
          <a:bodyPr wrap="square" lIns="0" tIns="0" rIns="0" bIns="0" rtlCol="0" anchor="t"/>
          <a:lstStyle/>
          <a:p>
            <a:pPr indent="0" marL="0">
              <a:buNone/>
            </a:pPr>
            <a:r>
              <a:rPr lang="en-US" sz="2800" dirty="0">
                <a:solidFill>
                  <a:srgbClr val="C9D6DF"/>
                </a:solidFill>
                <a:latin typeface="Calibri" pitchFamily="34" charset="0"/>
                <a:ea typeface="Calibri" pitchFamily="34" charset="-122"/>
                <a:cs typeface="Calibri" pitchFamily="34" charset="-120"/>
              </a:rPr>
              <a:t>What an integrated assessment model is and who uses it</a:t>
            </a:r>
            <a:endParaRPr lang="en-US" sz="2800" dirty="0"/>
          </a:p>
        </p:txBody>
      </p:sp>
      <p:sp>
        <p:nvSpPr>
          <p:cNvPr id="5" name="R skill pill"/>
          <p:cNvSpPr/>
          <p:nvPr/>
        </p:nvSpPr>
        <p:spPr>
          <a:xfrm>
            <a:off x="548640" y="4434840"/>
            <a:ext cx="7863840" cy="777240"/>
          </a:xfrm>
          <a:prstGeom prst="roundRect">
            <a:avLst>
              <a:gd name="adj" fmla="val 14118"/>
            </a:avLst>
          </a:prstGeom>
          <a:solidFill>
            <a:srgbClr val="1D3A52"/>
          </a:solidFill>
          <a:ln w="12700">
            <a:solidFill>
              <a:srgbClr val="1D3A52"/>
            </a:solidFill>
            <a:prstDash val="solid"/>
          </a:ln>
        </p:spPr>
      </p:sp>
      <p:sp>
        <p:nvSpPr>
          <p:cNvPr id="6" name="icon circle"/>
          <p:cNvSpPr/>
          <p:nvPr/>
        </p:nvSpPr>
        <p:spPr>
          <a:xfrm>
            <a:off x="713232" y="4562856"/>
            <a:ext cx="521208" cy="521208"/>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48746" y="4698370"/>
            <a:ext cx="250180" cy="250180"/>
          </a:xfrm>
          <a:prstGeom prst="rect">
            <a:avLst/>
          </a:prstGeom>
        </p:spPr>
      </p:pic>
      <p:sp>
        <p:nvSpPr>
          <p:cNvPr id="8" name="Text 5"/>
          <p:cNvSpPr txBox="1"/>
          <p:nvPr/>
        </p:nvSpPr>
        <p:spPr>
          <a:xfrm>
            <a:off x="1417320" y="4480560"/>
            <a:ext cx="6858000" cy="685800"/>
          </a:xfrm>
          <a:prstGeom prst="rect">
            <a:avLst/>
          </a:prstGeom>
          <a:noFill/>
          <a:ln/>
        </p:spPr>
        <p:txBody>
          <a:bodyPr wrap="square" lIns="0" tIns="0" rIns="0" bIns="0" rtlCol="0" anchor="ctr"/>
          <a:lstStyle/>
          <a:p>
            <a:pPr indent="0" marL="0">
              <a:buNone/>
            </a:pPr>
            <a:r>
              <a:rPr lang="en-US" sz="1600" b="1" dirty="0">
                <a:solidFill>
                  <a:srgbClr val="6FD3C7"/>
                </a:solidFill>
                <a:latin typeface="Calibri" pitchFamily="34" charset="0"/>
                <a:ea typeface="Calibri" pitchFamily="34" charset="-122"/>
                <a:cs typeface="Calibri" pitchFamily="34" charset="-120"/>
              </a:rPr>
              <a:t>New R skill  </a:t>
            </a:r>
            <a:pPr indent="0" marL="0">
              <a:buNone/>
            </a:pPr>
            <a:r>
              <a:rPr lang="en-US" sz="1600" dirty="0">
                <a:solidFill>
                  <a:srgbClr val="FFFFFF"/>
                </a:solidFill>
                <a:latin typeface="Calibri" pitchFamily="34" charset="0"/>
                <a:ea typeface="Calibri" pitchFamily="34" charset="-122"/>
                <a:cs typeface="Calibri" pitchFamily="34" charset="-120"/>
              </a:rPr>
              <a:t>Install R and RStudio; console, scripts, projects, packages</a:t>
            </a:r>
            <a:endParaRPr lang="en-US" sz="1600" dirty="0"/>
          </a:p>
        </p:txBody>
      </p:sp>
      <p:sp>
        <p:nvSpPr>
          <p:cNvPr id="9" name="Text 6"/>
          <p:cNvSpPr txBox="1"/>
          <p:nvPr/>
        </p:nvSpPr>
        <p:spPr>
          <a:xfrm>
            <a:off x="548640" y="5989320"/>
            <a:ext cx="9144000" cy="32004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Modelling Climate and Energy Futures  ·  beginner-friendly lecture and lab slides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COURSE MAP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Where we are in the course</a:t>
            </a:r>
            <a:endParaRPr lang="en-US" sz="3200" dirty="0"/>
          </a:p>
        </p:txBody>
      </p:sp>
      <p:sp>
        <p:nvSpPr>
          <p:cNvPr id="5" name="Text 2"/>
          <p:cNvSpPr txBox="1"/>
          <p:nvPr/>
        </p:nvSpPr>
        <p:spPr>
          <a:xfrm>
            <a:off x="548640" y="167335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1</a:t>
            </a:r>
            <a:endParaRPr lang="en-US" sz="1400" dirty="0"/>
          </a:p>
        </p:txBody>
      </p:sp>
      <p:sp>
        <p:nvSpPr>
          <p:cNvPr id="6" name="Text 3"/>
          <p:cNvSpPr txBox="1"/>
          <p:nvPr/>
        </p:nvSpPr>
        <p:spPr>
          <a:xfrm>
            <a:off x="548640" y="198424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Foundations</a:t>
            </a:r>
            <a:endParaRPr lang="en-US" sz="1600" dirty="0"/>
          </a:p>
        </p:txBody>
      </p:sp>
      <p:sp>
        <p:nvSpPr>
          <p:cNvPr id="7" name="week tile"/>
          <p:cNvSpPr/>
          <p:nvPr/>
        </p:nvSpPr>
        <p:spPr>
          <a:xfrm>
            <a:off x="2468880" y="1600200"/>
            <a:ext cx="1414729" cy="1188720"/>
          </a:xfrm>
          <a:prstGeom prst="roundRect">
            <a:avLst>
              <a:gd name="adj" fmla="val 9231"/>
            </a:avLst>
          </a:prstGeom>
          <a:solidFill>
            <a:srgbClr val="C2410C"/>
          </a:solidFill>
          <a:ln w="12700">
            <a:solidFill>
              <a:srgbClr val="C2410C"/>
            </a:solidFill>
            <a:prstDash val="solid"/>
          </a:ln>
        </p:spPr>
      </p:sp>
      <p:sp>
        <p:nvSpPr>
          <p:cNvPr id="8" name="Text 5"/>
          <p:cNvSpPr txBox="1"/>
          <p:nvPr/>
        </p:nvSpPr>
        <p:spPr>
          <a:xfrm>
            <a:off x="2578608" y="1691640"/>
            <a:ext cx="1231849"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Week 1</a:t>
            </a:r>
            <a:endParaRPr lang="en-US" sz="1200" dirty="0"/>
          </a:p>
        </p:txBody>
      </p:sp>
      <p:sp>
        <p:nvSpPr>
          <p:cNvPr id="9" name="Text 6"/>
          <p:cNvSpPr txBox="1"/>
          <p:nvPr/>
        </p:nvSpPr>
        <p:spPr>
          <a:xfrm>
            <a:off x="2578608" y="1984248"/>
            <a:ext cx="1231849"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Why model the future?</a:t>
            </a:r>
            <a:endParaRPr lang="en-US" sz="1400" dirty="0"/>
          </a:p>
        </p:txBody>
      </p:sp>
      <p:sp>
        <p:nvSpPr>
          <p:cNvPr id="10" name="week tile"/>
          <p:cNvSpPr/>
          <p:nvPr/>
        </p:nvSpPr>
        <p:spPr>
          <a:xfrm>
            <a:off x="4020769" y="1600200"/>
            <a:ext cx="1414729" cy="1188720"/>
          </a:xfrm>
          <a:prstGeom prst="roundRect">
            <a:avLst>
              <a:gd name="adj" fmla="val 9231"/>
            </a:avLst>
          </a:prstGeom>
          <a:solidFill>
            <a:srgbClr val="F7FAF9"/>
          </a:solidFill>
          <a:ln w="12700">
            <a:solidFill>
              <a:srgbClr val="F7FAF9"/>
            </a:solidFill>
            <a:prstDash val="solid"/>
          </a:ln>
        </p:spPr>
      </p:sp>
      <p:sp>
        <p:nvSpPr>
          <p:cNvPr id="11" name="Shape 8"/>
          <p:cNvSpPr/>
          <p:nvPr/>
        </p:nvSpPr>
        <p:spPr>
          <a:xfrm>
            <a:off x="4020769" y="1600200"/>
            <a:ext cx="1414729" cy="1188720"/>
          </a:xfrm>
          <a:prstGeom prst="roundRect">
            <a:avLst>
              <a:gd name="adj" fmla="val 9231"/>
            </a:avLst>
          </a:prstGeom>
          <a:solidFill>
            <a:srgbClr val="F7FAF9"/>
          </a:solidFill>
          <a:ln w="12700">
            <a:solidFill>
              <a:srgbClr val="D5DDDB"/>
            </a:solidFill>
            <a:prstDash val="solid"/>
          </a:ln>
        </p:spPr>
      </p:sp>
      <p:sp>
        <p:nvSpPr>
          <p:cNvPr id="12" name="Text 9"/>
          <p:cNvSpPr txBox="1"/>
          <p:nvPr/>
        </p:nvSpPr>
        <p:spPr>
          <a:xfrm>
            <a:off x="4130497"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2</a:t>
            </a:r>
            <a:endParaRPr lang="en-US" sz="1200" dirty="0"/>
          </a:p>
        </p:txBody>
      </p:sp>
      <p:sp>
        <p:nvSpPr>
          <p:cNvPr id="13" name="Text 10"/>
          <p:cNvSpPr txBox="1"/>
          <p:nvPr/>
        </p:nvSpPr>
        <p:spPr>
          <a:xfrm>
            <a:off x="4130497"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Climate primer</a:t>
            </a:r>
            <a:endParaRPr lang="en-US" sz="1400" dirty="0"/>
          </a:p>
        </p:txBody>
      </p:sp>
      <p:sp>
        <p:nvSpPr>
          <p:cNvPr id="14" name="week tile"/>
          <p:cNvSpPr/>
          <p:nvPr/>
        </p:nvSpPr>
        <p:spPr>
          <a:xfrm>
            <a:off x="5572658" y="1600200"/>
            <a:ext cx="1414729" cy="1188720"/>
          </a:xfrm>
          <a:prstGeom prst="roundRect">
            <a:avLst>
              <a:gd name="adj" fmla="val 9231"/>
            </a:avLst>
          </a:prstGeom>
          <a:solidFill>
            <a:srgbClr val="F7FAF9"/>
          </a:solidFill>
          <a:ln w="12700">
            <a:solidFill>
              <a:srgbClr val="F7FAF9"/>
            </a:solidFill>
            <a:prstDash val="solid"/>
          </a:ln>
        </p:spPr>
      </p:sp>
      <p:sp>
        <p:nvSpPr>
          <p:cNvPr id="15" name="Shape 12"/>
          <p:cNvSpPr/>
          <p:nvPr/>
        </p:nvSpPr>
        <p:spPr>
          <a:xfrm>
            <a:off x="5572658" y="1600200"/>
            <a:ext cx="1414729" cy="1188720"/>
          </a:xfrm>
          <a:prstGeom prst="roundRect">
            <a:avLst>
              <a:gd name="adj" fmla="val 9231"/>
            </a:avLst>
          </a:prstGeom>
          <a:solidFill>
            <a:srgbClr val="F7FAF9"/>
          </a:solidFill>
          <a:ln w="12700">
            <a:solidFill>
              <a:srgbClr val="D5DDDB"/>
            </a:solidFill>
            <a:prstDash val="solid"/>
          </a:ln>
        </p:spPr>
      </p:sp>
      <p:sp>
        <p:nvSpPr>
          <p:cNvPr id="16" name="Text 13"/>
          <p:cNvSpPr txBox="1"/>
          <p:nvPr/>
        </p:nvSpPr>
        <p:spPr>
          <a:xfrm>
            <a:off x="568238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3</a:t>
            </a:r>
            <a:endParaRPr lang="en-US" sz="1200" dirty="0"/>
          </a:p>
        </p:txBody>
      </p:sp>
      <p:sp>
        <p:nvSpPr>
          <p:cNvPr id="17" name="Text 14"/>
          <p:cNvSpPr txBox="1"/>
          <p:nvPr/>
        </p:nvSpPr>
        <p:spPr>
          <a:xfrm>
            <a:off x="568238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primer</a:t>
            </a:r>
            <a:endParaRPr lang="en-US" sz="1400" dirty="0"/>
          </a:p>
        </p:txBody>
      </p:sp>
      <p:sp>
        <p:nvSpPr>
          <p:cNvPr id="18" name="week tile"/>
          <p:cNvSpPr/>
          <p:nvPr/>
        </p:nvSpPr>
        <p:spPr>
          <a:xfrm>
            <a:off x="7124548" y="1600200"/>
            <a:ext cx="1414729" cy="1188720"/>
          </a:xfrm>
          <a:prstGeom prst="roundRect">
            <a:avLst>
              <a:gd name="adj" fmla="val 9231"/>
            </a:avLst>
          </a:prstGeom>
          <a:solidFill>
            <a:srgbClr val="F7FAF9"/>
          </a:solidFill>
          <a:ln w="12700">
            <a:solidFill>
              <a:srgbClr val="F7FAF9"/>
            </a:solidFill>
            <a:prstDash val="solid"/>
          </a:ln>
        </p:spPr>
      </p:sp>
      <p:sp>
        <p:nvSpPr>
          <p:cNvPr id="19" name="Shape 16"/>
          <p:cNvSpPr/>
          <p:nvPr/>
        </p:nvSpPr>
        <p:spPr>
          <a:xfrm>
            <a:off x="7124548" y="1600200"/>
            <a:ext cx="1414729" cy="1188720"/>
          </a:xfrm>
          <a:prstGeom prst="roundRect">
            <a:avLst>
              <a:gd name="adj" fmla="val 9231"/>
            </a:avLst>
          </a:prstGeom>
          <a:solidFill>
            <a:srgbClr val="F7FAF9"/>
          </a:solidFill>
          <a:ln w="12700">
            <a:solidFill>
              <a:srgbClr val="D5DDDB"/>
            </a:solidFill>
            <a:prstDash val="solid"/>
          </a:ln>
        </p:spPr>
      </p:sp>
      <p:sp>
        <p:nvSpPr>
          <p:cNvPr id="20" name="Text 17"/>
          <p:cNvSpPr txBox="1"/>
          <p:nvPr/>
        </p:nvSpPr>
        <p:spPr>
          <a:xfrm>
            <a:off x="723427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4</a:t>
            </a:r>
            <a:endParaRPr lang="en-US" sz="1200" dirty="0"/>
          </a:p>
        </p:txBody>
      </p:sp>
      <p:sp>
        <p:nvSpPr>
          <p:cNvPr id="21" name="Text 18"/>
          <p:cNvSpPr txBox="1"/>
          <p:nvPr/>
        </p:nvSpPr>
        <p:spPr>
          <a:xfrm>
            <a:off x="723427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Economics primer</a:t>
            </a:r>
            <a:endParaRPr lang="en-US" sz="1400" dirty="0"/>
          </a:p>
        </p:txBody>
      </p:sp>
      <p:sp>
        <p:nvSpPr>
          <p:cNvPr id="22" name="week tile"/>
          <p:cNvSpPr/>
          <p:nvPr/>
        </p:nvSpPr>
        <p:spPr>
          <a:xfrm>
            <a:off x="8676437" y="1600200"/>
            <a:ext cx="1414729" cy="1188720"/>
          </a:xfrm>
          <a:prstGeom prst="roundRect">
            <a:avLst>
              <a:gd name="adj" fmla="val 9231"/>
            </a:avLst>
          </a:prstGeom>
          <a:solidFill>
            <a:srgbClr val="F7FAF9"/>
          </a:solidFill>
          <a:ln w="12700">
            <a:solidFill>
              <a:srgbClr val="F7FAF9"/>
            </a:solidFill>
            <a:prstDash val="solid"/>
          </a:ln>
        </p:spPr>
      </p:sp>
      <p:sp>
        <p:nvSpPr>
          <p:cNvPr id="23" name="Shape 20"/>
          <p:cNvSpPr/>
          <p:nvPr/>
        </p:nvSpPr>
        <p:spPr>
          <a:xfrm>
            <a:off x="8676437" y="1600200"/>
            <a:ext cx="1414729" cy="1188720"/>
          </a:xfrm>
          <a:prstGeom prst="roundRect">
            <a:avLst>
              <a:gd name="adj" fmla="val 9231"/>
            </a:avLst>
          </a:prstGeom>
          <a:solidFill>
            <a:srgbClr val="F7FAF9"/>
          </a:solidFill>
          <a:ln w="12700">
            <a:solidFill>
              <a:srgbClr val="D5DDDB"/>
            </a:solidFill>
            <a:prstDash val="solid"/>
          </a:ln>
        </p:spPr>
      </p:sp>
      <p:sp>
        <p:nvSpPr>
          <p:cNvPr id="24" name="Text 21"/>
          <p:cNvSpPr txBox="1"/>
          <p:nvPr/>
        </p:nvSpPr>
        <p:spPr>
          <a:xfrm>
            <a:off x="8786165"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5</a:t>
            </a:r>
            <a:endParaRPr lang="en-US" sz="1200" dirty="0"/>
          </a:p>
        </p:txBody>
      </p:sp>
      <p:sp>
        <p:nvSpPr>
          <p:cNvPr id="25" name="Text 22"/>
          <p:cNvSpPr txBox="1"/>
          <p:nvPr/>
        </p:nvSpPr>
        <p:spPr>
          <a:xfrm>
            <a:off x="8786165"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Cost-benefit IAMs: DICE</a:t>
            </a:r>
            <a:endParaRPr lang="en-US" sz="1400" dirty="0"/>
          </a:p>
        </p:txBody>
      </p:sp>
      <p:sp>
        <p:nvSpPr>
          <p:cNvPr id="26" name="week tile"/>
          <p:cNvSpPr/>
          <p:nvPr/>
        </p:nvSpPr>
        <p:spPr>
          <a:xfrm>
            <a:off x="10228326" y="1600200"/>
            <a:ext cx="1414729" cy="1188720"/>
          </a:xfrm>
          <a:prstGeom prst="roundRect">
            <a:avLst>
              <a:gd name="adj" fmla="val 9231"/>
            </a:avLst>
          </a:prstGeom>
          <a:solidFill>
            <a:srgbClr val="F7FAF9"/>
          </a:solidFill>
          <a:ln w="12700">
            <a:solidFill>
              <a:srgbClr val="F7FAF9"/>
            </a:solidFill>
            <a:prstDash val="solid"/>
          </a:ln>
        </p:spPr>
      </p:sp>
      <p:sp>
        <p:nvSpPr>
          <p:cNvPr id="27" name="Shape 24"/>
          <p:cNvSpPr/>
          <p:nvPr/>
        </p:nvSpPr>
        <p:spPr>
          <a:xfrm>
            <a:off x="10228326" y="1600200"/>
            <a:ext cx="1414729" cy="1188720"/>
          </a:xfrm>
          <a:prstGeom prst="roundRect">
            <a:avLst>
              <a:gd name="adj" fmla="val 9231"/>
            </a:avLst>
          </a:prstGeom>
          <a:solidFill>
            <a:srgbClr val="F7FAF9"/>
          </a:solidFill>
          <a:ln w="12700">
            <a:solidFill>
              <a:srgbClr val="D5DDDB"/>
            </a:solidFill>
            <a:prstDash val="solid"/>
          </a:ln>
        </p:spPr>
      </p:sp>
      <p:sp>
        <p:nvSpPr>
          <p:cNvPr id="28" name="Text 25"/>
          <p:cNvSpPr txBox="1"/>
          <p:nvPr/>
        </p:nvSpPr>
        <p:spPr>
          <a:xfrm>
            <a:off x="10338054"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6</a:t>
            </a:r>
            <a:endParaRPr lang="en-US" sz="1200" dirty="0"/>
          </a:p>
        </p:txBody>
      </p:sp>
      <p:sp>
        <p:nvSpPr>
          <p:cNvPr id="29" name="Text 26"/>
          <p:cNvSpPr txBox="1"/>
          <p:nvPr/>
        </p:nvSpPr>
        <p:spPr>
          <a:xfrm>
            <a:off x="10338054"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scenario framework</a:t>
            </a:r>
            <a:endParaRPr lang="en-US" sz="1400" dirty="0"/>
          </a:p>
        </p:txBody>
      </p:sp>
      <p:sp>
        <p:nvSpPr>
          <p:cNvPr id="30" name="Text 27"/>
          <p:cNvSpPr txBox="1"/>
          <p:nvPr/>
        </p:nvSpPr>
        <p:spPr>
          <a:xfrm>
            <a:off x="548640" y="318211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2</a:t>
            </a:r>
            <a:endParaRPr lang="en-US" sz="1400" dirty="0"/>
          </a:p>
        </p:txBody>
      </p:sp>
      <p:sp>
        <p:nvSpPr>
          <p:cNvPr id="31" name="Text 28"/>
          <p:cNvSpPr txBox="1"/>
          <p:nvPr/>
        </p:nvSpPr>
        <p:spPr>
          <a:xfrm>
            <a:off x="548640" y="349300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GCAM in depth</a:t>
            </a:r>
            <a:endParaRPr lang="en-US" sz="1600" dirty="0"/>
          </a:p>
        </p:txBody>
      </p:sp>
      <p:sp>
        <p:nvSpPr>
          <p:cNvPr id="32" name="week tile"/>
          <p:cNvSpPr/>
          <p:nvPr/>
        </p:nvSpPr>
        <p:spPr>
          <a:xfrm>
            <a:off x="2468880" y="3108960"/>
            <a:ext cx="1414729" cy="1188720"/>
          </a:xfrm>
          <a:prstGeom prst="roundRect">
            <a:avLst>
              <a:gd name="adj" fmla="val 9231"/>
            </a:avLst>
          </a:prstGeom>
          <a:solidFill>
            <a:srgbClr val="F7FAF9"/>
          </a:solidFill>
          <a:ln w="12700">
            <a:solidFill>
              <a:srgbClr val="F7FAF9"/>
            </a:solidFill>
            <a:prstDash val="solid"/>
          </a:ln>
        </p:spPr>
      </p:sp>
      <p:sp>
        <p:nvSpPr>
          <p:cNvPr id="33" name="Shape 30"/>
          <p:cNvSpPr/>
          <p:nvPr/>
        </p:nvSpPr>
        <p:spPr>
          <a:xfrm>
            <a:off x="2468880" y="3108960"/>
            <a:ext cx="1414729" cy="1188720"/>
          </a:xfrm>
          <a:prstGeom prst="roundRect">
            <a:avLst>
              <a:gd name="adj" fmla="val 9231"/>
            </a:avLst>
          </a:prstGeom>
          <a:solidFill>
            <a:srgbClr val="F7FAF9"/>
          </a:solidFill>
          <a:ln w="12700">
            <a:solidFill>
              <a:srgbClr val="D5DDDB"/>
            </a:solidFill>
            <a:prstDash val="solid"/>
          </a:ln>
        </p:spPr>
      </p:sp>
      <p:sp>
        <p:nvSpPr>
          <p:cNvPr id="34" name="Text 31"/>
          <p:cNvSpPr txBox="1"/>
          <p:nvPr/>
        </p:nvSpPr>
        <p:spPr>
          <a:xfrm>
            <a:off x="2578608"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7</a:t>
            </a:r>
            <a:endParaRPr lang="en-US" sz="1200" dirty="0"/>
          </a:p>
        </p:txBody>
      </p:sp>
      <p:sp>
        <p:nvSpPr>
          <p:cNvPr id="35" name="Text 32"/>
          <p:cNvSpPr txBox="1"/>
          <p:nvPr/>
        </p:nvSpPr>
        <p:spPr>
          <a:xfrm>
            <a:off x="2578608"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Inside GCAM</a:t>
            </a:r>
            <a:endParaRPr lang="en-US" sz="1400" dirty="0"/>
          </a:p>
        </p:txBody>
      </p:sp>
      <p:sp>
        <p:nvSpPr>
          <p:cNvPr id="36" name="week tile"/>
          <p:cNvSpPr/>
          <p:nvPr/>
        </p:nvSpPr>
        <p:spPr>
          <a:xfrm>
            <a:off x="4020769" y="3108960"/>
            <a:ext cx="1414729" cy="1188720"/>
          </a:xfrm>
          <a:prstGeom prst="roundRect">
            <a:avLst>
              <a:gd name="adj" fmla="val 9231"/>
            </a:avLst>
          </a:prstGeom>
          <a:solidFill>
            <a:srgbClr val="F7FAF9"/>
          </a:solidFill>
          <a:ln w="12700">
            <a:solidFill>
              <a:srgbClr val="F7FAF9"/>
            </a:solidFill>
            <a:prstDash val="solid"/>
          </a:ln>
        </p:spPr>
      </p:sp>
      <p:sp>
        <p:nvSpPr>
          <p:cNvPr id="37" name="Shape 34"/>
          <p:cNvSpPr/>
          <p:nvPr/>
        </p:nvSpPr>
        <p:spPr>
          <a:xfrm>
            <a:off x="4020769" y="3108960"/>
            <a:ext cx="1414729" cy="1188720"/>
          </a:xfrm>
          <a:prstGeom prst="roundRect">
            <a:avLst>
              <a:gd name="adj" fmla="val 9231"/>
            </a:avLst>
          </a:prstGeom>
          <a:solidFill>
            <a:srgbClr val="F7FAF9"/>
          </a:solidFill>
          <a:ln w="12700">
            <a:solidFill>
              <a:srgbClr val="D5DDDB"/>
            </a:solidFill>
            <a:prstDash val="solid"/>
          </a:ln>
        </p:spPr>
      </p:sp>
      <p:sp>
        <p:nvSpPr>
          <p:cNvPr id="38" name="Text 35"/>
          <p:cNvSpPr txBox="1"/>
          <p:nvPr/>
        </p:nvSpPr>
        <p:spPr>
          <a:xfrm>
            <a:off x="4130497"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8</a:t>
            </a:r>
            <a:endParaRPr lang="en-US" sz="1200" dirty="0"/>
          </a:p>
        </p:txBody>
      </p:sp>
      <p:sp>
        <p:nvSpPr>
          <p:cNvPr id="39" name="Text 36"/>
          <p:cNvSpPr txBox="1"/>
          <p:nvPr/>
        </p:nvSpPr>
        <p:spPr>
          <a:xfrm>
            <a:off x="4130497"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in GCAM</a:t>
            </a:r>
            <a:endParaRPr lang="en-US" sz="1400" dirty="0"/>
          </a:p>
        </p:txBody>
      </p:sp>
      <p:sp>
        <p:nvSpPr>
          <p:cNvPr id="40" name="week tile"/>
          <p:cNvSpPr/>
          <p:nvPr/>
        </p:nvSpPr>
        <p:spPr>
          <a:xfrm>
            <a:off x="5572658" y="3108960"/>
            <a:ext cx="1414729" cy="1188720"/>
          </a:xfrm>
          <a:prstGeom prst="roundRect">
            <a:avLst>
              <a:gd name="adj" fmla="val 9231"/>
            </a:avLst>
          </a:prstGeom>
          <a:solidFill>
            <a:srgbClr val="F7FAF9"/>
          </a:solidFill>
          <a:ln w="12700">
            <a:solidFill>
              <a:srgbClr val="F7FAF9"/>
            </a:solidFill>
            <a:prstDash val="solid"/>
          </a:ln>
        </p:spPr>
      </p:sp>
      <p:sp>
        <p:nvSpPr>
          <p:cNvPr id="41" name="Shape 38"/>
          <p:cNvSpPr/>
          <p:nvPr/>
        </p:nvSpPr>
        <p:spPr>
          <a:xfrm>
            <a:off x="5572658" y="3108960"/>
            <a:ext cx="1414729" cy="1188720"/>
          </a:xfrm>
          <a:prstGeom prst="roundRect">
            <a:avLst>
              <a:gd name="adj" fmla="val 9231"/>
            </a:avLst>
          </a:prstGeom>
          <a:solidFill>
            <a:srgbClr val="F7FAF9"/>
          </a:solidFill>
          <a:ln w="12700">
            <a:solidFill>
              <a:srgbClr val="D5DDDB"/>
            </a:solidFill>
            <a:prstDash val="solid"/>
          </a:ln>
        </p:spPr>
      </p:sp>
      <p:sp>
        <p:nvSpPr>
          <p:cNvPr id="42" name="Text 39"/>
          <p:cNvSpPr txBox="1"/>
          <p:nvPr/>
        </p:nvSpPr>
        <p:spPr>
          <a:xfrm>
            <a:off x="568238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9</a:t>
            </a:r>
            <a:endParaRPr lang="en-US" sz="1200" dirty="0"/>
          </a:p>
        </p:txBody>
      </p:sp>
      <p:sp>
        <p:nvSpPr>
          <p:cNvPr id="43" name="Text 40"/>
          <p:cNvSpPr txBox="1"/>
          <p:nvPr/>
        </p:nvSpPr>
        <p:spPr>
          <a:xfrm>
            <a:off x="568238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Land, water and bioenergy</a:t>
            </a:r>
            <a:endParaRPr lang="en-US" sz="1400" dirty="0"/>
          </a:p>
        </p:txBody>
      </p:sp>
      <p:sp>
        <p:nvSpPr>
          <p:cNvPr id="44" name="week tile"/>
          <p:cNvSpPr/>
          <p:nvPr/>
        </p:nvSpPr>
        <p:spPr>
          <a:xfrm>
            <a:off x="7124548" y="3108960"/>
            <a:ext cx="1414729" cy="1188720"/>
          </a:xfrm>
          <a:prstGeom prst="roundRect">
            <a:avLst>
              <a:gd name="adj" fmla="val 9231"/>
            </a:avLst>
          </a:prstGeom>
          <a:solidFill>
            <a:srgbClr val="F7FAF9"/>
          </a:solidFill>
          <a:ln w="12700">
            <a:solidFill>
              <a:srgbClr val="F7FAF9"/>
            </a:solidFill>
            <a:prstDash val="solid"/>
          </a:ln>
        </p:spPr>
      </p:sp>
      <p:sp>
        <p:nvSpPr>
          <p:cNvPr id="45" name="Shape 42"/>
          <p:cNvSpPr/>
          <p:nvPr/>
        </p:nvSpPr>
        <p:spPr>
          <a:xfrm>
            <a:off x="7124548" y="3108960"/>
            <a:ext cx="1414729" cy="1188720"/>
          </a:xfrm>
          <a:prstGeom prst="roundRect">
            <a:avLst>
              <a:gd name="adj" fmla="val 9231"/>
            </a:avLst>
          </a:prstGeom>
          <a:solidFill>
            <a:srgbClr val="F7FAF9"/>
          </a:solidFill>
          <a:ln w="12700">
            <a:solidFill>
              <a:srgbClr val="D5DDDB"/>
            </a:solidFill>
            <a:prstDash val="solid"/>
          </a:ln>
        </p:spPr>
      </p:sp>
      <p:sp>
        <p:nvSpPr>
          <p:cNvPr id="46" name="Text 43"/>
          <p:cNvSpPr txBox="1"/>
          <p:nvPr/>
        </p:nvSpPr>
        <p:spPr>
          <a:xfrm>
            <a:off x="723427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10</a:t>
            </a:r>
            <a:endParaRPr lang="en-US" sz="1200" dirty="0"/>
          </a:p>
        </p:txBody>
      </p:sp>
      <p:sp>
        <p:nvSpPr>
          <p:cNvPr id="47" name="Text 44"/>
          <p:cNvSpPr txBox="1"/>
          <p:nvPr/>
        </p:nvSpPr>
        <p:spPr>
          <a:xfrm>
            <a:off x="723427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Emissions and policy</a:t>
            </a:r>
            <a:endParaRPr lang="en-US" sz="1400" dirty="0"/>
          </a:p>
        </p:txBody>
      </p:sp>
      <p:sp>
        <p:nvSpPr>
          <p:cNvPr id="48" name="Text 45"/>
          <p:cNvSpPr txBox="1"/>
          <p:nvPr/>
        </p:nvSpPr>
        <p:spPr>
          <a:xfrm>
            <a:off x="548640" y="469087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3</a:t>
            </a:r>
            <a:endParaRPr lang="en-US" sz="1400" dirty="0"/>
          </a:p>
        </p:txBody>
      </p:sp>
      <p:sp>
        <p:nvSpPr>
          <p:cNvPr id="49" name="Text 46"/>
          <p:cNvSpPr txBox="1"/>
          <p:nvPr/>
        </p:nvSpPr>
        <p:spPr>
          <a:xfrm>
            <a:off x="548640" y="500176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Advanced methods</a:t>
            </a:r>
            <a:endParaRPr lang="en-US" sz="1600" dirty="0"/>
          </a:p>
        </p:txBody>
      </p:sp>
      <p:sp>
        <p:nvSpPr>
          <p:cNvPr id="50" name="week tile"/>
          <p:cNvSpPr/>
          <p:nvPr/>
        </p:nvSpPr>
        <p:spPr>
          <a:xfrm>
            <a:off x="2468880" y="4617720"/>
            <a:ext cx="1414729" cy="1188720"/>
          </a:xfrm>
          <a:prstGeom prst="roundRect">
            <a:avLst>
              <a:gd name="adj" fmla="val 9231"/>
            </a:avLst>
          </a:prstGeom>
          <a:solidFill>
            <a:srgbClr val="F7FAF9"/>
          </a:solidFill>
          <a:ln w="12700">
            <a:solidFill>
              <a:srgbClr val="F7FAF9"/>
            </a:solidFill>
            <a:prstDash val="solid"/>
          </a:ln>
        </p:spPr>
      </p:sp>
      <p:sp>
        <p:nvSpPr>
          <p:cNvPr id="51" name="Shape 48"/>
          <p:cNvSpPr/>
          <p:nvPr/>
        </p:nvSpPr>
        <p:spPr>
          <a:xfrm>
            <a:off x="2468880" y="4617720"/>
            <a:ext cx="1414729" cy="1188720"/>
          </a:xfrm>
          <a:prstGeom prst="roundRect">
            <a:avLst>
              <a:gd name="adj" fmla="val 9231"/>
            </a:avLst>
          </a:prstGeom>
          <a:solidFill>
            <a:srgbClr val="F7FAF9"/>
          </a:solidFill>
          <a:ln w="12700">
            <a:solidFill>
              <a:srgbClr val="D5DDDB"/>
            </a:solidFill>
            <a:prstDash val="solid"/>
          </a:ln>
        </p:spPr>
      </p:sp>
      <p:sp>
        <p:nvSpPr>
          <p:cNvPr id="52" name="Text 49"/>
          <p:cNvSpPr txBox="1"/>
          <p:nvPr/>
        </p:nvSpPr>
        <p:spPr>
          <a:xfrm>
            <a:off x="2578608"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11</a:t>
            </a:r>
            <a:endParaRPr lang="en-US" sz="1200" dirty="0"/>
          </a:p>
        </p:txBody>
      </p:sp>
      <p:sp>
        <p:nvSpPr>
          <p:cNvPr id="53" name="Text 50"/>
          <p:cNvSpPr txBox="1"/>
          <p:nvPr/>
        </p:nvSpPr>
        <p:spPr>
          <a:xfrm>
            <a:off x="2578608"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Optimisation IAMs</a:t>
            </a:r>
            <a:endParaRPr lang="en-US" sz="1400" dirty="0"/>
          </a:p>
        </p:txBody>
      </p:sp>
      <p:sp>
        <p:nvSpPr>
          <p:cNvPr id="54" name="week tile"/>
          <p:cNvSpPr/>
          <p:nvPr/>
        </p:nvSpPr>
        <p:spPr>
          <a:xfrm>
            <a:off x="4020769" y="4617720"/>
            <a:ext cx="1414729" cy="1188720"/>
          </a:xfrm>
          <a:prstGeom prst="roundRect">
            <a:avLst>
              <a:gd name="adj" fmla="val 9231"/>
            </a:avLst>
          </a:prstGeom>
          <a:solidFill>
            <a:srgbClr val="F7FAF9"/>
          </a:solidFill>
          <a:ln w="12700">
            <a:solidFill>
              <a:srgbClr val="F7FAF9"/>
            </a:solidFill>
            <a:prstDash val="solid"/>
          </a:ln>
        </p:spPr>
      </p:sp>
      <p:sp>
        <p:nvSpPr>
          <p:cNvPr id="55" name="Shape 52"/>
          <p:cNvSpPr/>
          <p:nvPr/>
        </p:nvSpPr>
        <p:spPr>
          <a:xfrm>
            <a:off x="4020769" y="4617720"/>
            <a:ext cx="1414729" cy="1188720"/>
          </a:xfrm>
          <a:prstGeom prst="roundRect">
            <a:avLst>
              <a:gd name="adj" fmla="val 9231"/>
            </a:avLst>
          </a:prstGeom>
          <a:solidFill>
            <a:srgbClr val="F7FAF9"/>
          </a:solidFill>
          <a:ln w="12700">
            <a:solidFill>
              <a:srgbClr val="D5DDDB"/>
            </a:solidFill>
            <a:prstDash val="solid"/>
          </a:ln>
        </p:spPr>
      </p:sp>
      <p:sp>
        <p:nvSpPr>
          <p:cNvPr id="56" name="Text 53"/>
          <p:cNvSpPr txBox="1"/>
          <p:nvPr/>
        </p:nvSpPr>
        <p:spPr>
          <a:xfrm>
            <a:off x="4130497"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12</a:t>
            </a:r>
            <a:endParaRPr lang="en-US" sz="1200" dirty="0"/>
          </a:p>
        </p:txBody>
      </p:sp>
      <p:sp>
        <p:nvSpPr>
          <p:cNvPr id="57" name="Text 54"/>
          <p:cNvSpPr txBox="1"/>
          <p:nvPr/>
        </p:nvSpPr>
        <p:spPr>
          <a:xfrm>
            <a:off x="4130497"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models disagree</a:t>
            </a:r>
            <a:endParaRPr lang="en-US" sz="1400" dirty="0"/>
          </a:p>
        </p:txBody>
      </p:sp>
      <p:sp>
        <p:nvSpPr>
          <p:cNvPr id="58" name="week tile"/>
          <p:cNvSpPr/>
          <p:nvPr/>
        </p:nvSpPr>
        <p:spPr>
          <a:xfrm>
            <a:off x="5572658" y="4617720"/>
            <a:ext cx="1414729" cy="1188720"/>
          </a:xfrm>
          <a:prstGeom prst="roundRect">
            <a:avLst>
              <a:gd name="adj" fmla="val 9231"/>
            </a:avLst>
          </a:prstGeom>
          <a:solidFill>
            <a:srgbClr val="F7FAF9"/>
          </a:solidFill>
          <a:ln w="12700">
            <a:solidFill>
              <a:srgbClr val="F7FAF9"/>
            </a:solidFill>
            <a:prstDash val="solid"/>
          </a:ln>
        </p:spPr>
      </p:sp>
      <p:sp>
        <p:nvSpPr>
          <p:cNvPr id="59" name="Shape 56"/>
          <p:cNvSpPr/>
          <p:nvPr/>
        </p:nvSpPr>
        <p:spPr>
          <a:xfrm>
            <a:off x="5572658" y="4617720"/>
            <a:ext cx="1414729" cy="1188720"/>
          </a:xfrm>
          <a:prstGeom prst="roundRect">
            <a:avLst>
              <a:gd name="adj" fmla="val 9231"/>
            </a:avLst>
          </a:prstGeom>
          <a:solidFill>
            <a:srgbClr val="F7FAF9"/>
          </a:solidFill>
          <a:ln w="12700">
            <a:solidFill>
              <a:srgbClr val="D5DDDB"/>
            </a:solidFill>
            <a:prstDash val="solid"/>
          </a:ln>
        </p:spPr>
      </p:sp>
      <p:sp>
        <p:nvSpPr>
          <p:cNvPr id="60" name="Text 57"/>
          <p:cNvSpPr txBox="1"/>
          <p:nvPr/>
        </p:nvSpPr>
        <p:spPr>
          <a:xfrm>
            <a:off x="568238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13</a:t>
            </a:r>
            <a:endParaRPr lang="en-US" sz="1200" dirty="0"/>
          </a:p>
        </p:txBody>
      </p:sp>
      <p:sp>
        <p:nvSpPr>
          <p:cNvPr id="61" name="Text 58"/>
          <p:cNvSpPr txBox="1"/>
          <p:nvPr/>
        </p:nvSpPr>
        <p:spPr>
          <a:xfrm>
            <a:off x="568238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Uncertainty</a:t>
            </a:r>
            <a:endParaRPr lang="en-US" sz="1400" dirty="0"/>
          </a:p>
        </p:txBody>
      </p:sp>
      <p:sp>
        <p:nvSpPr>
          <p:cNvPr id="62" name="week tile"/>
          <p:cNvSpPr/>
          <p:nvPr/>
        </p:nvSpPr>
        <p:spPr>
          <a:xfrm>
            <a:off x="7124548" y="4617720"/>
            <a:ext cx="1414729" cy="1188720"/>
          </a:xfrm>
          <a:prstGeom prst="roundRect">
            <a:avLst>
              <a:gd name="adj" fmla="val 9231"/>
            </a:avLst>
          </a:prstGeom>
          <a:solidFill>
            <a:srgbClr val="F7FAF9"/>
          </a:solidFill>
          <a:ln w="12700">
            <a:solidFill>
              <a:srgbClr val="F7FAF9"/>
            </a:solidFill>
            <a:prstDash val="solid"/>
          </a:ln>
        </p:spPr>
      </p:sp>
      <p:sp>
        <p:nvSpPr>
          <p:cNvPr id="63" name="Shape 60"/>
          <p:cNvSpPr/>
          <p:nvPr/>
        </p:nvSpPr>
        <p:spPr>
          <a:xfrm>
            <a:off x="7124548" y="4617720"/>
            <a:ext cx="1414729" cy="1188720"/>
          </a:xfrm>
          <a:prstGeom prst="roundRect">
            <a:avLst>
              <a:gd name="adj" fmla="val 9231"/>
            </a:avLst>
          </a:prstGeom>
          <a:solidFill>
            <a:srgbClr val="F7FAF9"/>
          </a:solidFill>
          <a:ln w="12700">
            <a:solidFill>
              <a:srgbClr val="D5DDDB"/>
            </a:solidFill>
            <a:prstDash val="solid"/>
          </a:ln>
        </p:spPr>
      </p:sp>
      <p:sp>
        <p:nvSpPr>
          <p:cNvPr id="64" name="Text 61"/>
          <p:cNvSpPr txBox="1"/>
          <p:nvPr/>
        </p:nvSpPr>
        <p:spPr>
          <a:xfrm>
            <a:off x="723427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14</a:t>
            </a:r>
            <a:endParaRPr lang="en-US" sz="1200" dirty="0"/>
          </a:p>
        </p:txBody>
      </p:sp>
      <p:sp>
        <p:nvSpPr>
          <p:cNvPr id="65" name="Text 62"/>
          <p:cNvSpPr txBox="1"/>
          <p:nvPr/>
        </p:nvSpPr>
        <p:spPr>
          <a:xfrm>
            <a:off x="723427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Frontiers and limits</a:t>
            </a:r>
            <a:endParaRPr lang="en-US" sz="1400" dirty="0"/>
          </a:p>
        </p:txBody>
      </p:sp>
      <p:sp>
        <p:nvSpPr>
          <p:cNvPr id="66" name="week tile"/>
          <p:cNvSpPr/>
          <p:nvPr/>
        </p:nvSpPr>
        <p:spPr>
          <a:xfrm>
            <a:off x="8676437" y="4617720"/>
            <a:ext cx="1414729" cy="1188720"/>
          </a:xfrm>
          <a:prstGeom prst="roundRect">
            <a:avLst>
              <a:gd name="adj" fmla="val 9231"/>
            </a:avLst>
          </a:prstGeom>
          <a:solidFill>
            <a:srgbClr val="F7FAF9"/>
          </a:solidFill>
          <a:ln w="12700">
            <a:solidFill>
              <a:srgbClr val="F7FAF9"/>
            </a:solidFill>
            <a:prstDash val="solid"/>
          </a:ln>
        </p:spPr>
      </p:sp>
      <p:sp>
        <p:nvSpPr>
          <p:cNvPr id="67" name="Shape 64"/>
          <p:cNvSpPr/>
          <p:nvPr/>
        </p:nvSpPr>
        <p:spPr>
          <a:xfrm>
            <a:off x="8676437" y="4617720"/>
            <a:ext cx="1414729" cy="1188720"/>
          </a:xfrm>
          <a:prstGeom prst="roundRect">
            <a:avLst>
              <a:gd name="adj" fmla="val 9231"/>
            </a:avLst>
          </a:prstGeom>
          <a:solidFill>
            <a:srgbClr val="F7FAF9"/>
          </a:solidFill>
          <a:ln w="12700">
            <a:solidFill>
              <a:srgbClr val="D5DDDB"/>
            </a:solidFill>
            <a:prstDash val="solid"/>
          </a:ln>
        </p:spPr>
      </p:sp>
      <p:sp>
        <p:nvSpPr>
          <p:cNvPr id="68" name="Text 65"/>
          <p:cNvSpPr txBox="1"/>
          <p:nvPr/>
        </p:nvSpPr>
        <p:spPr>
          <a:xfrm>
            <a:off x="8786165"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15</a:t>
            </a:r>
            <a:endParaRPr lang="en-US" sz="1200" dirty="0"/>
          </a:p>
        </p:txBody>
      </p:sp>
      <p:sp>
        <p:nvSpPr>
          <p:cNvPr id="69" name="Text 66"/>
          <p:cNvSpPr txBox="1"/>
          <p:nvPr/>
        </p:nvSpPr>
        <p:spPr>
          <a:xfrm>
            <a:off x="8786165"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Projects and review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TODAY'S GOALS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By the end of today you can</a:t>
            </a:r>
            <a:endParaRPr lang="en-US" sz="3200" dirty="0"/>
          </a:p>
        </p:txBody>
      </p:sp>
      <p:sp>
        <p:nvSpPr>
          <p:cNvPr id="5" name="goal card"/>
          <p:cNvSpPr/>
          <p:nvPr/>
        </p:nvSpPr>
        <p:spPr>
          <a:xfrm>
            <a:off x="548640"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822960"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Explain in plain words what an integrated assessment model (IAM) does</a:t>
            </a:r>
            <a:endParaRPr lang="en-US" sz="1900" dirty="0"/>
          </a:p>
        </p:txBody>
      </p:sp>
      <p:sp>
        <p:nvSpPr>
          <p:cNvPr id="8" name="goal card"/>
          <p:cNvSpPr/>
          <p:nvPr/>
        </p:nvSpPr>
        <p:spPr>
          <a:xfrm>
            <a:off x="3390824"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9" name="number badge"/>
          <p:cNvSpPr txBox="1"/>
          <p:nvPr/>
        </p:nvSpPr>
        <p:spPr>
          <a:xfrm>
            <a:off x="3665144"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3665144"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Name the main inputs and outputs of an IAM</a:t>
            </a:r>
            <a:endParaRPr lang="en-US" sz="1900" dirty="0"/>
          </a:p>
        </p:txBody>
      </p:sp>
      <p:sp>
        <p:nvSpPr>
          <p:cNvPr id="11" name="goal card"/>
          <p:cNvSpPr/>
          <p:nvPr/>
        </p:nvSpPr>
        <p:spPr>
          <a:xfrm>
            <a:off x="6233008"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2" name="number badge"/>
          <p:cNvSpPr txBox="1"/>
          <p:nvPr/>
        </p:nvSpPr>
        <p:spPr>
          <a:xfrm>
            <a:off x="6507328"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0"/>
          <p:cNvSpPr txBox="1"/>
          <p:nvPr/>
        </p:nvSpPr>
        <p:spPr>
          <a:xfrm>
            <a:off x="6507328"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Tell the two model families apart: cost-benefit and process-based</a:t>
            </a:r>
            <a:endParaRPr lang="en-US" sz="1900" dirty="0"/>
          </a:p>
        </p:txBody>
      </p:sp>
      <p:sp>
        <p:nvSpPr>
          <p:cNvPr id="14" name="goal card"/>
          <p:cNvSpPr/>
          <p:nvPr/>
        </p:nvSpPr>
        <p:spPr>
          <a:xfrm>
            <a:off x="9075191"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9349511"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3"/>
          <p:cNvSpPr txBox="1"/>
          <p:nvPr/>
        </p:nvSpPr>
        <p:spPr>
          <a:xfrm>
            <a:off x="9349511"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Install R and RStudio and run a first script</a:t>
            </a:r>
            <a:endParaRPr lang="en-US" sz="1900" dirty="0"/>
          </a:p>
        </p:txBody>
      </p:sp>
      <p:sp>
        <p:nvSpPr>
          <p:cNvPr id="17" name="big question"/>
          <p:cNvSpPr/>
          <p:nvPr/>
        </p:nvSpPr>
        <p:spPr>
          <a:xfrm>
            <a:off x="548640" y="5074920"/>
            <a:ext cx="11094415" cy="960120"/>
          </a:xfrm>
          <a:prstGeom prst="roundRect">
            <a:avLst>
              <a:gd name="adj" fmla="val 11429"/>
            </a:avLst>
          </a:prstGeom>
          <a:solidFill>
            <a:srgbClr val="E6F2F0"/>
          </a:solidFill>
          <a:ln w="12700">
            <a:solidFill>
              <a:srgbClr val="E6F2F0"/>
            </a:solidFill>
            <a:prstDash val="solid"/>
          </a:ln>
        </p:spPr>
      </p:sp>
      <p:sp>
        <p:nvSpPr>
          <p:cNvPr id="18" name="icon circle"/>
          <p:cNvSpPr/>
          <p:nvPr/>
        </p:nvSpPr>
        <p:spPr>
          <a:xfrm>
            <a:off x="777240" y="5212080"/>
            <a:ext cx="685800" cy="685800"/>
          </a:xfrm>
          <a:prstGeom prst="ellipse">
            <a:avLst/>
          </a:prstGeom>
          <a:solidFill>
            <a:srgbClr val="12263A"/>
          </a:solidFill>
          <a:ln w="12700">
            <a:solidFill>
              <a:srgbClr val="12263A"/>
            </a:solidFill>
            <a:prstDash val="solid"/>
          </a:ln>
        </p:spPr>
      </p:sp>
      <p:pic>
        <p:nvPicPr>
          <p:cNvPr id="19" name="icon" descr="preencoded.png">    </p:cNvPr>
          <p:cNvPicPr>
            <a:picLocks noChangeAspect="1"/>
          </p:cNvPicPr>
          <p:nvPr/>
        </p:nvPicPr>
        <p:blipFill>
          <a:blip r:embed="rId1"/>
          <a:stretch>
            <a:fillRect/>
          </a:stretch>
        </p:blipFill>
        <p:spPr>
          <a:xfrm>
            <a:off x="955548" y="5390388"/>
            <a:ext cx="329184" cy="329184"/>
          </a:xfrm>
          <a:prstGeom prst="rect">
            <a:avLst/>
          </a:prstGeom>
        </p:spPr>
      </p:pic>
      <p:sp>
        <p:nvSpPr>
          <p:cNvPr id="20" name="Text 16"/>
          <p:cNvSpPr txBox="1"/>
          <p:nvPr/>
        </p:nvSpPr>
        <p:spPr>
          <a:xfrm>
            <a:off x="1645920" y="5120640"/>
            <a:ext cx="9814255" cy="86868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Big question  </a:t>
            </a:r>
            <a:pPr indent="0" marL="0">
              <a:buNone/>
            </a:pPr>
            <a:r>
              <a:rPr lang="en-US" sz="2000" dirty="0">
                <a:solidFill>
                  <a:srgbClr val="1F2933"/>
                </a:solidFill>
                <a:latin typeface="Calibri" pitchFamily="34" charset="0"/>
                <a:ea typeface="Calibri" pitchFamily="34" charset="-122"/>
                <a:cs typeface="Calibri" pitchFamily="34" charset="-120"/>
              </a:rPr>
              <a:t>Climate reports show charts running to 2100. How can anyone say anything about 2100 when we cannot forecast the weather two weeks ahead?</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Who can see 2100?</a:t>
            </a:r>
            <a:endParaRPr lang="en-US" sz="4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LET'S START WITH A QUESTION</a:t>
            </a:r>
            <a:endParaRPr lang="en-US" sz="1200" dirty="0"/>
          </a:p>
        </p:txBody>
      </p:sp>
      <p:sp>
        <p:nvSpPr>
          <p:cNvPr id="5" name="Text 2"/>
          <p:cNvSpPr txBox="1"/>
          <p:nvPr/>
        </p:nvSpPr>
        <p:spPr>
          <a:xfrm>
            <a:off x="548640" y="3108960"/>
            <a:ext cx="10241280" cy="1188720"/>
          </a:xfrm>
          <a:prstGeom prst="rect">
            <a:avLst/>
          </a:prstGeom>
          <a:noFill/>
          <a:ln/>
        </p:spPr>
        <p:txBody>
          <a:bodyPr wrap="square" lIns="0" tIns="0" rIns="0" bIns="0" rtlCol="0" anchor="t"/>
          <a:lstStyle/>
          <a:p>
            <a:pPr indent="0" marL="0">
              <a:buNone/>
            </a:pPr>
            <a:r>
              <a:rPr lang="en-US" sz="2600" dirty="0">
                <a:solidFill>
                  <a:srgbClr val="C9D6DF"/>
                </a:solidFill>
                <a:latin typeface="Calibri" pitchFamily="34" charset="0"/>
                <a:ea typeface="Calibri" pitchFamily="34" charset="-122"/>
                <a:cs typeface="Calibri" pitchFamily="34" charset="-120"/>
              </a:rPr>
              <a:t>A weather forecast is unreliable two weeks ahead. Yet climate reports are full of charts that run to 2100.</a:t>
            </a:r>
            <a:endParaRPr lang="en-US" sz="2600" dirty="0"/>
          </a:p>
        </p:txBody>
      </p:sp>
      <p:sp>
        <p:nvSpPr>
          <p:cNvPr id="6" name="question box"/>
          <p:cNvSpPr/>
          <p:nvPr/>
        </p:nvSpPr>
        <p:spPr>
          <a:xfrm>
            <a:off x="548640" y="4526280"/>
            <a:ext cx="11094415" cy="1143000"/>
          </a:xfrm>
          <a:prstGeom prst="roundRect">
            <a:avLst>
              <a:gd name="adj" fmla="val 9600"/>
            </a:avLst>
          </a:prstGeom>
          <a:solidFill>
            <a:srgbClr val="1D3A52"/>
          </a:solidFill>
          <a:ln w="12700">
            <a:solidFill>
              <a:srgbClr val="1D3A52"/>
            </a:solidFill>
            <a:prstDash val="solid"/>
          </a:ln>
        </p:spPr>
      </p:sp>
      <p:sp>
        <p:nvSpPr>
          <p:cNvPr id="7" name="icon circle"/>
          <p:cNvSpPr/>
          <p:nvPr/>
        </p:nvSpPr>
        <p:spPr>
          <a:xfrm>
            <a:off x="777240" y="4709160"/>
            <a:ext cx="777240" cy="777240"/>
          </a:xfrm>
          <a:prstGeom prst="ellipse">
            <a:avLst/>
          </a:prstGeom>
          <a:solidFill>
            <a:srgbClr val="C2410C"/>
          </a:solidFill>
          <a:ln w="12700">
            <a:solidFill>
              <a:srgbClr val="C2410C"/>
            </a:solidFill>
            <a:prstDash val="solid"/>
          </a:ln>
        </p:spPr>
      </p:sp>
      <p:pic>
        <p:nvPicPr>
          <p:cNvPr id="8" name="icon" descr="preencoded.png">    </p:cNvPr>
          <p:cNvPicPr>
            <a:picLocks noChangeAspect="1"/>
          </p:cNvPicPr>
          <p:nvPr/>
        </p:nvPicPr>
        <p:blipFill>
          <a:blip r:embed="rId1"/>
          <a:stretch>
            <a:fillRect/>
          </a:stretch>
        </p:blipFill>
        <p:spPr>
          <a:xfrm>
            <a:off x="979322" y="4911242"/>
            <a:ext cx="373075" cy="373075"/>
          </a:xfrm>
          <a:prstGeom prst="rect">
            <a:avLst/>
          </a:prstGeom>
        </p:spPr>
      </p:pic>
      <p:sp>
        <p:nvSpPr>
          <p:cNvPr id="9" name="Text 5"/>
          <p:cNvSpPr txBox="1"/>
          <p:nvPr/>
        </p:nvSpPr>
        <p:spPr>
          <a:xfrm>
            <a:off x="1783080" y="4572000"/>
            <a:ext cx="9631375" cy="10515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If nobody can predict the future, what are those charts actually telling us?</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AN EVERYDAY PICTURE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An IAM is like a recipe calculator</a:t>
            </a:r>
            <a:endParaRPr lang="en-US" sz="3200" dirty="0"/>
          </a:p>
        </p:txBody>
      </p:sp>
      <p:sp>
        <p:nvSpPr>
          <p:cNvPr id="5" name="analogy card"/>
          <p:cNvSpPr/>
          <p:nvPr/>
        </p:nvSpPr>
        <p:spPr>
          <a:xfrm>
            <a:off x="548640" y="1600200"/>
            <a:ext cx="6675120" cy="4434840"/>
          </a:xfrm>
          <a:prstGeom prst="roundRect">
            <a:avLst>
              <a:gd name="adj" fmla="val 2474"/>
            </a:avLst>
          </a:prstGeom>
          <a:solidFill>
            <a:srgbClr val="E6F2F0"/>
          </a:solidFill>
          <a:ln w="12700">
            <a:solidFill>
              <a:srgbClr val="E6F2F0"/>
            </a:solidFill>
            <a:prstDash val="solid"/>
          </a:ln>
        </p:spPr>
      </p:sp>
      <p:sp>
        <p:nvSpPr>
          <p:cNvPr id="6" name="icon circle"/>
          <p:cNvSpPr/>
          <p:nvPr/>
        </p:nvSpPr>
        <p:spPr>
          <a:xfrm>
            <a:off x="868680" y="1874520"/>
            <a:ext cx="777240" cy="77724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1070762" y="2076602"/>
            <a:ext cx="373075" cy="373075"/>
          </a:xfrm>
          <a:prstGeom prst="rect">
            <a:avLst/>
          </a:prstGeom>
        </p:spPr>
      </p:pic>
      <p:sp>
        <p:nvSpPr>
          <p:cNvPr id="8" name="Text 4"/>
          <p:cNvSpPr txBox="1"/>
          <p:nvPr/>
        </p:nvSpPr>
        <p:spPr>
          <a:xfrm>
            <a:off x="868680" y="2834640"/>
            <a:ext cx="6035040" cy="3063240"/>
          </a:xfrm>
          <a:prstGeom prst="rect">
            <a:avLst/>
          </a:prstGeom>
          <a:noFill/>
          <a:ln/>
        </p:spPr>
        <p:txBody>
          <a:bodyPr wrap="square" lIns="0" tIns="0" rIns="0" bIns="0" rtlCol="0" anchor="t"/>
          <a:lstStyle/>
          <a:p>
            <a:pPr indent="0" marL="0">
              <a:buNone/>
            </a:pPr>
            <a:r>
              <a:rPr lang="en-US" sz="2600" i="1" dirty="0">
                <a:solidFill>
                  <a:srgbClr val="12263A"/>
                </a:solidFill>
                <a:latin typeface="Cambria" pitchFamily="34" charset="0"/>
                <a:ea typeface="Cambria" pitchFamily="34" charset="-122"/>
                <a:cs typeface="Cambria" pitchFamily="34" charset="-120"/>
              </a:rPr>
              <a:t>You type in the ingredients: how many people, how rich they are, how cheap solar is, which policies exist. The calculator works out a cake that adds up: energy used matches energy made, emissions match fuel burned, warming matches emissions.</a:t>
            </a:r>
            <a:endParaRPr lang="en-US" sz="2600" dirty="0"/>
          </a:p>
        </p:txBody>
      </p:sp>
      <p:sp>
        <p:nvSpPr>
          <p:cNvPr id="9" name="Text 5"/>
          <p:cNvSpPr txBox="1"/>
          <p:nvPr/>
        </p:nvSpPr>
        <p:spPr>
          <a:xfrm>
            <a:off x="7635240" y="1737360"/>
            <a:ext cx="4007815" cy="365760"/>
          </a:xfrm>
          <a:prstGeom prst="rect">
            <a:avLst/>
          </a:prstGeom>
          <a:noFill/>
          <a:ln/>
        </p:spPr>
        <p:txBody>
          <a:bodyPr wrap="square" lIns="0" tIns="0" rIns="0" bIns="0" rtlCol="0" anchor="t"/>
          <a:lstStyle/>
          <a:p>
            <a:pPr indent="0" marL="0">
              <a:buNone/>
            </a:pPr>
            <a:r>
              <a:rPr lang="en-US" sz="1600" b="1" dirty="0">
                <a:solidFill>
                  <a:srgbClr val="5B6875"/>
                </a:solidFill>
                <a:latin typeface="Calibri" pitchFamily="34" charset="0"/>
                <a:ea typeface="Calibri" pitchFamily="34" charset="-122"/>
                <a:cs typeface="Calibri" pitchFamily="34" charset="-120"/>
              </a:rPr>
              <a:t>What it means for models</a:t>
            </a:r>
            <a:endParaRPr lang="en-US" sz="1600" dirty="0"/>
          </a:p>
        </p:txBody>
      </p:sp>
      <p:sp>
        <p:nvSpPr>
          <p:cNvPr id="10" name="number badge"/>
          <p:cNvSpPr txBox="1"/>
          <p:nvPr/>
        </p:nvSpPr>
        <p:spPr>
          <a:xfrm>
            <a:off x="7635240" y="228600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7"/>
          <p:cNvSpPr txBox="1"/>
          <p:nvPr/>
        </p:nvSpPr>
        <p:spPr>
          <a:xfrm>
            <a:off x="8275320" y="226771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Inputs are assumptions you choose</a:t>
            </a:r>
            <a:endParaRPr lang="en-US" sz="2200" dirty="0"/>
          </a:p>
        </p:txBody>
      </p:sp>
      <p:sp>
        <p:nvSpPr>
          <p:cNvPr id="12" name="number badge"/>
          <p:cNvSpPr txBox="1"/>
          <p:nvPr/>
        </p:nvSpPr>
        <p:spPr>
          <a:xfrm>
            <a:off x="7635240" y="362712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8275320" y="360883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The model keeps every number consistent</a:t>
            </a:r>
            <a:endParaRPr lang="en-US" sz="2200" dirty="0"/>
          </a:p>
        </p:txBody>
      </p:sp>
      <p:sp>
        <p:nvSpPr>
          <p:cNvPr id="14" name="number badge"/>
          <p:cNvSpPr txBox="1"/>
          <p:nvPr/>
        </p:nvSpPr>
        <p:spPr>
          <a:xfrm>
            <a:off x="7635240" y="496824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txBox="1"/>
          <p:nvPr/>
        </p:nvSpPr>
        <p:spPr>
          <a:xfrm>
            <a:off x="8275320" y="494995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Change an ingredient and the cake changes</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What goes in and what comes out</a:t>
            </a:r>
            <a:endParaRPr lang="en-US" sz="3200" dirty="0"/>
          </a:p>
        </p:txBody>
      </p:sp>
      <p:sp>
        <p:nvSpPr>
          <p:cNvPr id="5" name="step card"/>
          <p:cNvSpPr/>
          <p:nvPr/>
        </p:nvSpPr>
        <p:spPr>
          <a:xfrm>
            <a:off x="548640"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77724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777240" y="2560320"/>
            <a:ext cx="1934642" cy="6858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Inputs</a:t>
            </a:r>
            <a:endParaRPr lang="en-US" sz="2000" dirty="0"/>
          </a:p>
        </p:txBody>
      </p:sp>
      <p:sp>
        <p:nvSpPr>
          <p:cNvPr id="8" name="Text 5"/>
          <p:cNvSpPr txBox="1"/>
          <p:nvPr/>
        </p:nvSpPr>
        <p:spPr>
          <a:xfrm>
            <a:off x="777240" y="3246120"/>
            <a:ext cx="1934642"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Population, income, technology costs, resources, policies</a:t>
            </a:r>
            <a:endParaRPr lang="en-US" sz="1700" dirty="0"/>
          </a:p>
        </p:txBody>
      </p:sp>
      <p:sp>
        <p:nvSpPr>
          <p:cNvPr id="9" name="arrow"/>
          <p:cNvSpPr/>
          <p:nvPr/>
        </p:nvSpPr>
        <p:spPr>
          <a:xfrm>
            <a:off x="2958770" y="2994660"/>
            <a:ext cx="411480" cy="457200"/>
          </a:xfrm>
          <a:prstGeom prst="rightArrow">
            <a:avLst/>
          </a:prstGeom>
          <a:solidFill>
            <a:srgbClr val="C9E4DF"/>
          </a:solidFill>
          <a:ln w="12700">
            <a:solidFill>
              <a:srgbClr val="C9E4DF"/>
            </a:solidFill>
            <a:prstDash val="solid"/>
          </a:ln>
        </p:spPr>
      </p:sp>
      <p:sp>
        <p:nvSpPr>
          <p:cNvPr id="10" name="step card"/>
          <p:cNvSpPr/>
          <p:nvPr/>
        </p:nvSpPr>
        <p:spPr>
          <a:xfrm>
            <a:off x="3479978"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1" name="number badge"/>
          <p:cNvSpPr txBox="1"/>
          <p:nvPr/>
        </p:nvSpPr>
        <p:spPr>
          <a:xfrm>
            <a:off x="3708578"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3708578" y="2560320"/>
            <a:ext cx="1934642" cy="6858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The model</a:t>
            </a:r>
            <a:endParaRPr lang="en-US" sz="2000" dirty="0"/>
          </a:p>
        </p:txBody>
      </p:sp>
      <p:sp>
        <p:nvSpPr>
          <p:cNvPr id="13" name="Text 10"/>
          <p:cNvSpPr txBox="1"/>
          <p:nvPr/>
        </p:nvSpPr>
        <p:spPr>
          <a:xfrm>
            <a:off x="3708578" y="3246120"/>
            <a:ext cx="1934642"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Matches supply and demand, counts emissions</a:t>
            </a:r>
            <a:endParaRPr lang="en-US" sz="1700" dirty="0"/>
          </a:p>
        </p:txBody>
      </p:sp>
      <p:sp>
        <p:nvSpPr>
          <p:cNvPr id="14" name="arrow"/>
          <p:cNvSpPr/>
          <p:nvPr/>
        </p:nvSpPr>
        <p:spPr>
          <a:xfrm>
            <a:off x="5890108" y="2994660"/>
            <a:ext cx="411480" cy="457200"/>
          </a:xfrm>
          <a:prstGeom prst="rightArrow">
            <a:avLst/>
          </a:prstGeom>
          <a:solidFill>
            <a:srgbClr val="C9E4DF"/>
          </a:solidFill>
          <a:ln w="12700">
            <a:solidFill>
              <a:srgbClr val="C9E4DF"/>
            </a:solidFill>
            <a:prstDash val="solid"/>
          </a:ln>
        </p:spPr>
      </p:sp>
      <p:sp>
        <p:nvSpPr>
          <p:cNvPr id="15" name="step card"/>
          <p:cNvSpPr/>
          <p:nvPr/>
        </p:nvSpPr>
        <p:spPr>
          <a:xfrm>
            <a:off x="6411316"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639916"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6639916" y="2560320"/>
            <a:ext cx="1934642" cy="6858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Climate</a:t>
            </a:r>
            <a:endParaRPr lang="en-US" sz="2000" dirty="0"/>
          </a:p>
        </p:txBody>
      </p:sp>
      <p:sp>
        <p:nvSpPr>
          <p:cNvPr id="18" name="Text 15"/>
          <p:cNvSpPr txBox="1"/>
          <p:nvPr/>
        </p:nvSpPr>
        <p:spPr>
          <a:xfrm>
            <a:off x="6639916" y="3246120"/>
            <a:ext cx="1934642"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Turns emissions into warming</a:t>
            </a:r>
            <a:endParaRPr lang="en-US" sz="1700" dirty="0"/>
          </a:p>
        </p:txBody>
      </p:sp>
      <p:sp>
        <p:nvSpPr>
          <p:cNvPr id="19" name="arrow"/>
          <p:cNvSpPr/>
          <p:nvPr/>
        </p:nvSpPr>
        <p:spPr>
          <a:xfrm>
            <a:off x="8821445" y="2994660"/>
            <a:ext cx="411480" cy="457200"/>
          </a:xfrm>
          <a:prstGeom prst="rightArrow">
            <a:avLst/>
          </a:prstGeom>
          <a:solidFill>
            <a:srgbClr val="C9E4DF"/>
          </a:solidFill>
          <a:ln w="12700">
            <a:solidFill>
              <a:srgbClr val="C9E4DF"/>
            </a:solidFill>
            <a:prstDash val="solid"/>
          </a:ln>
        </p:spPr>
      </p:sp>
      <p:sp>
        <p:nvSpPr>
          <p:cNvPr id="20" name="step card"/>
          <p:cNvSpPr/>
          <p:nvPr/>
        </p:nvSpPr>
        <p:spPr>
          <a:xfrm>
            <a:off x="9342653"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1" name="number badge"/>
          <p:cNvSpPr txBox="1"/>
          <p:nvPr/>
        </p:nvSpPr>
        <p:spPr>
          <a:xfrm>
            <a:off x="9571253" y="192024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9571253" y="2560320"/>
            <a:ext cx="1934642" cy="6858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Outputs</a:t>
            </a:r>
            <a:endParaRPr lang="en-US" sz="2000" dirty="0"/>
          </a:p>
        </p:txBody>
      </p:sp>
      <p:sp>
        <p:nvSpPr>
          <p:cNvPr id="23" name="Text 20"/>
          <p:cNvSpPr txBox="1"/>
          <p:nvPr/>
        </p:nvSpPr>
        <p:spPr>
          <a:xfrm>
            <a:off x="9571253" y="3246120"/>
            <a:ext cx="1934642"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Energy mix, emissions, land, prices, temperature</a:t>
            </a:r>
            <a:endParaRPr lang="en-US" sz="1700" dirty="0"/>
          </a:p>
        </p:txBody>
      </p:sp>
      <p:sp>
        <p:nvSpPr>
          <p:cNvPr id="24" name="formula pill"/>
          <p:cNvSpPr/>
          <p:nvPr/>
        </p:nvSpPr>
        <p:spPr>
          <a:xfrm>
            <a:off x="548640" y="5074920"/>
            <a:ext cx="11094415" cy="777240"/>
          </a:xfrm>
          <a:prstGeom prst="roundRect">
            <a:avLst>
              <a:gd name="adj" fmla="val 14118"/>
            </a:avLst>
          </a:prstGeom>
          <a:solidFill>
            <a:srgbClr val="E6F2F0"/>
          </a:solidFill>
          <a:ln w="12700">
            <a:solidFill>
              <a:srgbClr val="E6F2F0"/>
            </a:solidFill>
            <a:prstDash val="solid"/>
          </a:ln>
        </p:spPr>
      </p:sp>
      <p:sp>
        <p:nvSpPr>
          <p:cNvPr id="25" name="Text 22"/>
          <p:cNvSpPr txBox="1"/>
          <p:nvPr/>
        </p:nvSpPr>
        <p:spPr>
          <a:xfrm>
            <a:off x="822960" y="5074920"/>
            <a:ext cx="10545775" cy="777240"/>
          </a:xfrm>
          <a:prstGeom prst="rect">
            <a:avLst/>
          </a:prstGeom>
          <a:noFill/>
          <a:ln/>
        </p:spPr>
        <p:txBody>
          <a:bodyPr wrap="square" lIns="0" tIns="0" rIns="0" bIns="0" rtlCol="0" anchor="ctr"/>
          <a:lstStyle/>
          <a:p>
            <a:pPr algn="ctr" indent="0" marL="0">
              <a:buNone/>
            </a:pPr>
            <a:r>
              <a:rPr lang="en-US" sz="2100" b="1" dirty="0">
                <a:solidFill>
                  <a:srgbClr val="0B5550"/>
                </a:solidFill>
                <a:latin typeface="Calibri" pitchFamily="34" charset="0"/>
                <a:ea typeface="Calibri" pitchFamily="34" charset="-122"/>
                <a:cs typeface="Calibri" pitchFamily="34" charset="-120"/>
              </a:rPr>
              <a:t>Policies are an input. The model never decides what governments will do; you tell it.</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KEY POINTS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Why the word 'integrated'?</a:t>
            </a:r>
            <a:endParaRPr lang="en-US" sz="3200" dirty="0"/>
          </a:p>
        </p:txBody>
      </p:sp>
      <p:sp>
        <p:nvSpPr>
          <p:cNvPr id="5" name="icon circle"/>
          <p:cNvSpPr/>
          <p:nvPr/>
        </p:nvSpPr>
        <p:spPr>
          <a:xfrm>
            <a:off x="548640" y="1737360"/>
            <a:ext cx="457200" cy="457200"/>
          </a:xfrm>
          <a:prstGeom prst="ellipse">
            <a:avLst/>
          </a:prstGeom>
          <a:solidFill>
            <a:srgbClr val="0F766E"/>
          </a:solidFill>
          <a:ln w="12700">
            <a:solidFill>
              <a:srgbClr val="0F766E"/>
            </a:solidFill>
            <a:prstDash val="solid"/>
          </a:ln>
        </p:spPr>
      </p:sp>
      <p:pic>
        <p:nvPicPr>
          <p:cNvPr id="6" name="icon" descr="preencoded.png">    </p:cNvPr>
          <p:cNvPicPr>
            <a:picLocks noChangeAspect="1"/>
          </p:cNvPicPr>
          <p:nvPr/>
        </p:nvPicPr>
        <p:blipFill>
          <a:blip r:embed="rId1"/>
          <a:stretch>
            <a:fillRect/>
          </a:stretch>
        </p:blipFill>
        <p:spPr>
          <a:xfrm>
            <a:off x="667512" y="1856232"/>
            <a:ext cx="219456" cy="219456"/>
          </a:xfrm>
          <a:prstGeom prst="rect">
            <a:avLst/>
          </a:prstGeom>
        </p:spPr>
      </p:pic>
      <p:sp>
        <p:nvSpPr>
          <p:cNvPr id="7" name="Text 3"/>
          <p:cNvSpPr txBox="1"/>
          <p:nvPr/>
        </p:nvSpPr>
        <p:spPr>
          <a:xfrm>
            <a:off x="1280160" y="15087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Energy, economy, land, water and climate sit in one model</a:t>
            </a:r>
            <a:endParaRPr lang="en-US" sz="2200" dirty="0"/>
          </a:p>
        </p:txBody>
      </p:sp>
      <p:sp>
        <p:nvSpPr>
          <p:cNvPr id="8" name="icon circle"/>
          <p:cNvSpPr/>
          <p:nvPr/>
        </p:nvSpPr>
        <p:spPr>
          <a:xfrm>
            <a:off x="548640" y="2651760"/>
            <a:ext cx="457200" cy="457200"/>
          </a:xfrm>
          <a:prstGeom prst="ellipse">
            <a:avLst/>
          </a:prstGeom>
          <a:solidFill>
            <a:srgbClr val="12263A"/>
          </a:solidFill>
          <a:ln w="12700">
            <a:solidFill>
              <a:srgbClr val="12263A"/>
            </a:solidFill>
            <a:prstDash val="solid"/>
          </a:ln>
        </p:spPr>
      </p:sp>
      <p:pic>
        <p:nvPicPr>
          <p:cNvPr id="9" name="icon" descr="preencoded.png">    </p:cNvPr>
          <p:cNvPicPr>
            <a:picLocks noChangeAspect="1"/>
          </p:cNvPicPr>
          <p:nvPr/>
        </p:nvPicPr>
        <p:blipFill>
          <a:blip r:embed="rId2"/>
          <a:stretch>
            <a:fillRect/>
          </a:stretch>
        </p:blipFill>
        <p:spPr>
          <a:xfrm>
            <a:off x="667512" y="2770632"/>
            <a:ext cx="219456" cy="219456"/>
          </a:xfrm>
          <a:prstGeom prst="rect">
            <a:avLst/>
          </a:prstGeom>
        </p:spPr>
      </p:pic>
      <p:sp>
        <p:nvSpPr>
          <p:cNvPr id="10" name="Text 5"/>
          <p:cNvSpPr txBox="1"/>
          <p:nvPr/>
        </p:nvSpPr>
        <p:spPr>
          <a:xfrm>
            <a:off x="1280160" y="24231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A change in one system shows up in the others</a:t>
            </a:r>
            <a:endParaRPr lang="en-US" sz="2200" dirty="0"/>
          </a:p>
        </p:txBody>
      </p:sp>
      <p:sp>
        <p:nvSpPr>
          <p:cNvPr id="11" name="icon circle"/>
          <p:cNvSpPr/>
          <p:nvPr/>
        </p:nvSpPr>
        <p:spPr>
          <a:xfrm>
            <a:off x="548640" y="3566160"/>
            <a:ext cx="457200" cy="457200"/>
          </a:xfrm>
          <a:prstGeom prst="ellipse">
            <a:avLst/>
          </a:prstGeom>
          <a:solidFill>
            <a:srgbClr val="0F766E"/>
          </a:solidFill>
          <a:ln w="12700">
            <a:solidFill>
              <a:srgbClr val="0F766E"/>
            </a:solidFill>
            <a:prstDash val="solid"/>
          </a:ln>
        </p:spPr>
      </p:sp>
      <p:pic>
        <p:nvPicPr>
          <p:cNvPr id="12" name="icon" descr="preencoded.png">    </p:cNvPr>
          <p:cNvPicPr>
            <a:picLocks noChangeAspect="1"/>
          </p:cNvPicPr>
          <p:nvPr/>
        </p:nvPicPr>
        <p:blipFill>
          <a:blip r:embed="rId3"/>
          <a:stretch>
            <a:fillRect/>
          </a:stretch>
        </p:blipFill>
        <p:spPr>
          <a:xfrm>
            <a:off x="667512" y="3685032"/>
            <a:ext cx="219456" cy="219456"/>
          </a:xfrm>
          <a:prstGeom prst="rect">
            <a:avLst/>
          </a:prstGeom>
        </p:spPr>
      </p:pic>
      <p:sp>
        <p:nvSpPr>
          <p:cNvPr id="13" name="Text 7"/>
          <p:cNvSpPr txBox="1"/>
          <p:nvPr/>
        </p:nvSpPr>
        <p:spPr>
          <a:xfrm>
            <a:off x="1280160" y="33375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Example: more bioenergy means more cropland, which can mean less forest</a:t>
            </a:r>
            <a:endParaRPr lang="en-US" sz="2200" dirty="0"/>
          </a:p>
        </p:txBody>
      </p:sp>
      <p:sp>
        <p:nvSpPr>
          <p:cNvPr id="14" name="icon circle"/>
          <p:cNvSpPr/>
          <p:nvPr/>
        </p:nvSpPr>
        <p:spPr>
          <a:xfrm>
            <a:off x="548640" y="4480560"/>
            <a:ext cx="457200" cy="457200"/>
          </a:xfrm>
          <a:prstGeom prst="ellipse">
            <a:avLst/>
          </a:prstGeom>
          <a:solidFill>
            <a:srgbClr val="12263A"/>
          </a:solidFill>
          <a:ln w="12700">
            <a:solidFill>
              <a:srgbClr val="12263A"/>
            </a:solidFill>
            <a:prstDash val="solid"/>
          </a:ln>
        </p:spPr>
      </p:sp>
      <p:pic>
        <p:nvPicPr>
          <p:cNvPr id="15" name="icon" descr="preencoded.png">    </p:cNvPr>
          <p:cNvPicPr>
            <a:picLocks noChangeAspect="1"/>
          </p:cNvPicPr>
          <p:nvPr/>
        </p:nvPicPr>
        <p:blipFill>
          <a:blip r:embed="rId4"/>
          <a:stretch>
            <a:fillRect/>
          </a:stretch>
        </p:blipFill>
        <p:spPr>
          <a:xfrm>
            <a:off x="667512" y="4599432"/>
            <a:ext cx="219456" cy="219456"/>
          </a:xfrm>
          <a:prstGeom prst="rect">
            <a:avLst/>
          </a:prstGeom>
        </p:spPr>
      </p:pic>
      <p:sp>
        <p:nvSpPr>
          <p:cNvPr id="16" name="Text 9"/>
          <p:cNvSpPr txBox="1"/>
          <p:nvPr/>
        </p:nvSpPr>
        <p:spPr>
          <a:xfrm>
            <a:off x="1280160" y="42519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'Assessment' means the purpose is to inform decisions</a:t>
            </a:r>
            <a:endParaRPr lang="en-US" sz="2200" dirty="0"/>
          </a:p>
        </p:txBody>
      </p:sp>
      <p:sp>
        <p:nvSpPr>
          <p:cNvPr id="17" name="icon circle"/>
          <p:cNvSpPr/>
          <p:nvPr/>
        </p:nvSpPr>
        <p:spPr>
          <a:xfrm>
            <a:off x="548640" y="5394960"/>
            <a:ext cx="457200" cy="457200"/>
          </a:xfrm>
          <a:prstGeom prst="ellipse">
            <a:avLst/>
          </a:prstGeom>
          <a:solidFill>
            <a:srgbClr val="0F766E"/>
          </a:solidFill>
          <a:ln w="12700">
            <a:solidFill>
              <a:srgbClr val="0F766E"/>
            </a:solidFill>
            <a:prstDash val="solid"/>
          </a:ln>
        </p:spPr>
      </p:sp>
      <p:pic>
        <p:nvPicPr>
          <p:cNvPr id="18" name="icon" descr="preencoded.png">    </p:cNvPr>
          <p:cNvPicPr>
            <a:picLocks noChangeAspect="1"/>
          </p:cNvPicPr>
          <p:nvPr/>
        </p:nvPicPr>
        <p:blipFill>
          <a:blip r:embed="rId5"/>
          <a:stretch>
            <a:fillRect/>
          </a:stretch>
        </p:blipFill>
        <p:spPr>
          <a:xfrm>
            <a:off x="667512" y="5513832"/>
            <a:ext cx="219456" cy="219456"/>
          </a:xfrm>
          <a:prstGeom prst="rect">
            <a:avLst/>
          </a:prstGeom>
        </p:spPr>
      </p:pic>
      <p:sp>
        <p:nvSpPr>
          <p:cNvPr id="19" name="Text 11"/>
          <p:cNvSpPr txBox="1"/>
          <p:nvPr/>
        </p:nvSpPr>
        <p:spPr>
          <a:xfrm>
            <a:off x="1280160" y="51663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So an IAM is a tool for asking what-if questions about this century</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why consistency matters</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1800" b="1" dirty="0">
                <a:solidFill>
                  <a:srgbClr val="0B5550"/>
                </a:solidFill>
                <a:latin typeface="Calibri" pitchFamily="34" charset="0"/>
                <a:ea typeface="Calibri" pitchFamily="34" charset="-122"/>
                <a:cs typeface="Calibri" pitchFamily="34" charset="-120"/>
              </a:rPr>
              <a:t>Problem  </a:t>
            </a:r>
            <a:pPr indent="0" marL="0">
              <a:buNone/>
            </a:pPr>
            <a:r>
              <a:rPr lang="en-US" sz="1800" dirty="0">
                <a:solidFill>
                  <a:srgbClr val="1F2933"/>
                </a:solidFill>
                <a:latin typeface="Calibri" pitchFamily="34" charset="0"/>
                <a:ea typeface="Calibri" pitchFamily="34" charset="-122"/>
                <a:cs typeface="Calibri" pitchFamily="34" charset="-120"/>
              </a:rPr>
              <a:t>The world uses 600 units of energy a year. Each unit releases 0.06 Gt of CO2. A policy cleans up the energy mix so each unit releases 0.03 Gt. How much do emissions fall?</a:t>
            </a:r>
            <a:endParaRPr lang="en-US" sz="1800" dirty="0"/>
          </a:p>
        </p:txBody>
      </p:sp>
      <p:sp>
        <p:nvSpPr>
          <p:cNvPr id="9" name="number badge"/>
          <p:cNvSpPr txBox="1"/>
          <p:nvPr/>
        </p:nvSpPr>
        <p:spPr>
          <a:xfrm>
            <a:off x="548640" y="283464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1188720" y="265176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Before: 600 × 0.06 = 36 Gt of CO2</a:t>
            </a:r>
            <a:endParaRPr lang="en-US" sz="2200" dirty="0"/>
          </a:p>
        </p:txBody>
      </p:sp>
      <p:sp>
        <p:nvSpPr>
          <p:cNvPr id="11" name="number badge"/>
          <p:cNvSpPr txBox="1"/>
          <p:nvPr/>
        </p:nvSpPr>
        <p:spPr>
          <a:xfrm>
            <a:off x="548640" y="361188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1188720" y="342900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After: 600 × 0.03 = 18 Gt of CO2</a:t>
            </a:r>
            <a:endParaRPr lang="en-US" sz="2200" dirty="0"/>
          </a:p>
        </p:txBody>
      </p:sp>
      <p:sp>
        <p:nvSpPr>
          <p:cNvPr id="13" name="number badge"/>
          <p:cNvSpPr txBox="1"/>
          <p:nvPr/>
        </p:nvSpPr>
        <p:spPr>
          <a:xfrm>
            <a:off x="548640" y="438912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1188720" y="420624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Change: 36 − 18 = 18 Gt</a:t>
            </a:r>
            <a:endParaRPr lang="en-US" sz="2200" dirty="0"/>
          </a:p>
        </p:txBody>
      </p:sp>
      <p:sp>
        <p:nvSpPr>
          <p:cNvPr id="15" name="number badge"/>
          <p:cNvSpPr txBox="1"/>
          <p:nvPr/>
        </p:nvSpPr>
        <p:spPr>
          <a:xfrm>
            <a:off x="548640" y="516636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2"/>
          <p:cNvSpPr txBox="1"/>
          <p:nvPr/>
        </p:nvSpPr>
        <p:spPr>
          <a:xfrm>
            <a:off x="1188720" y="498348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As a share: 18 ÷ 36 = 0.5, so a 50% cut</a:t>
            </a:r>
            <a:endParaRPr lang="en-US" sz="2200" dirty="0"/>
          </a:p>
        </p:txBody>
      </p:sp>
      <p:sp>
        <p:nvSpPr>
          <p:cNvPr id="17" name="answer card"/>
          <p:cNvSpPr/>
          <p:nvPr/>
        </p:nvSpPr>
        <p:spPr>
          <a:xfrm>
            <a:off x="8686800" y="2651760"/>
            <a:ext cx="2956255" cy="3520440"/>
          </a:xfrm>
          <a:prstGeom prst="roundRect">
            <a:avLst>
              <a:gd name="adj" fmla="val 3712"/>
            </a:avLst>
          </a:prstGeom>
          <a:solidFill>
            <a:srgbClr val="FCEDE5"/>
          </a:solidFill>
          <a:ln w="12700">
            <a:solidFill>
              <a:srgbClr val="FCEDE5"/>
            </a:solidFill>
            <a:prstDash val="solid"/>
          </a:ln>
        </p:spPr>
      </p:sp>
      <p:sp>
        <p:nvSpPr>
          <p:cNvPr id="18" name="icon circle"/>
          <p:cNvSpPr/>
          <p:nvPr/>
        </p:nvSpPr>
        <p:spPr>
          <a:xfrm>
            <a:off x="8961120" y="2926080"/>
            <a:ext cx="548640" cy="548640"/>
          </a:xfrm>
          <a:prstGeom prst="ellipse">
            <a:avLst/>
          </a:prstGeom>
          <a:solidFill>
            <a:srgbClr val="C2410C"/>
          </a:solidFill>
          <a:ln w="12700">
            <a:solidFill>
              <a:srgbClr val="C2410C"/>
            </a:solidFill>
            <a:prstDash val="solid"/>
          </a:ln>
        </p:spPr>
      </p:sp>
      <p:pic>
        <p:nvPicPr>
          <p:cNvPr id="19" name="icon" descr="preencoded.png">    </p:cNvPr>
          <p:cNvPicPr>
            <a:picLocks noChangeAspect="1"/>
          </p:cNvPicPr>
          <p:nvPr/>
        </p:nvPicPr>
        <p:blipFill>
          <a:blip r:embed="rId2"/>
          <a:stretch>
            <a:fillRect/>
          </a:stretch>
        </p:blipFill>
        <p:spPr>
          <a:xfrm>
            <a:off x="9103766" y="3068726"/>
            <a:ext cx="263347" cy="263347"/>
          </a:xfrm>
          <a:prstGeom prst="rect">
            <a:avLst/>
          </a:prstGeom>
        </p:spPr>
      </p:pic>
      <p:sp>
        <p:nvSpPr>
          <p:cNvPr id="20" name="Text 15"/>
          <p:cNvSpPr txBox="1"/>
          <p:nvPr/>
        </p:nvSpPr>
        <p:spPr>
          <a:xfrm>
            <a:off x="9646920" y="2971800"/>
            <a:ext cx="1858975" cy="45720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Answer</a:t>
            </a:r>
            <a:endParaRPr lang="en-US" sz="1800" dirty="0"/>
          </a:p>
        </p:txBody>
      </p:sp>
      <p:sp>
        <p:nvSpPr>
          <p:cNvPr id="21" name="Text 16"/>
          <p:cNvSpPr txBox="1"/>
          <p:nvPr/>
        </p:nvSpPr>
        <p:spPr>
          <a:xfrm>
            <a:off x="8961120" y="3703320"/>
            <a:ext cx="2407615" cy="2286000"/>
          </a:xfrm>
          <a:prstGeom prst="rect">
            <a:avLst/>
          </a:prstGeom>
          <a:noFill/>
          <a:ln/>
        </p:spPr>
        <p:txBody>
          <a:bodyPr wrap="square" lIns="0" tIns="0" rIns="0" bIns="0" rtlCol="0" anchor="t"/>
          <a:lstStyle/>
          <a:p>
            <a:pPr indent="0" marL="0">
              <a:buNone/>
            </a:pPr>
            <a:r>
              <a:rPr lang="en-US" sz="2400" b="1" dirty="0">
                <a:solidFill>
                  <a:srgbClr val="12263A"/>
                </a:solidFill>
                <a:latin typeface="Cambria" pitchFamily="34" charset="0"/>
                <a:ea typeface="Cambria" pitchFamily="34" charset="-122"/>
                <a:cs typeface="Cambria" pitchFamily="34" charset="-120"/>
              </a:rPr>
              <a:t>Emissions fall by 18 Gt, a 50% cut (illustrative numbers)</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SIDE BY SIDE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Two families answer different questions</a:t>
            </a:r>
            <a:endParaRPr lang="en-US" sz="32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698138"/>
                <a:gridCol w="3698138"/>
                <a:gridCol w="3698138"/>
              </a:tblGrid>
              <a:tr h="457200">
                <a:tc>
                  <a:txBody>
                    <a:bodyPr/>
                    <a:lstStyle/>
                    <a:p>
                      <a:pPr indent="0" marL="0">
                        <a:buNone/>
                      </a:pP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Cost-benefit models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Process-based models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Question</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How much should we cut?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How can a goal be met?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Method</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Weigh cutting cost vs damage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Detailed energy and land sectors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Size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A few equations, one world</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Thousands of inputs, many regions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Examples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DICE, FUND, PAGE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GCAM, MESSAGEix, REMIND, IMAGE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In this course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Week 5</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Weeks 7 to 13</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bl>
          </a:graphicData>
        </a:graphic>
      </p:graphicFrame>
      <p:sp>
        <p:nvSpPr>
          <p:cNvPr id="6" name="caption pill"/>
          <p:cNvSpPr/>
          <p:nvPr/>
        </p:nvSpPr>
        <p:spPr>
          <a:xfrm>
            <a:off x="548640" y="5056632"/>
            <a:ext cx="11094415" cy="640080"/>
          </a:xfrm>
          <a:prstGeom prst="roundRect">
            <a:avLst>
              <a:gd name="adj" fmla="val 17143"/>
            </a:avLst>
          </a:prstGeom>
          <a:solidFill>
            <a:srgbClr val="E6F2F0"/>
          </a:solidFill>
          <a:ln w="12700">
            <a:solidFill>
              <a:srgbClr val="E6F2F0"/>
            </a:solidFill>
            <a:prstDash val="solid"/>
          </a:ln>
        </p:spPr>
      </p:sp>
      <p:sp>
        <p:nvSpPr>
          <p:cNvPr id="7" name="icon circle"/>
          <p:cNvSpPr/>
          <p:nvPr/>
        </p:nvSpPr>
        <p:spPr>
          <a:xfrm>
            <a:off x="685800" y="5166360"/>
            <a:ext cx="420624" cy="420624"/>
          </a:xfrm>
          <a:prstGeom prst="ellipse">
            <a:avLst/>
          </a:prstGeom>
          <a:solidFill>
            <a:srgbClr val="0F766E"/>
          </a:solidFill>
          <a:ln w="12700">
            <a:solidFill>
              <a:srgbClr val="0F766E"/>
            </a:solidFill>
            <a:prstDash val="solid"/>
          </a:ln>
        </p:spPr>
      </p:sp>
      <p:pic>
        <p:nvPicPr>
          <p:cNvPr id="8" name="icon" descr="preencoded.png">    </p:cNvPr>
          <p:cNvPicPr>
            <a:picLocks noChangeAspect="1"/>
          </p:cNvPicPr>
          <p:nvPr/>
        </p:nvPicPr>
        <p:blipFill>
          <a:blip r:embed="rId1"/>
          <a:stretch>
            <a:fillRect/>
          </a:stretch>
        </p:blipFill>
        <p:spPr>
          <a:xfrm>
            <a:off x="795162" y="5275722"/>
            <a:ext cx="201900" cy="201900"/>
          </a:xfrm>
          <a:prstGeom prst="rect">
            <a:avLst/>
          </a:prstGeom>
        </p:spPr>
      </p:pic>
      <p:sp>
        <p:nvSpPr>
          <p:cNvPr id="9" name="Text 4"/>
          <p:cNvSpPr txBox="1"/>
          <p:nvPr/>
        </p:nvSpPr>
        <p:spPr>
          <a:xfrm>
            <a:off x="1280160" y="5056632"/>
            <a:ext cx="10180015" cy="640080"/>
          </a:xfrm>
          <a:prstGeom prst="rect">
            <a:avLst/>
          </a:prstGeom>
          <a:noFill/>
          <a:ln/>
        </p:spPr>
        <p:txBody>
          <a:bodyPr wrap="square" lIns="0" tIns="0" rIns="0" bIns="0" rtlCol="0" anchor="ctr"/>
          <a:lstStyle/>
          <a:p>
            <a:pPr indent="0" marL="0">
              <a:buNone/>
            </a:pPr>
            <a:r>
              <a:rPr lang="en-US" sz="1600" dirty="0">
                <a:solidFill>
                  <a:srgbClr val="0B5550"/>
                </a:solidFill>
                <a:latin typeface="Calibri" pitchFamily="34" charset="0"/>
                <a:ea typeface="Calibri" pitchFamily="34" charset="-122"/>
                <a:cs typeface="Calibri" pitchFamily="34" charset="-120"/>
              </a:rPr>
              <a:t>DICE fits on a page; GCAM has thousands of inputs. Different tools for different questions.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QUICK CHECK · THINK, THEN VOTE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Which question is a job for a process-based model like GCAM?</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What is one more tonne of CO2 worth in damage?</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Can Japan reach net zero without new nuclear?</a:t>
            </a:r>
            <a:endParaRPr lang="en-US" sz="2000" dirty="0"/>
          </a:p>
        </p:txBody>
      </p:sp>
      <p:sp>
        <p:nvSpPr>
          <p:cNvPr id="12"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3" name="number badge"/>
          <p:cNvSpPr txBox="1"/>
          <p:nvPr/>
        </p:nvSpPr>
        <p:spPr>
          <a:xfrm>
            <a:off x="822960"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Will it rain in Trondheim next Tuesday?</a:t>
            </a:r>
            <a:endParaRPr lang="en-US" sz="2000" dirty="0"/>
          </a:p>
        </p:txBody>
      </p:sp>
      <p:sp>
        <p:nvSpPr>
          <p:cNvPr id="15"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507328"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7" name="Text 14"/>
          <p:cNvSpPr txBox="1"/>
          <p:nvPr/>
        </p:nvSpPr>
        <p:spPr>
          <a:xfrm>
            <a:off x="7238848"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What should the global discount rate be?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15803D"/>
                </a:solidFill>
                <a:latin typeface="Calibri" pitchFamily="34" charset="0"/>
                <a:ea typeface="Calibri" pitchFamily="34" charset="-122"/>
                <a:cs typeface="Calibri" pitchFamily="34" charset="-120"/>
              </a:rPr>
              <a:t>QUICK CHECK · ANSWER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 answer</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Which question is a job for a process-based model like GCAM?</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What is one more tonne of CO2 worth in damage?</a:t>
            </a:r>
            <a:endParaRPr lang="en-US" sz="2000" dirty="0"/>
          </a:p>
        </p:txBody>
      </p:sp>
      <p:sp>
        <p:nvSpPr>
          <p:cNvPr id="9" name="option"/>
          <p:cNvSpPr/>
          <p:nvPr/>
        </p:nvSpPr>
        <p:spPr>
          <a:xfrm>
            <a:off x="6233008" y="2697480"/>
            <a:ext cx="5410048" cy="1325880"/>
          </a:xfrm>
          <a:prstGeom prst="roundRect">
            <a:avLst>
              <a:gd name="adj" fmla="val 8276"/>
            </a:avLst>
          </a:prstGeom>
          <a:solidFill>
            <a:srgbClr val="E7F5EC"/>
          </a:solidFill>
          <a:ln w="12700">
            <a:solidFill>
              <a:srgbClr val="E7F5EC"/>
            </a:solidFill>
            <a:prstDash val="solid"/>
          </a:ln>
        </p:spPr>
      </p:sp>
      <p:sp>
        <p:nvSpPr>
          <p:cNvPr id="10" name="number badge"/>
          <p:cNvSpPr txBox="1"/>
          <p:nvPr/>
        </p:nvSpPr>
        <p:spPr>
          <a:xfrm>
            <a:off x="6507328" y="3086100"/>
            <a:ext cx="548640" cy="548640"/>
          </a:xfrm>
          <a:prstGeom prst="ellipse">
            <a:avLst/>
          </a:prstGeom>
          <a:solidFill>
            <a:srgbClr val="15803D"/>
          </a:solidFill>
          <a:ln>
            <a:solidFill>
              <a:srgbClr val="15803D"/>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3626968" cy="132588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Can Japan reach net zero without new nuclear?</a:t>
            </a:r>
            <a:endParaRPr lang="en-US" sz="2000" dirty="0"/>
          </a:p>
        </p:txBody>
      </p:sp>
      <p:sp>
        <p:nvSpPr>
          <p:cNvPr id="12" name="icon circle"/>
          <p:cNvSpPr/>
          <p:nvPr/>
        </p:nvSpPr>
        <p:spPr>
          <a:xfrm>
            <a:off x="11048695" y="2834640"/>
            <a:ext cx="411480" cy="411480"/>
          </a:xfrm>
          <a:prstGeom prst="ellipse">
            <a:avLst/>
          </a:prstGeom>
          <a:solidFill>
            <a:srgbClr val="15803D"/>
          </a:solidFill>
          <a:ln w="12700">
            <a:solidFill>
              <a:srgbClr val="15803D"/>
            </a:solidFill>
            <a:prstDash val="solid"/>
          </a:ln>
        </p:spPr>
      </p:sp>
      <p:pic>
        <p:nvPicPr>
          <p:cNvPr id="13" name="icon" descr="preencoded.png">    </p:cNvPr>
          <p:cNvPicPr>
            <a:picLocks noChangeAspect="1"/>
          </p:cNvPicPr>
          <p:nvPr/>
        </p:nvPicPr>
        <p:blipFill>
          <a:blip r:embed="rId1"/>
          <a:stretch>
            <a:fillRect/>
          </a:stretch>
        </p:blipFill>
        <p:spPr>
          <a:xfrm>
            <a:off x="11155680" y="2941625"/>
            <a:ext cx="197510" cy="197510"/>
          </a:xfrm>
          <a:prstGeom prst="rect">
            <a:avLst/>
          </a:prstGeom>
        </p:spPr>
      </p:pic>
      <p:sp>
        <p:nvSpPr>
          <p:cNvPr id="14"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822960"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6" name="Text 12"/>
          <p:cNvSpPr txBox="1"/>
          <p:nvPr/>
        </p:nvSpPr>
        <p:spPr>
          <a:xfrm>
            <a:off x="1554480"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Will it rain in Trondheim next Tuesday?</a:t>
            </a:r>
            <a:endParaRPr lang="en-US" sz="2000" dirty="0"/>
          </a:p>
        </p:txBody>
      </p:sp>
      <p:sp>
        <p:nvSpPr>
          <p:cNvPr id="17"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6507328"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9" name="Text 15"/>
          <p:cNvSpPr txBox="1"/>
          <p:nvPr/>
        </p:nvSpPr>
        <p:spPr>
          <a:xfrm>
            <a:off x="7238848"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What should the global discount rate be?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NUMBERS TO REMEMBER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IAMs sit behind big decisions</a:t>
            </a:r>
            <a:endParaRPr lang="en-US" sz="3200" dirty="0"/>
          </a:p>
        </p:txBody>
      </p:sp>
      <p:sp>
        <p:nvSpPr>
          <p:cNvPr id="5" name="stat card"/>
          <p:cNvSpPr/>
          <p:nvPr/>
        </p:nvSpPr>
        <p:spPr>
          <a:xfrm>
            <a:off x="548640" y="1554480"/>
            <a:ext cx="3515258" cy="3566160"/>
          </a:xfrm>
          <a:prstGeom prst="roundRect">
            <a:avLst>
              <a:gd name="adj" fmla="val 3121"/>
            </a:avLst>
          </a:prstGeom>
          <a:solidFill>
            <a:srgbClr val="E6F2F0"/>
          </a:solidFill>
          <a:ln w="12700">
            <a:solidFill>
              <a:srgbClr val="E6F2F0"/>
            </a:solidFill>
            <a:prstDash val="solid"/>
          </a:ln>
        </p:spPr>
      </p:sp>
      <p:sp>
        <p:nvSpPr>
          <p:cNvPr id="6" name="Text 3"/>
          <p:cNvSpPr txBox="1"/>
          <p:nvPr/>
        </p:nvSpPr>
        <p:spPr>
          <a:xfrm>
            <a:off x="822960" y="1920240"/>
            <a:ext cx="2966618" cy="1371600"/>
          </a:xfrm>
          <a:prstGeom prst="rect">
            <a:avLst/>
          </a:prstGeom>
          <a:noFill/>
          <a:ln/>
        </p:spPr>
        <p:txBody>
          <a:bodyPr wrap="square" lIns="0" tIns="0" rIns="0" bIns="0" rtlCol="0" anchor="t"/>
          <a:lstStyle/>
          <a:p>
            <a:pPr indent="0" marL="0">
              <a:buNone/>
            </a:pPr>
            <a:r>
              <a:rPr lang="en-US" sz="6000" b="1" dirty="0">
                <a:solidFill>
                  <a:srgbClr val="0F766E"/>
                </a:solidFill>
                <a:latin typeface="Cambria" pitchFamily="34" charset="0"/>
                <a:ea typeface="Cambria" pitchFamily="34" charset="-122"/>
                <a:cs typeface="Cambria" pitchFamily="34" charset="-120"/>
              </a:rPr>
              <a:t>~1,200</a:t>
            </a:r>
            <a:endParaRPr lang="en-US" sz="6000" dirty="0"/>
          </a:p>
        </p:txBody>
      </p:sp>
      <p:sp>
        <p:nvSpPr>
          <p:cNvPr id="7" name="Text 4"/>
          <p:cNvSpPr txBox="1"/>
          <p:nvPr/>
        </p:nvSpPr>
        <p:spPr>
          <a:xfrm>
            <a:off x="822960" y="3383280"/>
            <a:ext cx="2966618" cy="155448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what-if pathways in the IPCC's 2022 mitigation report</a:t>
            </a:r>
            <a:endParaRPr lang="en-US" sz="2000" dirty="0"/>
          </a:p>
        </p:txBody>
      </p:sp>
      <p:sp>
        <p:nvSpPr>
          <p:cNvPr id="8" name="stat card"/>
          <p:cNvSpPr/>
          <p:nvPr/>
        </p:nvSpPr>
        <p:spPr>
          <a:xfrm>
            <a:off x="4338218" y="1554480"/>
            <a:ext cx="3515258" cy="3566160"/>
          </a:xfrm>
          <a:prstGeom prst="roundRect">
            <a:avLst>
              <a:gd name="adj" fmla="val 3121"/>
            </a:avLst>
          </a:prstGeom>
          <a:solidFill>
            <a:srgbClr val="F7FAF9"/>
          </a:solidFill>
          <a:ln w="12700">
            <a:solidFill>
              <a:srgbClr val="F7FAF9"/>
            </a:solidFill>
            <a:prstDash val="solid"/>
          </a:ln>
        </p:spPr>
      </p:sp>
      <p:sp>
        <p:nvSpPr>
          <p:cNvPr id="9" name="Text 6"/>
          <p:cNvSpPr txBox="1"/>
          <p:nvPr/>
        </p:nvSpPr>
        <p:spPr>
          <a:xfrm>
            <a:off x="4612538" y="1920240"/>
            <a:ext cx="2966618" cy="1371600"/>
          </a:xfrm>
          <a:prstGeom prst="rect">
            <a:avLst/>
          </a:prstGeom>
          <a:noFill/>
          <a:ln/>
        </p:spPr>
        <p:txBody>
          <a:bodyPr wrap="square" lIns="0" tIns="0" rIns="0" bIns="0" rtlCol="0" anchor="t"/>
          <a:lstStyle/>
          <a:p>
            <a:pPr indent="0" marL="0">
              <a:buNone/>
            </a:pPr>
            <a:r>
              <a:rPr lang="en-US" sz="6000" b="1" dirty="0">
                <a:solidFill>
                  <a:srgbClr val="12263A"/>
                </a:solidFill>
                <a:latin typeface="Cambria" pitchFamily="34" charset="0"/>
                <a:ea typeface="Cambria" pitchFamily="34" charset="-122"/>
                <a:cs typeface="Cambria" pitchFamily="34" charset="-120"/>
              </a:rPr>
              <a:t>5</a:t>
            </a:r>
            <a:endParaRPr lang="en-US" sz="6000" dirty="0"/>
          </a:p>
        </p:txBody>
      </p:sp>
      <p:sp>
        <p:nvSpPr>
          <p:cNvPr id="10" name="Text 7"/>
          <p:cNvSpPr txBox="1"/>
          <p:nvPr/>
        </p:nvSpPr>
        <p:spPr>
          <a:xfrm>
            <a:off x="4612538" y="3383280"/>
            <a:ext cx="2966618" cy="155448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lecture days in NTNU's EP8900 course, which inspired this one</a:t>
            </a:r>
            <a:endParaRPr lang="en-US" sz="2000" dirty="0"/>
          </a:p>
        </p:txBody>
      </p:sp>
      <p:sp>
        <p:nvSpPr>
          <p:cNvPr id="11" name="stat card"/>
          <p:cNvSpPr/>
          <p:nvPr/>
        </p:nvSpPr>
        <p:spPr>
          <a:xfrm>
            <a:off x="8127797" y="1554480"/>
            <a:ext cx="3515258" cy="3566160"/>
          </a:xfrm>
          <a:prstGeom prst="roundRect">
            <a:avLst>
              <a:gd name="adj" fmla="val 3121"/>
            </a:avLst>
          </a:prstGeom>
          <a:solidFill>
            <a:srgbClr val="F7FAF9"/>
          </a:solidFill>
          <a:ln w="12700">
            <a:solidFill>
              <a:srgbClr val="F7FAF9"/>
            </a:solidFill>
            <a:prstDash val="solid"/>
          </a:ln>
        </p:spPr>
      </p:sp>
      <p:sp>
        <p:nvSpPr>
          <p:cNvPr id="12" name="Text 9"/>
          <p:cNvSpPr txBox="1"/>
          <p:nvPr/>
        </p:nvSpPr>
        <p:spPr>
          <a:xfrm>
            <a:off x="8402117" y="1920240"/>
            <a:ext cx="2966618" cy="1371600"/>
          </a:xfrm>
          <a:prstGeom prst="rect">
            <a:avLst/>
          </a:prstGeom>
          <a:noFill/>
          <a:ln/>
        </p:spPr>
        <p:txBody>
          <a:bodyPr wrap="square" lIns="0" tIns="0" rIns="0" bIns="0" rtlCol="0" anchor="t"/>
          <a:lstStyle/>
          <a:p>
            <a:pPr indent="0" marL="0">
              <a:buNone/>
            </a:pPr>
            <a:r>
              <a:rPr lang="en-US" sz="6000" b="1" dirty="0">
                <a:solidFill>
                  <a:srgbClr val="12263A"/>
                </a:solidFill>
                <a:latin typeface="Cambria" pitchFamily="34" charset="0"/>
                <a:ea typeface="Cambria" pitchFamily="34" charset="-122"/>
                <a:cs typeface="Cambria" pitchFamily="34" charset="-120"/>
              </a:rPr>
              <a:t>15</a:t>
            </a:r>
            <a:endParaRPr lang="en-US" sz="6000" dirty="0"/>
          </a:p>
        </p:txBody>
      </p:sp>
      <p:sp>
        <p:nvSpPr>
          <p:cNvPr id="13" name="Text 10"/>
          <p:cNvSpPr txBox="1"/>
          <p:nvPr/>
        </p:nvSpPr>
        <p:spPr>
          <a:xfrm>
            <a:off x="8402117" y="3383280"/>
            <a:ext cx="2966618" cy="155448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weeks for us to go from zero to running GCAM</a:t>
            </a:r>
            <a:endParaRPr lang="en-US" sz="2000" dirty="0"/>
          </a:p>
        </p:txBody>
      </p:sp>
      <p:sp>
        <p:nvSpPr>
          <p:cNvPr id="14" name="Text 11"/>
          <p:cNvSpPr txBox="1"/>
          <p:nvPr/>
        </p:nvSpPr>
        <p:spPr>
          <a:xfrm>
            <a:off x="548640" y="5349240"/>
            <a:ext cx="11094415" cy="640080"/>
          </a:xfrm>
          <a:prstGeom prst="rect">
            <a:avLst/>
          </a:prstGeom>
          <a:noFill/>
          <a:ln/>
        </p:spPr>
        <p:txBody>
          <a:bodyPr wrap="square" lIns="0" tIns="0" rIns="0" bIns="0" rtlCol="0" anchor="t"/>
          <a:lstStyle/>
          <a:p>
            <a:pPr indent="0" marL="0">
              <a:buNone/>
            </a:pPr>
            <a:r>
              <a:rPr lang="en-US" sz="1600" i="1" dirty="0">
                <a:solidFill>
                  <a:srgbClr val="5B6875"/>
                </a:solidFill>
                <a:latin typeface="Calibri" pitchFamily="34" charset="0"/>
                <a:ea typeface="Calibri" pitchFamily="34" charset="-122"/>
                <a:cs typeface="Calibri" pitchFamily="34" charset="-120"/>
              </a:rPr>
              <a:t>IPCC = Intergovernmental Panel on Climate Change, the UN body that assesses climate research.</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KEY IDEA</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Who uses IAM results?</a:t>
            </a:r>
            <a:endParaRPr lang="en-US" sz="3200" dirty="0"/>
          </a:p>
        </p:txBody>
      </p:sp>
      <p:sp>
        <p:nvSpPr>
          <p:cNvPr id="5" name="idea card"/>
          <p:cNvSpPr/>
          <p:nvPr/>
        </p:nvSpPr>
        <p:spPr>
          <a:xfrm>
            <a:off x="548640"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2880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822960" y="2560320"/>
            <a:ext cx="2019224" cy="77724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IPCC reports</a:t>
            </a:r>
            <a:endParaRPr lang="en-US" sz="2000" dirty="0"/>
          </a:p>
        </p:txBody>
      </p:sp>
      <p:sp>
        <p:nvSpPr>
          <p:cNvPr id="8" name="Text 5"/>
          <p:cNvSpPr txBox="1"/>
          <p:nvPr/>
        </p:nvSpPr>
        <p:spPr>
          <a:xfrm>
            <a:off x="822960" y="3429000"/>
            <a:ext cx="2019224"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Pathways that limit warming to 1.5 °C or 2 °C come from IAMs.</a:t>
            </a:r>
            <a:endParaRPr lang="en-US" sz="2000" dirty="0"/>
          </a:p>
        </p:txBody>
      </p:sp>
      <p:sp>
        <p:nvSpPr>
          <p:cNvPr id="9" name="idea card"/>
          <p:cNvSpPr/>
          <p:nvPr/>
        </p:nvSpPr>
        <p:spPr>
          <a:xfrm>
            <a:off x="3390824"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3665144" y="18288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txBox="1"/>
          <p:nvPr/>
        </p:nvSpPr>
        <p:spPr>
          <a:xfrm>
            <a:off x="3665144" y="2560320"/>
            <a:ext cx="2019224" cy="77724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Governments</a:t>
            </a:r>
            <a:endParaRPr lang="en-US" sz="2000" dirty="0"/>
          </a:p>
        </p:txBody>
      </p:sp>
      <p:sp>
        <p:nvSpPr>
          <p:cNvPr id="12" name="Text 9"/>
          <p:cNvSpPr txBox="1"/>
          <p:nvPr/>
        </p:nvSpPr>
        <p:spPr>
          <a:xfrm>
            <a:off x="3665144" y="3429000"/>
            <a:ext cx="2019224"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National climate plans test targets such as net zero by 2050 with IAMs.</a:t>
            </a:r>
            <a:endParaRPr lang="en-US" sz="2000" dirty="0"/>
          </a:p>
        </p:txBody>
      </p:sp>
      <p:sp>
        <p:nvSpPr>
          <p:cNvPr id="13" name="idea card"/>
          <p:cNvSpPr/>
          <p:nvPr/>
        </p:nvSpPr>
        <p:spPr>
          <a:xfrm>
            <a:off x="6233008"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4" name="number badge"/>
          <p:cNvSpPr txBox="1"/>
          <p:nvPr/>
        </p:nvSpPr>
        <p:spPr>
          <a:xfrm>
            <a:off x="6507328" y="182880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2"/>
          <p:cNvSpPr txBox="1"/>
          <p:nvPr/>
        </p:nvSpPr>
        <p:spPr>
          <a:xfrm>
            <a:off x="6507328" y="2560320"/>
            <a:ext cx="2019224" cy="77724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Companies and investors</a:t>
            </a:r>
            <a:endParaRPr lang="en-US" sz="2000" dirty="0"/>
          </a:p>
        </p:txBody>
      </p:sp>
      <p:sp>
        <p:nvSpPr>
          <p:cNvPr id="16" name="Text 13"/>
          <p:cNvSpPr txBox="1"/>
          <p:nvPr/>
        </p:nvSpPr>
        <p:spPr>
          <a:xfrm>
            <a:off x="6507328" y="3429000"/>
            <a:ext cx="2019224"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Banks and firms use IAM scenarios to stress-test their plans.</a:t>
            </a:r>
            <a:endParaRPr lang="en-US" sz="2000" dirty="0"/>
          </a:p>
        </p:txBody>
      </p:sp>
      <p:sp>
        <p:nvSpPr>
          <p:cNvPr id="17" name="idea card"/>
          <p:cNvSpPr/>
          <p:nvPr/>
        </p:nvSpPr>
        <p:spPr>
          <a:xfrm>
            <a:off x="9075191"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9349511" y="1828800"/>
            <a:ext cx="548640" cy="548640"/>
          </a:xfrm>
          <a:prstGeom prst="ellipse">
            <a:avLst/>
          </a:prstGeom>
          <a:solidFill>
            <a:srgbClr val="D97706"/>
          </a:solidFill>
          <a:ln>
            <a:solidFill>
              <a:srgbClr val="D97706"/>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9" name="Text 16"/>
          <p:cNvSpPr txBox="1"/>
          <p:nvPr/>
        </p:nvSpPr>
        <p:spPr>
          <a:xfrm>
            <a:off x="9349511" y="2560320"/>
            <a:ext cx="2019224" cy="77724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Researchers</a:t>
            </a:r>
            <a:endParaRPr lang="en-US" sz="2000" dirty="0"/>
          </a:p>
        </p:txBody>
      </p:sp>
      <p:sp>
        <p:nvSpPr>
          <p:cNvPr id="20" name="Text 17"/>
          <p:cNvSpPr txBox="1"/>
          <p:nvPr/>
        </p:nvSpPr>
        <p:spPr>
          <a:xfrm>
            <a:off x="9349511" y="3429000"/>
            <a:ext cx="2019224"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To explore trade-offs between energy, food, water and climate.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B91C1C"/>
                </a:solidFill>
                <a:latin typeface="Calibri" pitchFamily="34" charset="0"/>
                <a:ea typeface="Calibri" pitchFamily="34" charset="-122"/>
                <a:cs typeface="Calibri" pitchFamily="34" charset="-120"/>
              </a:rPr>
              <a:t>WATCH OUT</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Common mix-ups</a:t>
            </a:r>
            <a:endParaRPr lang="en-US" sz="3200" dirty="0"/>
          </a:p>
        </p:txBody>
      </p:sp>
      <p:sp>
        <p:nvSpPr>
          <p:cNvPr id="5" name="Text 2"/>
          <p:cNvSpPr txBox="1"/>
          <p:nvPr/>
        </p:nvSpPr>
        <p:spPr>
          <a:xfrm>
            <a:off x="1143000" y="1508760"/>
            <a:ext cx="2743200" cy="32004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Not quite</a:t>
            </a:r>
            <a:endParaRPr lang="en-US" sz="1400" dirty="0"/>
          </a:p>
        </p:txBody>
      </p:sp>
      <p:sp>
        <p:nvSpPr>
          <p:cNvPr id="6" name="Text 3"/>
          <p:cNvSpPr txBox="1"/>
          <p:nvPr/>
        </p:nvSpPr>
        <p:spPr>
          <a:xfrm>
            <a:off x="6827368" y="1508760"/>
            <a:ext cx="2743200" cy="320040"/>
          </a:xfrm>
          <a:prstGeom prst="rect">
            <a:avLst/>
          </a:prstGeom>
          <a:noFill/>
          <a:ln/>
        </p:spPr>
        <p:txBody>
          <a:bodyPr wrap="square" lIns="0" tIns="0" rIns="0" bIns="0" rtlCol="0" anchor="t"/>
          <a:lstStyle/>
          <a:p>
            <a:pPr indent="0" marL="0">
              <a:buNone/>
            </a:pPr>
            <a:r>
              <a:rPr lang="en-US" sz="1400" b="1" dirty="0">
                <a:solidFill>
                  <a:srgbClr val="15803D"/>
                </a:solidFill>
                <a:latin typeface="Calibri" pitchFamily="34" charset="0"/>
                <a:ea typeface="Calibri" pitchFamily="34" charset="-122"/>
                <a:cs typeface="Calibri" pitchFamily="34" charset="-120"/>
              </a:rPr>
              <a:t>Better</a:t>
            </a:r>
            <a:endParaRPr lang="en-US" sz="1400" dirty="0"/>
          </a:p>
        </p:txBody>
      </p:sp>
      <p:sp>
        <p:nvSpPr>
          <p:cNvPr id="7" name="wrong card"/>
          <p:cNvSpPr/>
          <p:nvPr/>
        </p:nvSpPr>
        <p:spPr>
          <a:xfrm>
            <a:off x="548640" y="1920240"/>
            <a:ext cx="5410048" cy="1249680"/>
          </a:xfrm>
          <a:prstGeom prst="roundRect">
            <a:avLst>
              <a:gd name="adj" fmla="val 8780"/>
            </a:avLst>
          </a:prstGeom>
          <a:solidFill>
            <a:srgbClr val="FDECEC"/>
          </a:solidFill>
          <a:ln w="12700">
            <a:solidFill>
              <a:srgbClr val="FDECEC"/>
            </a:solidFill>
            <a:prstDash val="solid"/>
          </a:ln>
        </p:spPr>
      </p:sp>
      <p:sp>
        <p:nvSpPr>
          <p:cNvPr id="8" name="right card"/>
          <p:cNvSpPr/>
          <p:nvPr/>
        </p:nvSpPr>
        <p:spPr>
          <a:xfrm>
            <a:off x="6233008" y="1920240"/>
            <a:ext cx="5410048" cy="1249680"/>
          </a:xfrm>
          <a:prstGeom prst="roundRect">
            <a:avLst>
              <a:gd name="adj" fmla="val 8780"/>
            </a:avLst>
          </a:prstGeom>
          <a:solidFill>
            <a:srgbClr val="E7F5EC"/>
          </a:solidFill>
          <a:ln w="12700">
            <a:solidFill>
              <a:srgbClr val="E7F5EC"/>
            </a:solidFill>
            <a:prstDash val="solid"/>
          </a:ln>
        </p:spPr>
      </p:sp>
      <p:sp>
        <p:nvSpPr>
          <p:cNvPr id="9" name="icon circle"/>
          <p:cNvSpPr/>
          <p:nvPr/>
        </p:nvSpPr>
        <p:spPr>
          <a:xfrm>
            <a:off x="685800" y="2339340"/>
            <a:ext cx="411480" cy="411480"/>
          </a:xfrm>
          <a:prstGeom prst="ellipse">
            <a:avLst/>
          </a:prstGeom>
          <a:solidFill>
            <a:srgbClr val="B91C1C"/>
          </a:solidFill>
          <a:ln w="12700">
            <a:solidFill>
              <a:srgbClr val="B91C1C"/>
            </a:solidFill>
            <a:prstDash val="solid"/>
          </a:ln>
        </p:spPr>
      </p:sp>
      <p:pic>
        <p:nvPicPr>
          <p:cNvPr id="10" name="icon" descr="preencoded.png">    </p:cNvPr>
          <p:cNvPicPr>
            <a:picLocks noChangeAspect="1"/>
          </p:cNvPicPr>
          <p:nvPr/>
        </p:nvPicPr>
        <p:blipFill>
          <a:blip r:embed="rId1"/>
          <a:stretch>
            <a:fillRect/>
          </a:stretch>
        </p:blipFill>
        <p:spPr>
          <a:xfrm>
            <a:off x="792785" y="2446325"/>
            <a:ext cx="197510" cy="197510"/>
          </a:xfrm>
          <a:prstGeom prst="rect">
            <a:avLst/>
          </a:prstGeom>
        </p:spPr>
      </p:pic>
      <p:sp>
        <p:nvSpPr>
          <p:cNvPr id="11" name="icon circle"/>
          <p:cNvSpPr/>
          <p:nvPr/>
        </p:nvSpPr>
        <p:spPr>
          <a:xfrm>
            <a:off x="6370168" y="2339340"/>
            <a:ext cx="411480" cy="411480"/>
          </a:xfrm>
          <a:prstGeom prst="ellipse">
            <a:avLst/>
          </a:prstGeom>
          <a:solidFill>
            <a:srgbClr val="15803D"/>
          </a:solidFill>
          <a:ln w="12700">
            <a:solidFill>
              <a:srgbClr val="15803D"/>
            </a:solidFill>
            <a:prstDash val="solid"/>
          </a:ln>
        </p:spPr>
      </p:sp>
      <p:pic>
        <p:nvPicPr>
          <p:cNvPr id="12" name="icon" descr="preencoded.png">    </p:cNvPr>
          <p:cNvPicPr>
            <a:picLocks noChangeAspect="1"/>
          </p:cNvPicPr>
          <p:nvPr/>
        </p:nvPicPr>
        <p:blipFill>
          <a:blip r:embed="rId2"/>
          <a:stretch>
            <a:fillRect/>
          </a:stretch>
        </p:blipFill>
        <p:spPr>
          <a:xfrm>
            <a:off x="6477152" y="2446325"/>
            <a:ext cx="197510" cy="197510"/>
          </a:xfrm>
          <a:prstGeom prst="rect">
            <a:avLst/>
          </a:prstGeom>
        </p:spPr>
      </p:pic>
      <p:sp>
        <p:nvSpPr>
          <p:cNvPr id="13" name="Text 8"/>
          <p:cNvSpPr txBox="1"/>
          <p:nvPr/>
        </p:nvSpPr>
        <p:spPr>
          <a:xfrm>
            <a:off x="1234440" y="192024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"The model predicts 2.7 °C by 2100."</a:t>
            </a:r>
            <a:endParaRPr lang="en-US" sz="2000" dirty="0"/>
          </a:p>
        </p:txBody>
      </p:sp>
      <p:sp>
        <p:nvSpPr>
          <p:cNvPr id="14" name="Text 9"/>
          <p:cNvSpPr txBox="1"/>
          <p:nvPr/>
        </p:nvSpPr>
        <p:spPr>
          <a:xfrm>
            <a:off x="6918808" y="192024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It says what follows if its assumptions hold. Change the assumptions and the number changes.</a:t>
            </a:r>
            <a:endParaRPr lang="en-US" sz="2000" dirty="0"/>
          </a:p>
        </p:txBody>
      </p:sp>
      <p:sp>
        <p:nvSpPr>
          <p:cNvPr id="15" name="wrong card"/>
          <p:cNvSpPr/>
          <p:nvPr/>
        </p:nvSpPr>
        <p:spPr>
          <a:xfrm>
            <a:off x="548640" y="3398520"/>
            <a:ext cx="5410048" cy="1249680"/>
          </a:xfrm>
          <a:prstGeom prst="roundRect">
            <a:avLst>
              <a:gd name="adj" fmla="val 8780"/>
            </a:avLst>
          </a:prstGeom>
          <a:solidFill>
            <a:srgbClr val="FDECEC"/>
          </a:solidFill>
          <a:ln w="12700">
            <a:solidFill>
              <a:srgbClr val="FDECEC"/>
            </a:solidFill>
            <a:prstDash val="solid"/>
          </a:ln>
        </p:spPr>
      </p:sp>
      <p:sp>
        <p:nvSpPr>
          <p:cNvPr id="16" name="right card"/>
          <p:cNvSpPr/>
          <p:nvPr/>
        </p:nvSpPr>
        <p:spPr>
          <a:xfrm>
            <a:off x="6233008" y="3398520"/>
            <a:ext cx="5410048" cy="1249680"/>
          </a:xfrm>
          <a:prstGeom prst="roundRect">
            <a:avLst>
              <a:gd name="adj" fmla="val 8780"/>
            </a:avLst>
          </a:prstGeom>
          <a:solidFill>
            <a:srgbClr val="E7F5EC"/>
          </a:solidFill>
          <a:ln w="12700">
            <a:solidFill>
              <a:srgbClr val="E7F5EC"/>
            </a:solidFill>
            <a:prstDash val="solid"/>
          </a:ln>
        </p:spPr>
      </p:sp>
      <p:sp>
        <p:nvSpPr>
          <p:cNvPr id="17" name="icon circle"/>
          <p:cNvSpPr/>
          <p:nvPr/>
        </p:nvSpPr>
        <p:spPr>
          <a:xfrm>
            <a:off x="685800" y="3817620"/>
            <a:ext cx="411480" cy="411480"/>
          </a:xfrm>
          <a:prstGeom prst="ellipse">
            <a:avLst/>
          </a:prstGeom>
          <a:solidFill>
            <a:srgbClr val="B91C1C"/>
          </a:solidFill>
          <a:ln w="12700">
            <a:solidFill>
              <a:srgbClr val="B91C1C"/>
            </a:solidFill>
            <a:prstDash val="solid"/>
          </a:ln>
        </p:spPr>
      </p:sp>
      <p:pic>
        <p:nvPicPr>
          <p:cNvPr id="18" name="icon" descr="preencoded.png">    </p:cNvPr>
          <p:cNvPicPr>
            <a:picLocks noChangeAspect="1"/>
          </p:cNvPicPr>
          <p:nvPr/>
        </p:nvPicPr>
        <p:blipFill>
          <a:blip r:embed="rId3"/>
          <a:stretch>
            <a:fillRect/>
          </a:stretch>
        </p:blipFill>
        <p:spPr>
          <a:xfrm>
            <a:off x="792785" y="3924605"/>
            <a:ext cx="197510" cy="197510"/>
          </a:xfrm>
          <a:prstGeom prst="rect">
            <a:avLst/>
          </a:prstGeom>
        </p:spPr>
      </p:pic>
      <p:sp>
        <p:nvSpPr>
          <p:cNvPr id="19" name="icon circle"/>
          <p:cNvSpPr/>
          <p:nvPr/>
        </p:nvSpPr>
        <p:spPr>
          <a:xfrm>
            <a:off x="6370168" y="3817620"/>
            <a:ext cx="411480" cy="411480"/>
          </a:xfrm>
          <a:prstGeom prst="ellipse">
            <a:avLst/>
          </a:prstGeom>
          <a:solidFill>
            <a:srgbClr val="15803D"/>
          </a:solidFill>
          <a:ln w="12700">
            <a:solidFill>
              <a:srgbClr val="15803D"/>
            </a:solidFill>
            <a:prstDash val="solid"/>
          </a:ln>
        </p:spPr>
      </p:sp>
      <p:pic>
        <p:nvPicPr>
          <p:cNvPr id="20" name="icon" descr="preencoded.png">    </p:cNvPr>
          <p:cNvPicPr>
            <a:picLocks noChangeAspect="1"/>
          </p:cNvPicPr>
          <p:nvPr/>
        </p:nvPicPr>
        <p:blipFill>
          <a:blip r:embed="rId4"/>
          <a:stretch>
            <a:fillRect/>
          </a:stretch>
        </p:blipFill>
        <p:spPr>
          <a:xfrm>
            <a:off x="6477152" y="3924605"/>
            <a:ext cx="197510" cy="197510"/>
          </a:xfrm>
          <a:prstGeom prst="rect">
            <a:avLst/>
          </a:prstGeom>
        </p:spPr>
      </p:pic>
      <p:sp>
        <p:nvSpPr>
          <p:cNvPr id="21" name="Text 14"/>
          <p:cNvSpPr txBox="1"/>
          <p:nvPr/>
        </p:nvSpPr>
        <p:spPr>
          <a:xfrm>
            <a:off x="1234440" y="339852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Process-based models tell us how much to cut.</a:t>
            </a:r>
            <a:endParaRPr lang="en-US" sz="2000" dirty="0"/>
          </a:p>
        </p:txBody>
      </p:sp>
      <p:sp>
        <p:nvSpPr>
          <p:cNvPr id="22" name="Text 15"/>
          <p:cNvSpPr txBox="1"/>
          <p:nvPr/>
        </p:nvSpPr>
        <p:spPr>
          <a:xfrm>
            <a:off x="6918808" y="339852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They show how a chosen goal could be met. 'How much' is the cost-benefit question.</a:t>
            </a:r>
            <a:endParaRPr lang="en-US" sz="2000" dirty="0"/>
          </a:p>
        </p:txBody>
      </p:sp>
      <p:sp>
        <p:nvSpPr>
          <p:cNvPr id="23" name="wrong card"/>
          <p:cNvSpPr/>
          <p:nvPr/>
        </p:nvSpPr>
        <p:spPr>
          <a:xfrm>
            <a:off x="548640" y="4876800"/>
            <a:ext cx="5410048" cy="1249680"/>
          </a:xfrm>
          <a:prstGeom prst="roundRect">
            <a:avLst>
              <a:gd name="adj" fmla="val 8780"/>
            </a:avLst>
          </a:prstGeom>
          <a:solidFill>
            <a:srgbClr val="FDECEC"/>
          </a:solidFill>
          <a:ln w="12700">
            <a:solidFill>
              <a:srgbClr val="FDECEC"/>
            </a:solidFill>
            <a:prstDash val="solid"/>
          </a:ln>
        </p:spPr>
      </p:sp>
      <p:sp>
        <p:nvSpPr>
          <p:cNvPr id="24" name="right card"/>
          <p:cNvSpPr/>
          <p:nvPr/>
        </p:nvSpPr>
        <p:spPr>
          <a:xfrm>
            <a:off x="6233008" y="4876800"/>
            <a:ext cx="5410048" cy="1249680"/>
          </a:xfrm>
          <a:prstGeom prst="roundRect">
            <a:avLst>
              <a:gd name="adj" fmla="val 8780"/>
            </a:avLst>
          </a:prstGeom>
          <a:solidFill>
            <a:srgbClr val="E7F5EC"/>
          </a:solidFill>
          <a:ln w="12700">
            <a:solidFill>
              <a:srgbClr val="E7F5EC"/>
            </a:solidFill>
            <a:prstDash val="solid"/>
          </a:ln>
        </p:spPr>
      </p:sp>
      <p:sp>
        <p:nvSpPr>
          <p:cNvPr id="25" name="icon circle"/>
          <p:cNvSpPr/>
          <p:nvPr/>
        </p:nvSpPr>
        <p:spPr>
          <a:xfrm>
            <a:off x="685800" y="5295900"/>
            <a:ext cx="411480" cy="411480"/>
          </a:xfrm>
          <a:prstGeom prst="ellipse">
            <a:avLst/>
          </a:prstGeom>
          <a:solidFill>
            <a:srgbClr val="B91C1C"/>
          </a:solidFill>
          <a:ln w="12700">
            <a:solidFill>
              <a:srgbClr val="B91C1C"/>
            </a:solidFill>
            <a:prstDash val="solid"/>
          </a:ln>
        </p:spPr>
      </p:sp>
      <p:pic>
        <p:nvPicPr>
          <p:cNvPr id="26" name="icon" descr="preencoded.png">    </p:cNvPr>
          <p:cNvPicPr>
            <a:picLocks noChangeAspect="1"/>
          </p:cNvPicPr>
          <p:nvPr/>
        </p:nvPicPr>
        <p:blipFill>
          <a:blip r:embed="rId5"/>
          <a:stretch>
            <a:fillRect/>
          </a:stretch>
        </p:blipFill>
        <p:spPr>
          <a:xfrm>
            <a:off x="792785" y="5402885"/>
            <a:ext cx="197510" cy="197510"/>
          </a:xfrm>
          <a:prstGeom prst="rect">
            <a:avLst/>
          </a:prstGeom>
        </p:spPr>
      </p:pic>
      <p:sp>
        <p:nvSpPr>
          <p:cNvPr id="27" name="icon circle"/>
          <p:cNvSpPr/>
          <p:nvPr/>
        </p:nvSpPr>
        <p:spPr>
          <a:xfrm>
            <a:off x="6370168" y="5295900"/>
            <a:ext cx="411480" cy="411480"/>
          </a:xfrm>
          <a:prstGeom prst="ellipse">
            <a:avLst/>
          </a:prstGeom>
          <a:solidFill>
            <a:srgbClr val="15803D"/>
          </a:solidFill>
          <a:ln w="12700">
            <a:solidFill>
              <a:srgbClr val="15803D"/>
            </a:solidFill>
            <a:prstDash val="solid"/>
          </a:ln>
        </p:spPr>
      </p:sp>
      <p:pic>
        <p:nvPicPr>
          <p:cNvPr id="28" name="icon" descr="preencoded.png">    </p:cNvPr>
          <p:cNvPicPr>
            <a:picLocks noChangeAspect="1"/>
          </p:cNvPicPr>
          <p:nvPr/>
        </p:nvPicPr>
        <p:blipFill>
          <a:blip r:embed="rId6"/>
          <a:stretch>
            <a:fillRect/>
          </a:stretch>
        </p:blipFill>
        <p:spPr>
          <a:xfrm>
            <a:off x="6477152" y="5402885"/>
            <a:ext cx="197510" cy="197510"/>
          </a:xfrm>
          <a:prstGeom prst="rect">
            <a:avLst/>
          </a:prstGeom>
        </p:spPr>
      </p:pic>
      <p:sp>
        <p:nvSpPr>
          <p:cNvPr id="29" name="Text 20"/>
          <p:cNvSpPr txBox="1"/>
          <p:nvPr/>
        </p:nvSpPr>
        <p:spPr>
          <a:xfrm>
            <a:off x="1234440" y="487680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An IAM decides which policies governments adopt.</a:t>
            </a:r>
            <a:endParaRPr lang="en-US" sz="2000" dirty="0"/>
          </a:p>
        </p:txBody>
      </p:sp>
      <p:sp>
        <p:nvSpPr>
          <p:cNvPr id="30" name="Text 21"/>
          <p:cNvSpPr txBox="1"/>
          <p:nvPr/>
        </p:nvSpPr>
        <p:spPr>
          <a:xfrm>
            <a:off x="6918808" y="487680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Policies are an input you choose. The model works out what follows from them.</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IN 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Your first R script</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1F2933"/>
                </a:solidFill>
                <a:latin typeface="Calibri" pitchFamily="34" charset="0"/>
                <a:ea typeface="Calibri" pitchFamily="34" charset="-122"/>
                <a:cs typeface="Calibri" pitchFamily="34" charset="-120"/>
              </a:rPr>
              <a:t>&lt;- stores a value under a name</a:t>
            </a:r>
            <a:endParaRPr lang="en-US" sz="2200" dirty="0"/>
          </a:p>
          <a:p>
            <a:pPr marL="228600" indent="-228600">
              <a:spcAft>
                <a:spcPts val="800"/>
              </a:spcAft>
              <a:buSzPct val="100000"/>
              <a:buChar char="•"/>
            </a:pPr>
            <a:r>
              <a:rPr lang="en-US" sz="2200" dirty="0">
                <a:solidFill>
                  <a:srgbClr val="1F2933"/>
                </a:solidFill>
                <a:latin typeface="Calibri" pitchFamily="34" charset="0"/>
                <a:ea typeface="Calibri" pitchFamily="34" charset="-122"/>
                <a:cs typeface="Calibri" pitchFamily="34" charset="-120"/>
              </a:rPr>
              <a:t>c() combines values into a vector</a:t>
            </a:r>
            <a:endParaRPr lang="en-US" sz="2200" dirty="0"/>
          </a:p>
          <a:p>
            <a:pPr marL="228600" indent="-228600">
              <a:spcAft>
                <a:spcPts val="800"/>
              </a:spcAft>
              <a:buSzPct val="100000"/>
              <a:buChar char="•"/>
            </a:pPr>
            <a:r>
              <a:rPr lang="en-US" sz="2200" dirty="0">
                <a:solidFill>
                  <a:srgbClr val="1F2933"/>
                </a:solidFill>
                <a:latin typeface="Calibri" pitchFamily="34" charset="0"/>
                <a:ea typeface="Calibri" pitchFamily="34" charset="-122"/>
                <a:cs typeface="Calibri" pitchFamily="34" charset="-120"/>
              </a:rPr>
              <a:t>A line starting with # is a note for humans</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install.packages("tidyverse")   # once per computer</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library(tidyverse)               # every session</a:t>
            </a:r>
            <a:endParaRPr lang="en-US" sz="1700" dirty="0"/>
          </a:p>
          <a:p>
            <a:pPr indent="0" marL="0">
              <a:lnSpc>
                <a:spcPct val="100000"/>
              </a:lnSpc>
              <a:buNone/>
            </a:pP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co2 &lt;- c(before = 280, today = 420)   # ppm</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co2["today"] - co2["before"]   # 140</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co2["today"] / co2["before"]   # 1.5</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NEW WORDS THIS WEEK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Words to add to the class glossary</a:t>
            </a:r>
            <a:endParaRPr lang="en-US" sz="3200" dirty="0"/>
          </a:p>
        </p:txBody>
      </p:sp>
      <p:sp>
        <p:nvSpPr>
          <p:cNvPr id="5" name="term card"/>
          <p:cNvSpPr/>
          <p:nvPr/>
        </p:nvSpPr>
        <p:spPr>
          <a:xfrm>
            <a:off x="548640" y="1554480"/>
            <a:ext cx="5410048" cy="1386840"/>
          </a:xfrm>
          <a:prstGeom prst="roundRect">
            <a:avLst>
              <a:gd name="adj" fmla="val 7912"/>
            </a:avLst>
          </a:prstGeom>
          <a:solidFill>
            <a:srgbClr val="E6F2F0"/>
          </a:solidFill>
          <a:ln w="12700">
            <a:solidFill>
              <a:srgbClr val="E6F2F0"/>
            </a:solidFill>
            <a:prstDash val="solid"/>
          </a:ln>
        </p:spPr>
      </p:sp>
      <p:sp>
        <p:nvSpPr>
          <p:cNvPr id="6" name="Text 3"/>
          <p:cNvSpPr txBox="1"/>
          <p:nvPr/>
        </p:nvSpPr>
        <p:spPr>
          <a:xfrm>
            <a:off x="822960" y="1554480"/>
            <a:ext cx="4952848" cy="1386840"/>
          </a:xfrm>
          <a:prstGeom prst="rect">
            <a:avLst/>
          </a:prstGeom>
          <a:noFill/>
          <a:ln/>
        </p:spPr>
        <p:txBody>
          <a:bodyPr wrap="square" lIns="0" tIns="0" rIns="0" bIns="0" rtlCol="0" anchor="ctr"/>
          <a:lstStyle/>
          <a:p>
            <a:pPr indent="0" marL="0">
              <a:buNone/>
            </a:pPr>
            <a:r>
              <a:rPr lang="en-US" sz="1800" b="1" dirty="0">
                <a:solidFill>
                  <a:srgbClr val="0B5550"/>
                </a:solidFill>
                <a:latin typeface="Cambria" pitchFamily="34" charset="0"/>
                <a:ea typeface="Cambria" pitchFamily="34" charset="-122"/>
                <a:cs typeface="Cambria" pitchFamily="34" charset="-120"/>
              </a:rPr>
              <a:t>Integrated assessment model   </a:t>
            </a:r>
            <a:pPr indent="0" marL="0">
              <a:buNone/>
            </a:pPr>
            <a:r>
              <a:rPr lang="en-US" sz="1800" dirty="0">
                <a:solidFill>
                  <a:srgbClr val="1F2933"/>
                </a:solidFill>
                <a:latin typeface="Calibri" pitchFamily="34" charset="0"/>
                <a:ea typeface="Calibri" pitchFamily="34" charset="-122"/>
                <a:cs typeface="Calibri" pitchFamily="34" charset="-120"/>
              </a:rPr>
              <a:t>A computer model that links energy, the economy, land and climate, so we can ask what-if questions about the future. Short form: IAM.</a:t>
            </a:r>
            <a:endParaRPr lang="en-US" sz="1800" dirty="0"/>
          </a:p>
        </p:txBody>
      </p:sp>
      <p:sp>
        <p:nvSpPr>
          <p:cNvPr id="7" name="term card"/>
          <p:cNvSpPr/>
          <p:nvPr/>
        </p:nvSpPr>
        <p:spPr>
          <a:xfrm>
            <a:off x="6233008" y="1554480"/>
            <a:ext cx="5410048" cy="1386840"/>
          </a:xfrm>
          <a:prstGeom prst="roundRect">
            <a:avLst>
              <a:gd name="adj" fmla="val 7912"/>
            </a:avLst>
          </a:prstGeom>
          <a:solidFill>
            <a:srgbClr val="F7FAF9"/>
          </a:solidFill>
          <a:ln w="12700">
            <a:solidFill>
              <a:srgbClr val="F7FAF9"/>
            </a:solidFill>
            <a:prstDash val="solid"/>
          </a:ln>
        </p:spPr>
      </p:sp>
      <p:sp>
        <p:nvSpPr>
          <p:cNvPr id="8" name="Text 5"/>
          <p:cNvSpPr txBox="1"/>
          <p:nvPr/>
        </p:nvSpPr>
        <p:spPr>
          <a:xfrm>
            <a:off x="6507328" y="1554480"/>
            <a:ext cx="4952848" cy="1386840"/>
          </a:xfrm>
          <a:prstGeom prst="rect">
            <a:avLst/>
          </a:prstGeom>
          <a:noFill/>
          <a:ln/>
        </p:spPr>
        <p:txBody>
          <a:bodyPr wrap="square" lIns="0" tIns="0" rIns="0" bIns="0" rtlCol="0" anchor="ctr"/>
          <a:lstStyle/>
          <a:p>
            <a:pPr indent="0" marL="0">
              <a:buNone/>
            </a:pPr>
            <a:r>
              <a:rPr lang="en-US" sz="1800" b="1" dirty="0">
                <a:solidFill>
                  <a:srgbClr val="0B5550"/>
                </a:solidFill>
                <a:latin typeface="Cambria" pitchFamily="34" charset="0"/>
                <a:ea typeface="Cambria" pitchFamily="34" charset="-122"/>
                <a:cs typeface="Cambria" pitchFamily="34" charset="-120"/>
              </a:rPr>
              <a:t>Scenario   </a:t>
            </a:r>
            <a:pPr indent="0" marL="0">
              <a:buNone/>
            </a:pPr>
            <a:r>
              <a:rPr lang="en-US" sz="1800" dirty="0">
                <a:solidFill>
                  <a:srgbClr val="1F2933"/>
                </a:solidFill>
                <a:latin typeface="Calibri" pitchFamily="34" charset="0"/>
                <a:ea typeface="Calibri" pitchFamily="34" charset="-122"/>
                <a:cs typeface="Calibri" pitchFamily="34" charset="-120"/>
              </a:rPr>
              <a:t>A consistent what-if story about the future, with numbers attached. It is not a forecast.</a:t>
            </a:r>
            <a:endParaRPr lang="en-US" sz="1800" dirty="0"/>
          </a:p>
        </p:txBody>
      </p:sp>
      <p:sp>
        <p:nvSpPr>
          <p:cNvPr id="9" name="term card"/>
          <p:cNvSpPr/>
          <p:nvPr/>
        </p:nvSpPr>
        <p:spPr>
          <a:xfrm>
            <a:off x="548640" y="3169920"/>
            <a:ext cx="5410048" cy="1386840"/>
          </a:xfrm>
          <a:prstGeom prst="roundRect">
            <a:avLst>
              <a:gd name="adj" fmla="val 7912"/>
            </a:avLst>
          </a:prstGeom>
          <a:solidFill>
            <a:srgbClr val="E6F2F0"/>
          </a:solidFill>
          <a:ln w="12700">
            <a:solidFill>
              <a:srgbClr val="E6F2F0"/>
            </a:solidFill>
            <a:prstDash val="solid"/>
          </a:ln>
        </p:spPr>
      </p:sp>
      <p:sp>
        <p:nvSpPr>
          <p:cNvPr id="10" name="Text 7"/>
          <p:cNvSpPr txBox="1"/>
          <p:nvPr/>
        </p:nvSpPr>
        <p:spPr>
          <a:xfrm>
            <a:off x="822960" y="3169920"/>
            <a:ext cx="4952848" cy="1386840"/>
          </a:xfrm>
          <a:prstGeom prst="rect">
            <a:avLst/>
          </a:prstGeom>
          <a:noFill/>
          <a:ln/>
        </p:spPr>
        <p:txBody>
          <a:bodyPr wrap="square" lIns="0" tIns="0" rIns="0" bIns="0" rtlCol="0" anchor="ctr"/>
          <a:lstStyle/>
          <a:p>
            <a:pPr indent="0" marL="0">
              <a:buNone/>
            </a:pPr>
            <a:r>
              <a:rPr lang="en-US" sz="1800" b="1" dirty="0">
                <a:solidFill>
                  <a:srgbClr val="0B5550"/>
                </a:solidFill>
                <a:latin typeface="Cambria" pitchFamily="34" charset="0"/>
                <a:ea typeface="Cambria" pitchFamily="34" charset="-122"/>
                <a:cs typeface="Cambria" pitchFamily="34" charset="-120"/>
              </a:rPr>
              <a:t>Cost-benefit model   </a:t>
            </a:r>
            <a:pPr indent="0" marL="0">
              <a:buNone/>
            </a:pPr>
            <a:r>
              <a:rPr lang="en-US" sz="1800" dirty="0">
                <a:solidFill>
                  <a:srgbClr val="1F2933"/>
                </a:solidFill>
                <a:latin typeface="Calibri" pitchFamily="34" charset="0"/>
                <a:ea typeface="Calibri" pitchFamily="34" charset="-122"/>
                <a:cs typeface="Calibri" pitchFamily="34" charset="-120"/>
              </a:rPr>
              <a:t>An IAM that weighs the cost of cutting emissions against the damage avoided, in a few equations. Example: DICE.</a:t>
            </a:r>
            <a:endParaRPr lang="en-US" sz="1800" dirty="0"/>
          </a:p>
        </p:txBody>
      </p:sp>
      <p:sp>
        <p:nvSpPr>
          <p:cNvPr id="11" name="term card"/>
          <p:cNvSpPr/>
          <p:nvPr/>
        </p:nvSpPr>
        <p:spPr>
          <a:xfrm>
            <a:off x="6233008" y="3169920"/>
            <a:ext cx="5410048" cy="1386840"/>
          </a:xfrm>
          <a:prstGeom prst="roundRect">
            <a:avLst>
              <a:gd name="adj" fmla="val 7912"/>
            </a:avLst>
          </a:prstGeom>
          <a:solidFill>
            <a:srgbClr val="F7FAF9"/>
          </a:solidFill>
          <a:ln w="12700">
            <a:solidFill>
              <a:srgbClr val="F7FAF9"/>
            </a:solidFill>
            <a:prstDash val="solid"/>
          </a:ln>
        </p:spPr>
      </p:sp>
      <p:sp>
        <p:nvSpPr>
          <p:cNvPr id="12" name="Text 9"/>
          <p:cNvSpPr txBox="1"/>
          <p:nvPr/>
        </p:nvSpPr>
        <p:spPr>
          <a:xfrm>
            <a:off x="6507328" y="3169920"/>
            <a:ext cx="4952848" cy="1386840"/>
          </a:xfrm>
          <a:prstGeom prst="rect">
            <a:avLst/>
          </a:prstGeom>
          <a:noFill/>
          <a:ln/>
        </p:spPr>
        <p:txBody>
          <a:bodyPr wrap="square" lIns="0" tIns="0" rIns="0" bIns="0" rtlCol="0" anchor="ctr"/>
          <a:lstStyle/>
          <a:p>
            <a:pPr indent="0" marL="0">
              <a:buNone/>
            </a:pPr>
            <a:r>
              <a:rPr lang="en-US" sz="1800" b="1" dirty="0">
                <a:solidFill>
                  <a:srgbClr val="0B5550"/>
                </a:solidFill>
                <a:latin typeface="Cambria" pitchFamily="34" charset="0"/>
                <a:ea typeface="Cambria" pitchFamily="34" charset="-122"/>
                <a:cs typeface="Cambria" pitchFamily="34" charset="-120"/>
              </a:rPr>
              <a:t>Process-based model   </a:t>
            </a:r>
            <a:pPr indent="0" marL="0">
              <a:buNone/>
            </a:pPr>
            <a:r>
              <a:rPr lang="en-US" sz="1800" dirty="0">
                <a:solidFill>
                  <a:srgbClr val="1F2933"/>
                </a:solidFill>
                <a:latin typeface="Calibri" pitchFamily="34" charset="0"/>
                <a:ea typeface="Calibri" pitchFamily="34" charset="-122"/>
                <a:cs typeface="Calibri" pitchFamily="34" charset="-120"/>
              </a:rPr>
              <a:t>An IAM that represents energy and land sectors in detail to show how a goal could be met. Examples: GCAM, MESSAGEix.</a:t>
            </a:r>
            <a:endParaRPr lang="en-US" sz="1800" dirty="0"/>
          </a:p>
        </p:txBody>
      </p:sp>
      <p:sp>
        <p:nvSpPr>
          <p:cNvPr id="13" name="term card"/>
          <p:cNvSpPr/>
          <p:nvPr/>
        </p:nvSpPr>
        <p:spPr>
          <a:xfrm>
            <a:off x="548640" y="4785360"/>
            <a:ext cx="11094415" cy="1386840"/>
          </a:xfrm>
          <a:prstGeom prst="roundRect">
            <a:avLst>
              <a:gd name="adj" fmla="val 7912"/>
            </a:avLst>
          </a:prstGeom>
          <a:solidFill>
            <a:srgbClr val="E6F2F0"/>
          </a:solidFill>
          <a:ln w="12700">
            <a:solidFill>
              <a:srgbClr val="E6F2F0"/>
            </a:solidFill>
            <a:prstDash val="solid"/>
          </a:ln>
        </p:spPr>
      </p:sp>
      <p:sp>
        <p:nvSpPr>
          <p:cNvPr id="14" name="Text 11"/>
          <p:cNvSpPr txBox="1"/>
          <p:nvPr/>
        </p:nvSpPr>
        <p:spPr>
          <a:xfrm>
            <a:off x="822960" y="4785360"/>
            <a:ext cx="10637215" cy="1386840"/>
          </a:xfrm>
          <a:prstGeom prst="rect">
            <a:avLst/>
          </a:prstGeom>
          <a:noFill/>
          <a:ln/>
        </p:spPr>
        <p:txBody>
          <a:bodyPr wrap="square" lIns="0" tIns="0" rIns="0" bIns="0" rtlCol="0" anchor="ctr"/>
          <a:lstStyle/>
          <a:p>
            <a:pPr indent="0" marL="0">
              <a:buNone/>
            </a:pPr>
            <a:r>
              <a:rPr lang="en-US" sz="1800" b="1" dirty="0">
                <a:solidFill>
                  <a:srgbClr val="0B5550"/>
                </a:solidFill>
                <a:latin typeface="Cambria" pitchFamily="34" charset="0"/>
                <a:ea typeface="Cambria" pitchFamily="34" charset="-122"/>
                <a:cs typeface="Cambria" pitchFamily="34" charset="-120"/>
              </a:rPr>
              <a:t>R package   </a:t>
            </a:r>
            <a:pPr indent="0" marL="0">
              <a:buNone/>
            </a:pPr>
            <a:r>
              <a:rPr lang="en-US" sz="1800" dirty="0">
                <a:solidFill>
                  <a:srgbClr val="1F2933"/>
                </a:solidFill>
                <a:latin typeface="Calibri" pitchFamily="34" charset="0"/>
                <a:ea typeface="Calibri" pitchFamily="34" charset="-122"/>
                <a:cs typeface="Calibri" pitchFamily="34" charset="-120"/>
              </a:rPr>
              <a:t>A bundle of ready-made R functions. Install it once per computer, load it with library() in every session.</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Lab 1: En-ROADS and your first R script</a:t>
            </a:r>
            <a:endParaRPr lang="en-US" sz="3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F59E6B"/>
                </a:solidFill>
                <a:latin typeface="Calibri" pitchFamily="34" charset="0"/>
                <a:ea typeface="Calibri" pitchFamily="34" charset="-122"/>
                <a:cs typeface="Calibri" pitchFamily="34" charset="-120"/>
              </a:rPr>
              <a:t>HANDS-ON LAB</a:t>
            </a:r>
            <a:endParaRPr lang="en-US" sz="1200" dirty="0"/>
          </a:p>
        </p:txBody>
      </p:sp>
      <p:sp>
        <p:nvSpPr>
          <p:cNvPr id="4" name="Text 2"/>
          <p:cNvSpPr txBox="1"/>
          <p:nvPr/>
        </p:nvSpPr>
        <p:spPr>
          <a:xfrm>
            <a:off x="548640" y="3291840"/>
            <a:ext cx="10058400" cy="1188720"/>
          </a:xfrm>
          <a:prstGeom prst="rect">
            <a:avLst/>
          </a:prstGeom>
          <a:noFill/>
          <a:ln/>
        </p:spPr>
        <p:txBody>
          <a:bodyPr wrap="square" lIns="0" tIns="0" rIns="0" bIns="0" rtlCol="0" anchor="t"/>
          <a:lstStyle/>
          <a:p>
            <a:pPr indent="0" marL="0">
              <a:buNone/>
            </a:pPr>
            <a:r>
              <a:rPr lang="en-US" sz="2400" dirty="0">
                <a:solidFill>
                  <a:srgbClr val="C9D6DF"/>
                </a:solidFill>
                <a:latin typeface="Calibri" pitchFamily="34" charset="0"/>
                <a:ea typeface="Calibri" pitchFamily="34" charset="-122"/>
                <a:cs typeface="Calibri" pitchFamily="34" charset="-120"/>
              </a:rPr>
              <a:t>Try climate policies in the En-ROADS simulator, then install R and RStudio and run a first script.</a:t>
            </a:r>
            <a:endParaRPr lang="en-US" sz="2400" dirty="0"/>
          </a:p>
        </p:txBody>
      </p:sp>
      <p:sp>
        <p:nvSpPr>
          <p:cNvPr id="5" name="lab meta"/>
          <p:cNvSpPr/>
          <p:nvPr/>
        </p:nvSpPr>
        <p:spPr>
          <a:xfrm>
            <a:off x="548640" y="4846320"/>
            <a:ext cx="3520440" cy="731520"/>
          </a:xfrm>
          <a:prstGeom prst="roundRect">
            <a:avLst>
              <a:gd name="adj" fmla="val 15000"/>
            </a:avLst>
          </a:prstGeom>
          <a:solidFill>
            <a:srgbClr val="1D3A52"/>
          </a:solidFill>
          <a:ln w="12700">
            <a:solidFill>
              <a:srgbClr val="1D3A52"/>
            </a:solidFill>
            <a:prstDash val="solid"/>
          </a:ln>
        </p:spPr>
      </p:sp>
      <p:sp>
        <p:nvSpPr>
          <p:cNvPr id="6" name="Text 4"/>
          <p:cNvSpPr txBox="1"/>
          <p:nvPr/>
        </p:nvSpPr>
        <p:spPr>
          <a:xfrm>
            <a:off x="73152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Script: labs/lab1.R</a:t>
            </a:r>
            <a:endParaRPr lang="en-US" sz="1500" dirty="0"/>
          </a:p>
        </p:txBody>
      </p:sp>
      <p:sp>
        <p:nvSpPr>
          <p:cNvPr id="7" name="lab meta"/>
          <p:cNvSpPr/>
          <p:nvPr/>
        </p:nvSpPr>
        <p:spPr>
          <a:xfrm>
            <a:off x="4297680" y="4846320"/>
            <a:ext cx="3520440" cy="731520"/>
          </a:xfrm>
          <a:prstGeom prst="roundRect">
            <a:avLst>
              <a:gd name="adj" fmla="val 15000"/>
            </a:avLst>
          </a:prstGeom>
          <a:solidFill>
            <a:srgbClr val="1D3A52"/>
          </a:solidFill>
          <a:ln w="12700">
            <a:solidFill>
              <a:srgbClr val="1D3A52"/>
            </a:solidFill>
            <a:prstDash val="solid"/>
          </a:ln>
        </p:spPr>
      </p:sp>
      <p:sp>
        <p:nvSpPr>
          <p:cNvPr id="8" name="Text 6"/>
          <p:cNvSpPr txBox="1"/>
          <p:nvPr/>
        </p:nvSpPr>
        <p:spPr>
          <a:xfrm>
            <a:off x="448056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steps</a:t>
            </a:r>
            <a:endParaRPr lang="en-US" sz="1500" dirty="0"/>
          </a:p>
        </p:txBody>
      </p:sp>
      <p:sp>
        <p:nvSpPr>
          <p:cNvPr id="9" name="lab meta"/>
          <p:cNvSpPr/>
          <p:nvPr/>
        </p:nvSpPr>
        <p:spPr>
          <a:xfrm>
            <a:off x="8046720" y="4846320"/>
            <a:ext cx="3520440" cy="731520"/>
          </a:xfrm>
          <a:prstGeom prst="roundRect">
            <a:avLst>
              <a:gd name="adj" fmla="val 15000"/>
            </a:avLst>
          </a:prstGeom>
          <a:solidFill>
            <a:srgbClr val="1D3A52"/>
          </a:solidFill>
          <a:ln w="12700">
            <a:solidFill>
              <a:srgbClr val="1D3A52"/>
            </a:solidFill>
            <a:prstDash val="solid"/>
          </a:ln>
        </p:spPr>
      </p:sp>
      <p:sp>
        <p:nvSpPr>
          <p:cNvPr id="10" name="Text 8"/>
          <p:cNvSpPr txBox="1"/>
          <p:nvPr/>
        </p:nvSpPr>
        <p:spPr>
          <a:xfrm>
            <a:off x="822960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Stuck? Read the error aloud, check the slide, then ask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1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Play with En-ROADS</a:t>
            </a:r>
            <a:endParaRPr lang="en-US" sz="3200" dirty="0"/>
          </a:p>
        </p:txBody>
      </p:sp>
      <p:sp>
        <p:nvSpPr>
          <p:cNvPr id="5" name="number badge"/>
          <p:cNvSpPr txBox="1"/>
          <p:nvPr/>
        </p:nvSpPr>
        <p:spPr>
          <a:xfrm>
            <a:off x="731520" y="2377440"/>
            <a:ext cx="2011680" cy="201168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1</a:t>
            </a:r>
            <a:endParaRPr lang="en-US" sz="8000" dirty="0"/>
          </a:p>
        </p:txBody>
      </p:sp>
      <p:sp>
        <p:nvSpPr>
          <p:cNvPr id="6" name="Text 3"/>
          <p:cNvSpPr txBox="1"/>
          <p:nvPr/>
        </p:nvSpPr>
        <p:spPr>
          <a:xfrm>
            <a:off x="3291840" y="1691640"/>
            <a:ext cx="8351215" cy="4343400"/>
          </a:xfrm>
          <a:prstGeom prst="rect">
            <a:avLst/>
          </a:prstGeom>
          <a:noFill/>
          <a:ln/>
        </p:spPr>
        <p:txBody>
          <a:bodyPr wrap="square" lIns="0" tIns="0" rIns="0" bIns="0" rtlCol="0" anchor="ctr"/>
          <a:lstStyle/>
          <a:p>
            <a:pPr indent="0" marL="0">
              <a:spcAft>
                <a:spcPts val="800"/>
              </a:spcAft>
              <a:buNone/>
            </a:pPr>
            <a:r>
              <a:rPr lang="en-US" sz="3000" dirty="0">
                <a:solidFill>
                  <a:srgbClr val="12263A"/>
                </a:solidFill>
                <a:latin typeface="Calibri" pitchFamily="34" charset="0"/>
                <a:ea typeface="Calibri" pitchFamily="34" charset="-122"/>
                <a:cs typeface="Calibri" pitchFamily="34" charset="-120"/>
              </a:rPr>
              <a:t>Open en-roads.climateinteractive.​org. Move the sliders (carbon price, renewables, coal) and watch the 2100 temperature change. Note one question it cannot answer.</a:t>
            </a: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2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Install R and RStudio</a:t>
            </a:r>
            <a:endParaRPr lang="en-US" sz="3200" dirty="0"/>
          </a:p>
        </p:txBody>
      </p:sp>
      <p:sp>
        <p:nvSpPr>
          <p:cNvPr id="5" name="number badge"/>
          <p:cNvSpPr txBox="1"/>
          <p:nvPr/>
        </p:nvSpPr>
        <p:spPr>
          <a:xfrm>
            <a:off x="731520" y="2377440"/>
            <a:ext cx="2011680" cy="201168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2</a:t>
            </a:r>
            <a:endParaRPr lang="en-US" sz="8000" dirty="0"/>
          </a:p>
        </p:txBody>
      </p:sp>
      <p:sp>
        <p:nvSpPr>
          <p:cNvPr id="6" name="Text 3"/>
          <p:cNvSpPr txBox="1"/>
          <p:nvPr/>
        </p:nvSpPr>
        <p:spPr>
          <a:xfrm>
            <a:off x="3291840" y="1691640"/>
            <a:ext cx="8351215" cy="4343400"/>
          </a:xfrm>
          <a:prstGeom prst="rect">
            <a:avLst/>
          </a:prstGeom>
          <a:noFill/>
          <a:ln/>
        </p:spPr>
        <p:txBody>
          <a:bodyPr wrap="square" lIns="0" tIns="0" rIns="0" bIns="0" rtlCol="0" anchor="ctr"/>
          <a:lstStyle/>
          <a:p>
            <a:pPr indent="0" marL="0">
              <a:spcAft>
                <a:spcPts val="800"/>
              </a:spcAft>
              <a:buNone/>
            </a:pPr>
            <a:r>
              <a:rPr lang="en-US" sz="3000" dirty="0">
                <a:solidFill>
                  <a:srgbClr val="12263A"/>
                </a:solidFill>
                <a:latin typeface="Calibri" pitchFamily="34" charset="0"/>
                <a:ea typeface="Calibri" pitchFamily="34" charset="-122"/>
                <a:cs typeface="Calibri" pitchFamily="34" charset="-120"/>
              </a:rPr>
              <a:t>Install R first, then RStudio. In RStudio make a new project called iam-course. Every lab lives in this project folder.</a:t>
            </a: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3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Install and load a package</a:t>
            </a:r>
            <a:endParaRPr lang="en-US" sz="3200" dirty="0"/>
          </a:p>
        </p:txBody>
      </p:sp>
      <p:sp>
        <p:nvSpPr>
          <p:cNvPr id="5" name="explain card"/>
          <p:cNvSpPr/>
          <p:nvPr/>
        </p:nvSpPr>
        <p:spPr>
          <a:xfrm>
            <a:off x="548640" y="1508760"/>
            <a:ext cx="11094415" cy="728980"/>
          </a:xfrm>
          <a:prstGeom prst="roundRect">
            <a:avLst>
              <a:gd name="adj" fmla="val 15052"/>
            </a:avLst>
          </a:prstGeom>
          <a:solidFill>
            <a:srgbClr val="E6F2F0"/>
          </a:solidFill>
          <a:ln w="12700">
            <a:solidFill>
              <a:srgbClr val="E6F2F0"/>
            </a:solidFill>
            <a:prstDash val="solid"/>
          </a:ln>
        </p:spPr>
      </p:sp>
      <p:sp>
        <p:nvSpPr>
          <p:cNvPr id="6" name="Text 3"/>
          <p:cNvSpPr txBox="1"/>
          <p:nvPr/>
        </p:nvSpPr>
        <p:spPr>
          <a:xfrm>
            <a:off x="777240" y="1600200"/>
            <a:ext cx="10637215" cy="5461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Install the tidyverse once. Load it with library() at the top of every script.</a:t>
            </a:r>
            <a:endParaRPr lang="en-US" sz="2000" dirty="0"/>
          </a:p>
        </p:txBody>
      </p:sp>
      <p:sp>
        <p:nvSpPr>
          <p:cNvPr id="7" name="code panel"/>
          <p:cNvSpPr/>
          <p:nvPr/>
        </p:nvSpPr>
        <p:spPr>
          <a:xfrm>
            <a:off x="548640" y="2420620"/>
            <a:ext cx="11094415" cy="1463040"/>
          </a:xfrm>
          <a:prstGeom prst="roundRect">
            <a:avLst>
              <a:gd name="adj" fmla="val 7500"/>
            </a:avLst>
          </a:prstGeom>
          <a:solidFill>
            <a:srgbClr val="1E2A36"/>
          </a:solidFill>
          <a:ln w="12700">
            <a:solidFill>
              <a:srgbClr val="1E2A36"/>
            </a:solidFill>
            <a:prstDash val="solid"/>
          </a:ln>
        </p:spPr>
      </p:sp>
      <p:sp>
        <p:nvSpPr>
          <p:cNvPr id="8" name="Text 5"/>
          <p:cNvSpPr txBox="1"/>
          <p:nvPr/>
        </p:nvSpPr>
        <p:spPr>
          <a:xfrm>
            <a:off x="868680" y="2694940"/>
            <a:ext cx="10545775" cy="105156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install.packages("tidyverse")   # once per computer</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library(tidyverse)               # every session</a:t>
            </a:r>
            <a:endParaRPr lang="en-US" sz="2400" dirty="0"/>
          </a:p>
        </p:txBody>
      </p:sp>
      <p:pic>
        <p:nvPicPr>
          <p:cNvPr id="9" name="tip icon" descr="preencoded.png">    </p:cNvPr>
          <p:cNvPicPr>
            <a:picLocks noChangeAspect="1"/>
          </p:cNvPicPr>
          <p:nvPr/>
        </p:nvPicPr>
        <p:blipFill>
          <a:blip r:embed="rId1"/>
          <a:stretch>
            <a:fillRect/>
          </a:stretch>
        </p:blipFill>
        <p:spPr>
          <a:xfrm>
            <a:off x="548640" y="4130548"/>
            <a:ext cx="329184" cy="329184"/>
          </a:xfrm>
          <a:prstGeom prst="rect">
            <a:avLst/>
          </a:prstGeom>
        </p:spPr>
      </p:pic>
      <p:sp>
        <p:nvSpPr>
          <p:cNvPr id="10" name="Text 6"/>
          <p:cNvSpPr txBox="1"/>
          <p:nvPr/>
        </p:nvSpPr>
        <p:spPr>
          <a:xfrm>
            <a:off x="1005840" y="411226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4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Run your first calculation</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Open a new script, type these lines, and run them with Ctrl+Enter. Typing teaches more than pasting.</a:t>
            </a:r>
            <a:endParaRPr lang="en-US" sz="2000" dirty="0"/>
          </a:p>
        </p:txBody>
      </p:sp>
      <p:sp>
        <p:nvSpPr>
          <p:cNvPr id="7" name="code panel"/>
          <p:cNvSpPr/>
          <p:nvPr/>
        </p:nvSpPr>
        <p:spPr>
          <a:xfrm>
            <a:off x="548640" y="2738120"/>
            <a:ext cx="11094415" cy="2423160"/>
          </a:xfrm>
          <a:prstGeom prst="roundRect">
            <a:avLst>
              <a:gd name="adj" fmla="val 4528"/>
            </a:avLst>
          </a:prstGeom>
          <a:solidFill>
            <a:srgbClr val="1E2A36"/>
          </a:solidFill>
          <a:ln w="12700">
            <a:solidFill>
              <a:srgbClr val="1E2A36"/>
            </a:solidFill>
            <a:prstDash val="solid"/>
          </a:ln>
        </p:spPr>
      </p:sp>
      <p:sp>
        <p:nvSpPr>
          <p:cNvPr id="8" name="Text 5"/>
          <p:cNvSpPr txBox="1"/>
          <p:nvPr/>
        </p:nvSpPr>
        <p:spPr>
          <a:xfrm>
            <a:off x="868680" y="3012440"/>
            <a:ext cx="10545775" cy="201168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CO2 in the air, parts per million</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co2 &lt;- c(before = 280, today = 420)</a:t>
            </a:r>
            <a:endParaRPr lang="en-US" sz="2400" dirty="0"/>
          </a:p>
          <a:p>
            <a:pPr indent="0" marL="0">
              <a:lnSpc>
                <a:spcPct val="100000"/>
              </a:lnSpc>
              <a:buNone/>
            </a:pP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co2["today"] - co2["before"]   # expect 140</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co2["today"] / co2["before"]   # expect 1.5</a:t>
            </a:r>
            <a:endParaRPr lang="en-US" sz="2400" dirty="0"/>
          </a:p>
        </p:txBody>
      </p:sp>
      <p:pic>
        <p:nvPicPr>
          <p:cNvPr id="9" name="tip icon" descr="preencoded.png">    </p:cNvPr>
          <p:cNvPicPr>
            <a:picLocks noChangeAspect="1"/>
          </p:cNvPicPr>
          <p:nvPr/>
        </p:nvPicPr>
        <p:blipFill>
          <a:blip r:embed="rId1"/>
          <a:stretch>
            <a:fillRect/>
          </a:stretch>
        </p:blipFill>
        <p:spPr>
          <a:xfrm>
            <a:off x="548640" y="5408168"/>
            <a:ext cx="329184" cy="329184"/>
          </a:xfrm>
          <a:prstGeom prst="rect">
            <a:avLst/>
          </a:prstGeom>
        </p:spPr>
      </p:pic>
      <p:sp>
        <p:nvSpPr>
          <p:cNvPr id="10" name="Text 6"/>
          <p:cNvSpPr txBox="1"/>
          <p:nvPr/>
        </p:nvSpPr>
        <p:spPr>
          <a:xfrm>
            <a:off x="1005840" y="5389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CHECK YOUR WORK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Did it work?</a:t>
            </a:r>
            <a:endParaRPr lang="en-US" sz="3200" dirty="0"/>
          </a:p>
        </p:txBody>
      </p:sp>
      <p:sp>
        <p:nvSpPr>
          <p:cNvPr id="5" name="check card"/>
          <p:cNvSpPr/>
          <p:nvPr/>
        </p:nvSpPr>
        <p:spPr>
          <a:xfrm>
            <a:off x="548640" y="1554480"/>
            <a:ext cx="5410048" cy="4617720"/>
          </a:xfrm>
          <a:prstGeom prst="roundRect">
            <a:avLst>
              <a:gd name="adj" fmla="val 2376"/>
            </a:avLst>
          </a:prstGeom>
          <a:solidFill>
            <a:srgbClr val="E7F5EC"/>
          </a:solidFill>
          <a:ln w="12700">
            <a:solidFill>
              <a:srgbClr val="E7F5EC"/>
            </a:solidFill>
            <a:prstDash val="solid"/>
          </a:ln>
        </p:spPr>
      </p:sp>
      <p:sp>
        <p:nvSpPr>
          <p:cNvPr id="6" name="Text 3"/>
          <p:cNvSpPr txBox="1"/>
          <p:nvPr/>
        </p:nvSpPr>
        <p:spPr>
          <a:xfrm>
            <a:off x="822960" y="1737360"/>
            <a:ext cx="4861408" cy="457200"/>
          </a:xfrm>
          <a:prstGeom prst="rect">
            <a:avLst/>
          </a:prstGeom>
          <a:noFill/>
          <a:ln/>
        </p:spPr>
        <p:txBody>
          <a:bodyPr wrap="square" lIns="0" tIns="0" rIns="0" bIns="0" rtlCol="0" anchor="t"/>
          <a:lstStyle/>
          <a:p>
            <a:pPr indent="0" marL="0">
              <a:buNone/>
            </a:pPr>
            <a:r>
              <a:rPr lang="en-US" sz="2000" b="1" dirty="0">
                <a:solidFill>
                  <a:srgbClr val="15803D"/>
                </a:solidFill>
                <a:latin typeface="Cambria" pitchFamily="34" charset="0"/>
                <a:ea typeface="Cambria" pitchFamily="34" charset="-122"/>
                <a:cs typeface="Cambria" pitchFamily="34" charset="-120"/>
              </a:rPr>
              <a:t>You should see</a:t>
            </a:r>
            <a:endParaRPr lang="en-US" sz="2000" dirty="0"/>
          </a:p>
        </p:txBody>
      </p:sp>
      <p:sp>
        <p:nvSpPr>
          <p:cNvPr id="7" name="icon circle"/>
          <p:cNvSpPr/>
          <p:nvPr/>
        </p:nvSpPr>
        <p:spPr>
          <a:xfrm>
            <a:off x="822960" y="2377440"/>
            <a:ext cx="384048" cy="384048"/>
          </a:xfrm>
          <a:prstGeom prst="ellipse">
            <a:avLst/>
          </a:prstGeom>
          <a:solidFill>
            <a:srgbClr val="15803D"/>
          </a:solidFill>
          <a:ln w="12700">
            <a:solidFill>
              <a:srgbClr val="15803D"/>
            </a:solidFill>
            <a:prstDash val="solid"/>
          </a:ln>
        </p:spPr>
      </p:sp>
      <p:pic>
        <p:nvPicPr>
          <p:cNvPr id="8" name="icon" descr="preencoded.png">    </p:cNvPr>
          <p:cNvPicPr>
            <a:picLocks noChangeAspect="1"/>
          </p:cNvPicPr>
          <p:nvPr/>
        </p:nvPicPr>
        <p:blipFill>
          <a:blip r:embed="rId1"/>
          <a:stretch>
            <a:fillRect/>
          </a:stretch>
        </p:blipFill>
        <p:spPr>
          <a:xfrm>
            <a:off x="922812" y="2477292"/>
            <a:ext cx="184343" cy="184343"/>
          </a:xfrm>
          <a:prstGeom prst="rect">
            <a:avLst/>
          </a:prstGeom>
        </p:spPr>
      </p:pic>
      <p:sp>
        <p:nvSpPr>
          <p:cNvPr id="9" name="Text 5"/>
          <p:cNvSpPr txBox="1"/>
          <p:nvPr/>
        </p:nvSpPr>
        <p:spPr>
          <a:xfrm>
            <a:off x="1371600"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You moved at least three En-ROADS sliders and noted the 2100 temperature</a:t>
            </a:r>
            <a:endParaRPr lang="en-US" sz="2000" dirty="0"/>
          </a:p>
        </p:txBody>
      </p:sp>
      <p:sp>
        <p:nvSpPr>
          <p:cNvPr id="10" name="icon circle"/>
          <p:cNvSpPr/>
          <p:nvPr/>
        </p:nvSpPr>
        <p:spPr>
          <a:xfrm>
            <a:off x="822960" y="3611880"/>
            <a:ext cx="384048" cy="384048"/>
          </a:xfrm>
          <a:prstGeom prst="ellipse">
            <a:avLst/>
          </a:prstGeom>
          <a:solidFill>
            <a:srgbClr val="15803D"/>
          </a:solidFill>
          <a:ln w="12700">
            <a:solidFill>
              <a:srgbClr val="15803D"/>
            </a:solidFill>
            <a:prstDash val="solid"/>
          </a:ln>
        </p:spPr>
      </p:sp>
      <p:pic>
        <p:nvPicPr>
          <p:cNvPr id="11" name="icon" descr="preencoded.png">    </p:cNvPr>
          <p:cNvPicPr>
            <a:picLocks noChangeAspect="1"/>
          </p:cNvPicPr>
          <p:nvPr/>
        </p:nvPicPr>
        <p:blipFill>
          <a:blip r:embed="rId2"/>
          <a:stretch>
            <a:fillRect/>
          </a:stretch>
        </p:blipFill>
        <p:spPr>
          <a:xfrm>
            <a:off x="922812" y="3711732"/>
            <a:ext cx="184343" cy="184343"/>
          </a:xfrm>
          <a:prstGeom prst="rect">
            <a:avLst/>
          </a:prstGeom>
        </p:spPr>
      </p:pic>
      <p:sp>
        <p:nvSpPr>
          <p:cNvPr id="12" name="Text 7"/>
          <p:cNvSpPr txBox="1"/>
          <p:nvPr/>
        </p:nvSpPr>
        <p:spPr>
          <a:xfrm>
            <a:off x="1371600"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R prints 140 and 1.5</a:t>
            </a:r>
            <a:endParaRPr lang="en-US" sz="2000" dirty="0"/>
          </a:p>
        </p:txBody>
      </p:sp>
      <p:sp>
        <p:nvSpPr>
          <p:cNvPr id="13" name="icon circle"/>
          <p:cNvSpPr/>
          <p:nvPr/>
        </p:nvSpPr>
        <p:spPr>
          <a:xfrm>
            <a:off x="822960" y="4846320"/>
            <a:ext cx="384048" cy="384048"/>
          </a:xfrm>
          <a:prstGeom prst="ellipse">
            <a:avLst/>
          </a:prstGeom>
          <a:solidFill>
            <a:srgbClr val="15803D"/>
          </a:solidFill>
          <a:ln w="12700">
            <a:solidFill>
              <a:srgbClr val="15803D"/>
            </a:solidFill>
            <a:prstDash val="solid"/>
          </a:ln>
        </p:spPr>
      </p:sp>
      <p:pic>
        <p:nvPicPr>
          <p:cNvPr id="14" name="icon" descr="preencoded.png">    </p:cNvPr>
          <p:cNvPicPr>
            <a:picLocks noChangeAspect="1"/>
          </p:cNvPicPr>
          <p:nvPr/>
        </p:nvPicPr>
        <p:blipFill>
          <a:blip r:embed="rId3"/>
          <a:stretch>
            <a:fillRect/>
          </a:stretch>
        </p:blipFill>
        <p:spPr>
          <a:xfrm>
            <a:off x="922812" y="4946172"/>
            <a:ext cx="184343" cy="184343"/>
          </a:xfrm>
          <a:prstGeom prst="rect">
            <a:avLst/>
          </a:prstGeom>
        </p:spPr>
      </p:pic>
      <p:sp>
        <p:nvSpPr>
          <p:cNvPr id="15" name="Text 9"/>
          <p:cNvSpPr txBox="1"/>
          <p:nvPr/>
        </p:nvSpPr>
        <p:spPr>
          <a:xfrm>
            <a:off x="1371600"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Your script is saved inside the iam-course project</a:t>
            </a:r>
            <a:endParaRPr lang="en-US" sz="2000" dirty="0"/>
          </a:p>
        </p:txBody>
      </p:sp>
      <p:sp>
        <p:nvSpPr>
          <p:cNvPr id="16" name="worksheet card"/>
          <p:cNvSpPr/>
          <p:nvPr/>
        </p:nvSpPr>
        <p:spPr>
          <a:xfrm>
            <a:off x="6233008" y="1554480"/>
            <a:ext cx="5410048" cy="4617720"/>
          </a:xfrm>
          <a:prstGeom prst="roundRect">
            <a:avLst>
              <a:gd name="adj" fmla="val 23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7" name="Text 11"/>
          <p:cNvSpPr txBox="1"/>
          <p:nvPr/>
        </p:nvSpPr>
        <p:spPr>
          <a:xfrm>
            <a:off x="6507328" y="1737360"/>
            <a:ext cx="4861408" cy="4572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Worksheet questions</a:t>
            </a:r>
            <a:endParaRPr lang="en-US" sz="2000" dirty="0"/>
          </a:p>
        </p:txBody>
      </p:sp>
      <p:sp>
        <p:nvSpPr>
          <p:cNvPr id="18" name="number badge"/>
          <p:cNvSpPr txBox="1"/>
          <p:nvPr/>
        </p:nvSpPr>
        <p:spPr>
          <a:xfrm>
            <a:off x="6507328" y="23774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3"/>
          <p:cNvSpPr txBox="1"/>
          <p:nvPr/>
        </p:nvSpPr>
        <p:spPr>
          <a:xfrm>
            <a:off x="7055968"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Write one question En-ROADS answered and one it could not answer.</a:t>
            </a:r>
            <a:endParaRPr lang="en-US" sz="2000" dirty="0"/>
          </a:p>
        </p:txBody>
      </p:sp>
      <p:sp>
        <p:nvSpPr>
          <p:cNvPr id="20" name="number badge"/>
          <p:cNvSpPr txBox="1"/>
          <p:nvPr/>
        </p:nvSpPr>
        <p:spPr>
          <a:xfrm>
            <a:off x="6507328" y="361188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5"/>
          <p:cNvSpPr txBox="1"/>
          <p:nvPr/>
        </p:nvSpPr>
        <p:spPr>
          <a:xfrm>
            <a:off x="7055968"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Add three words to the class glossary with a one-line definition each.</a:t>
            </a:r>
            <a:endParaRPr lang="en-US" sz="2000" dirty="0"/>
          </a:p>
        </p:txBody>
      </p:sp>
      <p:sp>
        <p:nvSpPr>
          <p:cNvPr id="22" name="number badge"/>
          <p:cNvSpPr txBox="1"/>
          <p:nvPr/>
        </p:nvSpPr>
        <p:spPr>
          <a:xfrm>
            <a:off x="6507328" y="484632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17"/>
          <p:cNvSpPr txBox="1"/>
          <p:nvPr/>
        </p:nvSpPr>
        <p:spPr>
          <a:xfrm>
            <a:off x="7055968"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Change the script to use 2.6 ppm per year of growth: how many ppm after 10 more years?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RECAP</a:t>
            </a:r>
            <a:endParaRPr lang="en-US" sz="1200" dirty="0"/>
          </a:p>
        </p:txBody>
      </p:sp>
      <p:sp>
        <p:nvSpPr>
          <p:cNvPr id="3" name="Text 0"/>
          <p:cNvSpPr/>
          <p:nvPr>
            <p:ph idx="100" type="title" hasCustomPrompt="1"/>
          </p:nvPr>
        </p:nvSpPr>
        <p:spPr>
          <a:xfrm>
            <a:off x="548640" y="685800"/>
            <a:ext cx="11094415"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Take-home messages</a:t>
            </a:r>
            <a:endParaRPr lang="en-US" sz="4000" dirty="0"/>
          </a:p>
        </p:txBody>
      </p:sp>
      <p:sp>
        <p:nvSpPr>
          <p:cNvPr id="4" name="number badge"/>
          <p:cNvSpPr txBox="1"/>
          <p:nvPr/>
        </p:nvSpPr>
        <p:spPr>
          <a:xfrm>
            <a:off x="548640" y="193167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234440" y="169164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An IAM links energy, economy, land and climate to answer what-if questions</a:t>
            </a:r>
            <a:endParaRPr lang="en-US" sz="2000" dirty="0"/>
          </a:p>
        </p:txBody>
      </p:sp>
      <p:sp>
        <p:nvSpPr>
          <p:cNvPr id="6" name="number badge"/>
          <p:cNvSpPr txBox="1"/>
          <p:nvPr/>
        </p:nvSpPr>
        <p:spPr>
          <a:xfrm>
            <a:off x="548640" y="286893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7" name="Text 5"/>
          <p:cNvSpPr txBox="1"/>
          <p:nvPr/>
        </p:nvSpPr>
        <p:spPr>
          <a:xfrm>
            <a:off x="1234440" y="262890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Its results are scenarios, not forecasts: if this, then that</a:t>
            </a:r>
            <a:endParaRPr lang="en-US" sz="2000" dirty="0"/>
          </a:p>
        </p:txBody>
      </p:sp>
      <p:sp>
        <p:nvSpPr>
          <p:cNvPr id="8" name="number badge"/>
          <p:cNvSpPr txBox="1"/>
          <p:nvPr/>
        </p:nvSpPr>
        <p:spPr>
          <a:xfrm>
            <a:off x="548640" y="380619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9" name="Text 7"/>
          <p:cNvSpPr txBox="1"/>
          <p:nvPr/>
        </p:nvSpPr>
        <p:spPr>
          <a:xfrm>
            <a:off x="1234440" y="356616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Policies are an input you choose, not something the model predicts</a:t>
            </a:r>
            <a:endParaRPr lang="en-US" sz="2000" dirty="0"/>
          </a:p>
        </p:txBody>
      </p:sp>
      <p:sp>
        <p:nvSpPr>
          <p:cNvPr id="10" name="number badge"/>
          <p:cNvSpPr txBox="1"/>
          <p:nvPr/>
        </p:nvSpPr>
        <p:spPr>
          <a:xfrm>
            <a:off x="548640" y="474345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1" name="Text 9"/>
          <p:cNvSpPr txBox="1"/>
          <p:nvPr/>
        </p:nvSpPr>
        <p:spPr>
          <a:xfrm>
            <a:off x="1234440" y="450342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Cost-benefit models ask 'how much'; process-based models ask 'how'</a:t>
            </a:r>
            <a:endParaRPr lang="en-US" sz="2000" dirty="0"/>
          </a:p>
        </p:txBody>
      </p:sp>
      <p:sp>
        <p:nvSpPr>
          <p:cNvPr id="12" name="next week"/>
          <p:cNvSpPr/>
          <p:nvPr/>
        </p:nvSpPr>
        <p:spPr>
          <a:xfrm>
            <a:off x="8503920" y="1737360"/>
            <a:ext cx="3139135" cy="2057400"/>
          </a:xfrm>
          <a:prstGeom prst="roundRect">
            <a:avLst>
              <a:gd name="adj" fmla="val 5333"/>
            </a:avLst>
          </a:prstGeom>
          <a:solidFill>
            <a:srgbClr val="1D3A52"/>
          </a:solidFill>
          <a:ln w="12700">
            <a:solidFill>
              <a:srgbClr val="1D3A52"/>
            </a:solidFill>
            <a:prstDash val="solid"/>
          </a:ln>
        </p:spPr>
      </p:sp>
      <p:sp>
        <p:nvSpPr>
          <p:cNvPr id="13" name="Text 11"/>
          <p:cNvSpPr txBox="1"/>
          <p:nvPr/>
        </p:nvSpPr>
        <p:spPr>
          <a:xfrm>
            <a:off x="8778240" y="1874520"/>
            <a:ext cx="2590495" cy="411480"/>
          </a:xfrm>
          <a:prstGeom prst="rect">
            <a:avLst/>
          </a:prstGeom>
          <a:noFill/>
          <a:ln/>
        </p:spPr>
        <p:txBody>
          <a:bodyPr wrap="square" lIns="0" tIns="0" rIns="0" bIns="0" rtlCol="0" anchor="t"/>
          <a:lstStyle/>
          <a:p>
            <a:pPr indent="0" marL="0">
              <a:buNone/>
            </a:pPr>
            <a:r>
              <a:rPr lang="en-US" sz="1600" b="1" dirty="0">
                <a:solidFill>
                  <a:srgbClr val="F59E6B"/>
                </a:solidFill>
                <a:latin typeface="Calibri" pitchFamily="34" charset="0"/>
                <a:ea typeface="Calibri" pitchFamily="34" charset="-122"/>
                <a:cs typeface="Calibri" pitchFamily="34" charset="-120"/>
              </a:rPr>
              <a:t>Next: week 2</a:t>
            </a:r>
            <a:endParaRPr lang="en-US" sz="1600" dirty="0"/>
          </a:p>
        </p:txBody>
      </p:sp>
      <p:sp>
        <p:nvSpPr>
          <p:cNvPr id="14" name="Text 12"/>
          <p:cNvSpPr txBox="1"/>
          <p:nvPr/>
        </p:nvSpPr>
        <p:spPr>
          <a:xfrm>
            <a:off x="8778240" y="2286000"/>
            <a:ext cx="2590495" cy="14173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Week 2 opens the climate box: how CO2 becomes warming, and why the total emitted matters most.</a:t>
            </a:r>
            <a:endParaRPr lang="en-US" sz="1600" dirty="0"/>
          </a:p>
        </p:txBody>
      </p:sp>
      <p:sp>
        <p:nvSpPr>
          <p:cNvPr id="15" name="practise"/>
          <p:cNvSpPr/>
          <p:nvPr/>
        </p:nvSpPr>
        <p:spPr>
          <a:xfrm>
            <a:off x="8503920" y="4023360"/>
            <a:ext cx="3139135" cy="1371600"/>
          </a:xfrm>
          <a:prstGeom prst="roundRect">
            <a:avLst>
              <a:gd name="adj" fmla="val 8000"/>
            </a:avLst>
          </a:prstGeom>
          <a:solidFill>
            <a:srgbClr val="1D3A52"/>
          </a:solidFill>
          <a:ln w="12700">
            <a:solidFill>
              <a:srgbClr val="1D3A52"/>
            </a:solidFill>
            <a:prstDash val="solid"/>
          </a:ln>
        </p:spPr>
      </p:sp>
      <p:sp>
        <p:nvSpPr>
          <p:cNvPr id="16" name="Text 14"/>
          <p:cNvSpPr txBox="1"/>
          <p:nvPr/>
        </p:nvSpPr>
        <p:spPr>
          <a:xfrm>
            <a:off x="8778240" y="4114800"/>
            <a:ext cx="2590495" cy="411480"/>
          </a:xfrm>
          <a:prstGeom prst="rect">
            <a:avLst/>
          </a:prstGeom>
          <a:noFill/>
          <a:ln/>
        </p:spPr>
        <p:txBody>
          <a:bodyPr wrap="square" lIns="0" tIns="0" rIns="0" bIns="0" rtlCol="0" anchor="t"/>
          <a:lstStyle/>
          <a:p>
            <a:pPr indent="0" marL="0">
              <a:buNone/>
            </a:pPr>
            <a:r>
              <a:rPr lang="en-US" sz="1600" b="1" dirty="0">
                <a:solidFill>
                  <a:srgbClr val="6FD3C7"/>
                </a:solidFill>
                <a:latin typeface="Calibri" pitchFamily="34" charset="0"/>
                <a:ea typeface="Calibri" pitchFamily="34" charset="-122"/>
                <a:cs typeface="Calibri" pitchFamily="34" charset="-120"/>
              </a:rPr>
              <a:t>Practise</a:t>
            </a:r>
            <a:endParaRPr lang="en-US" sz="1600" dirty="0"/>
          </a:p>
        </p:txBody>
      </p:sp>
      <p:sp>
        <p:nvSpPr>
          <p:cNvPr id="17" name="Text 15"/>
          <p:cNvSpPr txBox="1"/>
          <p:nvPr/>
        </p:nvSpPr>
        <p:spPr>
          <a:xfrm>
            <a:off x="8778240" y="4498848"/>
            <a:ext cx="2590495"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Interactive course, week 1: try the warming explorer and the 5-question quiz.</a:t>
            </a:r>
            <a:endParaRPr lang="en-US" sz="1400" dirty="0"/>
          </a:p>
        </p:txBody>
      </p:sp>
      <p:sp>
        <p:nvSpPr>
          <p:cNvPr id="18" name="Text 16"/>
          <p:cNvSpPr txBox="1"/>
          <p:nvPr/>
        </p:nvSpPr>
        <p:spPr>
          <a:xfrm>
            <a:off x="548640" y="5577840"/>
            <a:ext cx="10180015" cy="64008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Readings: Carbon Brief (2018), Q&amp;A: How 'integrated assessment models' are used to study climate change; R for Data Science (free online): introduction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IAM Course">
  <a:themeElements>
    <a:clrScheme name="IAM Course">
      <a:dk1>
        <a:srgbClr val="1F2933"/>
      </a:dk1>
      <a:lt1>
        <a:srgbClr val="FFFFFF"/>
      </a:lt1>
      <a:dk2>
        <a:srgbClr val="12263A"/>
      </a:dk2>
      <a:lt2>
        <a:srgbClr val="E6F2F0"/>
      </a:lt2>
      <a:accent1>
        <a:srgbClr val="0F766E"/>
      </a:accent1>
      <a:accent2>
        <a:srgbClr val="C2410C"/>
      </a:accent2>
      <a:accent3>
        <a:srgbClr val="D97706"/>
      </a:accent3>
      <a:accent4>
        <a:srgbClr val="5B6875"/>
      </a:accent4>
      <a:accent5>
        <a:srgbClr val="15803D"/>
      </a:accent5>
      <a:accent6>
        <a:srgbClr val="B91C1C"/>
      </a:accent6>
      <a:hlink>
        <a:srgbClr val="0F766E"/>
      </a:hlink>
      <a:folHlink>
        <a:srgbClr val="6B21A8"/>
      </a:folHlink>
    </a:clrScheme>
    <a:fontScheme name="IAM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IAM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Why model the future?</dc:title>
  <dc:subject>Modelling Climate and Energy Futures</dc:subject>
  <dc:creator>IAM course team</dc:creator>
  <cp:lastModifiedBy>IAM course team</cp:lastModifiedBy>
  <cp:revision>1</cp:revision>
  <dcterms:created xsi:type="dcterms:W3CDTF">2026-10-22T18:53:45Z</dcterms:created>
  <dcterms:modified xsi:type="dcterms:W3CDTF">2026-10-22T18:53:45Z</dcterms:modified>
</cp:coreProperties>
</file>