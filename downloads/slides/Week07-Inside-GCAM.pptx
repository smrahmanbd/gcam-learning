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d17297-6fd8-69bc-19e1-6280d6737316}">
          <p14:sldIdLst>
            <p14:sldId id="256"/>
            <p14:sldId id="257"/>
            <p14:sldId id="258"/>
          </p14:sldIdLst>
        </p14:section>
        <p14:section name="Lecture" id="{d9c2c719-363f-8102-907d-d3b668a295d2}">
          <p14:sldIdLst>
            <p14:sldId id="259"/>
            <p14:sldId id="260"/>
            <p14:sldId id="261"/>
            <p14:sldId id="262"/>
            <p14:sldId id="263"/>
            <p14:sldId id="264"/>
            <p14:sldId id="265"/>
            <p14:sldId id="266"/>
            <p14:sldId id="267"/>
            <p14:sldId id="268"/>
            <p14:sldId id="269"/>
            <p14:sldId id="270"/>
            <p14:sldId id="271"/>
          </p14:sldIdLst>
        </p14:section>
        <p14:section name="Lab" id="{38082488-19c7-9433-76c5-8f68aa2c25e4}">
          <p14:sldIdLst>
            <p14:sldId id="272"/>
            <p14:sldId id="273"/>
            <p14:sldId id="274"/>
            <p14:sldId id="275"/>
            <p14:sldId id="276"/>
            <p14:sldId id="277"/>
          </p14:sldIdLst>
        </p14:section>
        <p14:section name="Recap" id="{048876e0-387e-0696-b346-d51c635c3bca}">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Coal ($60)</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Sheet1!$A$2:$A$9</c:f>
              <c:multiLvlStrCache>
                <c:ptCount val="8"/>
                <c:lvl>
                  <c:pt idx="0">
                    <c:v>0</c:v>
                  </c:pt>
                  <c:pt idx="1">
                    <c:v>1</c:v>
                  </c:pt>
                  <c:pt idx="2">
                    <c:v>2</c:v>
                  </c:pt>
                  <c:pt idx="3">
                    <c:v>4</c:v>
                  </c:pt>
                  <c:pt idx="4">
                    <c:v>6</c:v>
                  </c:pt>
                  <c:pt idx="5">
                    <c:v>8</c:v>
                  </c:pt>
                  <c:pt idx="6">
                    <c:v>10</c:v>
                  </c:pt>
                  <c:pt idx="7">
                    <c:v>12</c:v>
                  </c:pt>
                </c:lvl>
              </c:multiLvlStrCache>
            </c:multiLvlStrRef>
          </c:cat>
          <c:val>
            <c:numRef>
              <c:f>Sheet1!$B$2:$B$9</c:f>
              <c:numCache>
                <c:formatCode>General</c:formatCode>
                <c:ptCount val="8"/>
                <c:pt idx="0">
                  <c:v>33.3</c:v>
                </c:pt>
                <c:pt idx="1">
                  <c:v>38.4</c:v>
                </c:pt>
                <c:pt idx="2">
                  <c:v>43.5</c:v>
                </c:pt>
                <c:pt idx="3">
                  <c:v>53.9</c:v>
                </c:pt>
                <c:pt idx="4">
                  <c:v>63.5</c:v>
                </c:pt>
                <c:pt idx="5">
                  <c:v>71.9</c:v>
                </c:pt>
                <c:pt idx="6">
                  <c:v>78.7</c:v>
                </c:pt>
                <c:pt idx="7">
                  <c:v>84.1</c:v>
                </c:pt>
              </c:numCache>
            </c:numRef>
          </c:val>
          <c:smooth val="0"/>
        </c:ser>
        <c:ser>
          <c:idx val="1"/>
          <c:order val="1"/>
          <c:tx>
            <c:strRef>
              <c:f>Sheet1!$C$1</c:f>
              <c:strCache>
                <c:ptCount val="1"/>
                <c:pt idx="0">
                  <c:v>Gas ($70)</c:v>
                </c:pt>
              </c:strCache>
            </c:strRef>
          </c:tx>
          <c:spPr>
            <a:solidFill>
              <a:srgbClr val="C2410C"/>
            </a:solidFill>
            <a:ln w="3810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2410C"/>
              </a:solidFill>
              <a:ln w="9525" cap="flat">
                <a:solidFill>
                  <a:srgbClr val="C2410C"/>
                </a:solidFill>
                <a:prstDash val="solid"/>
                <a:round/>
              </a:ln>
              <a:effectLst/>
            </c:spPr>
          </c:marker>
          <c:cat>
            <c:multiLvlStrRef>
              <c:f>Sheet1!$A$2:$A$9</c:f>
              <c:multiLvlStrCache>
                <c:ptCount val="8"/>
                <c:lvl>
                  <c:pt idx="0">
                    <c:v>0</c:v>
                  </c:pt>
                  <c:pt idx="1">
                    <c:v>1</c:v>
                  </c:pt>
                  <c:pt idx="2">
                    <c:v>2</c:v>
                  </c:pt>
                  <c:pt idx="3">
                    <c:v>4</c:v>
                  </c:pt>
                  <c:pt idx="4">
                    <c:v>6</c:v>
                  </c:pt>
                  <c:pt idx="5">
                    <c:v>8</c:v>
                  </c:pt>
                  <c:pt idx="6">
                    <c:v>10</c:v>
                  </c:pt>
                  <c:pt idx="7">
                    <c:v>12</c:v>
                  </c:pt>
                </c:lvl>
              </c:multiLvlStrCache>
            </c:multiLvlStrRef>
          </c:cat>
          <c:val>
            <c:numRef>
              <c:f>Sheet1!$C$2:$C$9</c:f>
              <c:numCache>
                <c:formatCode>General</c:formatCode>
                <c:ptCount val="8"/>
                <c:pt idx="0">
                  <c:v>33.3</c:v>
                </c:pt>
                <c:pt idx="1">
                  <c:v>32.9</c:v>
                </c:pt>
                <c:pt idx="2">
                  <c:v>32</c:v>
                </c:pt>
                <c:pt idx="3">
                  <c:v>29.1</c:v>
                </c:pt>
                <c:pt idx="4">
                  <c:v>25.2</c:v>
                </c:pt>
                <c:pt idx="5">
                  <c:v>20.9</c:v>
                </c:pt>
                <c:pt idx="6">
                  <c:v>16.9</c:v>
                </c:pt>
                <c:pt idx="7">
                  <c:v>13.2</c:v>
                </c:pt>
              </c:numCache>
            </c:numRef>
          </c:val>
          <c:smooth val="0"/>
        </c:ser>
        <c:ser>
          <c:idx val="2"/>
          <c:order val="2"/>
          <c:tx>
            <c:strRef>
              <c:f>Sheet1!$D$1</c:f>
              <c:strCache>
                <c:ptCount val="1"/>
                <c:pt idx="0">
                  <c:v>Solar ($80)</c:v>
                </c:pt>
              </c:strCache>
            </c:strRef>
          </c:tx>
          <c:spPr>
            <a:solidFill>
              <a:srgbClr val="12263A"/>
            </a:solidFill>
            <a:ln w="38100" cap="flat">
              <a:solidFill>
                <a:srgbClr val="1226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2263A"/>
              </a:solidFill>
              <a:ln w="9525" cap="flat">
                <a:solidFill>
                  <a:srgbClr val="12263A"/>
                </a:solidFill>
                <a:prstDash val="solid"/>
                <a:round/>
              </a:ln>
              <a:effectLst/>
            </c:spPr>
          </c:marker>
          <c:cat>
            <c:multiLvlStrRef>
              <c:f>Sheet1!$A$2:$A$9</c:f>
              <c:multiLvlStrCache>
                <c:ptCount val="8"/>
                <c:lvl>
                  <c:pt idx="0">
                    <c:v>0</c:v>
                  </c:pt>
                  <c:pt idx="1">
                    <c:v>1</c:v>
                  </c:pt>
                  <c:pt idx="2">
                    <c:v>2</c:v>
                  </c:pt>
                  <c:pt idx="3">
                    <c:v>4</c:v>
                  </c:pt>
                  <c:pt idx="4">
                    <c:v>6</c:v>
                  </c:pt>
                  <c:pt idx="5">
                    <c:v>8</c:v>
                  </c:pt>
                  <c:pt idx="6">
                    <c:v>10</c:v>
                  </c:pt>
                  <c:pt idx="7">
                    <c:v>12</c:v>
                  </c:pt>
                </c:lvl>
              </c:multiLvlStrCache>
            </c:multiLvlStrRef>
          </c:cat>
          <c:val>
            <c:numRef>
              <c:f>Sheet1!$D$2:$D$9</c:f>
              <c:numCache>
                <c:formatCode>General</c:formatCode>
                <c:ptCount val="8"/>
                <c:pt idx="0">
                  <c:v>33.3</c:v>
                </c:pt>
                <c:pt idx="1">
                  <c:v>28.8</c:v>
                </c:pt>
                <c:pt idx="2">
                  <c:v>24.5</c:v>
                </c:pt>
                <c:pt idx="3">
                  <c:v>17</c:v>
                </c:pt>
                <c:pt idx="4">
                  <c:v>11.3</c:v>
                </c:pt>
                <c:pt idx="5">
                  <c:v>7.2</c:v>
                </c:pt>
                <c:pt idx="6">
                  <c:v>4.4</c:v>
                </c:pt>
                <c:pt idx="7">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Strength of the logit exponent (minus sign dropped)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Share of new investment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7: Inside GCAM. How a big model balances the world's markets. Today has two halves: a lecture that builds the idea step by step with everyday examples, then a guided lab where we try it in R. Nobody is expected to know the material already. New R skill this week: rgcam: connect to the output database, add scenarios, run queries, save a project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7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How can one model decide, for 32 regions at once, how much coal, gas and solar gets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nothing this week is new in kind: markets, prices and the climate chain all come from the foundations stage. GCAM simply does it at full scale. Take a quick show of hands on the question; most will say yes after week 4, and this lecture changes that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stop one of the study guide's memory route, the control room. Keep returning to the auctioneer image: whenever GCAM 'solves', it is this auction. The study guide uses the same picture, so students meet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system uses the map that suits it: energy and economy by region, land by smaller subregions, water by river basin. The 32 regions and 235 basins are from the documentation's Common Assumptions page, which also says GCAM models 2025 to 2100 in 5-year steps from a 2021 base year. The Overview page says land has more than 300 subregions, and its table lists 396. Since version 8.1 Ukraine is its own region. Japan is a single region, which makes it a tidy example for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4 are the week 4 lab, where a price moved until one market cleared. GCAM does it for all markets together, because a change in one price shifts supply and demand in others. The documentation (Solution and Computation page) calls the gap excess demand; the main solver, Broyden's method, drives it below a tolerance. A run that cannot close the gaps stops and issues a warning that the period did not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Dynamic-recursive is this week's hardest new term. It does not mean GCAM ignores time: what was built in 2030 is still there in 2050. It only means no decision uses knowledge of future prices. In week 11 we meet optimisation models that, like DICE, look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week 4 coal took the whole market because it was cheapest. Real markets do not behave like that: costs differ from place to place and people have preferences. GCAM's logit rule gives every option a share that depends on its cost relative to the others. The exponent controls how sharp the competition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board with a calculator. The tiny numbers scare people, so point out that the 10^-8 cancels: only the ratios matter. The general formula multiplies each term by a share weight; here all weights are 1, so they drop out. This is GCAM's relative-cost logit: share = share weight × cost^exponent ÷ the sum over all options (Source: GCAM v8.2 documentation, Economic Choice page). The documentation's examples use exponents of −3 for electricity and −10 within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80 percent. 50^-2 = 1/2500 = 0.0004 and 100^-2 = 1/10000 = 0.0001. Sum 0.0005, so 0.0004 / 0.0005 = 80 percent and 20 percent. This is the study guide's try-it question for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80 percent. 50^-2 = 1/2500 = 0.0004 and 100^-2 = 1/10000 = 0.0001. Sum 0.0005, so 0.0004 / 0.0005 = 80 percent and 20 percent. This is the study guide's try-it question for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week 1 picture of an IAM, inputs to model to outputs, with real file names. The configuration file is the recipe for one scenario. A run has worked when the main log ends with Model run completed and Model exiting successfully. Both log messages and the default database name, database_basexdb in the output folder, are from the GCAM user guide. The server path is in the lab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names are used in every lab script and worksheet, so introduce them now. Ask each student to pick the region they will use in place of Japan before the first lab. Their term project uses the same four as a baseline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the traps in the study guide and appear on quiz 2. The third is the week 1 message again; repeat it now that students are about to see detailed, confident-looking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Start your own Reference run on the course server, then connect to the instructor's database, pull results into R and draw your first GCAM charts.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option names the configuration file. A finished run ends with Model run completed and Model exiting successfully. Check before the lab that this exact command works from a student account. Students do not wait for the run; it is checked at the start of lab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db_dir with the real path on your server. listQueries shows seven titles, not eight: the CO2 prices query is empty for a scenario without a carbon price, so rgcam warns and stores nothing. Running the queries takes a few minutes; let students read the query file meanwhile.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read the Units column aloud: GCAM reports CO2 in million tonnes of carbon, not of CO2. Multiplying by 44/12 converts. distinct(co2, region) lists all 32 region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slip is to plot all regions at once and get a saw-tooth line; the fix is the filter on region. The project file output/gcam_course.dat is used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Describe GCAM's regions, time steps and the markets it balances; Explain how GCAM finds prices one period at a time; Calculate logit shares for three technologies by hand; Run the Reference scenario and pull its results into R with rgcam. Ask students to rate themselves on each. Then point to next week: Week 8 opens the energy system: how technologies compete on cost, and what happens when you make solar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7 · Inside GCAM</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7 · Inside GCAM</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6.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Inside GCAM</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7 OF 15  ·  STAGE 2: GCAM IN DEPTH</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How a big model balances the world's markets</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rgcam: connect to the output database, add scenarios, run queries, save a project file</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2410C"/>
          </a:solidFill>
          <a:ln w="12700">
            <a:solidFill>
              <a:srgbClr val="C2410C"/>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F7FAF9"/>
          </a:solidFill>
          <a:ln w="12700">
            <a:solidFill>
              <a:srgbClr val="F7FAF9"/>
            </a:solidFill>
            <a:prstDash val="solid"/>
          </a:ln>
        </p:spPr>
      </p:sp>
      <p:sp>
        <p:nvSpPr>
          <p:cNvPr id="31" name="Shape 28"/>
          <p:cNvSpPr/>
          <p:nvPr/>
        </p:nvSpPr>
        <p:spPr>
          <a:xfrm>
            <a:off x="4020769" y="3108960"/>
            <a:ext cx="1414729" cy="1188720"/>
          </a:xfrm>
          <a:prstGeom prst="roundRect">
            <a:avLst>
              <a:gd name="adj" fmla="val 9231"/>
            </a:avLst>
          </a:prstGeom>
          <a:solidFill>
            <a:srgbClr val="F7FAF9"/>
          </a:solidFill>
          <a:ln w="12700">
            <a:solidFill>
              <a:srgbClr val="D5DDDB"/>
            </a:solidFill>
            <a:prstDash val="solid"/>
          </a:ln>
        </p:spPr>
      </p:sp>
      <p:sp>
        <p:nvSpPr>
          <p:cNvPr id="32" name="Text 29"/>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3" name="Text 30"/>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4"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35" name="Shape 32"/>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36" name="Text 33"/>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7" name="Text 34"/>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8"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39" name="Shape 36"/>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40" name="Text 37"/>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1" name="Text 38"/>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2" name="Text 39"/>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3" name="Text 40"/>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4"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5" name="Shape 42"/>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46" name="Text 43"/>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7" name="Text 44"/>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8"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49" name="Shape 46"/>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50" name="Text 47"/>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1" name="Text 48"/>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2"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3" name="Shape 50"/>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4" name="Text 51"/>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5" name="Text 52"/>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6"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7" name="Shape 54"/>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8" name="Text 55"/>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9" name="Text 56"/>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60"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1" name="Shape 58"/>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2" name="Text 59"/>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3" name="Text 60"/>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Describe GCAM's regions, time steps and the markets it balances</a:t>
            </a:r>
            <a:endParaRPr lang="en-US" sz="21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Explain how GCAM finds prices one period at a time</a:t>
            </a:r>
            <a:endParaRPr lang="en-US" sz="21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Calculate logit shares for three technologies by hand</a:t>
            </a:r>
            <a:endParaRPr lang="en-US" sz="21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Run the Reference scenario and pull its results into R with rgcam</a:t>
            </a:r>
            <a:endParaRPr lang="en-US" sz="21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How can one model decide, for 32 regions at once, how much coal, gas and solar gets built?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One auction, thousands of markets</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In week 4 you found one price where supply met demand. Now imagine doing that for every fuel, crop and region in the world, all at once.</a:t>
            </a:r>
            <a:endParaRPr lang="en-US" sz="24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If coal is cheapest, should it get the whole market?</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GCAM is a factory with an auction house inside</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400" i="1" dirty="0">
                <a:solidFill>
                  <a:srgbClr val="12263A"/>
                </a:solidFill>
                <a:latin typeface="Cambria" pitchFamily="34" charset="0"/>
                <a:ea typeface="Cambria" pitchFamily="34" charset="-122"/>
                <a:cs typeface="Cambria" pitchFamily="34" charset="-120"/>
              </a:rPr>
              <a:t>Picture a huge factory with 32 screens on the wall, one per region. An auctioneer shouts prices for oil, electricity, wheat and water. He keeps adjusting until every screen turns green, meaning supply equals demand everywhere. Then his stopwatch beeps and he moves 5 years ahead.</a:t>
            </a:r>
            <a:endParaRPr lang="en-US" sz="24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Screens = regions; prices = markets</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Green screens = equilibrium in every market</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Stopwatch = 5-year time steps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NUMBERS TO REMEMBER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GCAM's world in three numbers</a:t>
            </a:r>
            <a:endParaRPr lang="en-US" sz="3200" dirty="0"/>
          </a:p>
        </p:txBody>
      </p:sp>
      <p:sp>
        <p:nvSpPr>
          <p:cNvPr id="5" name="stat card"/>
          <p:cNvSpPr/>
          <p:nvPr/>
        </p:nvSpPr>
        <p:spPr>
          <a:xfrm>
            <a:off x="548640" y="1554480"/>
            <a:ext cx="3515258" cy="3566160"/>
          </a:xfrm>
          <a:prstGeom prst="roundRect">
            <a:avLst>
              <a:gd name="adj" fmla="val 3121"/>
            </a:avLst>
          </a:prstGeom>
          <a:solidFill>
            <a:srgbClr val="E6F2F0"/>
          </a:solidFill>
          <a:ln w="12700">
            <a:solidFill>
              <a:srgbClr val="E6F2F0"/>
            </a:solidFill>
            <a:prstDash val="solid"/>
          </a:ln>
        </p:spPr>
      </p:sp>
      <p:sp>
        <p:nvSpPr>
          <p:cNvPr id="6" name="Text 3"/>
          <p:cNvSpPr txBox="1"/>
          <p:nvPr/>
        </p:nvSpPr>
        <p:spPr>
          <a:xfrm>
            <a:off x="822960" y="1920240"/>
            <a:ext cx="2966618" cy="1371600"/>
          </a:xfrm>
          <a:prstGeom prst="rect">
            <a:avLst/>
          </a:prstGeom>
          <a:noFill/>
          <a:ln/>
        </p:spPr>
        <p:txBody>
          <a:bodyPr wrap="square" lIns="0" tIns="0" rIns="0" bIns="0" rtlCol="0" anchor="t"/>
          <a:lstStyle/>
          <a:p>
            <a:pPr indent="0" marL="0">
              <a:buNone/>
            </a:pPr>
            <a:r>
              <a:rPr lang="en-US" sz="6000" b="1" dirty="0">
                <a:solidFill>
                  <a:srgbClr val="0F766E"/>
                </a:solidFill>
                <a:latin typeface="Cambria" pitchFamily="34" charset="0"/>
                <a:ea typeface="Cambria" pitchFamily="34" charset="-122"/>
                <a:cs typeface="Cambria" pitchFamily="34" charset="-120"/>
              </a:rPr>
              <a:t>32</a:t>
            </a:r>
            <a:endParaRPr lang="en-US" sz="6000" dirty="0"/>
          </a:p>
        </p:txBody>
      </p:sp>
      <p:sp>
        <p:nvSpPr>
          <p:cNvPr id="7" name="Text 4"/>
          <p:cNvSpPr txBox="1"/>
          <p:nvPr/>
        </p:nvSpPr>
        <p:spPr>
          <a:xfrm>
            <a:off x="822960"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energy-economy regions, such as Japan, USA and EU-15</a:t>
            </a:r>
            <a:endParaRPr lang="en-US" sz="2000" dirty="0"/>
          </a:p>
        </p:txBody>
      </p:sp>
      <p:sp>
        <p:nvSpPr>
          <p:cNvPr id="8" name="stat card"/>
          <p:cNvSpPr/>
          <p:nvPr/>
        </p:nvSpPr>
        <p:spPr>
          <a:xfrm>
            <a:off x="4338218" y="1554480"/>
            <a:ext cx="3515258" cy="3566160"/>
          </a:xfrm>
          <a:prstGeom prst="roundRect">
            <a:avLst>
              <a:gd name="adj" fmla="val 3121"/>
            </a:avLst>
          </a:prstGeom>
          <a:solidFill>
            <a:srgbClr val="F7FAF9"/>
          </a:solidFill>
          <a:ln w="12700">
            <a:solidFill>
              <a:srgbClr val="F7FAF9"/>
            </a:solidFill>
            <a:prstDash val="solid"/>
          </a:ln>
        </p:spPr>
      </p:sp>
      <p:sp>
        <p:nvSpPr>
          <p:cNvPr id="9" name="Text 6"/>
          <p:cNvSpPr txBox="1"/>
          <p:nvPr/>
        </p:nvSpPr>
        <p:spPr>
          <a:xfrm>
            <a:off x="4612538"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5</a:t>
            </a:r>
            <a:endParaRPr lang="en-US" sz="6000" dirty="0"/>
          </a:p>
        </p:txBody>
      </p:sp>
      <p:sp>
        <p:nvSpPr>
          <p:cNvPr id="10" name="Text 7"/>
          <p:cNvSpPr txBox="1"/>
          <p:nvPr/>
        </p:nvSpPr>
        <p:spPr>
          <a:xfrm>
            <a:off x="4612538"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years between solved periods</a:t>
            </a:r>
            <a:endParaRPr lang="en-US" sz="2000" dirty="0"/>
          </a:p>
        </p:txBody>
      </p:sp>
      <p:sp>
        <p:nvSpPr>
          <p:cNvPr id="11" name="stat card"/>
          <p:cNvSpPr/>
          <p:nvPr/>
        </p:nvSpPr>
        <p:spPr>
          <a:xfrm>
            <a:off x="8127797" y="1554480"/>
            <a:ext cx="3515258" cy="3566160"/>
          </a:xfrm>
          <a:prstGeom prst="roundRect">
            <a:avLst>
              <a:gd name="adj" fmla="val 3121"/>
            </a:avLst>
          </a:prstGeom>
          <a:solidFill>
            <a:srgbClr val="F7FAF9"/>
          </a:solidFill>
          <a:ln w="12700">
            <a:solidFill>
              <a:srgbClr val="F7FAF9"/>
            </a:solidFill>
            <a:prstDash val="solid"/>
          </a:ln>
        </p:spPr>
      </p:sp>
      <p:sp>
        <p:nvSpPr>
          <p:cNvPr id="12" name="Text 9"/>
          <p:cNvSpPr txBox="1"/>
          <p:nvPr/>
        </p:nvSpPr>
        <p:spPr>
          <a:xfrm>
            <a:off x="8402117"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235</a:t>
            </a:r>
            <a:endParaRPr lang="en-US" sz="6000" dirty="0"/>
          </a:p>
        </p:txBody>
      </p:sp>
      <p:sp>
        <p:nvSpPr>
          <p:cNvPr id="13" name="Text 10"/>
          <p:cNvSpPr txBox="1"/>
          <p:nvPr/>
        </p:nvSpPr>
        <p:spPr>
          <a:xfrm>
            <a:off x="8402117"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river basins where water markets clear</a:t>
            </a:r>
            <a:endParaRPr lang="en-US" sz="2000" dirty="0"/>
          </a:p>
        </p:txBody>
      </p:sp>
      <p:sp>
        <p:nvSpPr>
          <p:cNvPr id="14" name="Text 11"/>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600" i="1" dirty="0">
                <a:solidFill>
                  <a:srgbClr val="5B6875"/>
                </a:solidFill>
                <a:latin typeface="Calibri" pitchFamily="34" charset="0"/>
                <a:ea typeface="Calibri" pitchFamily="34" charset="-122"/>
                <a:cs typeface="Calibri" pitchFamily="34" charset="-120"/>
              </a:rPr>
              <a:t>Land is split into more than 300 smaller subregions. Source: GCAM v8.2 documentation (Common Assumptions, Overview).</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How GCAM solves one period</a:t>
            </a:r>
            <a:endParaRPr lang="en-US" sz="3200" dirty="0"/>
          </a:p>
        </p:txBody>
      </p:sp>
      <p:sp>
        <p:nvSpPr>
          <p:cNvPr id="5" name="step card"/>
          <p:cNvSpPr/>
          <p:nvPr/>
        </p:nvSpPr>
        <p:spPr>
          <a:xfrm>
            <a:off x="54864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Guess prices</a:t>
            </a:r>
            <a:endParaRPr lang="en-US" sz="1800" dirty="0"/>
          </a:p>
        </p:txBody>
      </p:sp>
      <p:sp>
        <p:nvSpPr>
          <p:cNvPr id="8" name="Text 5"/>
          <p:cNvSpPr txBox="1"/>
          <p:nvPr/>
        </p:nvSpPr>
        <p:spPr>
          <a:xfrm>
            <a:off x="777240" y="3246120"/>
            <a:ext cx="1348374" cy="14173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Start from a price for every market</a:t>
            </a:r>
            <a:endParaRPr lang="en-US" sz="1600" dirty="0"/>
          </a:p>
        </p:txBody>
      </p:sp>
      <p:sp>
        <p:nvSpPr>
          <p:cNvPr id="9" name="arrow"/>
          <p:cNvSpPr/>
          <p:nvPr/>
        </p:nvSpPr>
        <p:spPr>
          <a:xfrm>
            <a:off x="2372502"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289371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12231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122310"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Add up</a:t>
            </a:r>
            <a:endParaRPr lang="en-US" sz="1800" dirty="0"/>
          </a:p>
        </p:txBody>
      </p:sp>
      <p:sp>
        <p:nvSpPr>
          <p:cNvPr id="13" name="Text 10"/>
          <p:cNvSpPr txBox="1"/>
          <p:nvPr/>
        </p:nvSpPr>
        <p:spPr>
          <a:xfrm>
            <a:off x="3122310" y="3246120"/>
            <a:ext cx="1348374" cy="14173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Work out supply and demand at those prices</a:t>
            </a:r>
            <a:endParaRPr lang="en-US" sz="1600" dirty="0"/>
          </a:p>
        </p:txBody>
      </p:sp>
      <p:sp>
        <p:nvSpPr>
          <p:cNvPr id="14" name="arrow"/>
          <p:cNvSpPr/>
          <p:nvPr/>
        </p:nvSpPr>
        <p:spPr>
          <a:xfrm>
            <a:off x="4717572"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523878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546738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5467380"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Find the gaps</a:t>
            </a:r>
            <a:endParaRPr lang="en-US" sz="1800" dirty="0"/>
          </a:p>
        </p:txBody>
      </p:sp>
      <p:sp>
        <p:nvSpPr>
          <p:cNvPr id="18" name="Text 15"/>
          <p:cNvSpPr txBox="1"/>
          <p:nvPr/>
        </p:nvSpPr>
        <p:spPr>
          <a:xfrm>
            <a:off x="5467380" y="3246120"/>
            <a:ext cx="1348374" cy="14173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Demand minus supply in each market</a:t>
            </a:r>
            <a:endParaRPr lang="en-US" sz="1600" dirty="0"/>
          </a:p>
        </p:txBody>
      </p:sp>
      <p:sp>
        <p:nvSpPr>
          <p:cNvPr id="19" name="arrow"/>
          <p:cNvSpPr/>
          <p:nvPr/>
        </p:nvSpPr>
        <p:spPr>
          <a:xfrm>
            <a:off x="7062643"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758385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7812451"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7812451"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Adjust</a:t>
            </a:r>
            <a:endParaRPr lang="en-US" sz="1800" dirty="0"/>
          </a:p>
        </p:txBody>
      </p:sp>
      <p:sp>
        <p:nvSpPr>
          <p:cNvPr id="23" name="Text 20"/>
          <p:cNvSpPr txBox="1"/>
          <p:nvPr/>
        </p:nvSpPr>
        <p:spPr>
          <a:xfrm>
            <a:off x="7812451" y="3246120"/>
            <a:ext cx="1348374" cy="14173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Raise prices where short, lower where in surplus</a:t>
            </a:r>
            <a:endParaRPr lang="en-US" sz="1600" dirty="0"/>
          </a:p>
        </p:txBody>
      </p:sp>
      <p:sp>
        <p:nvSpPr>
          <p:cNvPr id="24" name="arrow"/>
          <p:cNvSpPr/>
          <p:nvPr/>
        </p:nvSpPr>
        <p:spPr>
          <a:xfrm>
            <a:off x="9407713" y="2994660"/>
            <a:ext cx="411480" cy="457200"/>
          </a:xfrm>
          <a:prstGeom prst="rightArrow">
            <a:avLst/>
          </a:prstGeom>
          <a:solidFill>
            <a:srgbClr val="C9E4DF"/>
          </a:solidFill>
          <a:ln w="12700">
            <a:solidFill>
              <a:srgbClr val="C9E4DF"/>
            </a:solidFill>
            <a:prstDash val="solid"/>
          </a:ln>
        </p:spPr>
      </p:sp>
      <p:sp>
        <p:nvSpPr>
          <p:cNvPr id="25" name="step card"/>
          <p:cNvSpPr/>
          <p:nvPr/>
        </p:nvSpPr>
        <p:spPr>
          <a:xfrm>
            <a:off x="992892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6" name="number badge"/>
          <p:cNvSpPr txBox="1"/>
          <p:nvPr/>
        </p:nvSpPr>
        <p:spPr>
          <a:xfrm>
            <a:off x="10157521"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4"/>
          <p:cNvSpPr txBox="1"/>
          <p:nvPr/>
        </p:nvSpPr>
        <p:spPr>
          <a:xfrm>
            <a:off x="10157521" y="2560320"/>
            <a:ext cx="1348374"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Next period</a:t>
            </a:r>
            <a:endParaRPr lang="en-US" sz="1800" dirty="0"/>
          </a:p>
        </p:txBody>
      </p:sp>
      <p:sp>
        <p:nvSpPr>
          <p:cNvPr id="28" name="Text 25"/>
          <p:cNvSpPr txBox="1"/>
          <p:nvPr/>
        </p:nvSpPr>
        <p:spPr>
          <a:xfrm>
            <a:off x="10157521" y="3246120"/>
            <a:ext cx="1348374" cy="14173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When all gaps are near zero, step 5 years on</a:t>
            </a:r>
            <a:endParaRPr lang="en-US" sz="1600" dirty="0"/>
          </a:p>
        </p:txBody>
      </p:sp>
      <p:sp>
        <p:nvSpPr>
          <p:cNvPr id="29"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30" name="Text 27"/>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200" b="1" dirty="0">
                <a:solidFill>
                  <a:srgbClr val="0B5550"/>
                </a:solidFill>
                <a:latin typeface="Calibri" pitchFamily="34" charset="0"/>
                <a:ea typeface="Calibri" pitchFamily="34" charset="-122"/>
                <a:cs typeface="Calibri" pitchFamily="34" charset="-120"/>
              </a:rPr>
              <a:t>The same loop you wrote with uniroot in week 4, for every market at once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Two ways a model can handle time</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GCAM: one step at a time</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Solves 2025, then 2030, then 2035</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Decisions use today's prices only</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Plants, land and resources carry over</a:t>
            </a:r>
            <a:endParaRPr lang="en-US" sz="24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DICE (week 5): sees the whole future</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Chooses the whole path at once</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Knows future damages and costs</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Called perfect foresight</a:t>
            </a:r>
            <a:endParaRPr lang="en-US" sz="24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Cheaper wins more, but never everything</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Week 4 lab costs, equal share weights. Illustrative, computed from the logit formula.</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At 0, cost does not matter: equal thirds</a:t>
            </a:r>
            <a:endParaRPr lang="en-US" sz="19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At 4, the split is 54 / 29 / 17</a:t>
            </a:r>
            <a:endParaRPr lang="en-US" sz="19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The bigger the exponent, the closer to winner-takes-all</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logit shares by hand</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Coal $60, gas $70, solar $80 per MWh. Equal share weights. Exponent −4. Share = cost^−4 ÷ sum of all cost^−4.</a:t>
            </a:r>
            <a:endParaRPr lang="en-US" sz="2000" dirty="0"/>
          </a:p>
        </p:txBody>
      </p:sp>
      <p:sp>
        <p:nvSpPr>
          <p:cNvPr id="9" name="number badge"/>
          <p:cNvSpPr txBox="1"/>
          <p:nvPr/>
        </p:nvSpPr>
        <p:spPr>
          <a:xfrm>
            <a:off x="548640" y="27203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Coal: 60^−4 = 1 ÷ 12,960,000 = 7.72 × 10^−8</a:t>
            </a:r>
            <a:endParaRPr lang="en-US" sz="2200" dirty="0"/>
          </a:p>
        </p:txBody>
      </p:sp>
      <p:sp>
        <p:nvSpPr>
          <p:cNvPr id="11" name="number badge"/>
          <p:cNvSpPr txBox="1"/>
          <p:nvPr/>
        </p:nvSpPr>
        <p:spPr>
          <a:xfrm>
            <a:off x="548640" y="3241548"/>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172968"/>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Gas: 70^−4 = 1 ÷ 24,010,000 = 4.16 × 10^−8</a:t>
            </a:r>
            <a:endParaRPr lang="en-US" sz="2200" dirty="0"/>
          </a:p>
        </p:txBody>
      </p:sp>
      <p:sp>
        <p:nvSpPr>
          <p:cNvPr id="13" name="number badge"/>
          <p:cNvSpPr txBox="1"/>
          <p:nvPr/>
        </p:nvSpPr>
        <p:spPr>
          <a:xfrm>
            <a:off x="548640" y="376275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694176"/>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Solar: 80^−4 = 1 ÷ 40,960,000 = 2.44 × 10^−8</a:t>
            </a:r>
            <a:endParaRPr lang="en-US" sz="2200" dirty="0"/>
          </a:p>
        </p:txBody>
      </p:sp>
      <p:sp>
        <p:nvSpPr>
          <p:cNvPr id="15" name="number badge"/>
          <p:cNvSpPr txBox="1"/>
          <p:nvPr/>
        </p:nvSpPr>
        <p:spPr>
          <a:xfrm>
            <a:off x="548640" y="4283964"/>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4215384"/>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Sum = 7.72 + 4.16 + 2.44 = 14.32 (× 10^−8)</a:t>
            </a:r>
            <a:endParaRPr lang="en-US" sz="2200" dirty="0"/>
          </a:p>
        </p:txBody>
      </p:sp>
      <p:sp>
        <p:nvSpPr>
          <p:cNvPr id="17" name="number badge"/>
          <p:cNvSpPr txBox="1"/>
          <p:nvPr/>
        </p:nvSpPr>
        <p:spPr>
          <a:xfrm>
            <a:off x="548640" y="4805172"/>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736592"/>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Shares: 7.72 ÷ 14.32 = 54%, 4.16 ÷ 14.32 = 29%, 2.44 ÷ 14.32 = 17%</a:t>
            </a:r>
            <a:endParaRPr lang="en-US" sz="2200" dirty="0"/>
          </a:p>
        </p:txBody>
      </p:sp>
      <p:sp>
        <p:nvSpPr>
          <p:cNvPr id="19"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0"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1"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2" name="Text 17"/>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Coal 54%, gas 29%, solar 17% of new investment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Two technologies cost $50 and $100 per MWh. Equal share weights, exponent −2. What share does the $50 one get?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50%</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67%</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80%</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100%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Two technologies cost $50 and $100 per MWh. Equal share weights, exponent −2. What share does the $50 one get?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50%</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67%</a:t>
            </a:r>
            <a:endParaRPr lang="en-US" sz="2000" dirty="0"/>
          </a:p>
        </p:txBody>
      </p:sp>
      <p:sp>
        <p:nvSpPr>
          <p:cNvPr id="12" name="option"/>
          <p:cNvSpPr/>
          <p:nvPr/>
        </p:nvSpPr>
        <p:spPr>
          <a:xfrm>
            <a:off x="548640" y="4297680"/>
            <a:ext cx="5410048" cy="1325880"/>
          </a:xfrm>
          <a:prstGeom prst="roundRect">
            <a:avLst>
              <a:gd name="adj" fmla="val 8276"/>
            </a:avLst>
          </a:prstGeom>
          <a:solidFill>
            <a:srgbClr val="E7F5EC"/>
          </a:solidFill>
          <a:ln w="12700">
            <a:solidFill>
              <a:srgbClr val="E7F5EC"/>
            </a:solidFill>
            <a:prstDash val="solid"/>
          </a:ln>
        </p:spPr>
      </p:sp>
      <p:sp>
        <p:nvSpPr>
          <p:cNvPr id="13" name="number badge"/>
          <p:cNvSpPr txBox="1"/>
          <p:nvPr/>
        </p:nvSpPr>
        <p:spPr>
          <a:xfrm>
            <a:off x="822960" y="46863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80%</a:t>
            </a:r>
            <a:endParaRPr lang="en-US" sz="2000" dirty="0"/>
          </a:p>
        </p:txBody>
      </p:sp>
      <p:sp>
        <p:nvSpPr>
          <p:cNvPr id="15" name="icon circle"/>
          <p:cNvSpPr/>
          <p:nvPr/>
        </p:nvSpPr>
        <p:spPr>
          <a:xfrm>
            <a:off x="5364328" y="4434840"/>
            <a:ext cx="411480" cy="411480"/>
          </a:xfrm>
          <a:prstGeom prst="ellipse">
            <a:avLst/>
          </a:prstGeom>
          <a:solidFill>
            <a:srgbClr val="15803D"/>
          </a:solidFill>
          <a:ln w="12700">
            <a:solidFill>
              <a:srgbClr val="15803D"/>
            </a:solidFill>
            <a:prstDash val="solid"/>
          </a:ln>
        </p:spPr>
      </p:sp>
      <p:pic>
        <p:nvPicPr>
          <p:cNvPr id="16" name="icon" descr="preencoded.png">    </p:cNvPr>
          <p:cNvPicPr>
            <a:picLocks noChangeAspect="1"/>
          </p:cNvPicPr>
          <p:nvPr/>
        </p:nvPicPr>
        <p:blipFill>
          <a:blip r:embed="rId1"/>
          <a:stretch>
            <a:fillRect/>
          </a:stretch>
        </p:blipFill>
        <p:spPr>
          <a:xfrm>
            <a:off x="5471312" y="4541825"/>
            <a:ext cx="197510" cy="197510"/>
          </a:xfrm>
          <a:prstGeom prst="rect">
            <a:avLst/>
          </a:prstGeom>
        </p:spPr>
      </p:pic>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100%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Files in, database out</a:t>
            </a:r>
            <a:endParaRPr lang="en-US" sz="3200" dirty="0"/>
          </a:p>
        </p:txBody>
      </p:sp>
      <p:sp>
        <p:nvSpPr>
          <p:cNvPr id="5" name="step card"/>
          <p:cNvSpPr/>
          <p:nvPr/>
        </p:nvSpPr>
        <p:spPr>
          <a:xfrm>
            <a:off x="54864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348374" cy="685800"/>
          </a:xfrm>
          <a:prstGeom prst="rect">
            <a:avLst/>
          </a:prstGeom>
          <a:noFill/>
          <a:ln/>
        </p:spPr>
        <p:txBody>
          <a:bodyPr wrap="square" lIns="0" tIns="0" rIns="0" bIns="0" rtlCol="0" anchor="t"/>
          <a:lstStyle/>
          <a:p>
            <a:pPr indent="0" marL="0">
              <a:buNone/>
            </a:pPr>
            <a:r>
              <a:rPr lang="en-US" sz="1400" b="1" dirty="0">
                <a:solidFill>
                  <a:srgbClr val="12263A"/>
                </a:solidFill>
                <a:latin typeface="Cambria" pitchFamily="34" charset="0"/>
                <a:ea typeface="Cambria" pitchFamily="34" charset="-122"/>
                <a:cs typeface="Cambria" pitchFamily="34" charset="-120"/>
              </a:rPr>
              <a:t>Input files</a:t>
            </a:r>
            <a:endParaRPr lang="en-US" sz="1400" dirty="0"/>
          </a:p>
        </p:txBody>
      </p:sp>
      <p:sp>
        <p:nvSpPr>
          <p:cNvPr id="8" name="Text 5"/>
          <p:cNvSpPr txBox="1"/>
          <p:nvPr/>
        </p:nvSpPr>
        <p:spPr>
          <a:xfrm>
            <a:off x="777240"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XML files built in R by gcamdata</a:t>
            </a:r>
            <a:endParaRPr lang="en-US" sz="1400" dirty="0"/>
          </a:p>
        </p:txBody>
      </p:sp>
      <p:sp>
        <p:nvSpPr>
          <p:cNvPr id="9" name="arrow"/>
          <p:cNvSpPr/>
          <p:nvPr/>
        </p:nvSpPr>
        <p:spPr>
          <a:xfrm>
            <a:off x="2372502"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289371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12231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122310" y="2560320"/>
            <a:ext cx="1348374" cy="685800"/>
          </a:xfrm>
          <a:prstGeom prst="rect">
            <a:avLst/>
          </a:prstGeom>
          <a:noFill/>
          <a:ln/>
        </p:spPr>
        <p:txBody>
          <a:bodyPr wrap="square" lIns="0" tIns="0" rIns="0" bIns="0" rtlCol="0" anchor="t"/>
          <a:lstStyle/>
          <a:p>
            <a:pPr indent="0" marL="0">
              <a:buNone/>
            </a:pPr>
            <a:r>
              <a:rPr lang="en-US" sz="1400" b="1" dirty="0">
                <a:solidFill>
                  <a:srgbClr val="12263A"/>
                </a:solidFill>
                <a:latin typeface="Cambria" pitchFamily="34" charset="0"/>
                <a:ea typeface="Cambria" pitchFamily="34" charset="-122"/>
                <a:cs typeface="Cambria" pitchFamily="34" charset="-120"/>
              </a:rPr>
              <a:t>Configuration</a:t>
            </a:r>
            <a:endParaRPr lang="en-US" sz="1400" dirty="0"/>
          </a:p>
        </p:txBody>
      </p:sp>
      <p:sp>
        <p:nvSpPr>
          <p:cNvPr id="13" name="Text 10"/>
          <p:cNvSpPr txBox="1"/>
          <p:nvPr/>
        </p:nvSpPr>
        <p:spPr>
          <a:xfrm>
            <a:off x="3122310"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configuration.​xml lists the inputs; later files win</a:t>
            </a:r>
            <a:endParaRPr lang="en-US" sz="1400" dirty="0"/>
          </a:p>
        </p:txBody>
      </p:sp>
      <p:sp>
        <p:nvSpPr>
          <p:cNvPr id="14" name="arrow"/>
          <p:cNvSpPr/>
          <p:nvPr/>
        </p:nvSpPr>
        <p:spPr>
          <a:xfrm>
            <a:off x="4717572"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523878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546738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5467380" y="2560320"/>
            <a:ext cx="1348374" cy="685800"/>
          </a:xfrm>
          <a:prstGeom prst="rect">
            <a:avLst/>
          </a:prstGeom>
          <a:noFill/>
          <a:ln/>
        </p:spPr>
        <p:txBody>
          <a:bodyPr wrap="square" lIns="0" tIns="0" rIns="0" bIns="0" rtlCol="0" anchor="t"/>
          <a:lstStyle/>
          <a:p>
            <a:pPr indent="0" marL="0">
              <a:buNone/>
            </a:pPr>
            <a:r>
              <a:rPr lang="en-US" sz="1400" b="1" dirty="0">
                <a:solidFill>
                  <a:srgbClr val="12263A"/>
                </a:solidFill>
                <a:latin typeface="Cambria" pitchFamily="34" charset="0"/>
                <a:ea typeface="Cambria" pitchFamily="34" charset="-122"/>
                <a:cs typeface="Cambria" pitchFamily="34" charset="-120"/>
              </a:rPr>
              <a:t>GCAM core</a:t>
            </a:r>
            <a:endParaRPr lang="en-US" sz="1400" dirty="0"/>
          </a:p>
        </p:txBody>
      </p:sp>
      <p:sp>
        <p:nvSpPr>
          <p:cNvPr id="18" name="Text 15"/>
          <p:cNvSpPr txBox="1"/>
          <p:nvPr/>
        </p:nvSpPr>
        <p:spPr>
          <a:xfrm>
            <a:off x="5467380"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Reads inputs, solves each period, writes a log</a:t>
            </a:r>
            <a:endParaRPr lang="en-US" sz="1400" dirty="0"/>
          </a:p>
        </p:txBody>
      </p:sp>
      <p:sp>
        <p:nvSpPr>
          <p:cNvPr id="19" name="arrow"/>
          <p:cNvSpPr/>
          <p:nvPr/>
        </p:nvSpPr>
        <p:spPr>
          <a:xfrm>
            <a:off x="7062643"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758385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7812451"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7812451" y="2560320"/>
            <a:ext cx="1348374" cy="685800"/>
          </a:xfrm>
          <a:prstGeom prst="rect">
            <a:avLst/>
          </a:prstGeom>
          <a:noFill/>
          <a:ln/>
        </p:spPr>
        <p:txBody>
          <a:bodyPr wrap="square" lIns="0" tIns="0" rIns="0" bIns="0" rtlCol="0" anchor="t"/>
          <a:lstStyle/>
          <a:p>
            <a:pPr indent="0" marL="0">
              <a:buNone/>
            </a:pPr>
            <a:r>
              <a:rPr lang="en-US" sz="1400" b="1" dirty="0">
                <a:solidFill>
                  <a:srgbClr val="12263A"/>
                </a:solidFill>
                <a:latin typeface="Cambria" pitchFamily="34" charset="0"/>
                <a:ea typeface="Cambria" pitchFamily="34" charset="-122"/>
                <a:cs typeface="Cambria" pitchFamily="34" charset="-120"/>
              </a:rPr>
              <a:t>Database</a:t>
            </a:r>
            <a:endParaRPr lang="en-US" sz="1400" dirty="0"/>
          </a:p>
        </p:txBody>
      </p:sp>
      <p:sp>
        <p:nvSpPr>
          <p:cNvPr id="23" name="Text 20"/>
          <p:cNvSpPr txBox="1"/>
          <p:nvPr/>
        </p:nvSpPr>
        <p:spPr>
          <a:xfrm>
            <a:off x="7812451"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Results stored in database_​basexdb</a:t>
            </a:r>
            <a:endParaRPr lang="en-US" sz="1400" dirty="0"/>
          </a:p>
        </p:txBody>
      </p:sp>
      <p:sp>
        <p:nvSpPr>
          <p:cNvPr id="24" name="arrow"/>
          <p:cNvSpPr/>
          <p:nvPr/>
        </p:nvSpPr>
        <p:spPr>
          <a:xfrm>
            <a:off x="9407713" y="2994660"/>
            <a:ext cx="411480" cy="457200"/>
          </a:xfrm>
          <a:prstGeom prst="rightArrow">
            <a:avLst/>
          </a:prstGeom>
          <a:solidFill>
            <a:srgbClr val="C9E4DF"/>
          </a:solidFill>
          <a:ln w="12700">
            <a:solidFill>
              <a:srgbClr val="C9E4DF"/>
            </a:solidFill>
            <a:prstDash val="solid"/>
          </a:ln>
        </p:spPr>
      </p:sp>
      <p:sp>
        <p:nvSpPr>
          <p:cNvPr id="25" name="step card"/>
          <p:cNvSpPr/>
          <p:nvPr/>
        </p:nvSpPr>
        <p:spPr>
          <a:xfrm>
            <a:off x="992892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6" name="number badge"/>
          <p:cNvSpPr txBox="1"/>
          <p:nvPr/>
        </p:nvSpPr>
        <p:spPr>
          <a:xfrm>
            <a:off x="10157521"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4"/>
          <p:cNvSpPr txBox="1"/>
          <p:nvPr/>
        </p:nvSpPr>
        <p:spPr>
          <a:xfrm>
            <a:off x="10157521" y="2560320"/>
            <a:ext cx="1348374" cy="685800"/>
          </a:xfrm>
          <a:prstGeom prst="rect">
            <a:avLst/>
          </a:prstGeom>
          <a:noFill/>
          <a:ln/>
        </p:spPr>
        <p:txBody>
          <a:bodyPr wrap="square" lIns="0" tIns="0" rIns="0" bIns="0" rtlCol="0" anchor="t"/>
          <a:lstStyle/>
          <a:p>
            <a:pPr indent="0" marL="0">
              <a:buNone/>
            </a:pPr>
            <a:r>
              <a:rPr lang="en-US" sz="1400" b="1" dirty="0">
                <a:solidFill>
                  <a:srgbClr val="12263A"/>
                </a:solidFill>
                <a:latin typeface="Cambria" pitchFamily="34" charset="0"/>
                <a:ea typeface="Cambria" pitchFamily="34" charset="-122"/>
                <a:cs typeface="Cambria" pitchFamily="34" charset="-120"/>
              </a:rPr>
              <a:t>R</a:t>
            </a:r>
            <a:endParaRPr lang="en-US" sz="1400" dirty="0"/>
          </a:p>
        </p:txBody>
      </p:sp>
      <p:sp>
        <p:nvSpPr>
          <p:cNvPr id="28" name="Text 25"/>
          <p:cNvSpPr txBox="1"/>
          <p:nvPr/>
        </p:nvSpPr>
        <p:spPr>
          <a:xfrm>
            <a:off x="10157521" y="3246120"/>
            <a:ext cx="1348374" cy="14173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rgcam runs queries and returns tables</a:t>
            </a:r>
            <a:endParaRPr lang="en-US" sz="1400" dirty="0"/>
          </a:p>
        </p:txBody>
      </p:sp>
      <p:sp>
        <p:nvSpPr>
          <p:cNvPr id="29"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30" name="Text 27"/>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Rule for every lab: never edit an original input file. Copy it and add the copy last.</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four scenarios you will meet in this stage</a:t>
            </a:r>
            <a:endParaRPr lang="en-US" sz="3200" dirty="0"/>
          </a:p>
        </p:txBody>
      </p:sp>
      <p:sp>
        <p:nvSpPr>
          <p:cNvPr id="5" name="idea card"/>
          <p:cNvSpPr/>
          <p:nvPr/>
        </p:nvSpPr>
        <p:spPr>
          <a:xfrm>
            <a:off x="548640"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Reference</a:t>
            </a:r>
            <a:endParaRPr lang="en-US" sz="2100" dirty="0"/>
          </a:p>
        </p:txBody>
      </p:sp>
      <p:sp>
        <p:nvSpPr>
          <p:cNvPr id="8" name="Text 5"/>
          <p:cNvSpPr txBox="1"/>
          <p:nvPr/>
        </p:nvSpPr>
        <p:spPr>
          <a:xfrm>
            <a:off x="822960"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GCAM's own baseline with no new climate policy. Every other scenario is read as a difference from it.</a:t>
            </a:r>
            <a:endParaRPr lang="en-US" sz="1800" dirty="0"/>
          </a:p>
        </p:txBody>
      </p:sp>
      <p:sp>
        <p:nvSpPr>
          <p:cNvPr id="9" name="idea card"/>
          <p:cNvSpPr/>
          <p:nvPr/>
        </p:nvSpPr>
        <p:spPr>
          <a:xfrm>
            <a:off x="3390824"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3665144"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3665144"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CheapSolar (week 8)</a:t>
            </a:r>
            <a:endParaRPr lang="en-US" sz="2100" dirty="0"/>
          </a:p>
        </p:txBody>
      </p:sp>
      <p:sp>
        <p:nvSpPr>
          <p:cNvPr id="12" name="Text 9"/>
          <p:cNvSpPr txBox="1"/>
          <p:nvPr/>
        </p:nvSpPr>
        <p:spPr>
          <a:xfrm>
            <a:off x="3665144"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Same as Reference, but solar power is assumed cheaper in the future.</a:t>
            </a:r>
            <a:endParaRPr lang="en-US" sz="1800" dirty="0"/>
          </a:p>
        </p:txBody>
      </p:sp>
      <p:sp>
        <p:nvSpPr>
          <p:cNvPr id="13" name="idea card"/>
          <p:cNvSpPr/>
          <p:nvPr/>
        </p:nvSpPr>
        <p:spPr>
          <a:xfrm>
            <a:off x="6233008"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6507328"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6507328"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CarbonPrice (week 10)</a:t>
            </a:r>
            <a:endParaRPr lang="en-US" sz="2100" dirty="0"/>
          </a:p>
        </p:txBody>
      </p:sp>
      <p:sp>
        <p:nvSpPr>
          <p:cNvPr id="16" name="Text 13"/>
          <p:cNvSpPr txBox="1"/>
          <p:nvPr/>
        </p:nvSpPr>
        <p:spPr>
          <a:xfrm>
            <a:off x="6507328"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 global price on CO2 that starts in 2025 and rises 5% a year.</a:t>
            </a:r>
            <a:endParaRPr lang="en-US" sz="1800" dirty="0"/>
          </a:p>
        </p:txBody>
      </p:sp>
      <p:sp>
        <p:nvSpPr>
          <p:cNvPr id="17" name="idea card"/>
          <p:cNvSpPr/>
          <p:nvPr/>
        </p:nvSpPr>
        <p:spPr>
          <a:xfrm>
            <a:off x="9075191"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9349511" y="1828800"/>
            <a:ext cx="548640" cy="548640"/>
          </a:xfrm>
          <a:prstGeom prst="ellipse">
            <a:avLst/>
          </a:prstGeom>
          <a:solidFill>
            <a:srgbClr val="D97706"/>
          </a:solidFill>
          <a:ln>
            <a:solidFill>
              <a:srgbClr val="D9770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9349511"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NetZero (week 10)</a:t>
            </a:r>
            <a:endParaRPr lang="en-US" sz="2100" dirty="0"/>
          </a:p>
        </p:txBody>
      </p:sp>
      <p:sp>
        <p:nvSpPr>
          <p:cNvPr id="20" name="Text 17"/>
          <p:cNvSpPr txBox="1"/>
          <p:nvPr/>
        </p:nvSpPr>
        <p:spPr>
          <a:xfrm>
            <a:off x="9349511"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A limit on emissions that falls to zero by 2050. GCAM finds the price.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Dynamic-recursive means GCAM ignores time</a:t>
            </a:r>
            <a:endParaRPr lang="en-US" sz="20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Plants, land and resources carry over between periods. It only means no decision sees future prices.</a:t>
            </a:r>
            <a:endParaRPr lang="en-US" sz="20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 logit share is the chance that a technology wins</a:t>
            </a:r>
            <a:endParaRPr lang="en-US" sz="20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It is the fraction of new investment each option gets in that period.</a:t>
            </a:r>
            <a:endParaRPr lang="en-US" sz="20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GCAM predicts the future</a:t>
            </a:r>
            <a:endParaRPr lang="en-US" sz="20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It works out what follows from its input assumptions, consistently across all markets.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GCAM   </a:t>
            </a:r>
            <a:pPr indent="0" marL="0">
              <a:buNone/>
            </a:pPr>
            <a:r>
              <a:rPr lang="en-US" sz="2000" dirty="0">
                <a:solidFill>
                  <a:srgbClr val="1F2933"/>
                </a:solidFill>
                <a:latin typeface="Calibri" pitchFamily="34" charset="0"/>
                <a:ea typeface="Calibri" pitchFamily="34" charset="-122"/>
                <a:cs typeface="Calibri" pitchFamily="34" charset="-120"/>
              </a:rPr>
              <a:t>The Global Change Analysis Model, built at PNNL's Joint Global Change Research Institute. It links energy, economy, land, water and climate.</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Time step   </a:t>
            </a:r>
            <a:pPr indent="0" marL="0">
              <a:buNone/>
            </a:pPr>
            <a:r>
              <a:rPr lang="en-US" sz="2000" dirty="0">
                <a:solidFill>
                  <a:srgbClr val="1F2933"/>
                </a:solidFill>
                <a:latin typeface="Calibri" pitchFamily="34" charset="0"/>
                <a:ea typeface="Calibri" pitchFamily="34" charset="-122"/>
                <a:cs typeface="Calibri" pitchFamily="34" charset="-120"/>
              </a:rPr>
              <a:t>The jump between model years. GCAM solves one year every 5 years, for example 2025, 2030, 2035.</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Dynamic-recursive   </a:t>
            </a:r>
            <a:pPr indent="0" marL="0">
              <a:buNone/>
            </a:pPr>
            <a:r>
              <a:rPr lang="en-US" sz="2000" dirty="0">
                <a:solidFill>
                  <a:srgbClr val="1F2933"/>
                </a:solidFill>
                <a:latin typeface="Calibri" pitchFamily="34" charset="0"/>
                <a:ea typeface="Calibri" pitchFamily="34" charset="-122"/>
                <a:cs typeface="Calibri" pitchFamily="34" charset="-120"/>
              </a:rPr>
              <a:t>Solving one period after another, without knowing future prices. What was built earlier carries over to the next period.</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Logit exponent   </a:t>
            </a:r>
            <a:pPr indent="0" marL="0">
              <a:buNone/>
            </a:pPr>
            <a:r>
              <a:rPr lang="en-US" sz="2000" dirty="0">
                <a:solidFill>
                  <a:srgbClr val="1F2933"/>
                </a:solidFill>
                <a:latin typeface="Calibri" pitchFamily="34" charset="0"/>
                <a:ea typeface="Calibri" pitchFamily="34" charset="-122"/>
                <a:cs typeface="Calibri" pitchFamily="34" charset="-120"/>
              </a:rPr>
              <a:t>A number that sets how strongly market shares react to a cost gap. Bigger (more negative) means the cheapest option grabs more.</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Share weight   </a:t>
            </a:r>
            <a:pPr indent="0" marL="0">
              <a:buNone/>
            </a:pPr>
            <a:r>
              <a:rPr lang="en-US" sz="2000" dirty="0">
                <a:solidFill>
                  <a:srgbClr val="1F2933"/>
                </a:solidFill>
                <a:latin typeface="Calibri" pitchFamily="34" charset="0"/>
                <a:ea typeface="Calibri" pitchFamily="34" charset="-122"/>
                <a:cs typeface="Calibri" pitchFamily="34" charset="-120"/>
              </a:rPr>
              <a:t>A tuning number for each option, set so the model reproduces past data. It also lets new technologies phase in.</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7: run Reference and query it from R</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Start your own Reference run on the course server, then connect to the instructor's database, pull results into R and draw your first GCAM charts.</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labs/lab7.R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Start a Reference run (Terminal tab)</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These are shell commands, not R. Type them in RStudio's Terminal tab. The run keeps going after the lab ends.</a:t>
            </a:r>
            <a:endParaRPr lang="en-US" sz="2000" dirty="0"/>
          </a:p>
        </p:txBody>
      </p:sp>
      <p:sp>
        <p:nvSpPr>
          <p:cNvPr id="7" name="code panel"/>
          <p:cNvSpPr/>
          <p:nvPr/>
        </p:nvSpPr>
        <p:spPr>
          <a:xfrm>
            <a:off x="548640" y="2738120"/>
            <a:ext cx="11094415" cy="2057400"/>
          </a:xfrm>
          <a:prstGeom prst="roundRect">
            <a:avLst>
              <a:gd name="adj" fmla="val 5333"/>
            </a:avLst>
          </a:prstGeom>
          <a:solidFill>
            <a:srgbClr val="1E2A36"/>
          </a:solidFill>
          <a:ln w="12700">
            <a:solidFill>
              <a:srgbClr val="1E2A36"/>
            </a:solidFill>
            <a:prstDash val="solid"/>
          </a:ln>
        </p:spPr>
      </p:sp>
      <p:sp>
        <p:nvSpPr>
          <p:cNvPr id="8" name="Text 5"/>
          <p:cNvSpPr txBox="1"/>
          <p:nvPr/>
        </p:nvSpPr>
        <p:spPr>
          <a:xfrm>
            <a:off x="868680" y="3012440"/>
            <a:ext cx="10545775" cy="164592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cd ~/gcam/exe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cp configuration_ref.xml configuration.xml</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nohup ./gcam.exe -C configuration.xml &amp;</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tail -n 3 logs/main_log.txt</a:t>
            </a:r>
            <a:endParaRPr lang="en-US" sz="2400" dirty="0"/>
          </a:p>
        </p:txBody>
      </p:sp>
      <p:pic>
        <p:nvPicPr>
          <p:cNvPr id="9" name="tip icon" descr="preencoded.png">    </p:cNvPr>
          <p:cNvPicPr>
            <a:picLocks noChangeAspect="1"/>
          </p:cNvPicPr>
          <p:nvPr/>
        </p:nvPicPr>
        <p:blipFill>
          <a:blip r:embed="rId1"/>
          <a:stretch>
            <a:fillRect/>
          </a:stretch>
        </p:blipFill>
        <p:spPr>
          <a:xfrm>
            <a:off x="548640" y="5042408"/>
            <a:ext cx="329184" cy="329184"/>
          </a:xfrm>
          <a:prstGeom prst="rect">
            <a:avLst/>
          </a:prstGeom>
        </p:spPr>
      </p:pic>
      <p:sp>
        <p:nvSpPr>
          <p:cNvPr id="10" name="Text 6"/>
          <p:cNvSpPr txBox="1"/>
          <p:nvPr/>
        </p:nvSpPr>
        <p:spPr>
          <a:xfrm>
            <a:off x="1005840" y="502412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Connect to the database</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localDBConn points R at the results. addScenario runs every query in the query file for one scenario and saves a project file.</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library(tidyverse)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library(rgcam)</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db_dir &lt;- "/course/gcam/output"  # from instructor</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conn &lt;- localDBConn(db_dir, "database_basexdb")</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listScenariosInDB(conn)</a:t>
            </a:r>
            <a:endParaRPr lang="en-US" sz="1700" dirty="0"/>
          </a:p>
          <a:p>
            <a:pPr indent="0" marL="0">
              <a:lnSpc>
                <a:spcPct val="100000"/>
              </a:lnSpc>
              <a:buNone/>
            </a:pP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dir.create("output", showWarnings = FALSE)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prj &lt;- addScenario(conn, "output/gcam_course.dat",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"Reference", "gcam-files/course_queries.xml")</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listScenarios(prj)</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listQueries(prj)</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Get one query and plot it</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Every query comes back as a long table, so your dplyr and ggplot2 skills work straight away.</a:t>
            </a:r>
            <a:endParaRPr lang="en-US" sz="2000" dirty="0"/>
          </a:p>
        </p:txBody>
      </p:sp>
      <p:sp>
        <p:nvSpPr>
          <p:cNvPr id="7" name="code panel"/>
          <p:cNvSpPr/>
          <p:nvPr/>
        </p:nvSpPr>
        <p:spPr>
          <a:xfrm>
            <a:off x="548640" y="2738120"/>
            <a:ext cx="11094415" cy="2788920"/>
          </a:xfrm>
          <a:prstGeom prst="roundRect">
            <a:avLst>
              <a:gd name="adj" fmla="val 3934"/>
            </a:avLst>
          </a:prstGeom>
          <a:solidFill>
            <a:srgbClr val="1E2A36"/>
          </a:solidFill>
          <a:ln w="12700">
            <a:solidFill>
              <a:srgbClr val="1E2A36"/>
            </a:solidFill>
            <a:prstDash val="solid"/>
          </a:ln>
        </p:spPr>
      </p:sp>
      <p:sp>
        <p:nvSpPr>
          <p:cNvPr id="8" name="Text 5"/>
          <p:cNvSpPr txBox="1"/>
          <p:nvPr/>
        </p:nvSpPr>
        <p:spPr>
          <a:xfrm>
            <a:off x="868680" y="3012440"/>
            <a:ext cx="10545775" cy="237744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co2 &lt;- getQuery(prj, "CO2 emissions by region")</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glimpse(co2)</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japan &lt;- filter(co2, region == "Japan")  # your region</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ggplot(japan, aes(year, value))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geom_line()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labs(y = japan$Units[1])</a:t>
            </a:r>
            <a:endParaRPr lang="en-US" sz="2400" dirty="0"/>
          </a:p>
        </p:txBody>
      </p:sp>
      <p:pic>
        <p:nvPicPr>
          <p:cNvPr id="9" name="tip icon" descr="preencoded.png">    </p:cNvPr>
          <p:cNvPicPr>
            <a:picLocks noChangeAspect="1"/>
          </p:cNvPicPr>
          <p:nvPr/>
        </p:nvPicPr>
        <p:blipFill>
          <a:blip r:embed="rId1"/>
          <a:stretch>
            <a:fillRect/>
          </a:stretch>
        </p:blipFill>
        <p:spPr>
          <a:xfrm>
            <a:off x="548640" y="5773928"/>
            <a:ext cx="329184" cy="329184"/>
          </a:xfrm>
          <a:prstGeom prst="rect">
            <a:avLst/>
          </a:prstGeom>
        </p:spPr>
      </p:pic>
      <p:sp>
        <p:nvSpPr>
          <p:cNvPr id="10" name="Text 6"/>
          <p:cNvSpPr txBox="1"/>
          <p:nvPr/>
        </p:nvSpPr>
        <p:spPr>
          <a:xfrm>
            <a:off x="1005840" y="575564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Electricity by fuel, then save</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A subsector is a fuel group such as coal, gas or solar. Save the project so next time you can just load it.</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elec &lt;- getQuery(prj, "elec gen by subsector") |&gt;</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filter(region == "Japan")</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ggplot(elec, aes(year, value, fill = subsector)) +</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geom_col()</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saveProject(prj)</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next time:</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prj &lt;- loadProject("output/gcam_course.dat")</a:t>
            </a:r>
            <a:endParaRPr lang="en-US" sz="23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listScenariosInDB shows the four course scenarios</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Your CO2 chart shows one smooth line for your region</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electricity chart stacks coal, gas, solar and other fuels by year</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Which fuel groups supply most electricity in your region in 2020 and in 2050?</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Convert your region's 2050 CO2 emissions from MtC to MtCO2.</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Using the Kaya factors from week 3, suggest what drives your region's emissions path.</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GCAM balances every market in every region, one 5-year period at a time</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Dynamic-recursive: no foresight, but what is built carries over</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logit rule shares new investment by relative cost: cheaper wins more, never all</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Results live in a database; rgcam turns queries into R tables</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8</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8 opens the energy system: how technologies compete on cost, and what happens when you make solar cheaper.</a:t>
            </a:r>
            <a:endParaRPr lang="en-US" sz="16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7: try the logit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Calvin et al. (2019), GCAM v5.1, Geoscientific Model Development, sections 1 and 2; rgcam package guide; GCAM v8.2 documentation: Overview, Common Assumptions, Economic Choice, Solution and Computation, How to Get Started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Inside GCAM</dc:title>
  <dc:subject>Modelling Climate and Energy Futures</dc:subject>
  <dc:creator>IAM course team</dc:creator>
  <cp:lastModifiedBy>IAM course team</cp:lastModifiedBy>
  <cp:revision>1</cp:revision>
  <dcterms:created xsi:type="dcterms:W3CDTF">2026-10-22T18:53:46Z</dcterms:created>
  <dcterms:modified xsi:type="dcterms:W3CDTF">2026-10-22T18:53:46Z</dcterms:modified>
</cp:coreProperties>
</file>