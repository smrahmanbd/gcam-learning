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6ccf90-29c4-1999-4a75-b3992eb0ff98}">
          <p14:sldIdLst>
            <p14:sldId id="256"/>
            <p14:sldId id="257"/>
            <p14:sldId id="258"/>
          </p14:sldIdLst>
        </p14:section>
        <p14:section name="Lecture" id="{2833e519-93f4-ae9b-c892-cc25b989f23b}">
          <p14:sldIdLst>
            <p14:sldId id="259"/>
            <p14:sldId id="260"/>
            <p14:sldId id="261"/>
            <p14:sldId id="262"/>
            <p14:sldId id="263"/>
            <p14:sldId id="264"/>
            <p14:sldId id="265"/>
            <p14:sldId id="266"/>
            <p14:sldId id="267"/>
            <p14:sldId id="268"/>
            <p14:sldId id="269"/>
            <p14:sldId id="270"/>
            <p14:sldId id="271"/>
          </p14:sldIdLst>
        </p14:section>
        <p14:section name="Lab" id="{09928c77-dcef-0540-e6e5-8144700f483e}">
          <p14:sldIdLst>
            <p14:sldId id="272"/>
            <p14:sldId id="273"/>
            <p14:sldId id="274"/>
            <p14:sldId id="275"/>
            <p14:sldId id="276"/>
            <p14:sldId id="277"/>
          </p14:sldIdLst>
        </p14:section>
        <p14:section name="Recap" id="{bbe30a1a-0970-4d1f-18b8-9c5afd3372d0}">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Output lost (%)</c:v>
                </c:pt>
              </c:strCache>
            </c:strRef>
          </c:tx>
          <c:spPr>
            <a:solidFill>
              <a:srgbClr val="0F766E"/>
            </a:solidFill>
            <a:ln w="3810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766E"/>
              </a:solidFill>
              <a:ln w="9525" cap="flat">
                <a:solidFill>
                  <a:srgbClr val="0F766E"/>
                </a:solidFill>
                <a:prstDash val="solid"/>
                <a:round/>
              </a:ln>
              <a:effectLst/>
            </c:spPr>
          </c:marker>
          <c:cat>
            <c:multiLvlStrRef>
              <c:f>Sheet1!$A$2:$A$7</c:f>
              <c:multiLvlStrCache>
                <c:ptCount val="6"/>
                <c:lvl>
                  <c:pt idx="0">
                    <c:v>0</c:v>
                  </c:pt>
                  <c:pt idx="1">
                    <c:v>1</c:v>
                  </c:pt>
                  <c:pt idx="2">
                    <c:v>2</c:v>
                  </c:pt>
                  <c:pt idx="3">
                    <c:v>3</c:v>
                  </c:pt>
                  <c:pt idx="4">
                    <c:v>4</c:v>
                  </c:pt>
                  <c:pt idx="5">
                    <c:v>5</c:v>
                  </c:pt>
                </c:lvl>
              </c:multiLvlStrCache>
            </c:multiLvlStrRef>
          </c:cat>
          <c:val>
            <c:numRef>
              <c:f>Sheet1!$B$2:$B$7</c:f>
              <c:numCache>
                <c:formatCode>General</c:formatCode>
                <c:ptCount val="6"/>
                <c:pt idx="0">
                  <c:v>0</c:v>
                </c:pt>
                <c:pt idx="1">
                  <c:v>0.24</c:v>
                </c:pt>
                <c:pt idx="2">
                  <c:v>0.94</c:v>
                </c:pt>
                <c:pt idx="3">
                  <c:v>2.12</c:v>
                </c:pt>
                <c:pt idx="4">
                  <c:v>3.78</c:v>
                </c:pt>
                <c:pt idx="5">
                  <c:v>5.9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Warming above pre-industrial (°C)</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Output lost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 today of $1 a year for 100 years</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1.5%</c:v>
                  </c:pt>
                  <c:pt idx="1">
                    <c:v>3%</c:v>
                  </c:pt>
                  <c:pt idx="2">
                    <c:v>5%</c:v>
                  </c:pt>
                </c:lvl>
              </c:multiLvlStrCache>
            </c:multiLvlStrRef>
          </c:cat>
          <c:val>
            <c:numRef>
              <c:f>Sheet1!$B$2:$B$4</c:f>
              <c:numCache>
                <c:formatCode>General</c:formatCode>
                <c:ptCount val="3"/>
                <c:pt idx="0">
                  <c:v>51.62</c:v>
                </c:pt>
                <c:pt idx="1">
                  <c:v>31.6</c:v>
                </c:pt>
                <c:pt idx="2">
                  <c:v>19.85</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875"/>
                    </a:solidFill>
                    <a:latin typeface="+mn-lt"/>
                  </a:defRPr>
                </a:pPr>
                <a:r>
                  <a:rPr sz="1200" b="0" i="0" u="none" strike="noStrike">
                    <a:solidFill>
                      <a:srgbClr val="5B6875"/>
                    </a:solidFill>
                    <a:latin typeface="+mn-lt"/>
                  </a:rPr>
                  <a:t>Discount rate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8E7"/>
              </a:solidFill>
              <a:prstDash val="solid"/>
              <a:round/>
            </a:ln>
          </c:spPr>
        </c:majorGridlines>
        <c:title>
          <c:tx>
            <c:rich>
              <a:bodyPr/>
              <a:lstStyle/>
              <a:p>
                <a:pPr>
                  <a:defRPr sz="1200" b="0" i="0" u="none" strike="noStrike">
                    <a:solidFill>
                      <a:srgbClr val="5B6875"/>
                    </a:solidFill>
                    <a:latin typeface="+mn-lt"/>
                  </a:defRPr>
                </a:pPr>
                <a:r>
                  <a:rPr sz="1200" b="0" i="0" u="none" strike="noStrike">
                    <a:solidFill>
                      <a:srgbClr val="5B6875"/>
                    </a:solidFill>
                    <a:latin typeface="+mn-lt"/>
                  </a:rPr>
                  <a:t>$ today</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8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5: Cost-benefit IAMs: DICE. A whole climate-economy model you can read in one sitting. Today has two halves: a lecture that builds the idea step by step with everyday examples, then a guided lab where we try it in R. Nobody is expected to know the material already. New R skill this week: Running a model many times with a loop or purrr; faceted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week 5 of 15. The course climbs in three stages: foundations (weeks 1 to 6), GCAM in depth (weeks 7 to 10) and advanced methods (weeks 11 to 15). Point out what came just before this week and what it prepares for, so students see each week as one step on a path rather than an isolated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and ask students to keep them in mind. We come back to them on the recap slide at the end. Big question for today: Two respected studies put the damage from one extra tonne of CO2 at $31 and at $185. How can both be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guesses: different data, different climate science, different economics. Tell students that by the end of the lab they will have turned the two dials that explain most of the gap: the discount rate and the damage function. Both numbers are quoted from memory; check them against the papers before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Weeks 2 to 4 each supplied one piece: the climate chain, emissions drivers and discounting. This week they connect. The trade-off in the last two points is the heart of 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loop once with words, then open the R code in the lab and find each box in it. Students can read the whole model, which is why DICE comes before GCAM.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a = 0.00236 is from DICE-2016R; check it against the version your dice.R uses. The square makes the curve gentle at first and steeper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does losing 3.8% of world output at 4 °C sound small or large? Many researchers think it is too small because it leaves out tipping points and damages that money cannot measure well. That debate is one reason the two estimates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week 4: the discount rate turns a stream of future damages into one number today. That is why the discount rate has such a big effect on the social cost of carbon.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Toy numbers chosen to land near DICE's $31; this is not a real SCC calculation. The point: same damage, same tonne, and the discount rate alone moves the value by a factor of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newer, higher estimate uses a lower near-term discount rate, updated damage functions and uncertain population and income projections. Students can now name these dials, which is the goal of the 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30 seconds to think and vote with fingers (1 to 4) before showing the next slide. Answer: 2.5² = 6.25 and 0.00236 × 6.25 = 0.01475, about 1.5%. Follow-up: with world output of $200 trillion, that is about $2.95 trillion a year. Students who chose A forgot to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2.5² = 6.25 and 0.00236 × 6.25 = 0.01475, about 1.5%. Follow-up: with world output of $200 trillion, that is about $2.95 trillion a year. Students who chose A forgot to square.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two mix-ups show up in policy debates. Ask students to rewrite 'the optimal carbon price is $31' in a more honest way: 'with these assumptions, DICE recommends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one input at a time with everything else fixed is a sensitivity analysis. Use the term now so it is familiar in week 13, when students do the same thing with GCAM.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new terms this week. Ask two students to read them aloud and add them to the shared class glossary. If any definition is unclear, rewrite it together in plainer words; that rewriting is part of learning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time. Run the course's teaching version of DICE, look inside its results, then vary the discount rate and the damage setting. Open the course project in RStudio first so file paths work. Rule for getting stuck: read the error message aloud to a neighbour, check the "you should see" slide, then raise a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dice.R is the instructor's teaching version, not a standard package; it must return year, output, emissions, temperature and carbon_price.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describe each line in one sentence. In standard DICE the carbon price rises steadily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 column is what lets facet_wrap split the chart. Ask students to predict which panel has the highest carbon price before they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minutes to match code blocks to the loop diagram. Students do not need to understand every line. This is the reason DICE comes before GCAM: you can read the whole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for the last twenty minutes. Students compare their output with the left column, then start the worksheet questions on the right. Anyone whose results differ should compare their code with a neighbour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goals from the start: Trace the DICE loop from economy to damages and back; Use the damage function to compute output lost at a given warming; Explain the social cost of carbon and why the discount rate moves it; Run a model many times in R with map() and compare runs with facets. Ask students to rate themselves on each. Then point to next week: Week 6 moves from one small model to the scenarios that many large models share: SSPs, RCPs and the IPCC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34">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3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28">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rtlCol="0"/>
          <a:lstStyle>
            <a:lvl1pPr algn="l" indent="0" marL="0">
              <a:buNone/>
              <a:defRPr lang="en-US" sz="5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32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5 · Cost-benefit IAMs: DICE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26">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94415" cy="868680"/>
          </a:xfrm>
          <a:prstGeom prst="rect">
            <a:avLst/>
          </a:prstGeom>
          <a:noFill/>
          <a:ln/>
        </p:spPr>
        <p:txBody>
          <a:bodyPr wrap="square" rtlCol="0"/>
          <a:lstStyle>
            <a:lvl1pPr algn="l" indent="0" marL="0">
              <a:buNone/>
              <a:defRPr lang="en-US" sz="2600" b="1" dirty="0">
                <a:solidFill>
                  <a:srgbClr val="12263A"/>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875"/>
                </a:solidFill>
                <a:latin typeface="Calibri" pitchFamily="34" charset="0"/>
                <a:ea typeface="Calibri" pitchFamily="34" charset="-122"/>
                <a:cs typeface="Calibri" pitchFamily="34" charset="-120"/>
              </a:rPr>
              <a:t>Week 5 · Cost-benefit IAMs: DICE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cap">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85800"/>
            <a:ext cx="11094415" cy="8229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6.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6.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6.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6.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5400" b="1" dirty="0">
                <a:solidFill>
                  <a:srgbClr val="FFFFFF"/>
                </a:solidFill>
                <a:latin typeface="Cambria" pitchFamily="34" charset="0"/>
                <a:ea typeface="Cambria" pitchFamily="34" charset="-122"/>
                <a:cs typeface="Cambria" pitchFamily="34" charset="-120"/>
              </a:rPr>
              <a:t>Cost-benefit IAMs: DICE</a:t>
            </a:r>
            <a:endParaRPr lang="en-US" sz="5400" dirty="0"/>
          </a:p>
        </p:txBody>
      </p:sp>
      <p:sp>
        <p:nvSpPr>
          <p:cNvPr id="3" name="Text 1"/>
          <p:cNvSpPr txBox="1"/>
          <p:nvPr/>
        </p:nvSpPr>
        <p:spPr>
          <a:xfrm>
            <a:off x="548640" y="822960"/>
            <a:ext cx="11094415" cy="365760"/>
          </a:xfrm>
          <a:prstGeom prst="rect">
            <a:avLst/>
          </a:prstGeom>
          <a:noFill/>
          <a:ln/>
        </p:spPr>
        <p:txBody>
          <a:bodyPr wrap="square" lIns="0" tIns="0" rIns="0" bIns="0" rtlCol="0" anchor="t"/>
          <a:lstStyle/>
          <a:p>
            <a:pPr indent="0" marL="0">
              <a:buNone/>
            </a:pPr>
            <a:r>
              <a:rPr lang="en-US" sz="1600" b="1" spc="300" kern="0" dirty="0">
                <a:solidFill>
                  <a:srgbClr val="6FD3C7"/>
                </a:solidFill>
                <a:latin typeface="Calibri" pitchFamily="34" charset="0"/>
                <a:ea typeface="Calibri" pitchFamily="34" charset="-122"/>
                <a:cs typeface="Calibri" pitchFamily="34" charset="-120"/>
              </a:rPr>
              <a:t>WEEK 5 OF 15  ·  STAGE 1: FOUNDATIONS</a:t>
            </a:r>
            <a:endParaRPr lang="en-US" sz="1600" dirty="0"/>
          </a:p>
        </p:txBody>
      </p:sp>
      <p:sp>
        <p:nvSpPr>
          <p:cNvPr id="4" name="Text 2"/>
          <p:cNvSpPr txBox="1"/>
          <p:nvPr/>
        </p:nvSpPr>
        <p:spPr>
          <a:xfrm>
            <a:off x="548640" y="3246120"/>
            <a:ext cx="9601200" cy="822960"/>
          </a:xfrm>
          <a:prstGeom prst="rect">
            <a:avLst/>
          </a:prstGeom>
          <a:noFill/>
          <a:ln/>
        </p:spPr>
        <p:txBody>
          <a:bodyPr wrap="square" lIns="0" tIns="0" rIns="0" bIns="0" rtlCol="0" anchor="t"/>
          <a:lstStyle/>
          <a:p>
            <a:pPr indent="0" marL="0">
              <a:buNone/>
            </a:pPr>
            <a:r>
              <a:rPr lang="en-US" sz="2800" dirty="0">
                <a:solidFill>
                  <a:srgbClr val="C9D6DF"/>
                </a:solidFill>
                <a:latin typeface="Calibri" pitchFamily="34" charset="0"/>
                <a:ea typeface="Calibri" pitchFamily="34" charset="-122"/>
                <a:cs typeface="Calibri" pitchFamily="34" charset="-120"/>
              </a:rPr>
              <a:t>A whole climate-economy model you can read in one sitting</a:t>
            </a:r>
            <a:endParaRPr lang="en-US" sz="2800" dirty="0"/>
          </a:p>
        </p:txBody>
      </p:sp>
      <p:sp>
        <p:nvSpPr>
          <p:cNvPr id="5" name="R skill pill"/>
          <p:cNvSpPr/>
          <p:nvPr/>
        </p:nvSpPr>
        <p:spPr>
          <a:xfrm>
            <a:off x="548640" y="4434840"/>
            <a:ext cx="7863840" cy="777240"/>
          </a:xfrm>
          <a:prstGeom prst="roundRect">
            <a:avLst>
              <a:gd name="adj" fmla="val 14118"/>
            </a:avLst>
          </a:prstGeom>
          <a:solidFill>
            <a:srgbClr val="1D3A52"/>
          </a:solidFill>
          <a:ln w="12700">
            <a:solidFill>
              <a:srgbClr val="1D3A52"/>
            </a:solidFill>
            <a:prstDash val="solid"/>
          </a:ln>
        </p:spPr>
      </p:sp>
      <p:sp>
        <p:nvSpPr>
          <p:cNvPr id="6" name="icon circle"/>
          <p:cNvSpPr/>
          <p:nvPr/>
        </p:nvSpPr>
        <p:spPr>
          <a:xfrm>
            <a:off x="713232" y="4562856"/>
            <a:ext cx="521208" cy="521208"/>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48746" y="4698370"/>
            <a:ext cx="250180" cy="250180"/>
          </a:xfrm>
          <a:prstGeom prst="rect">
            <a:avLst/>
          </a:prstGeom>
        </p:spPr>
      </p:pic>
      <p:sp>
        <p:nvSpPr>
          <p:cNvPr id="8" name="Text 5"/>
          <p:cNvSpPr txBox="1"/>
          <p:nvPr/>
        </p:nvSpPr>
        <p:spPr>
          <a:xfrm>
            <a:off x="1417320" y="4480560"/>
            <a:ext cx="6858000" cy="685800"/>
          </a:xfrm>
          <a:prstGeom prst="rect">
            <a:avLst/>
          </a:prstGeom>
          <a:noFill/>
          <a:ln/>
        </p:spPr>
        <p:txBody>
          <a:bodyPr wrap="square" lIns="0" tIns="0" rIns="0" bIns="0" rtlCol="0" anchor="ctr"/>
          <a:lstStyle/>
          <a:p>
            <a:pPr indent="0" marL="0">
              <a:buNone/>
            </a:pPr>
            <a:r>
              <a:rPr lang="en-US" sz="1600" b="1" dirty="0">
                <a:solidFill>
                  <a:srgbClr val="6FD3C7"/>
                </a:solidFill>
                <a:latin typeface="Calibri" pitchFamily="34" charset="0"/>
                <a:ea typeface="Calibri" pitchFamily="34" charset="-122"/>
                <a:cs typeface="Calibri" pitchFamily="34" charset="-120"/>
              </a:rPr>
              <a:t>New R skill  </a:t>
            </a:r>
            <a:pPr indent="0" marL="0">
              <a:buNone/>
            </a:pPr>
            <a:r>
              <a:rPr lang="en-US" sz="1600" dirty="0">
                <a:solidFill>
                  <a:srgbClr val="FFFFFF"/>
                </a:solidFill>
                <a:latin typeface="Calibri" pitchFamily="34" charset="0"/>
                <a:ea typeface="Calibri" pitchFamily="34" charset="-122"/>
                <a:cs typeface="Calibri" pitchFamily="34" charset="-120"/>
              </a:rPr>
              <a:t>Running a model many times with a loop or purrr; faceted charts</a:t>
            </a:r>
            <a:endParaRPr lang="en-US" sz="1600" dirty="0"/>
          </a:p>
        </p:txBody>
      </p:sp>
      <p:sp>
        <p:nvSpPr>
          <p:cNvPr id="9" name="Text 6"/>
          <p:cNvSpPr txBox="1"/>
          <p:nvPr/>
        </p:nvSpPr>
        <p:spPr>
          <a:xfrm>
            <a:off x="548640" y="5989320"/>
            <a:ext cx="9144000" cy="32004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Modelling Climate and Energy Futures  ·  beginner-friendly lecture and lab slides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COURSE MAP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Where we are in the course</a:t>
            </a:r>
            <a:endParaRPr lang="en-US" sz="3200" dirty="0"/>
          </a:p>
        </p:txBody>
      </p:sp>
      <p:sp>
        <p:nvSpPr>
          <p:cNvPr id="5" name="Text 2"/>
          <p:cNvSpPr txBox="1"/>
          <p:nvPr/>
        </p:nvSpPr>
        <p:spPr>
          <a:xfrm>
            <a:off x="548640" y="167335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1</a:t>
            </a:r>
            <a:endParaRPr lang="en-US" sz="1400" dirty="0"/>
          </a:p>
        </p:txBody>
      </p:sp>
      <p:sp>
        <p:nvSpPr>
          <p:cNvPr id="6" name="Text 3"/>
          <p:cNvSpPr txBox="1"/>
          <p:nvPr/>
        </p:nvSpPr>
        <p:spPr>
          <a:xfrm>
            <a:off x="548640" y="198424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Foundations</a:t>
            </a:r>
            <a:endParaRPr lang="en-US" sz="1600" dirty="0"/>
          </a:p>
        </p:txBody>
      </p:sp>
      <p:sp>
        <p:nvSpPr>
          <p:cNvPr id="7" name="week tile"/>
          <p:cNvSpPr/>
          <p:nvPr/>
        </p:nvSpPr>
        <p:spPr>
          <a:xfrm>
            <a:off x="2468880" y="1600200"/>
            <a:ext cx="1414729" cy="1188720"/>
          </a:xfrm>
          <a:prstGeom prst="roundRect">
            <a:avLst>
              <a:gd name="adj" fmla="val 9231"/>
            </a:avLst>
          </a:prstGeom>
          <a:solidFill>
            <a:srgbClr val="C9E4DF"/>
          </a:solidFill>
          <a:ln w="12700">
            <a:solidFill>
              <a:srgbClr val="C9E4DF"/>
            </a:solidFill>
            <a:prstDash val="solid"/>
          </a:ln>
        </p:spPr>
      </p:sp>
      <p:sp>
        <p:nvSpPr>
          <p:cNvPr id="8" name="Text 5"/>
          <p:cNvSpPr txBox="1"/>
          <p:nvPr/>
        </p:nvSpPr>
        <p:spPr>
          <a:xfrm>
            <a:off x="2578608"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a:t>
            </a:r>
            <a:endParaRPr lang="en-US" sz="1200" dirty="0"/>
          </a:p>
        </p:txBody>
      </p:sp>
      <p:sp>
        <p:nvSpPr>
          <p:cNvPr id="9" name="Text 6"/>
          <p:cNvSpPr txBox="1"/>
          <p:nvPr/>
        </p:nvSpPr>
        <p:spPr>
          <a:xfrm>
            <a:off x="2578608"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 the future?</a:t>
            </a:r>
            <a:endParaRPr lang="en-US" sz="1400" dirty="0"/>
          </a:p>
        </p:txBody>
      </p:sp>
      <p:sp>
        <p:nvSpPr>
          <p:cNvPr id="10" name="week tile"/>
          <p:cNvSpPr/>
          <p:nvPr/>
        </p:nvSpPr>
        <p:spPr>
          <a:xfrm>
            <a:off x="4020769" y="1600200"/>
            <a:ext cx="1414729" cy="1188720"/>
          </a:xfrm>
          <a:prstGeom prst="roundRect">
            <a:avLst>
              <a:gd name="adj" fmla="val 9231"/>
            </a:avLst>
          </a:prstGeom>
          <a:solidFill>
            <a:srgbClr val="C9E4DF"/>
          </a:solidFill>
          <a:ln w="12700">
            <a:solidFill>
              <a:srgbClr val="C9E4DF"/>
            </a:solidFill>
            <a:prstDash val="solid"/>
          </a:ln>
        </p:spPr>
      </p:sp>
      <p:sp>
        <p:nvSpPr>
          <p:cNvPr id="11" name="Text 8"/>
          <p:cNvSpPr txBox="1"/>
          <p:nvPr/>
        </p:nvSpPr>
        <p:spPr>
          <a:xfrm>
            <a:off x="4130497"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2</a:t>
            </a:r>
            <a:endParaRPr lang="en-US" sz="1200" dirty="0"/>
          </a:p>
        </p:txBody>
      </p:sp>
      <p:sp>
        <p:nvSpPr>
          <p:cNvPr id="12" name="Text 9"/>
          <p:cNvSpPr txBox="1"/>
          <p:nvPr/>
        </p:nvSpPr>
        <p:spPr>
          <a:xfrm>
            <a:off x="4130497"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Climate primer</a:t>
            </a:r>
            <a:endParaRPr lang="en-US" sz="1400" dirty="0"/>
          </a:p>
        </p:txBody>
      </p:sp>
      <p:sp>
        <p:nvSpPr>
          <p:cNvPr id="13" name="week tile"/>
          <p:cNvSpPr/>
          <p:nvPr/>
        </p:nvSpPr>
        <p:spPr>
          <a:xfrm>
            <a:off x="5572658" y="1600200"/>
            <a:ext cx="1414729" cy="1188720"/>
          </a:xfrm>
          <a:prstGeom prst="roundRect">
            <a:avLst>
              <a:gd name="adj" fmla="val 9231"/>
            </a:avLst>
          </a:prstGeom>
          <a:solidFill>
            <a:srgbClr val="C9E4DF"/>
          </a:solidFill>
          <a:ln w="12700">
            <a:solidFill>
              <a:srgbClr val="C9E4DF"/>
            </a:solidFill>
            <a:prstDash val="solid"/>
          </a:ln>
        </p:spPr>
      </p:sp>
      <p:sp>
        <p:nvSpPr>
          <p:cNvPr id="14" name="Text 11"/>
          <p:cNvSpPr txBox="1"/>
          <p:nvPr/>
        </p:nvSpPr>
        <p:spPr>
          <a:xfrm>
            <a:off x="568238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3</a:t>
            </a:r>
            <a:endParaRPr lang="en-US" sz="1200" dirty="0"/>
          </a:p>
        </p:txBody>
      </p:sp>
      <p:sp>
        <p:nvSpPr>
          <p:cNvPr id="15" name="Text 12"/>
          <p:cNvSpPr txBox="1"/>
          <p:nvPr/>
        </p:nvSpPr>
        <p:spPr>
          <a:xfrm>
            <a:off x="568238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primer</a:t>
            </a:r>
            <a:endParaRPr lang="en-US" sz="1400" dirty="0"/>
          </a:p>
        </p:txBody>
      </p:sp>
      <p:sp>
        <p:nvSpPr>
          <p:cNvPr id="16" name="week tile"/>
          <p:cNvSpPr/>
          <p:nvPr/>
        </p:nvSpPr>
        <p:spPr>
          <a:xfrm>
            <a:off x="7124548" y="1600200"/>
            <a:ext cx="1414729" cy="1188720"/>
          </a:xfrm>
          <a:prstGeom prst="roundRect">
            <a:avLst>
              <a:gd name="adj" fmla="val 9231"/>
            </a:avLst>
          </a:prstGeom>
          <a:solidFill>
            <a:srgbClr val="C9E4DF"/>
          </a:solidFill>
          <a:ln w="12700">
            <a:solidFill>
              <a:srgbClr val="C9E4DF"/>
            </a:solidFill>
            <a:prstDash val="solid"/>
          </a:ln>
        </p:spPr>
      </p:sp>
      <p:sp>
        <p:nvSpPr>
          <p:cNvPr id="17" name="Text 14"/>
          <p:cNvSpPr txBox="1"/>
          <p:nvPr/>
        </p:nvSpPr>
        <p:spPr>
          <a:xfrm>
            <a:off x="7234276"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4</a:t>
            </a:r>
            <a:endParaRPr lang="en-US" sz="1200" dirty="0"/>
          </a:p>
        </p:txBody>
      </p:sp>
      <p:sp>
        <p:nvSpPr>
          <p:cNvPr id="18" name="Text 15"/>
          <p:cNvSpPr txBox="1"/>
          <p:nvPr/>
        </p:nvSpPr>
        <p:spPr>
          <a:xfrm>
            <a:off x="7234276"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Economics primer</a:t>
            </a:r>
            <a:endParaRPr lang="en-US" sz="1400" dirty="0"/>
          </a:p>
        </p:txBody>
      </p:sp>
      <p:sp>
        <p:nvSpPr>
          <p:cNvPr id="19" name="week tile"/>
          <p:cNvSpPr/>
          <p:nvPr/>
        </p:nvSpPr>
        <p:spPr>
          <a:xfrm>
            <a:off x="8676437" y="1600200"/>
            <a:ext cx="1414729" cy="1188720"/>
          </a:xfrm>
          <a:prstGeom prst="roundRect">
            <a:avLst>
              <a:gd name="adj" fmla="val 9231"/>
            </a:avLst>
          </a:prstGeom>
          <a:solidFill>
            <a:srgbClr val="C2410C"/>
          </a:solidFill>
          <a:ln w="12700">
            <a:solidFill>
              <a:srgbClr val="C2410C"/>
            </a:solidFill>
            <a:prstDash val="solid"/>
          </a:ln>
        </p:spPr>
      </p:sp>
      <p:sp>
        <p:nvSpPr>
          <p:cNvPr id="20" name="Text 17"/>
          <p:cNvSpPr txBox="1"/>
          <p:nvPr/>
        </p:nvSpPr>
        <p:spPr>
          <a:xfrm>
            <a:off x="8786165" y="1691640"/>
            <a:ext cx="1231849"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Week 5</a:t>
            </a:r>
            <a:endParaRPr lang="en-US" sz="1200" dirty="0"/>
          </a:p>
        </p:txBody>
      </p:sp>
      <p:sp>
        <p:nvSpPr>
          <p:cNvPr id="21" name="Text 18"/>
          <p:cNvSpPr txBox="1"/>
          <p:nvPr/>
        </p:nvSpPr>
        <p:spPr>
          <a:xfrm>
            <a:off x="8786165" y="1984248"/>
            <a:ext cx="1231849" cy="731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Cost-benefit IAMs: DICE</a:t>
            </a:r>
            <a:endParaRPr lang="en-US" sz="1400" dirty="0"/>
          </a:p>
        </p:txBody>
      </p:sp>
      <p:sp>
        <p:nvSpPr>
          <p:cNvPr id="22" name="week tile"/>
          <p:cNvSpPr/>
          <p:nvPr/>
        </p:nvSpPr>
        <p:spPr>
          <a:xfrm>
            <a:off x="10228326" y="1600200"/>
            <a:ext cx="1414729" cy="1188720"/>
          </a:xfrm>
          <a:prstGeom prst="roundRect">
            <a:avLst>
              <a:gd name="adj" fmla="val 9231"/>
            </a:avLst>
          </a:prstGeom>
          <a:solidFill>
            <a:srgbClr val="F7FAF9"/>
          </a:solidFill>
          <a:ln w="12700">
            <a:solidFill>
              <a:srgbClr val="F7FAF9"/>
            </a:solidFill>
            <a:prstDash val="solid"/>
          </a:ln>
        </p:spPr>
      </p:sp>
      <p:sp>
        <p:nvSpPr>
          <p:cNvPr id="23" name="Shape 20"/>
          <p:cNvSpPr/>
          <p:nvPr/>
        </p:nvSpPr>
        <p:spPr>
          <a:xfrm>
            <a:off x="10228326" y="1600200"/>
            <a:ext cx="1414729" cy="1188720"/>
          </a:xfrm>
          <a:prstGeom prst="roundRect">
            <a:avLst>
              <a:gd name="adj" fmla="val 9231"/>
            </a:avLst>
          </a:prstGeom>
          <a:solidFill>
            <a:srgbClr val="F7FAF9"/>
          </a:solidFill>
          <a:ln w="12700">
            <a:solidFill>
              <a:srgbClr val="D5DDDB"/>
            </a:solidFill>
            <a:prstDash val="solid"/>
          </a:ln>
        </p:spPr>
      </p:sp>
      <p:sp>
        <p:nvSpPr>
          <p:cNvPr id="24" name="Text 21"/>
          <p:cNvSpPr txBox="1"/>
          <p:nvPr/>
        </p:nvSpPr>
        <p:spPr>
          <a:xfrm>
            <a:off x="10338054" y="169164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6</a:t>
            </a:r>
            <a:endParaRPr lang="en-US" sz="1200" dirty="0"/>
          </a:p>
        </p:txBody>
      </p:sp>
      <p:sp>
        <p:nvSpPr>
          <p:cNvPr id="25" name="Text 22"/>
          <p:cNvSpPr txBox="1"/>
          <p:nvPr/>
        </p:nvSpPr>
        <p:spPr>
          <a:xfrm>
            <a:off x="10338054" y="198424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scenario framework</a:t>
            </a:r>
            <a:endParaRPr lang="en-US" sz="1400" dirty="0"/>
          </a:p>
        </p:txBody>
      </p:sp>
      <p:sp>
        <p:nvSpPr>
          <p:cNvPr id="26" name="Text 23"/>
          <p:cNvSpPr txBox="1"/>
          <p:nvPr/>
        </p:nvSpPr>
        <p:spPr>
          <a:xfrm>
            <a:off x="548640" y="318211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2</a:t>
            </a:r>
            <a:endParaRPr lang="en-US" sz="1400" dirty="0"/>
          </a:p>
        </p:txBody>
      </p:sp>
      <p:sp>
        <p:nvSpPr>
          <p:cNvPr id="27" name="Text 24"/>
          <p:cNvSpPr txBox="1"/>
          <p:nvPr/>
        </p:nvSpPr>
        <p:spPr>
          <a:xfrm>
            <a:off x="548640" y="349300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GCAM in depth</a:t>
            </a:r>
            <a:endParaRPr lang="en-US" sz="1600" dirty="0"/>
          </a:p>
        </p:txBody>
      </p:sp>
      <p:sp>
        <p:nvSpPr>
          <p:cNvPr id="28" name="week tile"/>
          <p:cNvSpPr/>
          <p:nvPr/>
        </p:nvSpPr>
        <p:spPr>
          <a:xfrm>
            <a:off x="2468880" y="3108960"/>
            <a:ext cx="1414729" cy="1188720"/>
          </a:xfrm>
          <a:prstGeom prst="roundRect">
            <a:avLst>
              <a:gd name="adj" fmla="val 9231"/>
            </a:avLst>
          </a:prstGeom>
          <a:solidFill>
            <a:srgbClr val="F7FAF9"/>
          </a:solidFill>
          <a:ln w="12700">
            <a:solidFill>
              <a:srgbClr val="F7FAF9"/>
            </a:solidFill>
            <a:prstDash val="solid"/>
          </a:ln>
        </p:spPr>
      </p:sp>
      <p:sp>
        <p:nvSpPr>
          <p:cNvPr id="29" name="Shape 26"/>
          <p:cNvSpPr/>
          <p:nvPr/>
        </p:nvSpPr>
        <p:spPr>
          <a:xfrm>
            <a:off x="2468880" y="3108960"/>
            <a:ext cx="1414729" cy="1188720"/>
          </a:xfrm>
          <a:prstGeom prst="roundRect">
            <a:avLst>
              <a:gd name="adj" fmla="val 9231"/>
            </a:avLst>
          </a:prstGeom>
          <a:solidFill>
            <a:srgbClr val="F7FAF9"/>
          </a:solidFill>
          <a:ln w="12700">
            <a:solidFill>
              <a:srgbClr val="D5DDDB"/>
            </a:solidFill>
            <a:prstDash val="solid"/>
          </a:ln>
        </p:spPr>
      </p:sp>
      <p:sp>
        <p:nvSpPr>
          <p:cNvPr id="30" name="Text 27"/>
          <p:cNvSpPr txBox="1"/>
          <p:nvPr/>
        </p:nvSpPr>
        <p:spPr>
          <a:xfrm>
            <a:off x="2578608"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7</a:t>
            </a:r>
            <a:endParaRPr lang="en-US" sz="1200" dirty="0"/>
          </a:p>
        </p:txBody>
      </p:sp>
      <p:sp>
        <p:nvSpPr>
          <p:cNvPr id="31" name="Text 28"/>
          <p:cNvSpPr txBox="1"/>
          <p:nvPr/>
        </p:nvSpPr>
        <p:spPr>
          <a:xfrm>
            <a:off x="2578608"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Inside GCAM</a:t>
            </a:r>
            <a:endParaRPr lang="en-US" sz="1400" dirty="0"/>
          </a:p>
        </p:txBody>
      </p:sp>
      <p:sp>
        <p:nvSpPr>
          <p:cNvPr id="32" name="week tile"/>
          <p:cNvSpPr/>
          <p:nvPr/>
        </p:nvSpPr>
        <p:spPr>
          <a:xfrm>
            <a:off x="4020769" y="3108960"/>
            <a:ext cx="1414729" cy="1188720"/>
          </a:xfrm>
          <a:prstGeom prst="roundRect">
            <a:avLst>
              <a:gd name="adj" fmla="val 9231"/>
            </a:avLst>
          </a:prstGeom>
          <a:solidFill>
            <a:srgbClr val="F7FAF9"/>
          </a:solidFill>
          <a:ln w="12700">
            <a:solidFill>
              <a:srgbClr val="F7FAF9"/>
            </a:solidFill>
            <a:prstDash val="solid"/>
          </a:ln>
        </p:spPr>
      </p:sp>
      <p:sp>
        <p:nvSpPr>
          <p:cNvPr id="33" name="Shape 30"/>
          <p:cNvSpPr/>
          <p:nvPr/>
        </p:nvSpPr>
        <p:spPr>
          <a:xfrm>
            <a:off x="4020769" y="3108960"/>
            <a:ext cx="1414729" cy="1188720"/>
          </a:xfrm>
          <a:prstGeom prst="roundRect">
            <a:avLst>
              <a:gd name="adj" fmla="val 9231"/>
            </a:avLst>
          </a:prstGeom>
          <a:solidFill>
            <a:srgbClr val="F7FAF9"/>
          </a:solidFill>
          <a:ln w="12700">
            <a:solidFill>
              <a:srgbClr val="D5DDDB"/>
            </a:solidFill>
            <a:prstDash val="solid"/>
          </a:ln>
        </p:spPr>
      </p:sp>
      <p:sp>
        <p:nvSpPr>
          <p:cNvPr id="34" name="Text 31"/>
          <p:cNvSpPr txBox="1"/>
          <p:nvPr/>
        </p:nvSpPr>
        <p:spPr>
          <a:xfrm>
            <a:off x="4130497"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8</a:t>
            </a:r>
            <a:endParaRPr lang="en-US" sz="1200" dirty="0"/>
          </a:p>
        </p:txBody>
      </p:sp>
      <p:sp>
        <p:nvSpPr>
          <p:cNvPr id="35" name="Text 32"/>
          <p:cNvSpPr txBox="1"/>
          <p:nvPr/>
        </p:nvSpPr>
        <p:spPr>
          <a:xfrm>
            <a:off x="4130497"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Energy in GCAM</a:t>
            </a:r>
            <a:endParaRPr lang="en-US" sz="1400" dirty="0"/>
          </a:p>
        </p:txBody>
      </p:sp>
      <p:sp>
        <p:nvSpPr>
          <p:cNvPr id="36" name="week tile"/>
          <p:cNvSpPr/>
          <p:nvPr/>
        </p:nvSpPr>
        <p:spPr>
          <a:xfrm>
            <a:off x="5572658" y="3108960"/>
            <a:ext cx="1414729" cy="1188720"/>
          </a:xfrm>
          <a:prstGeom prst="roundRect">
            <a:avLst>
              <a:gd name="adj" fmla="val 9231"/>
            </a:avLst>
          </a:prstGeom>
          <a:solidFill>
            <a:srgbClr val="F7FAF9"/>
          </a:solidFill>
          <a:ln w="12700">
            <a:solidFill>
              <a:srgbClr val="F7FAF9"/>
            </a:solidFill>
            <a:prstDash val="solid"/>
          </a:ln>
        </p:spPr>
      </p:sp>
      <p:sp>
        <p:nvSpPr>
          <p:cNvPr id="37" name="Shape 34"/>
          <p:cNvSpPr/>
          <p:nvPr/>
        </p:nvSpPr>
        <p:spPr>
          <a:xfrm>
            <a:off x="5572658" y="3108960"/>
            <a:ext cx="1414729" cy="1188720"/>
          </a:xfrm>
          <a:prstGeom prst="roundRect">
            <a:avLst>
              <a:gd name="adj" fmla="val 9231"/>
            </a:avLst>
          </a:prstGeom>
          <a:solidFill>
            <a:srgbClr val="F7FAF9"/>
          </a:solidFill>
          <a:ln w="12700">
            <a:solidFill>
              <a:srgbClr val="D5DDDB"/>
            </a:solidFill>
            <a:prstDash val="solid"/>
          </a:ln>
        </p:spPr>
      </p:sp>
      <p:sp>
        <p:nvSpPr>
          <p:cNvPr id="38" name="Text 35"/>
          <p:cNvSpPr txBox="1"/>
          <p:nvPr/>
        </p:nvSpPr>
        <p:spPr>
          <a:xfrm>
            <a:off x="568238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9</a:t>
            </a:r>
            <a:endParaRPr lang="en-US" sz="1200" dirty="0"/>
          </a:p>
        </p:txBody>
      </p:sp>
      <p:sp>
        <p:nvSpPr>
          <p:cNvPr id="39" name="Text 36"/>
          <p:cNvSpPr txBox="1"/>
          <p:nvPr/>
        </p:nvSpPr>
        <p:spPr>
          <a:xfrm>
            <a:off x="568238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Land, water and bioenergy</a:t>
            </a:r>
            <a:endParaRPr lang="en-US" sz="1400" dirty="0"/>
          </a:p>
        </p:txBody>
      </p:sp>
      <p:sp>
        <p:nvSpPr>
          <p:cNvPr id="40" name="week tile"/>
          <p:cNvSpPr/>
          <p:nvPr/>
        </p:nvSpPr>
        <p:spPr>
          <a:xfrm>
            <a:off x="7124548" y="3108960"/>
            <a:ext cx="1414729" cy="1188720"/>
          </a:xfrm>
          <a:prstGeom prst="roundRect">
            <a:avLst>
              <a:gd name="adj" fmla="val 9231"/>
            </a:avLst>
          </a:prstGeom>
          <a:solidFill>
            <a:srgbClr val="F7FAF9"/>
          </a:solidFill>
          <a:ln w="12700">
            <a:solidFill>
              <a:srgbClr val="F7FAF9"/>
            </a:solidFill>
            <a:prstDash val="solid"/>
          </a:ln>
        </p:spPr>
      </p:sp>
      <p:sp>
        <p:nvSpPr>
          <p:cNvPr id="41" name="Shape 38"/>
          <p:cNvSpPr/>
          <p:nvPr/>
        </p:nvSpPr>
        <p:spPr>
          <a:xfrm>
            <a:off x="7124548" y="3108960"/>
            <a:ext cx="1414729" cy="1188720"/>
          </a:xfrm>
          <a:prstGeom prst="roundRect">
            <a:avLst>
              <a:gd name="adj" fmla="val 9231"/>
            </a:avLst>
          </a:prstGeom>
          <a:solidFill>
            <a:srgbClr val="F7FAF9"/>
          </a:solidFill>
          <a:ln w="12700">
            <a:solidFill>
              <a:srgbClr val="D5DDDB"/>
            </a:solidFill>
            <a:prstDash val="solid"/>
          </a:ln>
        </p:spPr>
      </p:sp>
      <p:sp>
        <p:nvSpPr>
          <p:cNvPr id="42" name="Text 39"/>
          <p:cNvSpPr txBox="1"/>
          <p:nvPr/>
        </p:nvSpPr>
        <p:spPr>
          <a:xfrm>
            <a:off x="7234276" y="320040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10</a:t>
            </a:r>
            <a:endParaRPr lang="en-US" sz="1200" dirty="0"/>
          </a:p>
        </p:txBody>
      </p:sp>
      <p:sp>
        <p:nvSpPr>
          <p:cNvPr id="43" name="Text 40"/>
          <p:cNvSpPr txBox="1"/>
          <p:nvPr/>
        </p:nvSpPr>
        <p:spPr>
          <a:xfrm>
            <a:off x="7234276" y="349300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Emissions and policy</a:t>
            </a:r>
            <a:endParaRPr lang="en-US" sz="1400" dirty="0"/>
          </a:p>
        </p:txBody>
      </p:sp>
      <p:sp>
        <p:nvSpPr>
          <p:cNvPr id="44" name="Text 41"/>
          <p:cNvSpPr txBox="1"/>
          <p:nvPr/>
        </p:nvSpPr>
        <p:spPr>
          <a:xfrm>
            <a:off x="548640" y="4690872"/>
            <a:ext cx="1737360" cy="320040"/>
          </a:xfrm>
          <a:prstGeom prst="rect">
            <a:avLst/>
          </a:prstGeom>
          <a:noFill/>
          <a:ln/>
        </p:spPr>
        <p:txBody>
          <a:bodyPr wrap="square" lIns="0" tIns="0" rIns="0" bIns="0" rtlCol="0" anchor="t"/>
          <a:lstStyle/>
          <a:p>
            <a:pPr indent="0" marL="0">
              <a:buNone/>
            </a:pPr>
            <a:r>
              <a:rPr lang="en-US" sz="1400" b="1" dirty="0">
                <a:solidFill>
                  <a:srgbClr val="5B6875"/>
                </a:solidFill>
                <a:latin typeface="Calibri" pitchFamily="34" charset="0"/>
                <a:ea typeface="Calibri" pitchFamily="34" charset="-122"/>
                <a:cs typeface="Calibri" pitchFamily="34" charset="-120"/>
              </a:rPr>
              <a:t>Stage 3</a:t>
            </a:r>
            <a:endParaRPr lang="en-US" sz="1400" dirty="0"/>
          </a:p>
        </p:txBody>
      </p:sp>
      <p:sp>
        <p:nvSpPr>
          <p:cNvPr id="45" name="Text 42"/>
          <p:cNvSpPr txBox="1"/>
          <p:nvPr/>
        </p:nvSpPr>
        <p:spPr>
          <a:xfrm>
            <a:off x="548640" y="5001768"/>
            <a:ext cx="1737360" cy="548640"/>
          </a:xfrm>
          <a:prstGeom prst="rect">
            <a:avLst/>
          </a:prstGeom>
          <a:noFill/>
          <a:ln/>
        </p:spPr>
        <p:txBody>
          <a:bodyPr wrap="square" lIns="0" tIns="0" rIns="0" bIns="0" rtlCol="0" anchor="t"/>
          <a:lstStyle/>
          <a:p>
            <a:pPr indent="0" marL="0">
              <a:buNone/>
            </a:pPr>
            <a:r>
              <a:rPr lang="en-US" sz="1600" b="1" dirty="0">
                <a:solidFill>
                  <a:srgbClr val="12263A"/>
                </a:solidFill>
                <a:latin typeface="Cambria" pitchFamily="34" charset="0"/>
                <a:ea typeface="Cambria" pitchFamily="34" charset="-122"/>
                <a:cs typeface="Cambria" pitchFamily="34" charset="-120"/>
              </a:rPr>
              <a:t>Advanced methods</a:t>
            </a:r>
            <a:endParaRPr lang="en-US" sz="1600" dirty="0"/>
          </a:p>
        </p:txBody>
      </p:sp>
      <p:sp>
        <p:nvSpPr>
          <p:cNvPr id="46" name="week tile"/>
          <p:cNvSpPr/>
          <p:nvPr/>
        </p:nvSpPr>
        <p:spPr>
          <a:xfrm>
            <a:off x="2468880" y="4617720"/>
            <a:ext cx="1414729" cy="1188720"/>
          </a:xfrm>
          <a:prstGeom prst="roundRect">
            <a:avLst>
              <a:gd name="adj" fmla="val 9231"/>
            </a:avLst>
          </a:prstGeom>
          <a:solidFill>
            <a:srgbClr val="F7FAF9"/>
          </a:solidFill>
          <a:ln w="12700">
            <a:solidFill>
              <a:srgbClr val="F7FAF9"/>
            </a:solidFill>
            <a:prstDash val="solid"/>
          </a:ln>
        </p:spPr>
      </p:sp>
      <p:sp>
        <p:nvSpPr>
          <p:cNvPr id="47" name="Shape 44"/>
          <p:cNvSpPr/>
          <p:nvPr/>
        </p:nvSpPr>
        <p:spPr>
          <a:xfrm>
            <a:off x="2468880" y="4617720"/>
            <a:ext cx="1414729" cy="1188720"/>
          </a:xfrm>
          <a:prstGeom prst="roundRect">
            <a:avLst>
              <a:gd name="adj" fmla="val 9231"/>
            </a:avLst>
          </a:prstGeom>
          <a:solidFill>
            <a:srgbClr val="F7FAF9"/>
          </a:solidFill>
          <a:ln w="12700">
            <a:solidFill>
              <a:srgbClr val="D5DDDB"/>
            </a:solidFill>
            <a:prstDash val="solid"/>
          </a:ln>
        </p:spPr>
      </p:sp>
      <p:sp>
        <p:nvSpPr>
          <p:cNvPr id="48" name="Text 45"/>
          <p:cNvSpPr txBox="1"/>
          <p:nvPr/>
        </p:nvSpPr>
        <p:spPr>
          <a:xfrm>
            <a:off x="2578608"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11</a:t>
            </a:r>
            <a:endParaRPr lang="en-US" sz="1200" dirty="0"/>
          </a:p>
        </p:txBody>
      </p:sp>
      <p:sp>
        <p:nvSpPr>
          <p:cNvPr id="49" name="Text 46"/>
          <p:cNvSpPr txBox="1"/>
          <p:nvPr/>
        </p:nvSpPr>
        <p:spPr>
          <a:xfrm>
            <a:off x="2578608"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Optimisation IAMs</a:t>
            </a:r>
            <a:endParaRPr lang="en-US" sz="1400" dirty="0"/>
          </a:p>
        </p:txBody>
      </p:sp>
      <p:sp>
        <p:nvSpPr>
          <p:cNvPr id="50" name="week tile"/>
          <p:cNvSpPr/>
          <p:nvPr/>
        </p:nvSpPr>
        <p:spPr>
          <a:xfrm>
            <a:off x="4020769" y="4617720"/>
            <a:ext cx="1414729" cy="1188720"/>
          </a:xfrm>
          <a:prstGeom prst="roundRect">
            <a:avLst>
              <a:gd name="adj" fmla="val 9231"/>
            </a:avLst>
          </a:prstGeom>
          <a:solidFill>
            <a:srgbClr val="F7FAF9"/>
          </a:solidFill>
          <a:ln w="12700">
            <a:solidFill>
              <a:srgbClr val="F7FAF9"/>
            </a:solidFill>
            <a:prstDash val="solid"/>
          </a:ln>
        </p:spPr>
      </p:sp>
      <p:sp>
        <p:nvSpPr>
          <p:cNvPr id="51" name="Shape 48"/>
          <p:cNvSpPr/>
          <p:nvPr/>
        </p:nvSpPr>
        <p:spPr>
          <a:xfrm>
            <a:off x="4020769" y="4617720"/>
            <a:ext cx="1414729" cy="1188720"/>
          </a:xfrm>
          <a:prstGeom prst="roundRect">
            <a:avLst>
              <a:gd name="adj" fmla="val 9231"/>
            </a:avLst>
          </a:prstGeom>
          <a:solidFill>
            <a:srgbClr val="F7FAF9"/>
          </a:solidFill>
          <a:ln w="12700">
            <a:solidFill>
              <a:srgbClr val="D5DDDB"/>
            </a:solidFill>
            <a:prstDash val="solid"/>
          </a:ln>
        </p:spPr>
      </p:sp>
      <p:sp>
        <p:nvSpPr>
          <p:cNvPr id="52" name="Text 49"/>
          <p:cNvSpPr txBox="1"/>
          <p:nvPr/>
        </p:nvSpPr>
        <p:spPr>
          <a:xfrm>
            <a:off x="4130497"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12</a:t>
            </a:r>
            <a:endParaRPr lang="en-US" sz="1200" dirty="0"/>
          </a:p>
        </p:txBody>
      </p:sp>
      <p:sp>
        <p:nvSpPr>
          <p:cNvPr id="53" name="Text 50"/>
          <p:cNvSpPr txBox="1"/>
          <p:nvPr/>
        </p:nvSpPr>
        <p:spPr>
          <a:xfrm>
            <a:off x="4130497"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Why models disagree</a:t>
            </a:r>
            <a:endParaRPr lang="en-US" sz="1400" dirty="0"/>
          </a:p>
        </p:txBody>
      </p:sp>
      <p:sp>
        <p:nvSpPr>
          <p:cNvPr id="54" name="week tile"/>
          <p:cNvSpPr/>
          <p:nvPr/>
        </p:nvSpPr>
        <p:spPr>
          <a:xfrm>
            <a:off x="5572658" y="4617720"/>
            <a:ext cx="1414729" cy="1188720"/>
          </a:xfrm>
          <a:prstGeom prst="roundRect">
            <a:avLst>
              <a:gd name="adj" fmla="val 9231"/>
            </a:avLst>
          </a:prstGeom>
          <a:solidFill>
            <a:srgbClr val="F7FAF9"/>
          </a:solidFill>
          <a:ln w="12700">
            <a:solidFill>
              <a:srgbClr val="F7FAF9"/>
            </a:solidFill>
            <a:prstDash val="solid"/>
          </a:ln>
        </p:spPr>
      </p:sp>
      <p:sp>
        <p:nvSpPr>
          <p:cNvPr id="55" name="Shape 52"/>
          <p:cNvSpPr/>
          <p:nvPr/>
        </p:nvSpPr>
        <p:spPr>
          <a:xfrm>
            <a:off x="5572658" y="4617720"/>
            <a:ext cx="1414729" cy="1188720"/>
          </a:xfrm>
          <a:prstGeom prst="roundRect">
            <a:avLst>
              <a:gd name="adj" fmla="val 9231"/>
            </a:avLst>
          </a:prstGeom>
          <a:solidFill>
            <a:srgbClr val="F7FAF9"/>
          </a:solidFill>
          <a:ln w="12700">
            <a:solidFill>
              <a:srgbClr val="D5DDDB"/>
            </a:solidFill>
            <a:prstDash val="solid"/>
          </a:ln>
        </p:spPr>
      </p:sp>
      <p:sp>
        <p:nvSpPr>
          <p:cNvPr id="56" name="Text 53"/>
          <p:cNvSpPr txBox="1"/>
          <p:nvPr/>
        </p:nvSpPr>
        <p:spPr>
          <a:xfrm>
            <a:off x="568238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13</a:t>
            </a:r>
            <a:endParaRPr lang="en-US" sz="1200" dirty="0"/>
          </a:p>
        </p:txBody>
      </p:sp>
      <p:sp>
        <p:nvSpPr>
          <p:cNvPr id="57" name="Text 54"/>
          <p:cNvSpPr txBox="1"/>
          <p:nvPr/>
        </p:nvSpPr>
        <p:spPr>
          <a:xfrm>
            <a:off x="568238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Uncertainty</a:t>
            </a:r>
            <a:endParaRPr lang="en-US" sz="1400" dirty="0"/>
          </a:p>
        </p:txBody>
      </p:sp>
      <p:sp>
        <p:nvSpPr>
          <p:cNvPr id="58" name="week tile"/>
          <p:cNvSpPr/>
          <p:nvPr/>
        </p:nvSpPr>
        <p:spPr>
          <a:xfrm>
            <a:off x="7124548" y="4617720"/>
            <a:ext cx="1414729" cy="1188720"/>
          </a:xfrm>
          <a:prstGeom prst="roundRect">
            <a:avLst>
              <a:gd name="adj" fmla="val 9231"/>
            </a:avLst>
          </a:prstGeom>
          <a:solidFill>
            <a:srgbClr val="F7FAF9"/>
          </a:solidFill>
          <a:ln w="12700">
            <a:solidFill>
              <a:srgbClr val="F7FAF9"/>
            </a:solidFill>
            <a:prstDash val="solid"/>
          </a:ln>
        </p:spPr>
      </p:sp>
      <p:sp>
        <p:nvSpPr>
          <p:cNvPr id="59" name="Shape 56"/>
          <p:cNvSpPr/>
          <p:nvPr/>
        </p:nvSpPr>
        <p:spPr>
          <a:xfrm>
            <a:off x="7124548" y="4617720"/>
            <a:ext cx="1414729" cy="1188720"/>
          </a:xfrm>
          <a:prstGeom prst="roundRect">
            <a:avLst>
              <a:gd name="adj" fmla="val 9231"/>
            </a:avLst>
          </a:prstGeom>
          <a:solidFill>
            <a:srgbClr val="F7FAF9"/>
          </a:solidFill>
          <a:ln w="12700">
            <a:solidFill>
              <a:srgbClr val="D5DDDB"/>
            </a:solidFill>
            <a:prstDash val="solid"/>
          </a:ln>
        </p:spPr>
      </p:sp>
      <p:sp>
        <p:nvSpPr>
          <p:cNvPr id="60" name="Text 57"/>
          <p:cNvSpPr txBox="1"/>
          <p:nvPr/>
        </p:nvSpPr>
        <p:spPr>
          <a:xfrm>
            <a:off x="7234276"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14</a:t>
            </a:r>
            <a:endParaRPr lang="en-US" sz="1200" dirty="0"/>
          </a:p>
        </p:txBody>
      </p:sp>
      <p:sp>
        <p:nvSpPr>
          <p:cNvPr id="61" name="Text 58"/>
          <p:cNvSpPr txBox="1"/>
          <p:nvPr/>
        </p:nvSpPr>
        <p:spPr>
          <a:xfrm>
            <a:off x="7234276"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Frontiers and limits</a:t>
            </a:r>
            <a:endParaRPr lang="en-US" sz="1400" dirty="0"/>
          </a:p>
        </p:txBody>
      </p:sp>
      <p:sp>
        <p:nvSpPr>
          <p:cNvPr id="62" name="week tile"/>
          <p:cNvSpPr/>
          <p:nvPr/>
        </p:nvSpPr>
        <p:spPr>
          <a:xfrm>
            <a:off x="8676437" y="4617720"/>
            <a:ext cx="1414729" cy="1188720"/>
          </a:xfrm>
          <a:prstGeom prst="roundRect">
            <a:avLst>
              <a:gd name="adj" fmla="val 9231"/>
            </a:avLst>
          </a:prstGeom>
          <a:solidFill>
            <a:srgbClr val="F7FAF9"/>
          </a:solidFill>
          <a:ln w="12700">
            <a:solidFill>
              <a:srgbClr val="F7FAF9"/>
            </a:solidFill>
            <a:prstDash val="solid"/>
          </a:ln>
        </p:spPr>
      </p:sp>
      <p:sp>
        <p:nvSpPr>
          <p:cNvPr id="63" name="Shape 60"/>
          <p:cNvSpPr/>
          <p:nvPr/>
        </p:nvSpPr>
        <p:spPr>
          <a:xfrm>
            <a:off x="8676437" y="4617720"/>
            <a:ext cx="1414729" cy="1188720"/>
          </a:xfrm>
          <a:prstGeom prst="roundRect">
            <a:avLst>
              <a:gd name="adj" fmla="val 9231"/>
            </a:avLst>
          </a:prstGeom>
          <a:solidFill>
            <a:srgbClr val="F7FAF9"/>
          </a:solidFill>
          <a:ln w="12700">
            <a:solidFill>
              <a:srgbClr val="D5DDDB"/>
            </a:solidFill>
            <a:prstDash val="solid"/>
          </a:ln>
        </p:spPr>
      </p:sp>
      <p:sp>
        <p:nvSpPr>
          <p:cNvPr id="64" name="Text 61"/>
          <p:cNvSpPr txBox="1"/>
          <p:nvPr/>
        </p:nvSpPr>
        <p:spPr>
          <a:xfrm>
            <a:off x="8786165" y="4709160"/>
            <a:ext cx="1231849" cy="274320"/>
          </a:xfrm>
          <a:prstGeom prst="rect">
            <a:avLst/>
          </a:prstGeom>
          <a:noFill/>
          <a:ln/>
        </p:spPr>
        <p:txBody>
          <a:bodyPr wrap="square" lIns="0" tIns="0" rIns="0" bIns="0" rtlCol="0" anchor="t"/>
          <a:lstStyle/>
          <a:p>
            <a:pPr indent="0" marL="0">
              <a:buNone/>
            </a:pPr>
            <a:r>
              <a:rPr lang="en-US" sz="1200" b="1" dirty="0">
                <a:solidFill>
                  <a:srgbClr val="5B6875"/>
                </a:solidFill>
                <a:latin typeface="Calibri" pitchFamily="34" charset="0"/>
                <a:ea typeface="Calibri" pitchFamily="34" charset="-122"/>
                <a:cs typeface="Calibri" pitchFamily="34" charset="-120"/>
              </a:rPr>
              <a:t>Week 15</a:t>
            </a:r>
            <a:endParaRPr lang="en-US" sz="1200" dirty="0"/>
          </a:p>
        </p:txBody>
      </p:sp>
      <p:sp>
        <p:nvSpPr>
          <p:cNvPr id="65" name="Text 62"/>
          <p:cNvSpPr txBox="1"/>
          <p:nvPr/>
        </p:nvSpPr>
        <p:spPr>
          <a:xfrm>
            <a:off x="8786165" y="5001768"/>
            <a:ext cx="1231849" cy="73152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Projects and review</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TODAY'S GOALS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By the end of today you can</a:t>
            </a:r>
            <a:endParaRPr lang="en-US" sz="3200" dirty="0"/>
          </a:p>
        </p:txBody>
      </p:sp>
      <p:sp>
        <p:nvSpPr>
          <p:cNvPr id="5" name="goal card"/>
          <p:cNvSpPr/>
          <p:nvPr/>
        </p:nvSpPr>
        <p:spPr>
          <a:xfrm>
            <a:off x="548640"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822960"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4"/>
          <p:cNvSpPr txBox="1"/>
          <p:nvPr/>
        </p:nvSpPr>
        <p:spPr>
          <a:xfrm>
            <a:off x="822960"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Trace the DICE loop from economy to damages and back</a:t>
            </a:r>
            <a:endParaRPr lang="en-US" sz="2100" dirty="0"/>
          </a:p>
        </p:txBody>
      </p:sp>
      <p:sp>
        <p:nvSpPr>
          <p:cNvPr id="8" name="goal card"/>
          <p:cNvSpPr/>
          <p:nvPr/>
        </p:nvSpPr>
        <p:spPr>
          <a:xfrm>
            <a:off x="3390824"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9" name="number badge"/>
          <p:cNvSpPr txBox="1"/>
          <p:nvPr/>
        </p:nvSpPr>
        <p:spPr>
          <a:xfrm>
            <a:off x="3665144"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7"/>
          <p:cNvSpPr txBox="1"/>
          <p:nvPr/>
        </p:nvSpPr>
        <p:spPr>
          <a:xfrm>
            <a:off x="3665144"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Use the damage function to compute output lost at a given warming</a:t>
            </a:r>
            <a:endParaRPr lang="en-US" sz="2100" dirty="0"/>
          </a:p>
        </p:txBody>
      </p:sp>
      <p:sp>
        <p:nvSpPr>
          <p:cNvPr id="11" name="goal card"/>
          <p:cNvSpPr/>
          <p:nvPr/>
        </p:nvSpPr>
        <p:spPr>
          <a:xfrm>
            <a:off x="6233008"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2" name="number badge"/>
          <p:cNvSpPr txBox="1"/>
          <p:nvPr/>
        </p:nvSpPr>
        <p:spPr>
          <a:xfrm>
            <a:off x="6507328"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0"/>
          <p:cNvSpPr txBox="1"/>
          <p:nvPr/>
        </p:nvSpPr>
        <p:spPr>
          <a:xfrm>
            <a:off x="6507328"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Explain the social cost of carbon and why the discount rate moves it</a:t>
            </a:r>
            <a:endParaRPr lang="en-US" sz="2100" dirty="0"/>
          </a:p>
        </p:txBody>
      </p:sp>
      <p:sp>
        <p:nvSpPr>
          <p:cNvPr id="14" name="goal card"/>
          <p:cNvSpPr/>
          <p:nvPr/>
        </p:nvSpPr>
        <p:spPr>
          <a:xfrm>
            <a:off x="9075191" y="1645920"/>
            <a:ext cx="2567864" cy="3108960"/>
          </a:xfrm>
          <a:prstGeom prst="roundRect">
            <a:avLst>
              <a:gd name="adj" fmla="val 4273"/>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9349511" y="1874520"/>
            <a:ext cx="594360" cy="59436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3"/>
          <p:cNvSpPr txBox="1"/>
          <p:nvPr/>
        </p:nvSpPr>
        <p:spPr>
          <a:xfrm>
            <a:off x="9349511" y="2560320"/>
            <a:ext cx="2064944" cy="2057400"/>
          </a:xfrm>
          <a:prstGeom prst="rect">
            <a:avLst/>
          </a:prstGeom>
          <a:noFill/>
          <a:ln/>
        </p:spPr>
        <p:txBody>
          <a:bodyPr wrap="square" lIns="0" tIns="0" rIns="0" bIns="0" rtlCol="0" anchor="t"/>
          <a:lstStyle/>
          <a:p>
            <a:pPr indent="0" marL="0">
              <a:buNone/>
            </a:pPr>
            <a:r>
              <a:rPr lang="en-US" sz="2100" dirty="0">
                <a:solidFill>
                  <a:srgbClr val="1F2933"/>
                </a:solidFill>
                <a:latin typeface="Calibri" pitchFamily="34" charset="0"/>
                <a:ea typeface="Calibri" pitchFamily="34" charset="-122"/>
                <a:cs typeface="Calibri" pitchFamily="34" charset="-120"/>
              </a:rPr>
              <a:t>Run a model many times in R with map() and compare runs with facets</a:t>
            </a:r>
            <a:endParaRPr lang="en-US" sz="2100" dirty="0"/>
          </a:p>
        </p:txBody>
      </p:sp>
      <p:sp>
        <p:nvSpPr>
          <p:cNvPr id="17" name="big question"/>
          <p:cNvSpPr/>
          <p:nvPr/>
        </p:nvSpPr>
        <p:spPr>
          <a:xfrm>
            <a:off x="548640" y="5074920"/>
            <a:ext cx="11094415" cy="960120"/>
          </a:xfrm>
          <a:prstGeom prst="roundRect">
            <a:avLst>
              <a:gd name="adj" fmla="val 11429"/>
            </a:avLst>
          </a:prstGeom>
          <a:solidFill>
            <a:srgbClr val="E6F2F0"/>
          </a:solidFill>
          <a:ln w="12700">
            <a:solidFill>
              <a:srgbClr val="E6F2F0"/>
            </a:solidFill>
            <a:prstDash val="solid"/>
          </a:ln>
        </p:spPr>
      </p:sp>
      <p:sp>
        <p:nvSpPr>
          <p:cNvPr id="18" name="icon circle"/>
          <p:cNvSpPr/>
          <p:nvPr/>
        </p:nvSpPr>
        <p:spPr>
          <a:xfrm>
            <a:off x="777240" y="5212080"/>
            <a:ext cx="685800" cy="685800"/>
          </a:xfrm>
          <a:prstGeom prst="ellipse">
            <a:avLst/>
          </a:prstGeom>
          <a:solidFill>
            <a:srgbClr val="12263A"/>
          </a:solidFill>
          <a:ln w="12700">
            <a:solidFill>
              <a:srgbClr val="12263A"/>
            </a:solidFill>
            <a:prstDash val="solid"/>
          </a:ln>
        </p:spPr>
      </p:sp>
      <p:pic>
        <p:nvPicPr>
          <p:cNvPr id="19" name="icon" descr="preencoded.png">    </p:cNvPr>
          <p:cNvPicPr>
            <a:picLocks noChangeAspect="1"/>
          </p:cNvPicPr>
          <p:nvPr/>
        </p:nvPicPr>
        <p:blipFill>
          <a:blip r:embed="rId1"/>
          <a:stretch>
            <a:fillRect/>
          </a:stretch>
        </p:blipFill>
        <p:spPr>
          <a:xfrm>
            <a:off x="955548" y="5390388"/>
            <a:ext cx="329184" cy="329184"/>
          </a:xfrm>
          <a:prstGeom prst="rect">
            <a:avLst/>
          </a:prstGeom>
        </p:spPr>
      </p:pic>
      <p:sp>
        <p:nvSpPr>
          <p:cNvPr id="20" name="Text 16"/>
          <p:cNvSpPr txBox="1"/>
          <p:nvPr/>
        </p:nvSpPr>
        <p:spPr>
          <a:xfrm>
            <a:off x="1645920" y="5120640"/>
            <a:ext cx="9814255" cy="86868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Big question  </a:t>
            </a:r>
            <a:pPr indent="0" marL="0">
              <a:buNone/>
            </a:pPr>
            <a:r>
              <a:rPr lang="en-US" sz="2000" dirty="0">
                <a:solidFill>
                  <a:srgbClr val="1F2933"/>
                </a:solidFill>
                <a:latin typeface="Calibri" pitchFamily="34" charset="0"/>
                <a:ea typeface="Calibri" pitchFamily="34" charset="-122"/>
                <a:cs typeface="Calibri" pitchFamily="34" charset="-120"/>
              </a:rPr>
              <a:t>Two respected studies put the damage from one extra tonne of CO2 at $31 and at $185. How can both be published?</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$31 or $185 a tonne?</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LET'S START WITH A QUESTION</a:t>
            </a:r>
            <a:endParaRPr lang="en-US" sz="1200" dirty="0"/>
          </a:p>
        </p:txBody>
      </p:sp>
      <p:sp>
        <p:nvSpPr>
          <p:cNvPr id="5" name="Text 2"/>
          <p:cNvSpPr txBox="1"/>
          <p:nvPr/>
        </p:nvSpPr>
        <p:spPr>
          <a:xfrm>
            <a:off x="548640" y="3108960"/>
            <a:ext cx="1024128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Two respected estimates of the damage from one extra tonne of CO2: $31 (DICE, Nordhaus 2017) and $185 (Rennert et al. 2022). A sixfold gap.</a:t>
            </a:r>
            <a:endParaRPr lang="en-US" sz="2400" dirty="0"/>
          </a:p>
        </p:txBody>
      </p:sp>
      <p:sp>
        <p:nvSpPr>
          <p:cNvPr id="6" name="question box"/>
          <p:cNvSpPr/>
          <p:nvPr/>
        </p:nvSpPr>
        <p:spPr>
          <a:xfrm>
            <a:off x="548640" y="4526280"/>
            <a:ext cx="11094415" cy="1143000"/>
          </a:xfrm>
          <a:prstGeom prst="roundRect">
            <a:avLst>
              <a:gd name="adj" fmla="val 9600"/>
            </a:avLst>
          </a:prstGeom>
          <a:solidFill>
            <a:srgbClr val="1D3A52"/>
          </a:solidFill>
          <a:ln w="12700">
            <a:solidFill>
              <a:srgbClr val="1D3A52"/>
            </a:solidFill>
            <a:prstDash val="solid"/>
          </a:ln>
        </p:spPr>
      </p:sp>
      <p:sp>
        <p:nvSpPr>
          <p:cNvPr id="7" name="icon circle"/>
          <p:cNvSpPr/>
          <p:nvPr/>
        </p:nvSpPr>
        <p:spPr>
          <a:xfrm>
            <a:off x="777240" y="4709160"/>
            <a:ext cx="777240" cy="777240"/>
          </a:xfrm>
          <a:prstGeom prst="ellipse">
            <a:avLst/>
          </a:prstGeom>
          <a:solidFill>
            <a:srgbClr val="C2410C"/>
          </a:solidFill>
          <a:ln w="12700">
            <a:solidFill>
              <a:srgbClr val="C2410C"/>
            </a:solidFill>
            <a:prstDash val="solid"/>
          </a:ln>
        </p:spPr>
      </p:sp>
      <p:pic>
        <p:nvPicPr>
          <p:cNvPr id="8" name="icon" descr="preencoded.png">    </p:cNvPr>
          <p:cNvPicPr>
            <a:picLocks noChangeAspect="1"/>
          </p:cNvPicPr>
          <p:nvPr/>
        </p:nvPicPr>
        <p:blipFill>
          <a:blip r:embed="rId1"/>
          <a:stretch>
            <a:fillRect/>
          </a:stretch>
        </p:blipFill>
        <p:spPr>
          <a:xfrm>
            <a:off x="979322" y="4911242"/>
            <a:ext cx="373075" cy="373075"/>
          </a:xfrm>
          <a:prstGeom prst="rect">
            <a:avLst/>
          </a:prstGeom>
        </p:spPr>
      </p:pic>
      <p:sp>
        <p:nvSpPr>
          <p:cNvPr id="9" name="Text 5"/>
          <p:cNvSpPr txBox="1"/>
          <p:nvPr/>
        </p:nvSpPr>
        <p:spPr>
          <a:xfrm>
            <a:off x="1783080" y="4572000"/>
            <a:ext cx="9631375" cy="105156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could make two careful studies disagree by a factor of six?</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AN EVERYDAY PICTURE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DICE is a hamster wheel</a:t>
            </a:r>
            <a:endParaRPr lang="en-US" sz="3200" dirty="0"/>
          </a:p>
        </p:txBody>
      </p:sp>
      <p:sp>
        <p:nvSpPr>
          <p:cNvPr id="5" name="analogy card"/>
          <p:cNvSpPr/>
          <p:nvPr/>
        </p:nvSpPr>
        <p:spPr>
          <a:xfrm>
            <a:off x="548640" y="1600200"/>
            <a:ext cx="6675120" cy="4434840"/>
          </a:xfrm>
          <a:prstGeom prst="roundRect">
            <a:avLst>
              <a:gd name="adj" fmla="val 2474"/>
            </a:avLst>
          </a:prstGeom>
          <a:solidFill>
            <a:srgbClr val="E6F2F0"/>
          </a:solidFill>
          <a:ln w="12700">
            <a:solidFill>
              <a:srgbClr val="E6F2F0"/>
            </a:solidFill>
            <a:prstDash val="solid"/>
          </a:ln>
        </p:spPr>
      </p:sp>
      <p:sp>
        <p:nvSpPr>
          <p:cNvPr id="6" name="icon circle"/>
          <p:cNvSpPr/>
          <p:nvPr/>
        </p:nvSpPr>
        <p:spPr>
          <a:xfrm>
            <a:off x="868680" y="1874520"/>
            <a:ext cx="777240" cy="77724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1070762" y="2076602"/>
            <a:ext cx="373075" cy="373075"/>
          </a:xfrm>
          <a:prstGeom prst="rect">
            <a:avLst/>
          </a:prstGeom>
        </p:spPr>
      </p:pic>
      <p:sp>
        <p:nvSpPr>
          <p:cNvPr id="8" name="Text 4"/>
          <p:cNvSpPr txBox="1"/>
          <p:nvPr/>
        </p:nvSpPr>
        <p:spPr>
          <a:xfrm>
            <a:off x="868680" y="2834640"/>
            <a:ext cx="6035040" cy="3063240"/>
          </a:xfrm>
          <a:prstGeom prst="rect">
            <a:avLst/>
          </a:prstGeom>
          <a:noFill/>
          <a:ln/>
        </p:spPr>
        <p:txBody>
          <a:bodyPr wrap="square" lIns="0" tIns="0" rIns="0" bIns="0" rtlCol="0" anchor="t"/>
          <a:lstStyle/>
          <a:p>
            <a:pPr indent="0" marL="0">
              <a:buNone/>
            </a:pPr>
            <a:r>
              <a:rPr lang="en-US" sz="2600" i="1" dirty="0">
                <a:solidFill>
                  <a:srgbClr val="12263A"/>
                </a:solidFill>
                <a:latin typeface="Cambria" pitchFamily="34" charset="0"/>
                <a:ea typeface="Cambria" pitchFamily="34" charset="-122"/>
                <a:cs typeface="Cambria" pitchFamily="34" charset="-120"/>
              </a:rPr>
              <a:t>The economy runs like a hamster on a wheel. Each turn puffs out CO2. The CO2 warms the planet. The warming slows the hamster a little in the next round. DICE chooses how hard to cut the smoke so the hamster goes furthest overall.</a:t>
            </a:r>
            <a:endParaRPr lang="en-US" sz="2600" dirty="0"/>
          </a:p>
        </p:txBody>
      </p:sp>
      <p:sp>
        <p:nvSpPr>
          <p:cNvPr id="9" name="Text 5"/>
          <p:cNvSpPr txBox="1"/>
          <p:nvPr/>
        </p:nvSpPr>
        <p:spPr>
          <a:xfrm>
            <a:off x="7635240" y="1737360"/>
            <a:ext cx="4007815" cy="365760"/>
          </a:xfrm>
          <a:prstGeom prst="rect">
            <a:avLst/>
          </a:prstGeom>
          <a:noFill/>
          <a:ln/>
        </p:spPr>
        <p:txBody>
          <a:bodyPr wrap="square" lIns="0" tIns="0" rIns="0" bIns="0" rtlCol="0" anchor="t"/>
          <a:lstStyle/>
          <a:p>
            <a:pPr indent="0" marL="0">
              <a:buNone/>
            </a:pPr>
            <a:r>
              <a:rPr lang="en-US" sz="1600" b="1" dirty="0">
                <a:solidFill>
                  <a:srgbClr val="5B6875"/>
                </a:solidFill>
                <a:latin typeface="Calibri" pitchFamily="34" charset="0"/>
                <a:ea typeface="Calibri" pitchFamily="34" charset="-122"/>
                <a:cs typeface="Calibri" pitchFamily="34" charset="-120"/>
              </a:rPr>
              <a:t>What it means for models</a:t>
            </a:r>
            <a:endParaRPr lang="en-US" sz="1600" dirty="0"/>
          </a:p>
        </p:txBody>
      </p:sp>
      <p:sp>
        <p:nvSpPr>
          <p:cNvPr id="10" name="number badge"/>
          <p:cNvSpPr txBox="1"/>
          <p:nvPr/>
        </p:nvSpPr>
        <p:spPr>
          <a:xfrm>
            <a:off x="7635240" y="228600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1" name="Text 7"/>
          <p:cNvSpPr txBox="1"/>
          <p:nvPr/>
        </p:nvSpPr>
        <p:spPr>
          <a:xfrm>
            <a:off x="8275320" y="226771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One loop joins the economy and the climate</a:t>
            </a:r>
            <a:endParaRPr lang="en-US" sz="2200" dirty="0"/>
          </a:p>
        </p:txBody>
      </p:sp>
      <p:sp>
        <p:nvSpPr>
          <p:cNvPr id="12" name="number badge"/>
          <p:cNvSpPr txBox="1"/>
          <p:nvPr/>
        </p:nvSpPr>
        <p:spPr>
          <a:xfrm>
            <a:off x="7635240" y="362712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8275320" y="360883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Cutting emissions costs output now</a:t>
            </a:r>
            <a:endParaRPr lang="en-US" sz="2200" dirty="0"/>
          </a:p>
        </p:txBody>
      </p:sp>
      <p:sp>
        <p:nvSpPr>
          <p:cNvPr id="14" name="number badge"/>
          <p:cNvSpPr txBox="1"/>
          <p:nvPr/>
        </p:nvSpPr>
        <p:spPr>
          <a:xfrm>
            <a:off x="7635240" y="4968240"/>
            <a:ext cx="457200" cy="45720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1"/>
          <p:cNvSpPr txBox="1"/>
          <p:nvPr/>
        </p:nvSpPr>
        <p:spPr>
          <a:xfrm>
            <a:off x="8275320" y="4949952"/>
            <a:ext cx="3367735" cy="1249680"/>
          </a:xfrm>
          <a:prstGeom prst="rect">
            <a:avLst/>
          </a:prstGeom>
          <a:noFill/>
          <a:ln/>
        </p:spPr>
        <p:txBody>
          <a:bodyPr wrap="square" lIns="0" tIns="0" rIns="0" bIns="0" rtlCol="0" anchor="t"/>
          <a:lstStyle/>
          <a:p>
            <a:pPr indent="0" marL="0">
              <a:buNone/>
            </a:pPr>
            <a:r>
              <a:rPr lang="en-US" sz="2200" dirty="0">
                <a:solidFill>
                  <a:srgbClr val="1F2933"/>
                </a:solidFill>
                <a:latin typeface="Calibri" pitchFamily="34" charset="0"/>
                <a:ea typeface="Calibri" pitchFamily="34" charset="-122"/>
                <a:cs typeface="Calibri" pitchFamily="34" charset="-120"/>
              </a:rPr>
              <a:t>Not cutting costs output later, through damages</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HOW IT WORKS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DICE loop</a:t>
            </a:r>
            <a:endParaRPr lang="en-US" sz="3200" dirty="0"/>
          </a:p>
        </p:txBody>
      </p:sp>
      <p:sp>
        <p:nvSpPr>
          <p:cNvPr id="5" name="step card"/>
          <p:cNvSpPr/>
          <p:nvPr/>
        </p:nvSpPr>
        <p:spPr>
          <a:xfrm>
            <a:off x="54864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6" name="number badge"/>
          <p:cNvSpPr txBox="1"/>
          <p:nvPr/>
        </p:nvSpPr>
        <p:spPr>
          <a:xfrm>
            <a:off x="77724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4"/>
          <p:cNvSpPr txBox="1"/>
          <p:nvPr/>
        </p:nvSpPr>
        <p:spPr>
          <a:xfrm>
            <a:off x="777240" y="2560320"/>
            <a:ext cx="1348374" cy="68580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Economy</a:t>
            </a:r>
            <a:endParaRPr lang="en-US" sz="1500" dirty="0"/>
          </a:p>
        </p:txBody>
      </p:sp>
      <p:sp>
        <p:nvSpPr>
          <p:cNvPr id="8" name="Text 5"/>
          <p:cNvSpPr txBox="1"/>
          <p:nvPr/>
        </p:nvSpPr>
        <p:spPr>
          <a:xfrm>
            <a:off x="777240" y="3246120"/>
            <a:ext cx="1348374"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Output, saving and investment</a:t>
            </a:r>
            <a:endParaRPr lang="en-US" sz="1700" dirty="0"/>
          </a:p>
        </p:txBody>
      </p:sp>
      <p:sp>
        <p:nvSpPr>
          <p:cNvPr id="9" name="arrow"/>
          <p:cNvSpPr/>
          <p:nvPr/>
        </p:nvSpPr>
        <p:spPr>
          <a:xfrm>
            <a:off x="2372502" y="2994660"/>
            <a:ext cx="411480" cy="457200"/>
          </a:xfrm>
          <a:prstGeom prst="rightArrow">
            <a:avLst/>
          </a:prstGeom>
          <a:solidFill>
            <a:srgbClr val="C9E4DF"/>
          </a:solidFill>
          <a:ln w="12700">
            <a:solidFill>
              <a:srgbClr val="C9E4DF"/>
            </a:solidFill>
            <a:prstDash val="solid"/>
          </a:ln>
        </p:spPr>
      </p:sp>
      <p:sp>
        <p:nvSpPr>
          <p:cNvPr id="10" name="step card"/>
          <p:cNvSpPr/>
          <p:nvPr/>
        </p:nvSpPr>
        <p:spPr>
          <a:xfrm>
            <a:off x="289371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1" name="number badge"/>
          <p:cNvSpPr txBox="1"/>
          <p:nvPr/>
        </p:nvSpPr>
        <p:spPr>
          <a:xfrm>
            <a:off x="312231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txBox="1"/>
          <p:nvPr/>
        </p:nvSpPr>
        <p:spPr>
          <a:xfrm>
            <a:off x="3122310" y="2560320"/>
            <a:ext cx="1348374" cy="68580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Emissions</a:t>
            </a:r>
            <a:endParaRPr lang="en-US" sz="1500" dirty="0"/>
          </a:p>
        </p:txBody>
      </p:sp>
      <p:sp>
        <p:nvSpPr>
          <p:cNvPr id="13" name="Text 10"/>
          <p:cNvSpPr txBox="1"/>
          <p:nvPr/>
        </p:nvSpPr>
        <p:spPr>
          <a:xfrm>
            <a:off x="3122310" y="3246120"/>
            <a:ext cx="1348374"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Rise with output, fall with cuts</a:t>
            </a:r>
            <a:endParaRPr lang="en-US" sz="1700" dirty="0"/>
          </a:p>
        </p:txBody>
      </p:sp>
      <p:sp>
        <p:nvSpPr>
          <p:cNvPr id="14" name="arrow"/>
          <p:cNvSpPr/>
          <p:nvPr/>
        </p:nvSpPr>
        <p:spPr>
          <a:xfrm>
            <a:off x="4717572" y="2994660"/>
            <a:ext cx="411480" cy="457200"/>
          </a:xfrm>
          <a:prstGeom prst="rightArrow">
            <a:avLst/>
          </a:prstGeom>
          <a:solidFill>
            <a:srgbClr val="C9E4DF"/>
          </a:solidFill>
          <a:ln w="12700">
            <a:solidFill>
              <a:srgbClr val="C9E4DF"/>
            </a:solidFill>
            <a:prstDash val="solid"/>
          </a:ln>
        </p:spPr>
      </p:sp>
      <p:sp>
        <p:nvSpPr>
          <p:cNvPr id="15" name="step card"/>
          <p:cNvSpPr/>
          <p:nvPr/>
        </p:nvSpPr>
        <p:spPr>
          <a:xfrm>
            <a:off x="5238780"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5467380"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5467380" y="2560320"/>
            <a:ext cx="1348374" cy="68580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CO2 in the air</a:t>
            </a:r>
            <a:endParaRPr lang="en-US" sz="1500" dirty="0"/>
          </a:p>
        </p:txBody>
      </p:sp>
      <p:sp>
        <p:nvSpPr>
          <p:cNvPr id="18" name="Text 15"/>
          <p:cNvSpPr txBox="1"/>
          <p:nvPr/>
        </p:nvSpPr>
        <p:spPr>
          <a:xfrm>
            <a:off x="5467380" y="3246120"/>
            <a:ext cx="1348374"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A small carbon cycle</a:t>
            </a:r>
            <a:endParaRPr lang="en-US" sz="1700" dirty="0"/>
          </a:p>
        </p:txBody>
      </p:sp>
      <p:sp>
        <p:nvSpPr>
          <p:cNvPr id="19" name="arrow"/>
          <p:cNvSpPr/>
          <p:nvPr/>
        </p:nvSpPr>
        <p:spPr>
          <a:xfrm>
            <a:off x="7062643" y="2994660"/>
            <a:ext cx="411480" cy="457200"/>
          </a:xfrm>
          <a:prstGeom prst="rightArrow">
            <a:avLst/>
          </a:prstGeom>
          <a:solidFill>
            <a:srgbClr val="C9E4DF"/>
          </a:solidFill>
          <a:ln w="12700">
            <a:solidFill>
              <a:srgbClr val="C9E4DF"/>
            </a:solidFill>
            <a:prstDash val="solid"/>
          </a:ln>
        </p:spPr>
      </p:sp>
      <p:sp>
        <p:nvSpPr>
          <p:cNvPr id="20" name="step card"/>
          <p:cNvSpPr/>
          <p:nvPr/>
        </p:nvSpPr>
        <p:spPr>
          <a:xfrm>
            <a:off x="758385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1" name="number badge"/>
          <p:cNvSpPr txBox="1"/>
          <p:nvPr/>
        </p:nvSpPr>
        <p:spPr>
          <a:xfrm>
            <a:off x="7812451" y="1920240"/>
            <a:ext cx="548640" cy="54864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19"/>
          <p:cNvSpPr txBox="1"/>
          <p:nvPr/>
        </p:nvSpPr>
        <p:spPr>
          <a:xfrm>
            <a:off x="7812451" y="2560320"/>
            <a:ext cx="1348374" cy="68580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Temperature</a:t>
            </a:r>
            <a:endParaRPr lang="en-US" sz="1500" dirty="0"/>
          </a:p>
        </p:txBody>
      </p:sp>
      <p:sp>
        <p:nvSpPr>
          <p:cNvPr id="23" name="Text 20"/>
          <p:cNvSpPr txBox="1"/>
          <p:nvPr/>
        </p:nvSpPr>
        <p:spPr>
          <a:xfrm>
            <a:off x="7812451" y="3246120"/>
            <a:ext cx="1348374"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A small climate model</a:t>
            </a:r>
            <a:endParaRPr lang="en-US" sz="1700" dirty="0"/>
          </a:p>
        </p:txBody>
      </p:sp>
      <p:sp>
        <p:nvSpPr>
          <p:cNvPr id="24" name="arrow"/>
          <p:cNvSpPr/>
          <p:nvPr/>
        </p:nvSpPr>
        <p:spPr>
          <a:xfrm>
            <a:off x="9407713" y="2994660"/>
            <a:ext cx="411480" cy="457200"/>
          </a:xfrm>
          <a:prstGeom prst="rightArrow">
            <a:avLst/>
          </a:prstGeom>
          <a:solidFill>
            <a:srgbClr val="C9E4DF"/>
          </a:solidFill>
          <a:ln w="12700">
            <a:solidFill>
              <a:srgbClr val="C9E4DF"/>
            </a:solidFill>
            <a:prstDash val="solid"/>
          </a:ln>
        </p:spPr>
      </p:sp>
      <p:sp>
        <p:nvSpPr>
          <p:cNvPr id="25" name="step card"/>
          <p:cNvSpPr/>
          <p:nvPr/>
        </p:nvSpPr>
        <p:spPr>
          <a:xfrm>
            <a:off x="9928921" y="1691640"/>
            <a:ext cx="1714134" cy="3063240"/>
          </a:xfrm>
          <a:prstGeom prst="roundRect">
            <a:avLst>
              <a:gd name="adj" fmla="val 6401"/>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26" name="number badge"/>
          <p:cNvSpPr txBox="1"/>
          <p:nvPr/>
        </p:nvSpPr>
        <p:spPr>
          <a:xfrm>
            <a:off x="10157521" y="1920240"/>
            <a:ext cx="548640" cy="54864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4"/>
          <p:cNvSpPr txBox="1"/>
          <p:nvPr/>
        </p:nvSpPr>
        <p:spPr>
          <a:xfrm>
            <a:off x="10157521" y="2560320"/>
            <a:ext cx="1348374" cy="685800"/>
          </a:xfrm>
          <a:prstGeom prst="rect">
            <a:avLst/>
          </a:prstGeom>
          <a:noFill/>
          <a:ln/>
        </p:spPr>
        <p:txBody>
          <a:bodyPr wrap="square" lIns="0" tIns="0" rIns="0" bIns="0" rtlCol="0" anchor="t"/>
          <a:lstStyle/>
          <a:p>
            <a:pPr indent="0" marL="0">
              <a:buNone/>
            </a:pPr>
            <a:r>
              <a:rPr lang="en-US" sz="1500" b="1" dirty="0">
                <a:solidFill>
                  <a:srgbClr val="12263A"/>
                </a:solidFill>
                <a:latin typeface="Cambria" pitchFamily="34" charset="0"/>
                <a:ea typeface="Cambria" pitchFamily="34" charset="-122"/>
                <a:cs typeface="Cambria" pitchFamily="34" charset="-120"/>
              </a:rPr>
              <a:t>Damages</a:t>
            </a:r>
            <a:endParaRPr lang="en-US" sz="1500" dirty="0"/>
          </a:p>
        </p:txBody>
      </p:sp>
      <p:sp>
        <p:nvSpPr>
          <p:cNvPr id="28" name="Text 25"/>
          <p:cNvSpPr txBox="1"/>
          <p:nvPr/>
        </p:nvSpPr>
        <p:spPr>
          <a:xfrm>
            <a:off x="10157521" y="3246120"/>
            <a:ext cx="1348374" cy="1417320"/>
          </a:xfrm>
          <a:prstGeom prst="rect">
            <a:avLst/>
          </a:prstGeom>
          <a:noFill/>
          <a:ln/>
        </p:spPr>
        <p:txBody>
          <a:bodyPr wrap="square" lIns="0" tIns="0" rIns="0" bIns="0" rtlCol="0" anchor="t"/>
          <a:lstStyle/>
          <a:p>
            <a:pPr indent="0" marL="0">
              <a:buNone/>
            </a:pPr>
            <a:r>
              <a:rPr lang="en-US" sz="1700" dirty="0">
                <a:solidFill>
                  <a:srgbClr val="1F2933"/>
                </a:solidFill>
                <a:latin typeface="Calibri" pitchFamily="34" charset="0"/>
                <a:ea typeface="Calibri" pitchFamily="34" charset="-122"/>
                <a:cs typeface="Calibri" pitchFamily="34" charset="-120"/>
              </a:rPr>
              <a:t>A share of next period's output is lost</a:t>
            </a:r>
            <a:endParaRPr lang="en-US" sz="1700" dirty="0"/>
          </a:p>
        </p:txBody>
      </p:sp>
      <p:sp>
        <p:nvSpPr>
          <p:cNvPr id="29" name="formula pill"/>
          <p:cNvSpPr/>
          <p:nvPr/>
        </p:nvSpPr>
        <p:spPr>
          <a:xfrm>
            <a:off x="548640" y="5074920"/>
            <a:ext cx="11094415" cy="777240"/>
          </a:xfrm>
          <a:prstGeom prst="roundRect">
            <a:avLst>
              <a:gd name="adj" fmla="val 14118"/>
            </a:avLst>
          </a:prstGeom>
          <a:solidFill>
            <a:srgbClr val="E6F2F0"/>
          </a:solidFill>
          <a:ln w="12700">
            <a:solidFill>
              <a:srgbClr val="E6F2F0"/>
            </a:solidFill>
            <a:prstDash val="solid"/>
          </a:ln>
        </p:spPr>
      </p:sp>
      <p:sp>
        <p:nvSpPr>
          <p:cNvPr id="30" name="Text 27"/>
          <p:cNvSpPr txBox="1"/>
          <p:nvPr/>
        </p:nvSpPr>
        <p:spPr>
          <a:xfrm>
            <a:off x="822960" y="5074920"/>
            <a:ext cx="10545775" cy="777240"/>
          </a:xfrm>
          <a:prstGeom prst="rect">
            <a:avLst/>
          </a:prstGeom>
          <a:noFill/>
          <a:ln/>
        </p:spPr>
        <p:txBody>
          <a:bodyPr wrap="square" lIns="0" tIns="0" rIns="0" bIns="0" rtlCol="0" anchor="ctr"/>
          <a:lstStyle/>
          <a:p>
            <a:pPr algn="ctr" indent="0" marL="0">
              <a:buNone/>
            </a:pPr>
            <a:r>
              <a:rPr lang="en-US" sz="2200" b="1" dirty="0">
                <a:solidFill>
                  <a:srgbClr val="0B5550"/>
                </a:solidFill>
                <a:latin typeface="Calibri" pitchFamily="34" charset="0"/>
                <a:ea typeface="Calibri" pitchFamily="34" charset="-122"/>
                <a:cs typeface="Calibri" pitchFamily="34" charset="-120"/>
              </a:rPr>
              <a:t>Each box is a few equations. Damages feed back to the economy.</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reading the damage curve</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DICE uses damage share D = 0.00236 × T², with T in °C above pre-industrial. What share of output is lost at 1, 2, 3 and 4 °C?</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 = 1: 0.00236 × 1 = 0.00236, about 0.24%</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 = 2: 0.00236 × 4 = 0.00944, about 0.94%</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 = 3: 0.00236 × 9 = 0.02124, about 2.1%</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T = 4: 0.00236 × 16 = 0.03776, about 3.8%</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300" b="1" dirty="0">
                <a:solidFill>
                  <a:srgbClr val="12263A"/>
                </a:solidFill>
                <a:latin typeface="Cambria" pitchFamily="34" charset="0"/>
                <a:ea typeface="Cambria" pitchFamily="34" charset="-122"/>
                <a:cs typeface="Cambria" pitchFamily="34" charset="-120"/>
              </a:rPr>
              <a:t>Doubling warming from 2 °C to 4 °C multiplies damages by four</a:t>
            </a:r>
            <a:endParaRPr lang="en-US" sz="2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DICE damage curve</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Computed from D = 0.00236 × T²</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Gentle at first, steeper later</a:t>
            </a:r>
            <a:endParaRPr lang="en-US" sz="19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Critics argue it is too gentle at high warming</a:t>
            </a:r>
            <a:endParaRPr lang="en-US" sz="19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1900" dirty="0">
                <a:solidFill>
                  <a:srgbClr val="1F2933"/>
                </a:solidFill>
                <a:latin typeface="Calibri" pitchFamily="34" charset="0"/>
                <a:ea typeface="Calibri" pitchFamily="34" charset="-122"/>
                <a:cs typeface="Calibri" pitchFamily="34" charset="-120"/>
              </a:rPr>
              <a:t>In the lab you raise the damage setting and see what changes</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KEY POINTS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social cost of carbon</a:t>
            </a:r>
            <a:endParaRPr lang="en-US" sz="3200" dirty="0"/>
          </a:p>
        </p:txBody>
      </p:sp>
      <p:sp>
        <p:nvSpPr>
          <p:cNvPr id="5" name="icon circle"/>
          <p:cNvSpPr/>
          <p:nvPr/>
        </p:nvSpPr>
        <p:spPr>
          <a:xfrm>
            <a:off x="548640" y="1737360"/>
            <a:ext cx="457200" cy="457200"/>
          </a:xfrm>
          <a:prstGeom prst="ellipse">
            <a:avLst/>
          </a:prstGeom>
          <a:solidFill>
            <a:srgbClr val="0F766E"/>
          </a:solidFill>
          <a:ln w="12700">
            <a:solidFill>
              <a:srgbClr val="0F766E"/>
            </a:solidFill>
            <a:prstDash val="solid"/>
          </a:ln>
        </p:spPr>
      </p:sp>
      <p:pic>
        <p:nvPicPr>
          <p:cNvPr id="6" name="icon" descr="preencoded.png">    </p:cNvPr>
          <p:cNvPicPr>
            <a:picLocks noChangeAspect="1"/>
          </p:cNvPicPr>
          <p:nvPr/>
        </p:nvPicPr>
        <p:blipFill>
          <a:blip r:embed="rId1"/>
          <a:stretch>
            <a:fillRect/>
          </a:stretch>
        </p:blipFill>
        <p:spPr>
          <a:xfrm>
            <a:off x="667512" y="1856232"/>
            <a:ext cx="219456" cy="219456"/>
          </a:xfrm>
          <a:prstGeom prst="rect">
            <a:avLst/>
          </a:prstGeom>
        </p:spPr>
      </p:pic>
      <p:sp>
        <p:nvSpPr>
          <p:cNvPr id="7" name="Text 3"/>
          <p:cNvSpPr txBox="1"/>
          <p:nvPr/>
        </p:nvSpPr>
        <p:spPr>
          <a:xfrm>
            <a:off x="1280160" y="15087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One extra tonne causes a little damage every year for a very long time</a:t>
            </a:r>
            <a:endParaRPr lang="en-US" sz="2200" dirty="0"/>
          </a:p>
        </p:txBody>
      </p:sp>
      <p:sp>
        <p:nvSpPr>
          <p:cNvPr id="8" name="icon circle"/>
          <p:cNvSpPr/>
          <p:nvPr/>
        </p:nvSpPr>
        <p:spPr>
          <a:xfrm>
            <a:off x="548640" y="2651760"/>
            <a:ext cx="457200" cy="457200"/>
          </a:xfrm>
          <a:prstGeom prst="ellipse">
            <a:avLst/>
          </a:prstGeom>
          <a:solidFill>
            <a:srgbClr val="12263A"/>
          </a:solidFill>
          <a:ln w="12700">
            <a:solidFill>
              <a:srgbClr val="12263A"/>
            </a:solidFill>
            <a:prstDash val="solid"/>
          </a:ln>
        </p:spPr>
      </p:sp>
      <p:pic>
        <p:nvPicPr>
          <p:cNvPr id="9" name="icon" descr="preencoded.png">    </p:cNvPr>
          <p:cNvPicPr>
            <a:picLocks noChangeAspect="1"/>
          </p:cNvPicPr>
          <p:nvPr/>
        </p:nvPicPr>
        <p:blipFill>
          <a:blip r:embed="rId2"/>
          <a:stretch>
            <a:fillRect/>
          </a:stretch>
        </p:blipFill>
        <p:spPr>
          <a:xfrm>
            <a:off x="667512" y="2770632"/>
            <a:ext cx="219456" cy="219456"/>
          </a:xfrm>
          <a:prstGeom prst="rect">
            <a:avLst/>
          </a:prstGeom>
        </p:spPr>
      </p:pic>
      <p:sp>
        <p:nvSpPr>
          <p:cNvPr id="10" name="Text 5"/>
          <p:cNvSpPr txBox="1"/>
          <p:nvPr/>
        </p:nvSpPr>
        <p:spPr>
          <a:xfrm>
            <a:off x="1280160" y="24231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Discount each year's damage back to today (week 4)</a:t>
            </a:r>
            <a:endParaRPr lang="en-US" sz="2200" dirty="0"/>
          </a:p>
        </p:txBody>
      </p:sp>
      <p:sp>
        <p:nvSpPr>
          <p:cNvPr id="11" name="icon circle"/>
          <p:cNvSpPr/>
          <p:nvPr/>
        </p:nvSpPr>
        <p:spPr>
          <a:xfrm>
            <a:off x="548640" y="3566160"/>
            <a:ext cx="457200" cy="457200"/>
          </a:xfrm>
          <a:prstGeom prst="ellipse">
            <a:avLst/>
          </a:prstGeom>
          <a:solidFill>
            <a:srgbClr val="0F766E"/>
          </a:solidFill>
          <a:ln w="12700">
            <a:solidFill>
              <a:srgbClr val="0F766E"/>
            </a:solidFill>
            <a:prstDash val="solid"/>
          </a:ln>
        </p:spPr>
      </p:sp>
      <p:pic>
        <p:nvPicPr>
          <p:cNvPr id="12" name="icon" descr="preencoded.png">    </p:cNvPr>
          <p:cNvPicPr>
            <a:picLocks noChangeAspect="1"/>
          </p:cNvPicPr>
          <p:nvPr/>
        </p:nvPicPr>
        <p:blipFill>
          <a:blip r:embed="rId3"/>
          <a:stretch>
            <a:fillRect/>
          </a:stretch>
        </p:blipFill>
        <p:spPr>
          <a:xfrm>
            <a:off x="667512" y="3685032"/>
            <a:ext cx="219456" cy="219456"/>
          </a:xfrm>
          <a:prstGeom prst="rect">
            <a:avLst/>
          </a:prstGeom>
        </p:spPr>
      </p:pic>
      <p:sp>
        <p:nvSpPr>
          <p:cNvPr id="13" name="Text 7"/>
          <p:cNvSpPr txBox="1"/>
          <p:nvPr/>
        </p:nvSpPr>
        <p:spPr>
          <a:xfrm>
            <a:off x="1280160" y="33375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Add them all up: that sum is the social cost of carbon</a:t>
            </a:r>
            <a:endParaRPr lang="en-US" sz="2200" dirty="0"/>
          </a:p>
        </p:txBody>
      </p:sp>
      <p:sp>
        <p:nvSpPr>
          <p:cNvPr id="14" name="icon circle"/>
          <p:cNvSpPr/>
          <p:nvPr/>
        </p:nvSpPr>
        <p:spPr>
          <a:xfrm>
            <a:off x="548640" y="4480560"/>
            <a:ext cx="457200" cy="457200"/>
          </a:xfrm>
          <a:prstGeom prst="ellipse">
            <a:avLst/>
          </a:prstGeom>
          <a:solidFill>
            <a:srgbClr val="12263A"/>
          </a:solidFill>
          <a:ln w="12700">
            <a:solidFill>
              <a:srgbClr val="12263A"/>
            </a:solidFill>
            <a:prstDash val="solid"/>
          </a:ln>
        </p:spPr>
      </p:sp>
      <p:pic>
        <p:nvPicPr>
          <p:cNvPr id="15" name="icon" descr="preencoded.png">    </p:cNvPr>
          <p:cNvPicPr>
            <a:picLocks noChangeAspect="1"/>
          </p:cNvPicPr>
          <p:nvPr/>
        </p:nvPicPr>
        <p:blipFill>
          <a:blip r:embed="rId4"/>
          <a:stretch>
            <a:fillRect/>
          </a:stretch>
        </p:blipFill>
        <p:spPr>
          <a:xfrm>
            <a:off x="667512" y="4599432"/>
            <a:ext cx="219456" cy="219456"/>
          </a:xfrm>
          <a:prstGeom prst="rect">
            <a:avLst/>
          </a:prstGeom>
        </p:spPr>
      </p:pic>
      <p:sp>
        <p:nvSpPr>
          <p:cNvPr id="16" name="Text 9"/>
          <p:cNvSpPr txBox="1"/>
          <p:nvPr/>
        </p:nvSpPr>
        <p:spPr>
          <a:xfrm>
            <a:off x="1280160" y="4251960"/>
            <a:ext cx="10271455" cy="82296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A cost-benefit model sets its carbon price equal to it</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WORKED EXAMPLE · STEP BY STEP</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Worked example: a toy social cost of carbon</a:t>
            </a:r>
            <a:endParaRPr lang="en-US" sz="3200" dirty="0"/>
          </a:p>
        </p:txBody>
      </p:sp>
      <p:sp>
        <p:nvSpPr>
          <p:cNvPr id="5" name="problem box"/>
          <p:cNvSpPr/>
          <p:nvPr/>
        </p:nvSpPr>
        <p:spPr>
          <a:xfrm>
            <a:off x="548640" y="1554480"/>
            <a:ext cx="11094415" cy="868680"/>
          </a:xfrm>
          <a:prstGeom prst="roundRect">
            <a:avLst>
              <a:gd name="adj" fmla="val 12632"/>
            </a:avLst>
          </a:prstGeom>
          <a:solidFill>
            <a:srgbClr val="E6F2F0"/>
          </a:solidFill>
          <a:ln w="12700">
            <a:solidFill>
              <a:srgbClr val="E6F2F0"/>
            </a:solidFill>
            <a:prstDash val="solid"/>
          </a:ln>
        </p:spPr>
      </p:sp>
      <p:sp>
        <p:nvSpPr>
          <p:cNvPr id="6" name="icon circle"/>
          <p:cNvSpPr/>
          <p:nvPr/>
        </p:nvSpPr>
        <p:spPr>
          <a:xfrm>
            <a:off x="731520" y="1691640"/>
            <a:ext cx="594360" cy="594360"/>
          </a:xfrm>
          <a:prstGeom prst="ellipse">
            <a:avLst/>
          </a:prstGeom>
          <a:solidFill>
            <a:srgbClr val="0F766E"/>
          </a:solidFill>
          <a:ln w="12700">
            <a:solidFill>
              <a:srgbClr val="0F766E"/>
            </a:solidFill>
            <a:prstDash val="solid"/>
          </a:ln>
        </p:spPr>
      </p:sp>
      <p:pic>
        <p:nvPicPr>
          <p:cNvPr id="7" name="icon" descr="preencoded.png">    </p:cNvPr>
          <p:cNvPicPr>
            <a:picLocks noChangeAspect="1"/>
          </p:cNvPicPr>
          <p:nvPr/>
        </p:nvPicPr>
        <p:blipFill>
          <a:blip r:embed="rId1"/>
          <a:stretch>
            <a:fillRect/>
          </a:stretch>
        </p:blipFill>
        <p:spPr>
          <a:xfrm>
            <a:off x="886054" y="1846174"/>
            <a:ext cx="285293" cy="285293"/>
          </a:xfrm>
          <a:prstGeom prst="rect">
            <a:avLst/>
          </a:prstGeom>
        </p:spPr>
      </p:pic>
      <p:sp>
        <p:nvSpPr>
          <p:cNvPr id="8" name="Text 4"/>
          <p:cNvSpPr txBox="1"/>
          <p:nvPr/>
        </p:nvSpPr>
        <p:spPr>
          <a:xfrm>
            <a:off x="1508760" y="1600200"/>
            <a:ext cx="9951415" cy="777240"/>
          </a:xfrm>
          <a:prstGeom prst="rect">
            <a:avLst/>
          </a:prstGeom>
          <a:noFill/>
          <a:ln/>
        </p:spPr>
        <p:txBody>
          <a:bodyPr wrap="square" lIns="0" tIns="0" rIns="0" bIns="0" rtlCol="0" anchor="ctr"/>
          <a:lstStyle/>
          <a:p>
            <a:pPr indent="0" marL="0">
              <a:buNone/>
            </a:pPr>
            <a:r>
              <a:rPr lang="en-US" sz="2000" b="1" dirty="0">
                <a:solidFill>
                  <a:srgbClr val="0B5550"/>
                </a:solidFill>
                <a:latin typeface="Calibri" pitchFamily="34" charset="0"/>
                <a:ea typeface="Calibri" pitchFamily="34" charset="-122"/>
                <a:cs typeface="Calibri" pitchFamily="34" charset="-120"/>
              </a:rPr>
              <a:t>Problem  </a:t>
            </a:r>
            <a:pPr indent="0" marL="0">
              <a:buNone/>
            </a:pPr>
            <a:r>
              <a:rPr lang="en-US" sz="2000" dirty="0">
                <a:solidFill>
                  <a:srgbClr val="1F2933"/>
                </a:solidFill>
                <a:latin typeface="Calibri" pitchFamily="34" charset="0"/>
                <a:ea typeface="Calibri" pitchFamily="34" charset="-122"/>
                <a:cs typeface="Calibri" pitchFamily="34" charset="-120"/>
              </a:rPr>
              <a:t>One extra tonne causes $1 of damage every year for 100 years. What is that worth today at 3%?</a:t>
            </a:r>
            <a:endParaRPr lang="en-US" sz="2000" dirty="0"/>
          </a:p>
        </p:txBody>
      </p:sp>
      <p:sp>
        <p:nvSpPr>
          <p:cNvPr id="9" name="number badge"/>
          <p:cNvSpPr txBox="1"/>
          <p:nvPr/>
        </p:nvSpPr>
        <p:spPr>
          <a:xfrm>
            <a:off x="548640" y="283464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1188720" y="265176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Year 1: 1 ÷ 1.03 = 0.971</a:t>
            </a:r>
            <a:endParaRPr lang="en-US" sz="2200" dirty="0"/>
          </a:p>
        </p:txBody>
      </p:sp>
      <p:sp>
        <p:nvSpPr>
          <p:cNvPr id="11" name="number badge"/>
          <p:cNvSpPr txBox="1"/>
          <p:nvPr/>
        </p:nvSpPr>
        <p:spPr>
          <a:xfrm>
            <a:off x="548640" y="361188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1188720" y="342900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Year 2: 1 ÷ 1.03² = 0.943; year 3: 0.915; and so on</a:t>
            </a:r>
            <a:endParaRPr lang="en-US" sz="2200" dirty="0"/>
          </a:p>
        </p:txBody>
      </p:sp>
      <p:sp>
        <p:nvSpPr>
          <p:cNvPr id="13" name="number badge"/>
          <p:cNvSpPr txBox="1"/>
          <p:nvPr/>
        </p:nvSpPr>
        <p:spPr>
          <a:xfrm>
            <a:off x="548640" y="438912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1188720" y="420624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Sum of 100 years = (1 − 1.03^−100) ÷ 0.03</a:t>
            </a:r>
            <a:endParaRPr lang="en-US" sz="2200" dirty="0"/>
          </a:p>
        </p:txBody>
      </p:sp>
      <p:sp>
        <p:nvSpPr>
          <p:cNvPr id="15" name="number badge"/>
          <p:cNvSpPr txBox="1"/>
          <p:nvPr/>
        </p:nvSpPr>
        <p:spPr>
          <a:xfrm>
            <a:off x="548640" y="5166360"/>
            <a:ext cx="411480" cy="41148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1188720" y="4983480"/>
            <a:ext cx="7132320" cy="777240"/>
          </a:xfrm>
          <a:prstGeom prst="rect">
            <a:avLst/>
          </a:prstGeom>
          <a:noFill/>
          <a:ln/>
        </p:spPr>
        <p:txBody>
          <a:bodyPr wrap="square" lIns="0" tIns="0" rIns="0" bIns="0" rtlCol="0" anchor="ctr"/>
          <a:lstStyle/>
          <a:p>
            <a:pPr indent="0" marL="0">
              <a:buNone/>
            </a:pPr>
            <a:r>
              <a:rPr lang="en-US" sz="2200" dirty="0">
                <a:solidFill>
                  <a:srgbClr val="1F2933"/>
                </a:solidFill>
                <a:latin typeface="Calibri" pitchFamily="34" charset="0"/>
                <a:ea typeface="Calibri" pitchFamily="34" charset="-122"/>
                <a:cs typeface="Calibri" pitchFamily="34" charset="-120"/>
              </a:rPr>
              <a:t>= (1 − 0.052) ÷ 0.03 ≈ 31.60</a:t>
            </a:r>
            <a:endParaRPr lang="en-US" sz="2200" dirty="0"/>
          </a:p>
        </p:txBody>
      </p:sp>
      <p:sp>
        <p:nvSpPr>
          <p:cNvPr id="17" name="answer card"/>
          <p:cNvSpPr/>
          <p:nvPr/>
        </p:nvSpPr>
        <p:spPr>
          <a:xfrm>
            <a:off x="8686800" y="2651760"/>
            <a:ext cx="2956255" cy="3520440"/>
          </a:xfrm>
          <a:prstGeom prst="roundRect">
            <a:avLst>
              <a:gd name="adj" fmla="val 3712"/>
            </a:avLst>
          </a:prstGeom>
          <a:solidFill>
            <a:srgbClr val="FCEDE5"/>
          </a:solidFill>
          <a:ln w="12700">
            <a:solidFill>
              <a:srgbClr val="FCEDE5"/>
            </a:solidFill>
            <a:prstDash val="solid"/>
          </a:ln>
        </p:spPr>
      </p:sp>
      <p:sp>
        <p:nvSpPr>
          <p:cNvPr id="18" name="icon circle"/>
          <p:cNvSpPr/>
          <p:nvPr/>
        </p:nvSpPr>
        <p:spPr>
          <a:xfrm>
            <a:off x="8961120" y="2926080"/>
            <a:ext cx="548640" cy="548640"/>
          </a:xfrm>
          <a:prstGeom prst="ellipse">
            <a:avLst/>
          </a:prstGeom>
          <a:solidFill>
            <a:srgbClr val="C2410C"/>
          </a:solidFill>
          <a:ln w="12700">
            <a:solidFill>
              <a:srgbClr val="C2410C"/>
            </a:solidFill>
            <a:prstDash val="solid"/>
          </a:ln>
        </p:spPr>
      </p:sp>
      <p:pic>
        <p:nvPicPr>
          <p:cNvPr id="19" name="icon" descr="preencoded.png">    </p:cNvPr>
          <p:cNvPicPr>
            <a:picLocks noChangeAspect="1"/>
          </p:cNvPicPr>
          <p:nvPr/>
        </p:nvPicPr>
        <p:blipFill>
          <a:blip r:embed="rId2"/>
          <a:stretch>
            <a:fillRect/>
          </a:stretch>
        </p:blipFill>
        <p:spPr>
          <a:xfrm>
            <a:off x="9103766" y="3068726"/>
            <a:ext cx="263347" cy="263347"/>
          </a:xfrm>
          <a:prstGeom prst="rect">
            <a:avLst/>
          </a:prstGeom>
        </p:spPr>
      </p:pic>
      <p:sp>
        <p:nvSpPr>
          <p:cNvPr id="20" name="Text 15"/>
          <p:cNvSpPr txBox="1"/>
          <p:nvPr/>
        </p:nvSpPr>
        <p:spPr>
          <a:xfrm>
            <a:off x="9646920" y="2971800"/>
            <a:ext cx="1858975" cy="457200"/>
          </a:xfrm>
          <a:prstGeom prst="rect">
            <a:avLst/>
          </a:prstGeom>
          <a:noFill/>
          <a:ln/>
        </p:spPr>
        <p:txBody>
          <a:bodyPr wrap="square" lIns="0" tIns="0" rIns="0" bIns="0" rtlCol="0" anchor="t"/>
          <a:lstStyle/>
          <a:p>
            <a:pPr indent="0" marL="0">
              <a:buNone/>
            </a:pPr>
            <a:r>
              <a:rPr lang="en-US" sz="1800" b="1" dirty="0">
                <a:solidFill>
                  <a:srgbClr val="C2410C"/>
                </a:solidFill>
                <a:latin typeface="Calibri" pitchFamily="34" charset="0"/>
                <a:ea typeface="Calibri" pitchFamily="34" charset="-122"/>
                <a:cs typeface="Calibri" pitchFamily="34" charset="-120"/>
              </a:rPr>
              <a:t>Answer</a:t>
            </a:r>
            <a:endParaRPr lang="en-US" sz="1800" dirty="0"/>
          </a:p>
        </p:txBody>
      </p:sp>
      <p:sp>
        <p:nvSpPr>
          <p:cNvPr id="21" name="Text 16"/>
          <p:cNvSpPr txBox="1"/>
          <p:nvPr/>
        </p:nvSpPr>
        <p:spPr>
          <a:xfrm>
            <a:off x="8961120" y="3703320"/>
            <a:ext cx="2407615" cy="2286000"/>
          </a:xfrm>
          <a:prstGeom prst="rect">
            <a:avLst/>
          </a:prstGeom>
          <a:noFill/>
          <a:ln/>
        </p:spPr>
        <p:txBody>
          <a:bodyPr wrap="square" lIns="0" tIns="0" rIns="0" bIns="0" rtlCol="0" anchor="t"/>
          <a:lstStyle/>
          <a:p>
            <a:pPr indent="0" marL="0">
              <a:buNone/>
            </a:pPr>
            <a:r>
              <a:rPr lang="en-US" sz="2300" b="1" dirty="0">
                <a:solidFill>
                  <a:srgbClr val="12263A"/>
                </a:solidFill>
                <a:latin typeface="Cambria" pitchFamily="34" charset="0"/>
                <a:ea typeface="Cambria" pitchFamily="34" charset="-122"/>
                <a:cs typeface="Cambria" pitchFamily="34" charset="-120"/>
              </a:rPr>
              <a:t>About $31.60 at 3%; the same stream is $51.62 at 1.5% and $19.85 at 5%</a:t>
            </a:r>
            <a:endParaRPr lang="en-US" sz="2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PICTURE THE NUMBERS</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The discount rate moves the toy SCC</a:t>
            </a:r>
            <a:endParaRPr lang="en-US" sz="3200" dirty="0"/>
          </a:p>
        </p:txBody>
      </p:sp>
      <p:graphicFrame>
        <p:nvGraphicFramePr>
          <p:cNvPr id="5" name="chart" descr=""/>
          <p:cNvGraphicFramePr/>
          <p:nvPr/>
        </p:nvGraphicFramePr>
        <p:xfrm>
          <a:off x="548640" y="1554480"/>
          <a:ext cx="7223760" cy="41605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48640" y="5806440"/>
            <a:ext cx="7223760" cy="365760"/>
          </a:xfrm>
          <a:prstGeom prst="rect">
            <a:avLst/>
          </a:prstGeom>
          <a:noFill/>
          <a:ln/>
        </p:spPr>
        <p:txBody>
          <a:bodyPr wrap="square" lIns="0" tIns="0" rIns="0" bIns="0" rtlCol="0" anchor="t"/>
          <a:lstStyle/>
          <a:p>
            <a:pPr indent="0" marL="0">
              <a:buNone/>
            </a:pPr>
            <a:r>
              <a:rPr lang="en-US" sz="1100" i="1" dirty="0">
                <a:solidFill>
                  <a:srgbClr val="5B6875"/>
                </a:solidFill>
                <a:latin typeface="Calibri" pitchFamily="34" charset="0"/>
                <a:ea typeface="Calibri" pitchFamily="34" charset="-122"/>
                <a:cs typeface="Calibri" pitchFamily="34" charset="-120"/>
              </a:rPr>
              <a:t>Computed with the annuity formula (1 − (1 + r)^−100) ÷ r</a:t>
            </a:r>
            <a:endParaRPr lang="en-US" sz="1100" dirty="0"/>
          </a:p>
        </p:txBody>
      </p:sp>
      <p:sp>
        <p:nvSpPr>
          <p:cNvPr id="7" name="takeaways card"/>
          <p:cNvSpPr/>
          <p:nvPr/>
        </p:nvSpPr>
        <p:spPr>
          <a:xfrm>
            <a:off x="8138160" y="1554480"/>
            <a:ext cx="3504895" cy="4526280"/>
          </a:xfrm>
          <a:prstGeom prst="roundRect">
            <a:avLst>
              <a:gd name="adj" fmla="val 3131"/>
            </a:avLst>
          </a:prstGeom>
          <a:solidFill>
            <a:srgbClr val="E6F2F0"/>
          </a:solidFill>
          <a:ln w="12700">
            <a:solidFill>
              <a:srgbClr val="E6F2F0"/>
            </a:solidFill>
            <a:prstDash val="solid"/>
          </a:ln>
        </p:spPr>
      </p:sp>
      <p:sp>
        <p:nvSpPr>
          <p:cNvPr id="8" name="Text 4"/>
          <p:cNvSpPr txBox="1"/>
          <p:nvPr/>
        </p:nvSpPr>
        <p:spPr>
          <a:xfrm>
            <a:off x="8412480" y="1783080"/>
            <a:ext cx="3047695" cy="365760"/>
          </a:xfrm>
          <a:prstGeom prst="rect">
            <a:avLst/>
          </a:prstGeom>
          <a:noFill/>
          <a:ln/>
        </p:spPr>
        <p:txBody>
          <a:bodyPr wrap="square" lIns="0" tIns="0" rIns="0" bIns="0" rtlCol="0" anchor="t"/>
          <a:lstStyle/>
          <a:p>
            <a:pPr indent="0" marL="0">
              <a:buNone/>
            </a:pPr>
            <a:r>
              <a:rPr lang="en-US" sz="1600" b="1" dirty="0">
                <a:solidFill>
                  <a:srgbClr val="0B5550"/>
                </a:solidFill>
                <a:latin typeface="Calibri" pitchFamily="34" charset="0"/>
                <a:ea typeface="Calibri" pitchFamily="34" charset="-122"/>
                <a:cs typeface="Calibri" pitchFamily="34" charset="-120"/>
              </a:rPr>
              <a:t>Read it like this</a:t>
            </a:r>
            <a:endParaRPr lang="en-US" sz="1600" dirty="0"/>
          </a:p>
        </p:txBody>
      </p:sp>
      <p:sp>
        <p:nvSpPr>
          <p:cNvPr id="9" name="number badge"/>
          <p:cNvSpPr txBox="1"/>
          <p:nvPr/>
        </p:nvSpPr>
        <p:spPr>
          <a:xfrm>
            <a:off x="8412480" y="23317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6"/>
          <p:cNvSpPr txBox="1"/>
          <p:nvPr/>
        </p:nvSpPr>
        <p:spPr>
          <a:xfrm>
            <a:off x="8961120" y="23042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Lower rate, future counts more, higher SCC</a:t>
            </a:r>
            <a:endParaRPr lang="en-US" sz="2000" dirty="0"/>
          </a:p>
        </p:txBody>
      </p:sp>
      <p:sp>
        <p:nvSpPr>
          <p:cNvPr id="11" name="number badge"/>
          <p:cNvSpPr txBox="1"/>
          <p:nvPr/>
        </p:nvSpPr>
        <p:spPr>
          <a:xfrm>
            <a:off x="8412480" y="35509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8"/>
          <p:cNvSpPr txBox="1"/>
          <p:nvPr/>
        </p:nvSpPr>
        <p:spPr>
          <a:xfrm>
            <a:off x="8961120" y="35234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Real estimates also differ in damages and uncertainty</a:t>
            </a:r>
            <a:endParaRPr lang="en-US" sz="2000" dirty="0"/>
          </a:p>
        </p:txBody>
      </p:sp>
      <p:sp>
        <p:nvSpPr>
          <p:cNvPr id="13" name="number badge"/>
          <p:cNvSpPr txBox="1"/>
          <p:nvPr/>
        </p:nvSpPr>
        <p:spPr>
          <a:xfrm>
            <a:off x="8412480" y="4770120"/>
            <a:ext cx="411480" cy="41148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0"/>
          <p:cNvSpPr txBox="1"/>
          <p:nvPr/>
        </p:nvSpPr>
        <p:spPr>
          <a:xfrm>
            <a:off x="8961120" y="4742688"/>
            <a:ext cx="2499055" cy="112776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Choosing the rate is partly an ethical choice</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QUICK CHECK · THINK, THEN VOTE</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Using D = 0.00236 × T², what share of world output is lost at 2.5 °C?</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0.6%</a:t>
            </a:r>
            <a:endParaRPr lang="en-US" sz="2000" dirty="0"/>
          </a:p>
        </p:txBody>
      </p:sp>
      <p:sp>
        <p:nvSpPr>
          <p:cNvPr id="9" name="option"/>
          <p:cNvSpPr/>
          <p:nvPr/>
        </p:nvSpPr>
        <p:spPr>
          <a:xfrm>
            <a:off x="6233008"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0" name="number badge"/>
          <p:cNvSpPr txBox="1"/>
          <p:nvPr/>
        </p:nvSpPr>
        <p:spPr>
          <a:xfrm>
            <a:off x="6507328" y="30861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1.5%</a:t>
            </a:r>
            <a:endParaRPr lang="en-US" sz="2000" dirty="0"/>
          </a:p>
        </p:txBody>
      </p:sp>
      <p:sp>
        <p:nvSpPr>
          <p:cNvPr id="12"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3" name="number badge"/>
          <p:cNvSpPr txBox="1"/>
          <p:nvPr/>
        </p:nvSpPr>
        <p:spPr>
          <a:xfrm>
            <a:off x="822960"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4" name="Text 11"/>
          <p:cNvSpPr txBox="1"/>
          <p:nvPr/>
        </p:nvSpPr>
        <p:spPr>
          <a:xfrm>
            <a:off x="1554480"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2.5%</a:t>
            </a:r>
            <a:endParaRPr lang="en-US" sz="2000" dirty="0"/>
          </a:p>
        </p:txBody>
      </p:sp>
      <p:sp>
        <p:nvSpPr>
          <p:cNvPr id="15"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6" name="number badge"/>
          <p:cNvSpPr txBox="1"/>
          <p:nvPr/>
        </p:nvSpPr>
        <p:spPr>
          <a:xfrm>
            <a:off x="6507328" y="4686300"/>
            <a:ext cx="548640" cy="548640"/>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7" name="Text 14"/>
          <p:cNvSpPr txBox="1"/>
          <p:nvPr/>
        </p:nvSpPr>
        <p:spPr>
          <a:xfrm>
            <a:off x="7238848" y="4297680"/>
            <a:ext cx="4221328" cy="13258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About 6%</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15803D"/>
                </a:solidFill>
                <a:latin typeface="Calibri" pitchFamily="34" charset="0"/>
                <a:ea typeface="Calibri" pitchFamily="34" charset="-122"/>
                <a:cs typeface="Calibri" pitchFamily="34" charset="-120"/>
              </a:rPr>
              <a:t>QUICK CHECK · ANSWER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Quick check: answer</a:t>
            </a:r>
            <a:endParaRPr lang="en-US" sz="3200" dirty="0"/>
          </a:p>
        </p:txBody>
      </p:sp>
      <p:sp>
        <p:nvSpPr>
          <p:cNvPr id="5" name="Text 2"/>
          <p:cNvSpPr txBox="1"/>
          <p:nvPr/>
        </p:nvSpPr>
        <p:spPr>
          <a:xfrm>
            <a:off x="548640" y="1554480"/>
            <a:ext cx="11094415" cy="914400"/>
          </a:xfrm>
          <a:prstGeom prst="rect">
            <a:avLst/>
          </a:prstGeom>
          <a:noFill/>
          <a:ln/>
        </p:spPr>
        <p:txBody>
          <a:bodyPr wrap="square" lIns="0" tIns="0" rIns="0" bIns="0" rtlCol="0" anchor="t"/>
          <a:lstStyle/>
          <a:p>
            <a:pPr indent="0" marL="0">
              <a:buNone/>
            </a:pPr>
            <a:r>
              <a:rPr lang="en-US" sz="2400" b="1" dirty="0">
                <a:solidFill>
                  <a:srgbClr val="12263A"/>
                </a:solidFill>
                <a:latin typeface="Calibri" pitchFamily="34" charset="0"/>
                <a:ea typeface="Calibri" pitchFamily="34" charset="-122"/>
                <a:cs typeface="Calibri" pitchFamily="34" charset="-120"/>
              </a:rPr>
              <a:t>Using D = 0.00236 × T², what share of world output is lost at 2.5 °C?</a:t>
            </a:r>
            <a:endParaRPr lang="en-US" sz="2400" dirty="0"/>
          </a:p>
        </p:txBody>
      </p:sp>
      <p:sp>
        <p:nvSpPr>
          <p:cNvPr id="6" name="option"/>
          <p:cNvSpPr/>
          <p:nvPr/>
        </p:nvSpPr>
        <p:spPr>
          <a:xfrm>
            <a:off x="548640" y="26974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7" name="number badge"/>
          <p:cNvSpPr txBox="1"/>
          <p:nvPr/>
        </p:nvSpPr>
        <p:spPr>
          <a:xfrm>
            <a:off x="822960" y="30861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8" name="Text 5"/>
          <p:cNvSpPr txBox="1"/>
          <p:nvPr/>
        </p:nvSpPr>
        <p:spPr>
          <a:xfrm>
            <a:off x="1554480" y="26974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0.6%</a:t>
            </a:r>
            <a:endParaRPr lang="en-US" sz="2000" dirty="0"/>
          </a:p>
        </p:txBody>
      </p:sp>
      <p:sp>
        <p:nvSpPr>
          <p:cNvPr id="9" name="option"/>
          <p:cNvSpPr/>
          <p:nvPr/>
        </p:nvSpPr>
        <p:spPr>
          <a:xfrm>
            <a:off x="6233008" y="2697480"/>
            <a:ext cx="5410048" cy="1325880"/>
          </a:xfrm>
          <a:prstGeom prst="roundRect">
            <a:avLst>
              <a:gd name="adj" fmla="val 8276"/>
            </a:avLst>
          </a:prstGeom>
          <a:solidFill>
            <a:srgbClr val="E7F5EC"/>
          </a:solidFill>
          <a:ln w="12700">
            <a:solidFill>
              <a:srgbClr val="E7F5EC"/>
            </a:solidFill>
            <a:prstDash val="solid"/>
          </a:ln>
        </p:spPr>
      </p:sp>
      <p:sp>
        <p:nvSpPr>
          <p:cNvPr id="10" name="number badge"/>
          <p:cNvSpPr txBox="1"/>
          <p:nvPr/>
        </p:nvSpPr>
        <p:spPr>
          <a:xfrm>
            <a:off x="6507328" y="3086100"/>
            <a:ext cx="548640" cy="548640"/>
          </a:xfrm>
          <a:prstGeom prst="ellipse">
            <a:avLst/>
          </a:prstGeom>
          <a:solidFill>
            <a:srgbClr val="15803D"/>
          </a:solidFill>
          <a:ln>
            <a:solidFill>
              <a:srgbClr val="15803D"/>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B</a:t>
            </a:r>
            <a:endParaRPr lang="en-US" sz="1800" dirty="0"/>
          </a:p>
        </p:txBody>
      </p:sp>
      <p:sp>
        <p:nvSpPr>
          <p:cNvPr id="11" name="Text 8"/>
          <p:cNvSpPr txBox="1"/>
          <p:nvPr/>
        </p:nvSpPr>
        <p:spPr>
          <a:xfrm>
            <a:off x="7238848" y="2697480"/>
            <a:ext cx="3626968" cy="1325880"/>
          </a:xfrm>
          <a:prstGeom prst="rect">
            <a:avLst/>
          </a:prstGeom>
          <a:noFill/>
          <a:ln/>
        </p:spPr>
        <p:txBody>
          <a:bodyPr wrap="square" lIns="0" tIns="0" rIns="0" bIns="0" rtlCol="0" anchor="ctr"/>
          <a:lstStyle/>
          <a:p>
            <a:pPr indent="0" marL="0">
              <a:buNone/>
            </a:pPr>
            <a:r>
              <a:rPr lang="en-US" sz="2000" b="1" dirty="0">
                <a:solidFill>
                  <a:srgbClr val="1F2933"/>
                </a:solidFill>
                <a:latin typeface="Calibri" pitchFamily="34" charset="0"/>
                <a:ea typeface="Calibri" pitchFamily="34" charset="-122"/>
                <a:cs typeface="Calibri" pitchFamily="34" charset="-120"/>
              </a:rPr>
              <a:t>About 1.5%</a:t>
            </a:r>
            <a:endParaRPr lang="en-US" sz="2000" dirty="0"/>
          </a:p>
        </p:txBody>
      </p:sp>
      <p:sp>
        <p:nvSpPr>
          <p:cNvPr id="12" name="icon circle"/>
          <p:cNvSpPr/>
          <p:nvPr/>
        </p:nvSpPr>
        <p:spPr>
          <a:xfrm>
            <a:off x="11048695" y="2834640"/>
            <a:ext cx="411480" cy="411480"/>
          </a:xfrm>
          <a:prstGeom prst="ellipse">
            <a:avLst/>
          </a:prstGeom>
          <a:solidFill>
            <a:srgbClr val="15803D"/>
          </a:solidFill>
          <a:ln w="12700">
            <a:solidFill>
              <a:srgbClr val="15803D"/>
            </a:solidFill>
            <a:prstDash val="solid"/>
          </a:ln>
        </p:spPr>
      </p:sp>
      <p:pic>
        <p:nvPicPr>
          <p:cNvPr id="13" name="icon" descr="preencoded.png">    </p:cNvPr>
          <p:cNvPicPr>
            <a:picLocks noChangeAspect="1"/>
          </p:cNvPicPr>
          <p:nvPr/>
        </p:nvPicPr>
        <p:blipFill>
          <a:blip r:embed="rId1"/>
          <a:stretch>
            <a:fillRect/>
          </a:stretch>
        </p:blipFill>
        <p:spPr>
          <a:xfrm>
            <a:off x="11155680" y="2941625"/>
            <a:ext cx="197510" cy="197510"/>
          </a:xfrm>
          <a:prstGeom prst="rect">
            <a:avLst/>
          </a:prstGeom>
        </p:spPr>
      </p:pic>
      <p:sp>
        <p:nvSpPr>
          <p:cNvPr id="14" name="option"/>
          <p:cNvSpPr/>
          <p:nvPr/>
        </p:nvSpPr>
        <p:spPr>
          <a:xfrm>
            <a:off x="548640"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5" name="number badge"/>
          <p:cNvSpPr txBox="1"/>
          <p:nvPr/>
        </p:nvSpPr>
        <p:spPr>
          <a:xfrm>
            <a:off x="822960"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t>
            </a:r>
            <a:endParaRPr lang="en-US" sz="1800" dirty="0"/>
          </a:p>
        </p:txBody>
      </p:sp>
      <p:sp>
        <p:nvSpPr>
          <p:cNvPr id="16" name="Text 12"/>
          <p:cNvSpPr txBox="1"/>
          <p:nvPr/>
        </p:nvSpPr>
        <p:spPr>
          <a:xfrm>
            <a:off x="1554480"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2.5%</a:t>
            </a:r>
            <a:endParaRPr lang="en-US" sz="2000" dirty="0"/>
          </a:p>
        </p:txBody>
      </p:sp>
      <p:sp>
        <p:nvSpPr>
          <p:cNvPr id="17" name="option"/>
          <p:cNvSpPr/>
          <p:nvPr/>
        </p:nvSpPr>
        <p:spPr>
          <a:xfrm>
            <a:off x="6233008" y="4297680"/>
            <a:ext cx="5410048" cy="1325880"/>
          </a:xfrm>
          <a:prstGeom prst="roundRect">
            <a:avLst>
              <a:gd name="adj" fmla="val 82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8" name="number badge"/>
          <p:cNvSpPr txBox="1"/>
          <p:nvPr/>
        </p:nvSpPr>
        <p:spPr>
          <a:xfrm>
            <a:off x="6507328" y="4686300"/>
            <a:ext cx="548640" cy="548640"/>
          </a:xfrm>
          <a:prstGeom prst="ellipse">
            <a:avLst/>
          </a:prstGeom>
          <a:solidFill>
            <a:srgbClr val="B8C2C0"/>
          </a:solidFill>
          <a:ln>
            <a:solidFill>
              <a:srgbClr val="B8C2C0"/>
            </a:solid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19" name="Text 15"/>
          <p:cNvSpPr txBox="1"/>
          <p:nvPr/>
        </p:nvSpPr>
        <p:spPr>
          <a:xfrm>
            <a:off x="7238848" y="4297680"/>
            <a:ext cx="3626968" cy="1325880"/>
          </a:xfrm>
          <a:prstGeom prst="rect">
            <a:avLst/>
          </a:prstGeom>
          <a:noFill/>
          <a:ln/>
        </p:spPr>
        <p:txBody>
          <a:bodyPr wrap="square" lIns="0" tIns="0" rIns="0" bIns="0" rtlCol="0" anchor="ctr"/>
          <a:lstStyle/>
          <a:p>
            <a:pPr indent="0" marL="0">
              <a:buNone/>
            </a:pPr>
            <a:r>
              <a:rPr lang="en-US" sz="2000" dirty="0">
                <a:solidFill>
                  <a:srgbClr val="5B6875"/>
                </a:solidFill>
                <a:latin typeface="Calibri" pitchFamily="34" charset="0"/>
                <a:ea typeface="Calibri" pitchFamily="34" charset="-122"/>
                <a:cs typeface="Calibri" pitchFamily="34" charset="-120"/>
              </a:rPr>
              <a:t>About 6%</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B91C1C"/>
                </a:solidFill>
                <a:latin typeface="Calibri" pitchFamily="34" charset="0"/>
                <a:ea typeface="Calibri" pitchFamily="34" charset="-122"/>
                <a:cs typeface="Calibri" pitchFamily="34" charset="-120"/>
              </a:rPr>
              <a:t>WATCH OUT</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Common mix-ups</a:t>
            </a:r>
            <a:endParaRPr lang="en-US" sz="3200" dirty="0"/>
          </a:p>
        </p:txBody>
      </p:sp>
      <p:sp>
        <p:nvSpPr>
          <p:cNvPr id="5" name="Text 2"/>
          <p:cNvSpPr txBox="1"/>
          <p:nvPr/>
        </p:nvSpPr>
        <p:spPr>
          <a:xfrm>
            <a:off x="1143000" y="1508760"/>
            <a:ext cx="2743200" cy="320040"/>
          </a:xfrm>
          <a:prstGeom prst="rect">
            <a:avLst/>
          </a:prstGeom>
          <a:noFill/>
          <a:ln/>
        </p:spPr>
        <p:txBody>
          <a:bodyPr wrap="square" lIns="0" tIns="0" rIns="0" bIns="0" rtlCol="0" anchor="t"/>
          <a:lstStyle/>
          <a:p>
            <a:pPr indent="0" marL="0">
              <a:buNone/>
            </a:pPr>
            <a:r>
              <a:rPr lang="en-US" sz="1400" b="1" dirty="0">
                <a:solidFill>
                  <a:srgbClr val="B91C1C"/>
                </a:solidFill>
                <a:latin typeface="Calibri" pitchFamily="34" charset="0"/>
                <a:ea typeface="Calibri" pitchFamily="34" charset="-122"/>
                <a:cs typeface="Calibri" pitchFamily="34" charset="-120"/>
              </a:rPr>
              <a:t>Not quite</a:t>
            </a:r>
            <a:endParaRPr lang="en-US" sz="1400" dirty="0"/>
          </a:p>
        </p:txBody>
      </p:sp>
      <p:sp>
        <p:nvSpPr>
          <p:cNvPr id="6" name="Text 3"/>
          <p:cNvSpPr txBox="1"/>
          <p:nvPr/>
        </p:nvSpPr>
        <p:spPr>
          <a:xfrm>
            <a:off x="6827368" y="1508760"/>
            <a:ext cx="2743200" cy="320040"/>
          </a:xfrm>
          <a:prstGeom prst="rect">
            <a:avLst/>
          </a:prstGeom>
          <a:noFill/>
          <a:ln/>
        </p:spPr>
        <p:txBody>
          <a:bodyPr wrap="square" lIns="0" tIns="0" rIns="0" bIns="0" rtlCol="0" anchor="t"/>
          <a:lstStyle/>
          <a:p>
            <a:pPr indent="0" marL="0">
              <a:buNone/>
            </a:pPr>
            <a:r>
              <a:rPr lang="en-US" sz="1400" b="1" dirty="0">
                <a:solidFill>
                  <a:srgbClr val="15803D"/>
                </a:solidFill>
                <a:latin typeface="Calibri" pitchFamily="34" charset="0"/>
                <a:ea typeface="Calibri" pitchFamily="34" charset="-122"/>
                <a:cs typeface="Calibri" pitchFamily="34" charset="-120"/>
              </a:rPr>
              <a:t>Better</a:t>
            </a:r>
            <a:endParaRPr lang="en-US" sz="1400" dirty="0"/>
          </a:p>
        </p:txBody>
      </p:sp>
      <p:sp>
        <p:nvSpPr>
          <p:cNvPr id="7" name="wrong card"/>
          <p:cNvSpPr/>
          <p:nvPr/>
        </p:nvSpPr>
        <p:spPr>
          <a:xfrm>
            <a:off x="548640" y="1920240"/>
            <a:ext cx="5410048" cy="1249680"/>
          </a:xfrm>
          <a:prstGeom prst="roundRect">
            <a:avLst>
              <a:gd name="adj" fmla="val 8780"/>
            </a:avLst>
          </a:prstGeom>
          <a:solidFill>
            <a:srgbClr val="FDECEC"/>
          </a:solidFill>
          <a:ln w="12700">
            <a:solidFill>
              <a:srgbClr val="FDECEC"/>
            </a:solidFill>
            <a:prstDash val="solid"/>
          </a:ln>
        </p:spPr>
      </p:sp>
      <p:sp>
        <p:nvSpPr>
          <p:cNvPr id="8" name="right card"/>
          <p:cNvSpPr/>
          <p:nvPr/>
        </p:nvSpPr>
        <p:spPr>
          <a:xfrm>
            <a:off x="6233008" y="1920240"/>
            <a:ext cx="5410048" cy="1249680"/>
          </a:xfrm>
          <a:prstGeom prst="roundRect">
            <a:avLst>
              <a:gd name="adj" fmla="val 8780"/>
            </a:avLst>
          </a:prstGeom>
          <a:solidFill>
            <a:srgbClr val="E7F5EC"/>
          </a:solidFill>
          <a:ln w="12700">
            <a:solidFill>
              <a:srgbClr val="E7F5EC"/>
            </a:solidFill>
            <a:prstDash val="solid"/>
          </a:ln>
        </p:spPr>
      </p:sp>
      <p:sp>
        <p:nvSpPr>
          <p:cNvPr id="9" name="icon circle"/>
          <p:cNvSpPr/>
          <p:nvPr/>
        </p:nvSpPr>
        <p:spPr>
          <a:xfrm>
            <a:off x="685800" y="2339340"/>
            <a:ext cx="411480" cy="411480"/>
          </a:xfrm>
          <a:prstGeom prst="ellipse">
            <a:avLst/>
          </a:prstGeom>
          <a:solidFill>
            <a:srgbClr val="B91C1C"/>
          </a:solidFill>
          <a:ln w="12700">
            <a:solidFill>
              <a:srgbClr val="B91C1C"/>
            </a:solidFill>
            <a:prstDash val="solid"/>
          </a:ln>
        </p:spPr>
      </p:sp>
      <p:pic>
        <p:nvPicPr>
          <p:cNvPr id="10" name="icon" descr="preencoded.png">    </p:cNvPr>
          <p:cNvPicPr>
            <a:picLocks noChangeAspect="1"/>
          </p:cNvPicPr>
          <p:nvPr/>
        </p:nvPicPr>
        <p:blipFill>
          <a:blip r:embed="rId1"/>
          <a:stretch>
            <a:fillRect/>
          </a:stretch>
        </p:blipFill>
        <p:spPr>
          <a:xfrm>
            <a:off x="792785" y="2446325"/>
            <a:ext cx="197510" cy="197510"/>
          </a:xfrm>
          <a:prstGeom prst="rect">
            <a:avLst/>
          </a:prstGeom>
        </p:spPr>
      </p:pic>
      <p:sp>
        <p:nvSpPr>
          <p:cNvPr id="11" name="icon circle"/>
          <p:cNvSpPr/>
          <p:nvPr/>
        </p:nvSpPr>
        <p:spPr>
          <a:xfrm>
            <a:off x="6370168" y="2339340"/>
            <a:ext cx="411480" cy="411480"/>
          </a:xfrm>
          <a:prstGeom prst="ellipse">
            <a:avLst/>
          </a:prstGeom>
          <a:solidFill>
            <a:srgbClr val="15803D"/>
          </a:solidFill>
          <a:ln w="12700">
            <a:solidFill>
              <a:srgbClr val="15803D"/>
            </a:solidFill>
            <a:prstDash val="solid"/>
          </a:ln>
        </p:spPr>
      </p:sp>
      <p:pic>
        <p:nvPicPr>
          <p:cNvPr id="12" name="icon" descr="preencoded.png">    </p:cNvPr>
          <p:cNvPicPr>
            <a:picLocks noChangeAspect="1"/>
          </p:cNvPicPr>
          <p:nvPr/>
        </p:nvPicPr>
        <p:blipFill>
          <a:blip r:embed="rId2"/>
          <a:stretch>
            <a:fillRect/>
          </a:stretch>
        </p:blipFill>
        <p:spPr>
          <a:xfrm>
            <a:off x="6477152" y="2446325"/>
            <a:ext cx="197510" cy="197510"/>
          </a:xfrm>
          <a:prstGeom prst="rect">
            <a:avLst/>
          </a:prstGeom>
        </p:spPr>
      </p:pic>
      <p:sp>
        <p:nvSpPr>
          <p:cNvPr id="13" name="Text 8"/>
          <p:cNvSpPr txBox="1"/>
          <p:nvPr/>
        </p:nvSpPr>
        <p:spPr>
          <a:xfrm>
            <a:off x="1234440"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The social cost of carbon is the carbon price we will see.</a:t>
            </a:r>
            <a:endParaRPr lang="en-US" sz="2000" dirty="0"/>
          </a:p>
        </p:txBody>
      </p:sp>
      <p:sp>
        <p:nvSpPr>
          <p:cNvPr id="14" name="Text 9"/>
          <p:cNvSpPr txBox="1"/>
          <p:nvPr/>
        </p:nvSpPr>
        <p:spPr>
          <a:xfrm>
            <a:off x="6918808" y="192024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It is the price a cost-benefit model recommends. Real carbon prices are set by politics.</a:t>
            </a:r>
            <a:endParaRPr lang="en-US" sz="2000" dirty="0"/>
          </a:p>
        </p:txBody>
      </p:sp>
      <p:sp>
        <p:nvSpPr>
          <p:cNvPr id="15" name="wrong card"/>
          <p:cNvSpPr/>
          <p:nvPr/>
        </p:nvSpPr>
        <p:spPr>
          <a:xfrm>
            <a:off x="548640" y="3398520"/>
            <a:ext cx="5410048" cy="1249680"/>
          </a:xfrm>
          <a:prstGeom prst="roundRect">
            <a:avLst>
              <a:gd name="adj" fmla="val 8780"/>
            </a:avLst>
          </a:prstGeom>
          <a:solidFill>
            <a:srgbClr val="FDECEC"/>
          </a:solidFill>
          <a:ln w="12700">
            <a:solidFill>
              <a:srgbClr val="FDECEC"/>
            </a:solidFill>
            <a:prstDash val="solid"/>
          </a:ln>
        </p:spPr>
      </p:sp>
      <p:sp>
        <p:nvSpPr>
          <p:cNvPr id="16" name="right card"/>
          <p:cNvSpPr/>
          <p:nvPr/>
        </p:nvSpPr>
        <p:spPr>
          <a:xfrm>
            <a:off x="6233008" y="3398520"/>
            <a:ext cx="5410048" cy="1249680"/>
          </a:xfrm>
          <a:prstGeom prst="roundRect">
            <a:avLst>
              <a:gd name="adj" fmla="val 8780"/>
            </a:avLst>
          </a:prstGeom>
          <a:solidFill>
            <a:srgbClr val="E7F5EC"/>
          </a:solidFill>
          <a:ln w="12700">
            <a:solidFill>
              <a:srgbClr val="E7F5EC"/>
            </a:solidFill>
            <a:prstDash val="solid"/>
          </a:ln>
        </p:spPr>
      </p:sp>
      <p:sp>
        <p:nvSpPr>
          <p:cNvPr id="17" name="icon circle"/>
          <p:cNvSpPr/>
          <p:nvPr/>
        </p:nvSpPr>
        <p:spPr>
          <a:xfrm>
            <a:off x="685800" y="3817620"/>
            <a:ext cx="411480" cy="411480"/>
          </a:xfrm>
          <a:prstGeom prst="ellipse">
            <a:avLst/>
          </a:prstGeom>
          <a:solidFill>
            <a:srgbClr val="B91C1C"/>
          </a:solidFill>
          <a:ln w="12700">
            <a:solidFill>
              <a:srgbClr val="B91C1C"/>
            </a:solidFill>
            <a:prstDash val="solid"/>
          </a:ln>
        </p:spPr>
      </p:sp>
      <p:pic>
        <p:nvPicPr>
          <p:cNvPr id="18" name="icon" descr="preencoded.png">    </p:cNvPr>
          <p:cNvPicPr>
            <a:picLocks noChangeAspect="1"/>
          </p:cNvPicPr>
          <p:nvPr/>
        </p:nvPicPr>
        <p:blipFill>
          <a:blip r:embed="rId3"/>
          <a:stretch>
            <a:fillRect/>
          </a:stretch>
        </p:blipFill>
        <p:spPr>
          <a:xfrm>
            <a:off x="792785" y="3924605"/>
            <a:ext cx="197510" cy="197510"/>
          </a:xfrm>
          <a:prstGeom prst="rect">
            <a:avLst/>
          </a:prstGeom>
        </p:spPr>
      </p:pic>
      <p:sp>
        <p:nvSpPr>
          <p:cNvPr id="19" name="icon circle"/>
          <p:cNvSpPr/>
          <p:nvPr/>
        </p:nvSpPr>
        <p:spPr>
          <a:xfrm>
            <a:off x="6370168" y="3817620"/>
            <a:ext cx="411480" cy="411480"/>
          </a:xfrm>
          <a:prstGeom prst="ellipse">
            <a:avLst/>
          </a:prstGeom>
          <a:solidFill>
            <a:srgbClr val="15803D"/>
          </a:solidFill>
          <a:ln w="12700">
            <a:solidFill>
              <a:srgbClr val="15803D"/>
            </a:solidFill>
            <a:prstDash val="solid"/>
          </a:ln>
        </p:spPr>
      </p:sp>
      <p:pic>
        <p:nvPicPr>
          <p:cNvPr id="20" name="icon" descr="preencoded.png">    </p:cNvPr>
          <p:cNvPicPr>
            <a:picLocks noChangeAspect="1"/>
          </p:cNvPicPr>
          <p:nvPr/>
        </p:nvPicPr>
        <p:blipFill>
          <a:blip r:embed="rId4"/>
          <a:stretch>
            <a:fillRect/>
          </a:stretch>
        </p:blipFill>
        <p:spPr>
          <a:xfrm>
            <a:off x="6477152" y="3924605"/>
            <a:ext cx="197510" cy="197510"/>
          </a:xfrm>
          <a:prstGeom prst="rect">
            <a:avLst/>
          </a:prstGeom>
        </p:spPr>
      </p:pic>
      <p:sp>
        <p:nvSpPr>
          <p:cNvPr id="21" name="Text 14"/>
          <p:cNvSpPr txBox="1"/>
          <p:nvPr/>
        </p:nvSpPr>
        <p:spPr>
          <a:xfrm>
            <a:off x="1234440"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'Optimal' means the best possible policy.</a:t>
            </a:r>
            <a:endParaRPr lang="en-US" sz="2000" dirty="0"/>
          </a:p>
        </p:txBody>
      </p:sp>
      <p:sp>
        <p:nvSpPr>
          <p:cNvPr id="22" name="Text 15"/>
          <p:cNvSpPr txBox="1"/>
          <p:nvPr/>
        </p:nvSpPr>
        <p:spPr>
          <a:xfrm>
            <a:off x="6918808" y="339852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Optimal only for that model's damage curve and discount rate. Change those and 'optimal' changes.</a:t>
            </a:r>
            <a:endParaRPr lang="en-US" sz="2000" dirty="0"/>
          </a:p>
        </p:txBody>
      </p:sp>
      <p:sp>
        <p:nvSpPr>
          <p:cNvPr id="23" name="wrong card"/>
          <p:cNvSpPr/>
          <p:nvPr/>
        </p:nvSpPr>
        <p:spPr>
          <a:xfrm>
            <a:off x="548640" y="4876800"/>
            <a:ext cx="5410048" cy="1249680"/>
          </a:xfrm>
          <a:prstGeom prst="roundRect">
            <a:avLst>
              <a:gd name="adj" fmla="val 8780"/>
            </a:avLst>
          </a:prstGeom>
          <a:solidFill>
            <a:srgbClr val="FDECEC"/>
          </a:solidFill>
          <a:ln w="12700">
            <a:solidFill>
              <a:srgbClr val="FDECEC"/>
            </a:solidFill>
            <a:prstDash val="solid"/>
          </a:ln>
        </p:spPr>
      </p:sp>
      <p:sp>
        <p:nvSpPr>
          <p:cNvPr id="24" name="right card"/>
          <p:cNvSpPr/>
          <p:nvPr/>
        </p:nvSpPr>
        <p:spPr>
          <a:xfrm>
            <a:off x="6233008" y="4876800"/>
            <a:ext cx="5410048" cy="1249680"/>
          </a:xfrm>
          <a:prstGeom prst="roundRect">
            <a:avLst>
              <a:gd name="adj" fmla="val 8780"/>
            </a:avLst>
          </a:prstGeom>
          <a:solidFill>
            <a:srgbClr val="E7F5EC"/>
          </a:solidFill>
          <a:ln w="12700">
            <a:solidFill>
              <a:srgbClr val="E7F5EC"/>
            </a:solidFill>
            <a:prstDash val="solid"/>
          </a:ln>
        </p:spPr>
      </p:sp>
      <p:sp>
        <p:nvSpPr>
          <p:cNvPr id="25" name="icon circle"/>
          <p:cNvSpPr/>
          <p:nvPr/>
        </p:nvSpPr>
        <p:spPr>
          <a:xfrm>
            <a:off x="685800" y="5295900"/>
            <a:ext cx="411480" cy="411480"/>
          </a:xfrm>
          <a:prstGeom prst="ellipse">
            <a:avLst/>
          </a:prstGeom>
          <a:solidFill>
            <a:srgbClr val="B91C1C"/>
          </a:solidFill>
          <a:ln w="12700">
            <a:solidFill>
              <a:srgbClr val="B91C1C"/>
            </a:solidFill>
            <a:prstDash val="solid"/>
          </a:ln>
        </p:spPr>
      </p:sp>
      <p:pic>
        <p:nvPicPr>
          <p:cNvPr id="26" name="icon" descr="preencoded.png">    </p:cNvPr>
          <p:cNvPicPr>
            <a:picLocks noChangeAspect="1"/>
          </p:cNvPicPr>
          <p:nvPr/>
        </p:nvPicPr>
        <p:blipFill>
          <a:blip r:embed="rId5"/>
          <a:stretch>
            <a:fillRect/>
          </a:stretch>
        </p:blipFill>
        <p:spPr>
          <a:xfrm>
            <a:off x="792785" y="5402885"/>
            <a:ext cx="197510" cy="197510"/>
          </a:xfrm>
          <a:prstGeom prst="rect">
            <a:avLst/>
          </a:prstGeom>
        </p:spPr>
      </p:pic>
      <p:sp>
        <p:nvSpPr>
          <p:cNvPr id="27" name="icon circle"/>
          <p:cNvSpPr/>
          <p:nvPr/>
        </p:nvSpPr>
        <p:spPr>
          <a:xfrm>
            <a:off x="6370168" y="5295900"/>
            <a:ext cx="411480" cy="411480"/>
          </a:xfrm>
          <a:prstGeom prst="ellipse">
            <a:avLst/>
          </a:prstGeom>
          <a:solidFill>
            <a:srgbClr val="15803D"/>
          </a:solidFill>
          <a:ln w="12700">
            <a:solidFill>
              <a:srgbClr val="15803D"/>
            </a:solidFill>
            <a:prstDash val="solid"/>
          </a:ln>
        </p:spPr>
      </p:sp>
      <p:pic>
        <p:nvPicPr>
          <p:cNvPr id="28" name="icon" descr="preencoded.png">    </p:cNvPr>
          <p:cNvPicPr>
            <a:picLocks noChangeAspect="1"/>
          </p:cNvPicPr>
          <p:nvPr/>
        </p:nvPicPr>
        <p:blipFill>
          <a:blip r:embed="rId6"/>
          <a:stretch>
            <a:fillRect/>
          </a:stretch>
        </p:blipFill>
        <p:spPr>
          <a:xfrm>
            <a:off x="6477152" y="5402885"/>
            <a:ext cx="197510" cy="197510"/>
          </a:xfrm>
          <a:prstGeom prst="rect">
            <a:avLst/>
          </a:prstGeom>
        </p:spPr>
      </p:pic>
      <p:sp>
        <p:nvSpPr>
          <p:cNvPr id="29" name="Text 20"/>
          <p:cNvSpPr txBox="1"/>
          <p:nvPr/>
        </p:nvSpPr>
        <p:spPr>
          <a:xfrm>
            <a:off x="1234440"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Doubling warming doubles damages.</a:t>
            </a:r>
            <a:endParaRPr lang="en-US" sz="2000" dirty="0"/>
          </a:p>
        </p:txBody>
      </p:sp>
      <p:sp>
        <p:nvSpPr>
          <p:cNvPr id="30" name="Text 21"/>
          <p:cNvSpPr txBox="1"/>
          <p:nvPr/>
        </p:nvSpPr>
        <p:spPr>
          <a:xfrm>
            <a:off x="6918808" y="4876800"/>
            <a:ext cx="4541368" cy="1249680"/>
          </a:xfrm>
          <a:prstGeom prst="rect">
            <a:avLst/>
          </a:prstGeom>
          <a:noFill/>
          <a:ln/>
        </p:spPr>
        <p:txBody>
          <a:bodyPr wrap="square" lIns="0" tIns="0" rIns="0" bIns="0" rtlCol="0" anchor="ctr"/>
          <a:lstStyle/>
          <a:p>
            <a:pPr indent="0" marL="0">
              <a:buNone/>
            </a:pPr>
            <a:r>
              <a:rPr lang="en-US" sz="2000" dirty="0">
                <a:solidFill>
                  <a:srgbClr val="1F2933"/>
                </a:solidFill>
                <a:latin typeface="Calibri" pitchFamily="34" charset="0"/>
                <a:ea typeface="Calibri" pitchFamily="34" charset="-122"/>
                <a:cs typeface="Calibri" pitchFamily="34" charset="-120"/>
              </a:rPr>
              <a:t>With a squared damage curve, doubling warming quadruples damages.</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IN R</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Run a model many times with map()</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map() calls one_run once per rate and collects the results</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list_rbind() stacks them into one table</a:t>
            </a:r>
            <a:endParaRPr lang="en-US" sz="2200" dirty="0"/>
          </a:p>
          <a:p>
            <a:pPr marL="228600" indent="-228600">
              <a:spcAft>
                <a:spcPts val="800"/>
              </a:spcAft>
              <a:buSzPct val="100000"/>
              <a:buChar char="•"/>
            </a:pPr>
            <a:r>
              <a:rPr lang="en-US" sz="2200" dirty="0">
                <a:solidFill>
                  <a:srgbClr val="1F2933"/>
                </a:solidFill>
                <a:latin typeface="Calibri" pitchFamily="34" charset="0"/>
                <a:ea typeface="Calibri" pitchFamily="34" charset="-122"/>
                <a:cs typeface="Calibri" pitchFamily="34" charset="-120"/>
              </a:rPr>
              <a:t>facet_wrap() draws one small chart per rate</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rates &lt;- c(0.005, 0.015, 0.03)</a:t>
            </a:r>
            <a:endParaRPr lang="en-US" sz="2200" dirty="0"/>
          </a:p>
          <a:p>
            <a:pPr indent="0" marL="0">
              <a:lnSpc>
                <a:spcPct val="100000"/>
              </a:lnSpc>
              <a:buNone/>
            </a:pP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one_run &lt;- function(r)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run_dice(discount = r) |&gt;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mutate(rate = r)</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runs &lt;- map(rates, one_run) |&gt;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list_rbind()</a:t>
            </a:r>
            <a:endParaRPr lang="en-US" sz="2200" dirty="0"/>
          </a:p>
          <a:p>
            <a:pPr indent="0" marL="0">
              <a:lnSpc>
                <a:spcPct val="100000"/>
              </a:lnSpc>
              <a:buNone/>
            </a:pP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ggplot(runs, aes(year, carbon_price))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geom_line()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facet_wrap(~ rate)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0F766E"/>
                </a:solidFill>
                <a:latin typeface="Calibri" pitchFamily="34" charset="0"/>
                <a:ea typeface="Calibri" pitchFamily="34" charset="-122"/>
                <a:cs typeface="Calibri" pitchFamily="34" charset="-120"/>
              </a:rPr>
              <a:t>NEW WORDS THIS WEEK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Words to add to the class glossary</a:t>
            </a:r>
            <a:endParaRPr lang="en-US" sz="3200" dirty="0"/>
          </a:p>
        </p:txBody>
      </p:sp>
      <p:sp>
        <p:nvSpPr>
          <p:cNvPr id="5" name="term card"/>
          <p:cNvSpPr/>
          <p:nvPr/>
        </p:nvSpPr>
        <p:spPr>
          <a:xfrm>
            <a:off x="548640" y="1554480"/>
            <a:ext cx="5410048" cy="1386840"/>
          </a:xfrm>
          <a:prstGeom prst="roundRect">
            <a:avLst>
              <a:gd name="adj" fmla="val 7912"/>
            </a:avLst>
          </a:prstGeom>
          <a:solidFill>
            <a:srgbClr val="E6F2F0"/>
          </a:solidFill>
          <a:ln w="12700">
            <a:solidFill>
              <a:srgbClr val="E6F2F0"/>
            </a:solidFill>
            <a:prstDash val="solid"/>
          </a:ln>
        </p:spPr>
      </p:sp>
      <p:sp>
        <p:nvSpPr>
          <p:cNvPr id="6" name="Text 3"/>
          <p:cNvSpPr txBox="1"/>
          <p:nvPr/>
        </p:nvSpPr>
        <p:spPr>
          <a:xfrm>
            <a:off x="822960"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DICE   </a:t>
            </a:r>
            <a:pPr indent="0" marL="0">
              <a:buNone/>
            </a:pPr>
            <a:r>
              <a:rPr lang="en-US" sz="2000" dirty="0">
                <a:solidFill>
                  <a:srgbClr val="1F2933"/>
                </a:solidFill>
                <a:latin typeface="Calibri" pitchFamily="34" charset="0"/>
                <a:ea typeface="Calibri" pitchFamily="34" charset="-122"/>
                <a:cs typeface="Calibri" pitchFamily="34" charset="-120"/>
              </a:rPr>
              <a:t>Dynamic Integrated Climate-Economy model, built by William Nordhaus. A small cost-benefit IAM.</a:t>
            </a:r>
            <a:endParaRPr lang="en-US" sz="2000" dirty="0"/>
          </a:p>
        </p:txBody>
      </p:sp>
      <p:sp>
        <p:nvSpPr>
          <p:cNvPr id="7" name="term card"/>
          <p:cNvSpPr/>
          <p:nvPr/>
        </p:nvSpPr>
        <p:spPr>
          <a:xfrm>
            <a:off x="6233008" y="1554480"/>
            <a:ext cx="5410048" cy="1386840"/>
          </a:xfrm>
          <a:prstGeom prst="roundRect">
            <a:avLst>
              <a:gd name="adj" fmla="val 7912"/>
            </a:avLst>
          </a:prstGeom>
          <a:solidFill>
            <a:srgbClr val="F7FAF9"/>
          </a:solidFill>
          <a:ln w="12700">
            <a:solidFill>
              <a:srgbClr val="F7FAF9"/>
            </a:solidFill>
            <a:prstDash val="solid"/>
          </a:ln>
        </p:spPr>
      </p:sp>
      <p:sp>
        <p:nvSpPr>
          <p:cNvPr id="8" name="Text 5"/>
          <p:cNvSpPr txBox="1"/>
          <p:nvPr/>
        </p:nvSpPr>
        <p:spPr>
          <a:xfrm>
            <a:off x="6507328" y="155448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Damage function   </a:t>
            </a:r>
            <a:pPr indent="0" marL="0">
              <a:buNone/>
            </a:pPr>
            <a:r>
              <a:rPr lang="en-US" sz="2000" dirty="0">
                <a:solidFill>
                  <a:srgbClr val="1F2933"/>
                </a:solidFill>
                <a:latin typeface="Calibri" pitchFamily="34" charset="0"/>
                <a:ea typeface="Calibri" pitchFamily="34" charset="-122"/>
                <a:cs typeface="Calibri" pitchFamily="34" charset="-120"/>
              </a:rPr>
              <a:t>The rule that turns warming into lost economic output. In DICE: share lost = a × T².</a:t>
            </a:r>
            <a:endParaRPr lang="en-US" sz="2000" dirty="0"/>
          </a:p>
        </p:txBody>
      </p:sp>
      <p:sp>
        <p:nvSpPr>
          <p:cNvPr id="9" name="term card"/>
          <p:cNvSpPr/>
          <p:nvPr/>
        </p:nvSpPr>
        <p:spPr>
          <a:xfrm>
            <a:off x="548640" y="3169920"/>
            <a:ext cx="5410048" cy="1386840"/>
          </a:xfrm>
          <a:prstGeom prst="roundRect">
            <a:avLst>
              <a:gd name="adj" fmla="val 7912"/>
            </a:avLst>
          </a:prstGeom>
          <a:solidFill>
            <a:srgbClr val="E6F2F0"/>
          </a:solidFill>
          <a:ln w="12700">
            <a:solidFill>
              <a:srgbClr val="E6F2F0"/>
            </a:solidFill>
            <a:prstDash val="solid"/>
          </a:ln>
        </p:spPr>
      </p:sp>
      <p:sp>
        <p:nvSpPr>
          <p:cNvPr id="10" name="Text 7"/>
          <p:cNvSpPr txBox="1"/>
          <p:nvPr/>
        </p:nvSpPr>
        <p:spPr>
          <a:xfrm>
            <a:off x="822960"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Social cost of carbon   </a:t>
            </a:r>
            <a:pPr indent="0" marL="0">
              <a:buNone/>
            </a:pPr>
            <a:r>
              <a:rPr lang="en-US" sz="2000" dirty="0">
                <a:solidFill>
                  <a:srgbClr val="1F2933"/>
                </a:solidFill>
                <a:latin typeface="Calibri" pitchFamily="34" charset="0"/>
                <a:ea typeface="Calibri" pitchFamily="34" charset="-122"/>
                <a:cs typeface="Calibri" pitchFamily="34" charset="-120"/>
              </a:rPr>
              <a:t>The damage, in today's money, caused by emitting one more tonne of CO2.</a:t>
            </a:r>
            <a:endParaRPr lang="en-US" sz="2000" dirty="0"/>
          </a:p>
        </p:txBody>
      </p:sp>
      <p:sp>
        <p:nvSpPr>
          <p:cNvPr id="11" name="term card"/>
          <p:cNvSpPr/>
          <p:nvPr/>
        </p:nvSpPr>
        <p:spPr>
          <a:xfrm>
            <a:off x="6233008" y="3169920"/>
            <a:ext cx="5410048" cy="1386840"/>
          </a:xfrm>
          <a:prstGeom prst="roundRect">
            <a:avLst>
              <a:gd name="adj" fmla="val 7912"/>
            </a:avLst>
          </a:prstGeom>
          <a:solidFill>
            <a:srgbClr val="F7FAF9"/>
          </a:solidFill>
          <a:ln w="12700">
            <a:solidFill>
              <a:srgbClr val="F7FAF9"/>
            </a:solidFill>
            <a:prstDash val="solid"/>
          </a:ln>
        </p:spPr>
      </p:sp>
      <p:sp>
        <p:nvSpPr>
          <p:cNvPr id="12" name="Text 9"/>
          <p:cNvSpPr txBox="1"/>
          <p:nvPr/>
        </p:nvSpPr>
        <p:spPr>
          <a:xfrm>
            <a:off x="6507328" y="3169920"/>
            <a:ext cx="4952848"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Optimal path   </a:t>
            </a:r>
            <a:pPr indent="0" marL="0">
              <a:buNone/>
            </a:pPr>
            <a:r>
              <a:rPr lang="en-US" sz="2000" dirty="0">
                <a:solidFill>
                  <a:srgbClr val="1F2933"/>
                </a:solidFill>
                <a:latin typeface="Calibri" pitchFamily="34" charset="0"/>
                <a:ea typeface="Calibri" pitchFamily="34" charset="-122"/>
                <a:cs typeface="Calibri" pitchFamily="34" charset="-120"/>
              </a:rPr>
              <a:t>The emission cuts that give the most discounted wellbeing, given the model's own assumptions.</a:t>
            </a:r>
            <a:endParaRPr lang="en-US" sz="2000" dirty="0"/>
          </a:p>
        </p:txBody>
      </p:sp>
      <p:sp>
        <p:nvSpPr>
          <p:cNvPr id="13" name="term card"/>
          <p:cNvSpPr/>
          <p:nvPr/>
        </p:nvSpPr>
        <p:spPr>
          <a:xfrm>
            <a:off x="548640" y="4785360"/>
            <a:ext cx="11094415" cy="1386840"/>
          </a:xfrm>
          <a:prstGeom prst="roundRect">
            <a:avLst>
              <a:gd name="adj" fmla="val 7912"/>
            </a:avLst>
          </a:prstGeom>
          <a:solidFill>
            <a:srgbClr val="E6F2F0"/>
          </a:solidFill>
          <a:ln w="12700">
            <a:solidFill>
              <a:srgbClr val="E6F2F0"/>
            </a:solidFill>
            <a:prstDash val="solid"/>
          </a:ln>
        </p:spPr>
      </p:sp>
      <p:sp>
        <p:nvSpPr>
          <p:cNvPr id="14" name="Text 11"/>
          <p:cNvSpPr txBox="1"/>
          <p:nvPr/>
        </p:nvSpPr>
        <p:spPr>
          <a:xfrm>
            <a:off x="822960" y="4785360"/>
            <a:ext cx="10637215" cy="1386840"/>
          </a:xfrm>
          <a:prstGeom prst="rect">
            <a:avLst/>
          </a:prstGeom>
          <a:noFill/>
          <a:ln/>
        </p:spPr>
        <p:txBody>
          <a:bodyPr wrap="square" lIns="0" tIns="0" rIns="0" bIns="0" rtlCol="0" anchor="ctr"/>
          <a:lstStyle/>
          <a:p>
            <a:pPr indent="0" marL="0">
              <a:buNone/>
            </a:pPr>
            <a:r>
              <a:rPr lang="en-US" sz="2000" b="1" dirty="0">
                <a:solidFill>
                  <a:srgbClr val="0B5550"/>
                </a:solidFill>
                <a:latin typeface="Cambria" pitchFamily="34" charset="0"/>
                <a:ea typeface="Cambria" pitchFamily="34" charset="-122"/>
                <a:cs typeface="Cambria" pitchFamily="34" charset="-120"/>
              </a:rPr>
              <a:t>Sensitivity analysis   </a:t>
            </a:r>
            <a:pPr indent="0" marL="0">
              <a:buNone/>
            </a:pPr>
            <a:r>
              <a:rPr lang="en-US" sz="2000" dirty="0">
                <a:solidFill>
                  <a:srgbClr val="1F2933"/>
                </a:solidFill>
                <a:latin typeface="Calibri" pitchFamily="34" charset="0"/>
                <a:ea typeface="Calibri" pitchFamily="34" charset="-122"/>
                <a:cs typeface="Calibri" pitchFamily="34" charset="-120"/>
              </a:rPr>
              <a:t>Changing one input at a time, keeping the rest fixed, to see how much the result depends on it.</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11094415"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Lab 5: running DICE many times</a:t>
            </a:r>
            <a:endParaRPr lang="en-US" sz="4400" dirty="0"/>
          </a:p>
        </p:txBody>
      </p:sp>
      <p:sp>
        <p:nvSpPr>
          <p:cNvPr id="3" name="Text 1"/>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F59E6B"/>
                </a:solidFill>
                <a:latin typeface="Calibri" pitchFamily="34" charset="0"/>
                <a:ea typeface="Calibri" pitchFamily="34" charset="-122"/>
                <a:cs typeface="Calibri" pitchFamily="34" charset="-120"/>
              </a:rPr>
              <a:t>HANDS-ON LAB</a:t>
            </a:r>
            <a:endParaRPr lang="en-US" sz="1200" dirty="0"/>
          </a:p>
        </p:txBody>
      </p:sp>
      <p:sp>
        <p:nvSpPr>
          <p:cNvPr id="4" name="Text 2"/>
          <p:cNvSpPr txBox="1"/>
          <p:nvPr/>
        </p:nvSpPr>
        <p:spPr>
          <a:xfrm>
            <a:off x="548640" y="3291840"/>
            <a:ext cx="10058400" cy="1188720"/>
          </a:xfrm>
          <a:prstGeom prst="rect">
            <a:avLst/>
          </a:prstGeom>
          <a:noFill/>
          <a:ln/>
        </p:spPr>
        <p:txBody>
          <a:bodyPr wrap="square" lIns="0" tIns="0" rIns="0" bIns="0" rtlCol="0" anchor="t"/>
          <a:lstStyle/>
          <a:p>
            <a:pPr indent="0" marL="0">
              <a:buNone/>
            </a:pPr>
            <a:r>
              <a:rPr lang="en-US" sz="2400" dirty="0">
                <a:solidFill>
                  <a:srgbClr val="C9D6DF"/>
                </a:solidFill>
                <a:latin typeface="Calibri" pitchFamily="34" charset="0"/>
                <a:ea typeface="Calibri" pitchFamily="34" charset="-122"/>
                <a:cs typeface="Calibri" pitchFamily="34" charset="-120"/>
              </a:rPr>
              <a:t>Run the course's teaching version of DICE, look inside its results, then vary the discount rate and the damage setting.</a:t>
            </a:r>
            <a:endParaRPr lang="en-US" sz="2400" dirty="0"/>
          </a:p>
        </p:txBody>
      </p:sp>
      <p:sp>
        <p:nvSpPr>
          <p:cNvPr id="5" name="lab meta"/>
          <p:cNvSpPr/>
          <p:nvPr/>
        </p:nvSpPr>
        <p:spPr>
          <a:xfrm>
            <a:off x="548640" y="4846320"/>
            <a:ext cx="3520440" cy="731520"/>
          </a:xfrm>
          <a:prstGeom prst="roundRect">
            <a:avLst>
              <a:gd name="adj" fmla="val 15000"/>
            </a:avLst>
          </a:prstGeom>
          <a:solidFill>
            <a:srgbClr val="1D3A52"/>
          </a:solidFill>
          <a:ln w="12700">
            <a:solidFill>
              <a:srgbClr val="1D3A52"/>
            </a:solidFill>
            <a:prstDash val="solid"/>
          </a:ln>
        </p:spPr>
      </p:sp>
      <p:sp>
        <p:nvSpPr>
          <p:cNvPr id="6" name="Text 4"/>
          <p:cNvSpPr txBox="1"/>
          <p:nvPr/>
        </p:nvSpPr>
        <p:spPr>
          <a:xfrm>
            <a:off x="73152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Script: labs/lab5.R</a:t>
            </a:r>
            <a:endParaRPr lang="en-US" sz="1500" dirty="0"/>
          </a:p>
        </p:txBody>
      </p:sp>
      <p:sp>
        <p:nvSpPr>
          <p:cNvPr id="7" name="lab meta"/>
          <p:cNvSpPr/>
          <p:nvPr/>
        </p:nvSpPr>
        <p:spPr>
          <a:xfrm>
            <a:off x="4297680" y="4846320"/>
            <a:ext cx="3520440" cy="731520"/>
          </a:xfrm>
          <a:prstGeom prst="roundRect">
            <a:avLst>
              <a:gd name="adj" fmla="val 15000"/>
            </a:avLst>
          </a:prstGeom>
          <a:solidFill>
            <a:srgbClr val="1D3A52"/>
          </a:solidFill>
          <a:ln w="12700">
            <a:solidFill>
              <a:srgbClr val="1D3A52"/>
            </a:solidFill>
            <a:prstDash val="solid"/>
          </a:ln>
        </p:spPr>
      </p:sp>
      <p:sp>
        <p:nvSpPr>
          <p:cNvPr id="8" name="Text 6"/>
          <p:cNvSpPr txBox="1"/>
          <p:nvPr/>
        </p:nvSpPr>
        <p:spPr>
          <a:xfrm>
            <a:off x="448056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 steps</a:t>
            </a:r>
            <a:endParaRPr lang="en-US" sz="1500" dirty="0"/>
          </a:p>
        </p:txBody>
      </p:sp>
      <p:sp>
        <p:nvSpPr>
          <p:cNvPr id="9" name="lab meta"/>
          <p:cNvSpPr/>
          <p:nvPr/>
        </p:nvSpPr>
        <p:spPr>
          <a:xfrm>
            <a:off x="8046720" y="4846320"/>
            <a:ext cx="3520440" cy="731520"/>
          </a:xfrm>
          <a:prstGeom prst="roundRect">
            <a:avLst>
              <a:gd name="adj" fmla="val 15000"/>
            </a:avLst>
          </a:prstGeom>
          <a:solidFill>
            <a:srgbClr val="1D3A52"/>
          </a:solidFill>
          <a:ln w="12700">
            <a:solidFill>
              <a:srgbClr val="1D3A52"/>
            </a:solidFill>
            <a:prstDash val="solid"/>
          </a:ln>
        </p:spPr>
      </p:sp>
      <p:sp>
        <p:nvSpPr>
          <p:cNvPr id="10" name="Text 8"/>
          <p:cNvSpPr txBox="1"/>
          <p:nvPr/>
        </p:nvSpPr>
        <p:spPr>
          <a:xfrm>
            <a:off x="8229600" y="4846320"/>
            <a:ext cx="3200400" cy="7315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Stuck? Read the error aloud, check the slide, then ask</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1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Run DICE once</a:t>
            </a:r>
            <a:endParaRPr lang="en-US" sz="3200" dirty="0"/>
          </a:p>
        </p:txBody>
      </p:sp>
      <p:sp>
        <p:nvSpPr>
          <p:cNvPr id="5" name="explain card"/>
          <p:cNvSpPr/>
          <p:nvPr/>
        </p:nvSpPr>
        <p:spPr>
          <a:xfrm>
            <a:off x="548640" y="1508760"/>
            <a:ext cx="11094415" cy="1046480"/>
          </a:xfrm>
          <a:prstGeom prst="roundRect">
            <a:avLst>
              <a:gd name="adj" fmla="val 10485"/>
            </a:avLst>
          </a:prstGeom>
          <a:solidFill>
            <a:srgbClr val="E6F2F0"/>
          </a:solidFill>
          <a:ln w="12700">
            <a:solidFill>
              <a:srgbClr val="E6F2F0"/>
            </a:solidFill>
            <a:prstDash val="solid"/>
          </a:ln>
        </p:spPr>
      </p:sp>
      <p:sp>
        <p:nvSpPr>
          <p:cNvPr id="6" name="Text 3"/>
          <p:cNvSpPr txBox="1"/>
          <p:nvPr/>
        </p:nvSpPr>
        <p:spPr>
          <a:xfrm>
            <a:off x="777240" y="1600200"/>
            <a:ext cx="10637215" cy="8636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source() loads the run_dice function from R/dice.R. glimpse() shows the columns it returns.</a:t>
            </a:r>
            <a:endParaRPr lang="en-US" sz="2000" dirty="0"/>
          </a:p>
        </p:txBody>
      </p:sp>
      <p:sp>
        <p:nvSpPr>
          <p:cNvPr id="7" name="code panel"/>
          <p:cNvSpPr/>
          <p:nvPr/>
        </p:nvSpPr>
        <p:spPr>
          <a:xfrm>
            <a:off x="548640" y="27381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30124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library(tidyverse)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source("R/dice.R")</a:t>
            </a:r>
            <a:endParaRPr lang="en-US" sz="2400" dirty="0"/>
          </a:p>
          <a:p>
            <a:pPr indent="0" marL="0">
              <a:lnSpc>
                <a:spcPct val="100000"/>
              </a:lnSpc>
              <a:buNone/>
            </a:pP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base &lt;- run_dice()</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glimpse(base)</a:t>
            </a:r>
            <a:endParaRPr lang="en-US" sz="2400" dirty="0"/>
          </a:p>
        </p:txBody>
      </p:sp>
      <p:pic>
        <p:nvPicPr>
          <p:cNvPr id="9" name="tip icon" descr="preencoded.png">    </p:cNvPr>
          <p:cNvPicPr>
            <a:picLocks noChangeAspect="1"/>
          </p:cNvPicPr>
          <p:nvPr/>
        </p:nvPicPr>
        <p:blipFill>
          <a:blip r:embed="rId1"/>
          <a:stretch>
            <a:fillRect/>
          </a:stretch>
        </p:blipFill>
        <p:spPr>
          <a:xfrm>
            <a:off x="548640" y="5408168"/>
            <a:ext cx="329184" cy="329184"/>
          </a:xfrm>
          <a:prstGeom prst="rect">
            <a:avLst/>
          </a:prstGeom>
        </p:spPr>
      </p:pic>
      <p:sp>
        <p:nvSpPr>
          <p:cNvPr id="10" name="Text 6"/>
          <p:cNvSpPr txBox="1"/>
          <p:nvPr/>
        </p:nvSpPr>
        <p:spPr>
          <a:xfrm>
            <a:off x="1005840" y="53898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2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Plot temperature and carbon price</a:t>
            </a:r>
            <a:endParaRPr lang="en-US" sz="3200" dirty="0"/>
          </a:p>
        </p:txBody>
      </p:sp>
      <p:sp>
        <p:nvSpPr>
          <p:cNvPr id="5" name="explain card"/>
          <p:cNvSpPr/>
          <p:nvPr/>
        </p:nvSpPr>
        <p:spPr>
          <a:xfrm>
            <a:off x="548640" y="1508760"/>
            <a:ext cx="11094415" cy="728980"/>
          </a:xfrm>
          <a:prstGeom prst="roundRect">
            <a:avLst>
              <a:gd name="adj" fmla="val 15052"/>
            </a:avLst>
          </a:prstGeom>
          <a:solidFill>
            <a:srgbClr val="E6F2F0"/>
          </a:solidFill>
          <a:ln w="12700">
            <a:solidFill>
              <a:srgbClr val="E6F2F0"/>
            </a:solidFill>
            <a:prstDash val="solid"/>
          </a:ln>
        </p:spPr>
      </p:sp>
      <p:sp>
        <p:nvSpPr>
          <p:cNvPr id="6" name="Text 3"/>
          <p:cNvSpPr txBox="1"/>
          <p:nvPr/>
        </p:nvSpPr>
        <p:spPr>
          <a:xfrm>
            <a:off x="777240" y="1600200"/>
            <a:ext cx="10637215" cy="546100"/>
          </a:xfrm>
          <a:prstGeom prst="rect">
            <a:avLst/>
          </a:prstGeom>
          <a:noFill/>
          <a:ln/>
        </p:spPr>
        <p:txBody>
          <a:bodyPr wrap="square" lIns="0" tIns="0" rIns="0" bIns="0" rtlCol="0" anchor="ctr"/>
          <a:lstStyle/>
          <a:p>
            <a:pPr indent="0" marL="0">
              <a:spcAft>
                <a:spcPts val="800"/>
              </a:spcAft>
              <a:buNone/>
            </a:pPr>
            <a:r>
              <a:rPr lang="en-US" sz="2000" dirty="0">
                <a:solidFill>
                  <a:srgbClr val="1F2933"/>
                </a:solidFill>
                <a:latin typeface="Calibri" pitchFamily="34" charset="0"/>
                <a:ea typeface="Calibri" pitchFamily="34" charset="-122"/>
                <a:cs typeface="Calibri" pitchFamily="34" charset="-120"/>
              </a:rPr>
              <a:t>Two quick charts to see what the model chose.</a:t>
            </a:r>
            <a:endParaRPr lang="en-US" sz="2000" dirty="0"/>
          </a:p>
        </p:txBody>
      </p:sp>
      <p:sp>
        <p:nvSpPr>
          <p:cNvPr id="7" name="code panel"/>
          <p:cNvSpPr/>
          <p:nvPr/>
        </p:nvSpPr>
        <p:spPr>
          <a:xfrm>
            <a:off x="548640" y="2420620"/>
            <a:ext cx="11094415" cy="2423160"/>
          </a:xfrm>
          <a:prstGeom prst="roundRect">
            <a:avLst>
              <a:gd name="adj" fmla="val 4528"/>
            </a:avLst>
          </a:prstGeom>
          <a:solidFill>
            <a:srgbClr val="1E2A36"/>
          </a:solidFill>
          <a:ln w="12700">
            <a:solidFill>
              <a:srgbClr val="1E2A36"/>
            </a:solidFill>
            <a:prstDash val="solid"/>
          </a:ln>
        </p:spPr>
      </p:sp>
      <p:sp>
        <p:nvSpPr>
          <p:cNvPr id="8" name="Text 5"/>
          <p:cNvSpPr txBox="1"/>
          <p:nvPr/>
        </p:nvSpPr>
        <p:spPr>
          <a:xfrm>
            <a:off x="868680" y="2694940"/>
            <a:ext cx="10545775" cy="2011680"/>
          </a:xfrm>
          <a:prstGeom prst="rect">
            <a:avLst/>
          </a:prstGeom>
          <a:noFill/>
          <a:ln/>
        </p:spPr>
        <p:txBody>
          <a:bodyPr wrap="square" lIns="0" tIns="0" rIns="0" bIns="0" rtlCol="0" anchor="t"/>
          <a:lstStyle/>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ggplot(base, aes(year, temperature))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geom_line()</a:t>
            </a:r>
            <a:endParaRPr lang="en-US" sz="2400" dirty="0"/>
          </a:p>
          <a:p>
            <a:pPr indent="0" marL="0">
              <a:lnSpc>
                <a:spcPct val="100000"/>
              </a:lnSpc>
              <a:buNone/>
            </a:pP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ggplot(base, aes(year, carbon_price)) +</a:t>
            </a:r>
            <a:endParaRPr lang="en-US" sz="2400" dirty="0"/>
          </a:p>
          <a:p>
            <a:pPr indent="0" marL="0">
              <a:lnSpc>
                <a:spcPct val="100000"/>
              </a:lnSpc>
              <a:buNone/>
            </a:pPr>
            <a:r>
              <a:rPr lang="en-US" sz="2400" dirty="0">
                <a:solidFill>
                  <a:srgbClr val="E8EEF2"/>
                </a:solidFill>
                <a:latin typeface="Courier New" pitchFamily="34" charset="0"/>
                <a:ea typeface="Courier New" pitchFamily="34" charset="-122"/>
                <a:cs typeface="Courier New" pitchFamily="34" charset="-120"/>
              </a:rPr>
              <a:t>  geom_line()</a:t>
            </a:r>
            <a:endParaRPr lang="en-US" sz="2400" dirty="0"/>
          </a:p>
        </p:txBody>
      </p:sp>
      <p:pic>
        <p:nvPicPr>
          <p:cNvPr id="9" name="tip icon" descr="preencoded.png">    </p:cNvPr>
          <p:cNvPicPr>
            <a:picLocks noChangeAspect="1"/>
          </p:cNvPicPr>
          <p:nvPr/>
        </p:nvPicPr>
        <p:blipFill>
          <a:blip r:embed="rId1"/>
          <a:stretch>
            <a:fillRect/>
          </a:stretch>
        </p:blipFill>
        <p:spPr>
          <a:xfrm>
            <a:off x="548640" y="5090668"/>
            <a:ext cx="329184" cy="329184"/>
          </a:xfrm>
          <a:prstGeom prst="rect">
            <a:avLst/>
          </a:prstGeom>
        </p:spPr>
      </p:pic>
      <p:sp>
        <p:nvSpPr>
          <p:cNvPr id="10" name="Text 6"/>
          <p:cNvSpPr txBox="1"/>
          <p:nvPr/>
        </p:nvSpPr>
        <p:spPr>
          <a:xfrm>
            <a:off x="1005840" y="5072380"/>
            <a:ext cx="10545775" cy="365760"/>
          </a:xfrm>
          <a:prstGeom prst="rect">
            <a:avLst/>
          </a:prstGeom>
          <a:noFill/>
          <a:ln/>
        </p:spPr>
        <p:txBody>
          <a:bodyPr wrap="square" lIns="0" tIns="0" rIns="0" bIns="0" rtlCol="0" anchor="ctr"/>
          <a:lstStyle/>
          <a:p>
            <a:pPr indent="0" marL="0">
              <a:buNone/>
            </a:pPr>
            <a:r>
              <a:rPr lang="en-US" sz="1400" i="1" dirty="0">
                <a:solidFill>
                  <a:srgbClr val="5B6875"/>
                </a:solidFill>
                <a:latin typeface="Calibri" pitchFamily="34" charset="0"/>
                <a:ea typeface="Calibri" pitchFamily="34" charset="-122"/>
                <a:cs typeface="Calibri" pitchFamily="34" charset="-120"/>
              </a:rPr>
              <a:t>Type it rather than paste it, run one line at a time (Ctrl+Enter), and check the output before the next line.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3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Vary the discount rate</a:t>
            </a:r>
            <a:endParaRPr lang="en-US" sz="3200" dirty="0"/>
          </a:p>
        </p:txBody>
      </p:sp>
      <p:sp>
        <p:nvSpPr>
          <p:cNvPr id="5" name="explain card"/>
          <p:cNvSpPr/>
          <p:nvPr/>
        </p:nvSpPr>
        <p:spPr>
          <a:xfrm>
            <a:off x="548640" y="1554480"/>
            <a:ext cx="3566160" cy="4617720"/>
          </a:xfrm>
          <a:prstGeom prst="roundRect">
            <a:avLst>
              <a:gd name="adj" fmla="val 3077"/>
            </a:avLst>
          </a:prstGeom>
          <a:solidFill>
            <a:srgbClr val="E6F2F0"/>
          </a:solidFill>
          <a:ln w="12700">
            <a:solidFill>
              <a:srgbClr val="E6F2F0"/>
            </a:solidFill>
            <a:prstDash val="solid"/>
          </a:ln>
        </p:spPr>
      </p:sp>
      <p:sp>
        <p:nvSpPr>
          <p:cNvPr id="6" name="Text 3"/>
          <p:cNvSpPr txBox="1"/>
          <p:nvPr/>
        </p:nvSpPr>
        <p:spPr>
          <a:xfrm>
            <a:off x="822960" y="1828800"/>
            <a:ext cx="3063240" cy="4069080"/>
          </a:xfrm>
          <a:prstGeom prst="rect">
            <a:avLst/>
          </a:prstGeom>
          <a:noFill/>
          <a:ln/>
        </p:spPr>
        <p:txBody>
          <a:bodyPr wrap="square" lIns="0" tIns="0" rIns="0" bIns="0" rtlCol="0" anchor="t"/>
          <a:lstStyle/>
          <a:p>
            <a:pPr indent="0" marL="0">
              <a:spcAft>
                <a:spcPts val="800"/>
              </a:spcAft>
              <a:buNone/>
            </a:pPr>
            <a:r>
              <a:rPr lang="en-US" sz="2200" dirty="0">
                <a:solidFill>
                  <a:srgbClr val="1F2933"/>
                </a:solidFill>
                <a:latin typeface="Calibri" pitchFamily="34" charset="0"/>
                <a:ea typeface="Calibri" pitchFamily="34" charset="-122"/>
                <a:cs typeface="Calibri" pitchFamily="34" charset="-120"/>
              </a:rPr>
              <a:t>Write a function for one run, then let map() run it for three rates.</a:t>
            </a:r>
            <a:endParaRPr lang="en-US" sz="2200" dirty="0"/>
          </a:p>
        </p:txBody>
      </p:sp>
      <p:sp>
        <p:nvSpPr>
          <p:cNvPr id="7" name="code panel"/>
          <p:cNvSpPr/>
          <p:nvPr/>
        </p:nvSpPr>
        <p:spPr>
          <a:xfrm>
            <a:off x="4434840" y="1554480"/>
            <a:ext cx="7208215" cy="4617720"/>
          </a:xfrm>
          <a:prstGeom prst="roundRect">
            <a:avLst>
              <a:gd name="adj" fmla="val 2376"/>
            </a:avLst>
          </a:prstGeom>
          <a:solidFill>
            <a:srgbClr val="1E2A36"/>
          </a:solidFill>
          <a:ln w="12700">
            <a:solidFill>
              <a:srgbClr val="1E2A36"/>
            </a:solidFill>
            <a:prstDash val="solid"/>
          </a:ln>
        </p:spPr>
      </p:sp>
      <p:sp>
        <p:nvSpPr>
          <p:cNvPr id="8" name="Text 5"/>
          <p:cNvSpPr txBox="1"/>
          <p:nvPr/>
        </p:nvSpPr>
        <p:spPr>
          <a:xfrm>
            <a:off x="4709160" y="1828800"/>
            <a:ext cx="6796735" cy="4206240"/>
          </a:xfrm>
          <a:prstGeom prst="rect">
            <a:avLst/>
          </a:prstGeom>
          <a:noFill/>
          <a:ln/>
        </p:spPr>
        <p:txBody>
          <a:bodyPr wrap="square" lIns="0" tIns="0" rIns="0" bIns="0" rtlCol="0" anchor="t"/>
          <a:lstStyle/>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rates &lt;- c(0.005, 0.015, 0.03)</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one_run &lt;- function(r)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run_dice(discount = r) |&gt;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mutate(rate = r)</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runs &lt;- map(rates, one_run) |&gt;</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list_rbind()</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ggplot(runs, aes(year, carbon_price))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geom_line() +</a:t>
            </a:r>
            <a:endParaRPr lang="en-US" sz="2200" dirty="0"/>
          </a:p>
          <a:p>
            <a:pPr indent="0" marL="0">
              <a:lnSpc>
                <a:spcPct val="100000"/>
              </a:lnSpc>
              <a:buNone/>
            </a:pPr>
            <a:r>
              <a:rPr lang="en-US" sz="2200" dirty="0">
                <a:solidFill>
                  <a:srgbClr val="E8EEF2"/>
                </a:solidFill>
                <a:latin typeface="Courier New" pitchFamily="34" charset="0"/>
                <a:ea typeface="Courier New" pitchFamily="34" charset="-122"/>
                <a:cs typeface="Courier New" pitchFamily="34" charset="-120"/>
              </a:rPr>
              <a:t>  facet_wrap(~ rate)</a:t>
            </a:r>
            <a:endParaRPr lang="en-US" sz="2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STEP 4 OF 4</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Match the code to the loop</a:t>
            </a:r>
            <a:endParaRPr lang="en-US" sz="3200" dirty="0"/>
          </a:p>
        </p:txBody>
      </p:sp>
      <p:sp>
        <p:nvSpPr>
          <p:cNvPr id="5" name="number badge"/>
          <p:cNvSpPr txBox="1"/>
          <p:nvPr/>
        </p:nvSpPr>
        <p:spPr>
          <a:xfrm>
            <a:off x="731520" y="2377440"/>
            <a:ext cx="2011680" cy="2011680"/>
          </a:xfrm>
          <a:prstGeom prst="ellipse">
            <a:avLst/>
          </a:prstGeom>
          <a:solidFill>
            <a:srgbClr val="C2410C"/>
          </a:solidFill>
          <a:ln>
            <a:solidFill>
              <a:srgbClr val="C2410C"/>
            </a:solid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4</a:t>
            </a:r>
            <a:endParaRPr lang="en-US" sz="8000" dirty="0"/>
          </a:p>
        </p:txBody>
      </p:sp>
      <p:sp>
        <p:nvSpPr>
          <p:cNvPr id="6" name="Text 3"/>
          <p:cNvSpPr txBox="1"/>
          <p:nvPr/>
        </p:nvSpPr>
        <p:spPr>
          <a:xfrm>
            <a:off x="3291840" y="1691640"/>
            <a:ext cx="8351215" cy="4343400"/>
          </a:xfrm>
          <a:prstGeom prst="rect">
            <a:avLst/>
          </a:prstGeom>
          <a:noFill/>
          <a:ln/>
        </p:spPr>
        <p:txBody>
          <a:bodyPr wrap="square" lIns="0" tIns="0" rIns="0" bIns="0" rtlCol="0" anchor="ctr"/>
          <a:lstStyle/>
          <a:p>
            <a:pPr indent="0" marL="0">
              <a:spcAft>
                <a:spcPts val="800"/>
              </a:spcAft>
              <a:buNone/>
            </a:pPr>
            <a:r>
              <a:rPr lang="en-US" sz="3000" dirty="0">
                <a:solidFill>
                  <a:srgbClr val="12263A"/>
                </a:solidFill>
                <a:latin typeface="Calibri" pitchFamily="34" charset="0"/>
                <a:ea typeface="Calibri" pitchFamily="34" charset="-122"/>
                <a:cs typeface="Calibri" pitchFamily="34" charset="-120"/>
              </a:rPr>
              <a:t>Open R/dice.R. Find the economy, emissions, CO2, temperature and damages blocks. Then repeat step 3 for the damage setting.</a:t>
            </a: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C2410C"/>
                </a:solidFill>
                <a:latin typeface="Calibri" pitchFamily="34" charset="0"/>
                <a:ea typeface="Calibri" pitchFamily="34" charset="-122"/>
                <a:cs typeface="Calibri" pitchFamily="34" charset="-120"/>
              </a:rPr>
              <a:t>LAB · CHECK YOUR WORK</a:t>
            </a:r>
            <a:endParaRPr lang="en-US" sz="1200" dirty="0"/>
          </a:p>
        </p:txBody>
      </p:sp>
      <p:sp>
        <p:nvSpPr>
          <p:cNvPr id="3" name="Text 0"/>
          <p:cNvSpPr/>
          <p:nvPr>
            <p:ph idx="100" type="title" hasCustomPrompt="1"/>
          </p:nvPr>
        </p:nvSpPr>
        <p:spPr>
          <a:xfrm>
            <a:off x="548640" y="566928"/>
            <a:ext cx="11094415" cy="868680"/>
          </a:xfrm>
          <a:prstGeom prst="rect">
            <a:avLst/>
          </a:prstGeom>
          <a:noFill/>
          <a:ln/>
        </p:spPr>
        <p:txBody>
          <a:bodyPr wrap="square" lIns="0" tIns="0" rIns="0" bIns="0" rtlCol="0" anchor="t"/>
          <a:lstStyle/>
          <a:p>
            <a:pPr algn="l" indent="0" marL="0">
              <a:buNone/>
            </a:pPr>
            <a:r>
              <a:rPr lang="en-US" sz="3200" b="1" dirty="0">
                <a:solidFill>
                  <a:srgbClr val="12263A"/>
                </a:solidFill>
                <a:latin typeface="Cambria" pitchFamily="34" charset="0"/>
                <a:ea typeface="Cambria" pitchFamily="34" charset="-122"/>
                <a:cs typeface="Cambria" pitchFamily="34" charset="-120"/>
              </a:rPr>
              <a:t>Did it work?</a:t>
            </a:r>
            <a:endParaRPr lang="en-US" sz="3200" dirty="0"/>
          </a:p>
        </p:txBody>
      </p:sp>
      <p:sp>
        <p:nvSpPr>
          <p:cNvPr id="5" name="check card"/>
          <p:cNvSpPr/>
          <p:nvPr/>
        </p:nvSpPr>
        <p:spPr>
          <a:xfrm>
            <a:off x="548640" y="1554480"/>
            <a:ext cx="5410048" cy="4617720"/>
          </a:xfrm>
          <a:prstGeom prst="roundRect">
            <a:avLst>
              <a:gd name="adj" fmla="val 2376"/>
            </a:avLst>
          </a:prstGeom>
          <a:solidFill>
            <a:srgbClr val="E7F5EC"/>
          </a:solidFill>
          <a:ln w="12700">
            <a:solidFill>
              <a:srgbClr val="E7F5EC"/>
            </a:solidFill>
            <a:prstDash val="solid"/>
          </a:ln>
        </p:spPr>
      </p:sp>
      <p:sp>
        <p:nvSpPr>
          <p:cNvPr id="6" name="Text 3"/>
          <p:cNvSpPr txBox="1"/>
          <p:nvPr/>
        </p:nvSpPr>
        <p:spPr>
          <a:xfrm>
            <a:off x="822960" y="1737360"/>
            <a:ext cx="4861408" cy="457200"/>
          </a:xfrm>
          <a:prstGeom prst="rect">
            <a:avLst/>
          </a:prstGeom>
          <a:noFill/>
          <a:ln/>
        </p:spPr>
        <p:txBody>
          <a:bodyPr wrap="square" lIns="0" tIns="0" rIns="0" bIns="0" rtlCol="0" anchor="t"/>
          <a:lstStyle/>
          <a:p>
            <a:pPr indent="0" marL="0">
              <a:buNone/>
            </a:pPr>
            <a:r>
              <a:rPr lang="en-US" sz="2000" b="1" dirty="0">
                <a:solidFill>
                  <a:srgbClr val="15803D"/>
                </a:solidFill>
                <a:latin typeface="Cambria" pitchFamily="34" charset="0"/>
                <a:ea typeface="Cambria" pitchFamily="34" charset="-122"/>
                <a:cs typeface="Cambria" pitchFamily="34" charset="-120"/>
              </a:rPr>
              <a:t>You should see</a:t>
            </a:r>
            <a:endParaRPr lang="en-US" sz="2000" dirty="0"/>
          </a:p>
        </p:txBody>
      </p:sp>
      <p:sp>
        <p:nvSpPr>
          <p:cNvPr id="7" name="icon circle"/>
          <p:cNvSpPr/>
          <p:nvPr/>
        </p:nvSpPr>
        <p:spPr>
          <a:xfrm>
            <a:off x="822960" y="2377440"/>
            <a:ext cx="384048" cy="384048"/>
          </a:xfrm>
          <a:prstGeom prst="ellipse">
            <a:avLst/>
          </a:prstGeom>
          <a:solidFill>
            <a:srgbClr val="15803D"/>
          </a:solidFill>
          <a:ln w="12700">
            <a:solidFill>
              <a:srgbClr val="15803D"/>
            </a:solidFill>
            <a:prstDash val="solid"/>
          </a:ln>
        </p:spPr>
      </p:sp>
      <p:pic>
        <p:nvPicPr>
          <p:cNvPr id="8" name="icon" descr="preencoded.png">    </p:cNvPr>
          <p:cNvPicPr>
            <a:picLocks noChangeAspect="1"/>
          </p:cNvPicPr>
          <p:nvPr/>
        </p:nvPicPr>
        <p:blipFill>
          <a:blip r:embed="rId1"/>
          <a:stretch>
            <a:fillRect/>
          </a:stretch>
        </p:blipFill>
        <p:spPr>
          <a:xfrm>
            <a:off x="922812" y="2477292"/>
            <a:ext cx="184343" cy="184343"/>
          </a:xfrm>
          <a:prstGeom prst="rect">
            <a:avLst/>
          </a:prstGeom>
        </p:spPr>
      </p:pic>
      <p:sp>
        <p:nvSpPr>
          <p:cNvPr id="9" name="Text 5"/>
          <p:cNvSpPr txBox="1"/>
          <p:nvPr/>
        </p:nvSpPr>
        <p:spPr>
          <a:xfrm>
            <a:off x="1371600"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base has columns year, output, emissions, temperature, carbon_​price</a:t>
            </a:r>
            <a:endParaRPr lang="en-US" sz="2000" dirty="0"/>
          </a:p>
        </p:txBody>
      </p:sp>
      <p:sp>
        <p:nvSpPr>
          <p:cNvPr id="10" name="icon circle"/>
          <p:cNvSpPr/>
          <p:nvPr/>
        </p:nvSpPr>
        <p:spPr>
          <a:xfrm>
            <a:off x="822960" y="3611880"/>
            <a:ext cx="384048" cy="384048"/>
          </a:xfrm>
          <a:prstGeom prst="ellipse">
            <a:avLst/>
          </a:prstGeom>
          <a:solidFill>
            <a:srgbClr val="15803D"/>
          </a:solidFill>
          <a:ln w="12700">
            <a:solidFill>
              <a:srgbClr val="15803D"/>
            </a:solidFill>
            <a:prstDash val="solid"/>
          </a:ln>
        </p:spPr>
      </p:sp>
      <p:pic>
        <p:nvPicPr>
          <p:cNvPr id="11" name="icon" descr="preencoded.png">    </p:cNvPr>
          <p:cNvPicPr>
            <a:picLocks noChangeAspect="1"/>
          </p:cNvPicPr>
          <p:nvPr/>
        </p:nvPicPr>
        <p:blipFill>
          <a:blip r:embed="rId2"/>
          <a:stretch>
            <a:fillRect/>
          </a:stretch>
        </p:blipFill>
        <p:spPr>
          <a:xfrm>
            <a:off x="922812" y="3711732"/>
            <a:ext cx="184343" cy="184343"/>
          </a:xfrm>
          <a:prstGeom prst="rect">
            <a:avLst/>
          </a:prstGeom>
        </p:spPr>
      </p:pic>
      <p:sp>
        <p:nvSpPr>
          <p:cNvPr id="12" name="Text 7"/>
          <p:cNvSpPr txBox="1"/>
          <p:nvPr/>
        </p:nvSpPr>
        <p:spPr>
          <a:xfrm>
            <a:off x="1371600"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The lowest discount rate gives the highest carbon price</a:t>
            </a:r>
            <a:endParaRPr lang="en-US" sz="2000" dirty="0"/>
          </a:p>
        </p:txBody>
      </p:sp>
      <p:sp>
        <p:nvSpPr>
          <p:cNvPr id="13" name="icon circle"/>
          <p:cNvSpPr/>
          <p:nvPr/>
        </p:nvSpPr>
        <p:spPr>
          <a:xfrm>
            <a:off x="822960" y="4846320"/>
            <a:ext cx="384048" cy="384048"/>
          </a:xfrm>
          <a:prstGeom prst="ellipse">
            <a:avLst/>
          </a:prstGeom>
          <a:solidFill>
            <a:srgbClr val="15803D"/>
          </a:solidFill>
          <a:ln w="12700">
            <a:solidFill>
              <a:srgbClr val="15803D"/>
            </a:solidFill>
            <a:prstDash val="solid"/>
          </a:ln>
        </p:spPr>
      </p:sp>
      <p:pic>
        <p:nvPicPr>
          <p:cNvPr id="14" name="icon" descr="preencoded.png">    </p:cNvPr>
          <p:cNvPicPr>
            <a:picLocks noChangeAspect="1"/>
          </p:cNvPicPr>
          <p:nvPr/>
        </p:nvPicPr>
        <p:blipFill>
          <a:blip r:embed="rId3"/>
          <a:stretch>
            <a:fillRect/>
          </a:stretch>
        </p:blipFill>
        <p:spPr>
          <a:xfrm>
            <a:off x="922812" y="4946172"/>
            <a:ext cx="184343" cy="184343"/>
          </a:xfrm>
          <a:prstGeom prst="rect">
            <a:avLst/>
          </a:prstGeom>
        </p:spPr>
      </p:pic>
      <p:sp>
        <p:nvSpPr>
          <p:cNvPr id="15" name="Text 9"/>
          <p:cNvSpPr txBox="1"/>
          <p:nvPr/>
        </p:nvSpPr>
        <p:spPr>
          <a:xfrm>
            <a:off x="1371600"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A higher damage setting raises the carbon price and lowers temperature</a:t>
            </a:r>
            <a:endParaRPr lang="en-US" sz="2000" dirty="0"/>
          </a:p>
        </p:txBody>
      </p:sp>
      <p:sp>
        <p:nvSpPr>
          <p:cNvPr id="16" name="worksheet card"/>
          <p:cNvSpPr/>
          <p:nvPr/>
        </p:nvSpPr>
        <p:spPr>
          <a:xfrm>
            <a:off x="6233008" y="1554480"/>
            <a:ext cx="5410048" cy="4617720"/>
          </a:xfrm>
          <a:prstGeom prst="roundRect">
            <a:avLst>
              <a:gd name="adj" fmla="val 2376"/>
            </a:avLst>
          </a:prstGeom>
          <a:solidFill>
            <a:srgbClr val="FFFFFF"/>
          </a:solidFill>
          <a:ln w="12700">
            <a:solidFill>
              <a:srgbClr val="D5DDDB"/>
            </a:solidFill>
            <a:prstDash val="solid"/>
          </a:ln>
          <a:effectLst>
            <a:outerShdw sx="100000" sy="100000" kx="0" ky="0" algn="bl" rotWithShape="0" blurRad="76200" dist="25400" dir="5400000">
              <a:srgbClr val="000000">
                <a:alpha val="8000"/>
              </a:srgbClr>
            </a:outerShdw>
          </a:effectLst>
        </p:spPr>
      </p:sp>
      <p:sp>
        <p:nvSpPr>
          <p:cNvPr id="17" name="Text 11"/>
          <p:cNvSpPr txBox="1"/>
          <p:nvPr/>
        </p:nvSpPr>
        <p:spPr>
          <a:xfrm>
            <a:off x="6507328" y="1737360"/>
            <a:ext cx="4861408" cy="457200"/>
          </a:xfrm>
          <a:prstGeom prst="rect">
            <a:avLst/>
          </a:prstGeom>
          <a:noFill/>
          <a:ln/>
        </p:spPr>
        <p:txBody>
          <a:bodyPr wrap="square" lIns="0" tIns="0" rIns="0" bIns="0" rtlCol="0" anchor="t"/>
          <a:lstStyle/>
          <a:p>
            <a:pPr indent="0" marL="0">
              <a:buNone/>
            </a:pPr>
            <a:r>
              <a:rPr lang="en-US" sz="2000" b="1" dirty="0">
                <a:solidFill>
                  <a:srgbClr val="12263A"/>
                </a:solidFill>
                <a:latin typeface="Cambria" pitchFamily="34" charset="0"/>
                <a:ea typeface="Cambria" pitchFamily="34" charset="-122"/>
                <a:cs typeface="Cambria" pitchFamily="34" charset="-120"/>
              </a:rPr>
              <a:t>Worksheet questions</a:t>
            </a:r>
            <a:endParaRPr lang="en-US" sz="2000" dirty="0"/>
          </a:p>
        </p:txBody>
      </p:sp>
      <p:sp>
        <p:nvSpPr>
          <p:cNvPr id="18" name="number badge"/>
          <p:cNvSpPr txBox="1"/>
          <p:nvPr/>
        </p:nvSpPr>
        <p:spPr>
          <a:xfrm>
            <a:off x="6507328" y="237744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9" name="Text 13"/>
          <p:cNvSpPr txBox="1"/>
          <p:nvPr/>
        </p:nvSpPr>
        <p:spPr>
          <a:xfrm>
            <a:off x="7055968" y="233172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Which rate gave the highest carbon price in 2050? Explain why in two sentences.</a:t>
            </a:r>
            <a:endParaRPr lang="en-US" sz="2000" dirty="0"/>
          </a:p>
        </p:txBody>
      </p:sp>
      <p:sp>
        <p:nvSpPr>
          <p:cNvPr id="20" name="number badge"/>
          <p:cNvSpPr txBox="1"/>
          <p:nvPr/>
        </p:nvSpPr>
        <p:spPr>
          <a:xfrm>
            <a:off x="6507328" y="361188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21" name="Text 15"/>
          <p:cNvSpPr txBox="1"/>
          <p:nvPr/>
        </p:nvSpPr>
        <p:spPr>
          <a:xfrm>
            <a:off x="7055968" y="356616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What happened to 2100 temperature when you raised the damage setting?</a:t>
            </a:r>
            <a:endParaRPr lang="en-US" sz="2000" dirty="0"/>
          </a:p>
        </p:txBody>
      </p:sp>
      <p:sp>
        <p:nvSpPr>
          <p:cNvPr id="22" name="number badge"/>
          <p:cNvSpPr txBox="1"/>
          <p:nvPr/>
        </p:nvSpPr>
        <p:spPr>
          <a:xfrm>
            <a:off x="6507328" y="4846320"/>
            <a:ext cx="384048" cy="384048"/>
          </a:xfrm>
          <a:prstGeom prst="ellipse">
            <a:avLst/>
          </a:prstGeom>
          <a:solidFill>
            <a:srgbClr val="12263A"/>
          </a:solidFill>
          <a:ln>
            <a:solidFill>
              <a:srgbClr val="12263A"/>
            </a:solid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23" name="Text 17"/>
          <p:cNvSpPr txBox="1"/>
          <p:nvPr/>
        </p:nvSpPr>
        <p:spPr>
          <a:xfrm>
            <a:off x="7055968" y="4800600"/>
            <a:ext cx="4312768" cy="1143000"/>
          </a:xfrm>
          <a:prstGeom prst="rect">
            <a:avLst/>
          </a:prstGeom>
          <a:noFill/>
          <a:ln/>
        </p:spPr>
        <p:txBody>
          <a:bodyPr wrap="square" lIns="0" tIns="0" rIns="0" bIns="0" rtlCol="0" anchor="t"/>
          <a:lstStyle/>
          <a:p>
            <a:pPr indent="0" marL="0">
              <a:buNone/>
            </a:pPr>
            <a:r>
              <a:rPr lang="en-US" sz="2000" dirty="0">
                <a:solidFill>
                  <a:srgbClr val="1F2933"/>
                </a:solidFill>
                <a:latin typeface="Calibri" pitchFamily="34" charset="0"/>
                <a:ea typeface="Calibri" pitchFamily="34" charset="-122"/>
                <a:cs typeface="Calibri" pitchFamily="34" charset="-120"/>
              </a:rPr>
              <a:t>Name one thing DICE leaves out that might matter for real policy.</a:t>
            </a:r>
            <a:endParaRPr lang="en-US"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875"/>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200" kern="0" dirty="0">
                <a:solidFill>
                  <a:srgbClr val="6FD3C7"/>
                </a:solidFill>
                <a:latin typeface="Calibri" pitchFamily="34" charset="0"/>
                <a:ea typeface="Calibri" pitchFamily="34" charset="-122"/>
                <a:cs typeface="Calibri" pitchFamily="34" charset="-120"/>
              </a:rPr>
              <a:t>RECAP</a:t>
            </a:r>
            <a:endParaRPr lang="en-US" sz="1200" dirty="0"/>
          </a:p>
        </p:txBody>
      </p:sp>
      <p:sp>
        <p:nvSpPr>
          <p:cNvPr id="3" name="Text 0"/>
          <p:cNvSpPr/>
          <p:nvPr>
            <p:ph idx="100" type="title" hasCustomPrompt="1"/>
          </p:nvPr>
        </p:nvSpPr>
        <p:spPr>
          <a:xfrm>
            <a:off x="548640" y="685800"/>
            <a:ext cx="11094415" cy="82296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Take-home messages</a:t>
            </a:r>
            <a:endParaRPr lang="en-US" sz="4000" dirty="0"/>
          </a:p>
        </p:txBody>
      </p:sp>
      <p:sp>
        <p:nvSpPr>
          <p:cNvPr id="4" name="number badge"/>
          <p:cNvSpPr txBox="1"/>
          <p:nvPr/>
        </p:nvSpPr>
        <p:spPr>
          <a:xfrm>
            <a:off x="548640" y="193167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234440" y="169164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DICE is one loop: economy, emissions, CO2, temperature, damages, back to economy</a:t>
            </a:r>
            <a:endParaRPr lang="en-US" sz="2000" dirty="0"/>
          </a:p>
        </p:txBody>
      </p:sp>
      <p:sp>
        <p:nvSpPr>
          <p:cNvPr id="6" name="number badge"/>
          <p:cNvSpPr txBox="1"/>
          <p:nvPr/>
        </p:nvSpPr>
        <p:spPr>
          <a:xfrm>
            <a:off x="548640" y="286893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7" name="Text 5"/>
          <p:cNvSpPr txBox="1"/>
          <p:nvPr/>
        </p:nvSpPr>
        <p:spPr>
          <a:xfrm>
            <a:off x="1234440" y="262890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Damages grow with the square of warming: D = a × T²</a:t>
            </a:r>
            <a:endParaRPr lang="en-US" sz="2000" dirty="0"/>
          </a:p>
        </p:txBody>
      </p:sp>
      <p:sp>
        <p:nvSpPr>
          <p:cNvPr id="8" name="number badge"/>
          <p:cNvSpPr txBox="1"/>
          <p:nvPr/>
        </p:nvSpPr>
        <p:spPr>
          <a:xfrm>
            <a:off x="548640" y="380619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9" name="Text 7"/>
          <p:cNvSpPr txBox="1"/>
          <p:nvPr/>
        </p:nvSpPr>
        <p:spPr>
          <a:xfrm>
            <a:off x="1234440" y="356616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social cost of carbon is the discounted damage of one more tonne</a:t>
            </a:r>
            <a:endParaRPr lang="en-US" sz="2000" dirty="0"/>
          </a:p>
        </p:txBody>
      </p:sp>
      <p:sp>
        <p:nvSpPr>
          <p:cNvPr id="10" name="number badge"/>
          <p:cNvSpPr txBox="1"/>
          <p:nvPr/>
        </p:nvSpPr>
        <p:spPr>
          <a:xfrm>
            <a:off x="548640" y="4743450"/>
            <a:ext cx="457200" cy="457200"/>
          </a:xfrm>
          <a:prstGeom prst="ellipse">
            <a:avLst/>
          </a:prstGeom>
          <a:solidFill>
            <a:srgbClr val="0F766E"/>
          </a:solidFill>
          <a:ln>
            <a:solidFill>
              <a:srgbClr val="0F766E"/>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1" name="Text 9"/>
          <p:cNvSpPr txBox="1"/>
          <p:nvPr/>
        </p:nvSpPr>
        <p:spPr>
          <a:xfrm>
            <a:off x="1234440" y="4503420"/>
            <a:ext cx="6949440" cy="89154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The discount rate and damage function explain most of the gap between estimates</a:t>
            </a:r>
            <a:endParaRPr lang="en-US" sz="2000" dirty="0"/>
          </a:p>
        </p:txBody>
      </p:sp>
      <p:sp>
        <p:nvSpPr>
          <p:cNvPr id="12" name="next week"/>
          <p:cNvSpPr/>
          <p:nvPr/>
        </p:nvSpPr>
        <p:spPr>
          <a:xfrm>
            <a:off x="8503920" y="1737360"/>
            <a:ext cx="3139135" cy="2057400"/>
          </a:xfrm>
          <a:prstGeom prst="roundRect">
            <a:avLst>
              <a:gd name="adj" fmla="val 5333"/>
            </a:avLst>
          </a:prstGeom>
          <a:solidFill>
            <a:srgbClr val="1D3A52"/>
          </a:solidFill>
          <a:ln w="12700">
            <a:solidFill>
              <a:srgbClr val="1D3A52"/>
            </a:solidFill>
            <a:prstDash val="solid"/>
          </a:ln>
        </p:spPr>
      </p:sp>
      <p:sp>
        <p:nvSpPr>
          <p:cNvPr id="13" name="Text 11"/>
          <p:cNvSpPr txBox="1"/>
          <p:nvPr/>
        </p:nvSpPr>
        <p:spPr>
          <a:xfrm>
            <a:off x="8778240" y="1874520"/>
            <a:ext cx="2590495" cy="411480"/>
          </a:xfrm>
          <a:prstGeom prst="rect">
            <a:avLst/>
          </a:prstGeom>
          <a:noFill/>
          <a:ln/>
        </p:spPr>
        <p:txBody>
          <a:bodyPr wrap="square" lIns="0" tIns="0" rIns="0" bIns="0" rtlCol="0" anchor="t"/>
          <a:lstStyle/>
          <a:p>
            <a:pPr indent="0" marL="0">
              <a:buNone/>
            </a:pPr>
            <a:r>
              <a:rPr lang="en-US" sz="1600" b="1" dirty="0">
                <a:solidFill>
                  <a:srgbClr val="F59E6B"/>
                </a:solidFill>
                <a:latin typeface="Calibri" pitchFamily="34" charset="0"/>
                <a:ea typeface="Calibri" pitchFamily="34" charset="-122"/>
                <a:cs typeface="Calibri" pitchFamily="34" charset="-120"/>
              </a:rPr>
              <a:t>Next: week 6</a:t>
            </a:r>
            <a:endParaRPr lang="en-US" sz="1600" dirty="0"/>
          </a:p>
        </p:txBody>
      </p:sp>
      <p:sp>
        <p:nvSpPr>
          <p:cNvPr id="14" name="Text 12"/>
          <p:cNvSpPr txBox="1"/>
          <p:nvPr/>
        </p:nvSpPr>
        <p:spPr>
          <a:xfrm>
            <a:off x="8778240" y="2286000"/>
            <a:ext cx="2590495" cy="14173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Week 6 moves from one small model to the scenarios that many large models share: SSPs, RCPs and the IPCC categories.</a:t>
            </a:r>
            <a:endParaRPr lang="en-US" sz="1600" dirty="0"/>
          </a:p>
        </p:txBody>
      </p:sp>
      <p:sp>
        <p:nvSpPr>
          <p:cNvPr id="15" name="practise"/>
          <p:cNvSpPr/>
          <p:nvPr/>
        </p:nvSpPr>
        <p:spPr>
          <a:xfrm>
            <a:off x="8503920" y="4023360"/>
            <a:ext cx="3139135" cy="1371600"/>
          </a:xfrm>
          <a:prstGeom prst="roundRect">
            <a:avLst>
              <a:gd name="adj" fmla="val 8000"/>
            </a:avLst>
          </a:prstGeom>
          <a:solidFill>
            <a:srgbClr val="1D3A52"/>
          </a:solidFill>
          <a:ln w="12700">
            <a:solidFill>
              <a:srgbClr val="1D3A52"/>
            </a:solidFill>
            <a:prstDash val="solid"/>
          </a:ln>
        </p:spPr>
      </p:sp>
      <p:sp>
        <p:nvSpPr>
          <p:cNvPr id="16" name="Text 14"/>
          <p:cNvSpPr txBox="1"/>
          <p:nvPr/>
        </p:nvSpPr>
        <p:spPr>
          <a:xfrm>
            <a:off x="8778240" y="4114800"/>
            <a:ext cx="2590495" cy="411480"/>
          </a:xfrm>
          <a:prstGeom prst="rect">
            <a:avLst/>
          </a:prstGeom>
          <a:noFill/>
          <a:ln/>
        </p:spPr>
        <p:txBody>
          <a:bodyPr wrap="square" lIns="0" tIns="0" rIns="0" bIns="0" rtlCol="0" anchor="t"/>
          <a:lstStyle/>
          <a:p>
            <a:pPr indent="0" marL="0">
              <a:buNone/>
            </a:pPr>
            <a:r>
              <a:rPr lang="en-US" sz="1600" b="1" dirty="0">
                <a:solidFill>
                  <a:srgbClr val="6FD3C7"/>
                </a:solidFill>
                <a:latin typeface="Calibri" pitchFamily="34" charset="0"/>
                <a:ea typeface="Calibri" pitchFamily="34" charset="-122"/>
                <a:cs typeface="Calibri" pitchFamily="34" charset="-120"/>
              </a:rPr>
              <a:t>Practise</a:t>
            </a:r>
            <a:endParaRPr lang="en-US" sz="1600" dirty="0"/>
          </a:p>
        </p:txBody>
      </p:sp>
      <p:sp>
        <p:nvSpPr>
          <p:cNvPr id="17" name="Text 15"/>
          <p:cNvSpPr txBox="1"/>
          <p:nvPr/>
        </p:nvSpPr>
        <p:spPr>
          <a:xfrm>
            <a:off x="8778240" y="4498848"/>
            <a:ext cx="2590495"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Interactive course, week 5: try the discount explorer and the 5-question quiz.</a:t>
            </a:r>
            <a:endParaRPr lang="en-US" sz="1400" dirty="0"/>
          </a:p>
        </p:txBody>
      </p:sp>
      <p:sp>
        <p:nvSpPr>
          <p:cNvPr id="18" name="Text 16"/>
          <p:cNvSpPr txBox="1"/>
          <p:nvPr/>
        </p:nvSpPr>
        <p:spPr>
          <a:xfrm>
            <a:off x="548640" y="5577840"/>
            <a:ext cx="10180015" cy="640080"/>
          </a:xfrm>
          <a:prstGeom prst="rect">
            <a:avLst/>
          </a:prstGeom>
          <a:noFill/>
          <a:ln/>
        </p:spPr>
        <p:txBody>
          <a:bodyPr wrap="square" lIns="0" tIns="0" rIns="0" bIns="0" rtlCol="0" anchor="t"/>
          <a:lstStyle/>
          <a:p>
            <a:pPr indent="0" marL="0">
              <a:buNone/>
            </a:pPr>
            <a:r>
              <a:rPr lang="en-US" sz="1300" dirty="0">
                <a:solidFill>
                  <a:srgbClr val="C9D6DF"/>
                </a:solidFill>
                <a:latin typeface="Calibri" pitchFamily="34" charset="0"/>
                <a:ea typeface="Calibri" pitchFamily="34" charset="-122"/>
                <a:cs typeface="Calibri" pitchFamily="34" charset="-120"/>
              </a:rPr>
              <a:t>Readings: Nordhaus (2017), 'Revisiting the social cost of carbon', PNAS; Optional: Pindyck (2013), Journal of Economic Literature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D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IAM Course">
  <a:themeElements>
    <a:clrScheme name="IAM Course">
      <a:dk1>
        <a:srgbClr val="1F2933"/>
      </a:dk1>
      <a:lt1>
        <a:srgbClr val="FFFFFF"/>
      </a:lt1>
      <a:dk2>
        <a:srgbClr val="12263A"/>
      </a:dk2>
      <a:lt2>
        <a:srgbClr val="E6F2F0"/>
      </a:lt2>
      <a:accent1>
        <a:srgbClr val="0F766E"/>
      </a:accent1>
      <a:accent2>
        <a:srgbClr val="C2410C"/>
      </a:accent2>
      <a:accent3>
        <a:srgbClr val="D97706"/>
      </a:accent3>
      <a:accent4>
        <a:srgbClr val="5B6875"/>
      </a:accent4>
      <a:accent5>
        <a:srgbClr val="15803D"/>
      </a:accent5>
      <a:accent6>
        <a:srgbClr val="B91C1C"/>
      </a:accent6>
      <a:hlink>
        <a:srgbClr val="0F766E"/>
      </a:hlink>
      <a:folHlink>
        <a:srgbClr val="6B21A8"/>
      </a:folHlink>
    </a:clrScheme>
    <a:fontScheme name="IAM Cour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IAM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Cost-benefit IAMs: DICE</dc:title>
  <dc:subject>Modelling Climate and Energy Futures</dc:subject>
  <dc:creator>IAM course team</dc:creator>
  <cp:lastModifiedBy>IAM course team</cp:lastModifiedBy>
  <cp:revision>1</cp:revision>
  <dcterms:created xsi:type="dcterms:W3CDTF">2026-10-22T18:53:46Z</dcterms:created>
  <dcterms:modified xsi:type="dcterms:W3CDTF">2026-10-22T18:53:46Z</dcterms:modified>
</cp:coreProperties>
</file>