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973efa6-03a6-00a5-b067-aaab5fbda66f}">
          <p14:sldIdLst>
            <p14:sldId id="256"/>
            <p14:sldId id="257"/>
            <p14:sldId id="258"/>
          </p14:sldIdLst>
        </p14:section>
        <p14:section name="Lecture" id="{f27c5c9e-0dc4-9247-351c-ace3a3d33397}">
          <p14:sldIdLst>
            <p14:sldId id="259"/>
            <p14:sldId id="260"/>
            <p14:sldId id="261"/>
            <p14:sldId id="262"/>
            <p14:sldId id="263"/>
            <p14:sldId id="264"/>
            <p14:sldId id="265"/>
            <p14:sldId id="266"/>
            <p14:sldId id="267"/>
            <p14:sldId id="268"/>
            <p14:sldId id="269"/>
            <p14:sldId id="270"/>
          </p14:sldIdLst>
        </p14:section>
        <p14:section name="Lab" id="{6e11f126-ca2d-c190-3b7d-7e5516d843d5}">
          <p14:sldIdLst>
            <p14:sldId id="271"/>
            <p14:sldId id="272"/>
            <p14:sldId id="273"/>
            <p14:sldId id="274"/>
            <p14:sldId id="275"/>
            <p14:sldId id="276"/>
          </p14:sldIdLst>
        </p14:section>
        <p14:section name="Recap" id="{8edd6134-e697-fdc7-63b7-fa17b6541b32}">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Ratio: year 30 ÷ year 0</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Population</c:v>
                  </c:pt>
                  <c:pt idx="1">
                    <c:v>Income</c:v>
                  </c:pt>
                  <c:pt idx="2">
                    <c:v>Energy/GDP</c:v>
                  </c:pt>
                  <c:pt idx="3">
                    <c:v>CO2/energy</c:v>
                  </c:pt>
                  <c:pt idx="4">
                    <c:v>CO2</c:v>
                  </c:pt>
                </c:lvl>
              </c:multiLvlStrCache>
            </c:multiLvlStrRef>
          </c:cat>
          <c:val>
            <c:numRef>
              <c:f>Sheet1!$B$2:$B$6</c:f>
              <c:numCache>
                <c:formatCode>General</c:formatCode>
                <c:ptCount val="5"/>
                <c:pt idx="0">
                  <c:v>1.2</c:v>
                </c:pt>
                <c:pt idx="1">
                  <c:v>1.5</c:v>
                </c:pt>
                <c:pt idx="2">
                  <c:v>0.7</c:v>
                </c:pt>
                <c:pt idx="3">
                  <c:v>0.8</c:v>
                </c:pt>
                <c:pt idx="4">
                  <c:v>1.008</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Kaya factor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Ratio (1 = no change)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3: Energy primer. Where emissions come from, in four numbers. Today has two halves: a lecture that builds the idea step by step with everyday examples, then a guided lab where we try it in R. Nobody is expected to know the material already. New R skill this week: dplyr: filter, select, mutate, group_by, summarise; the 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3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The CO2 from eight billion people's daily choices can be written as four numbers multiplied together. Which ones can policy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reveal the four numbers yet. Ask students which two we hope will rise: more people living longer and people getting richer. Then climate policy has to push the other two down faster than those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is what people actually want: a warm room, a lit desk, a trip to work. This idea matters because process-based IAMs follow the whole chain and can compare a solar farm with a better-insulated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worked example aloud: a litre of petrol becomes kilometres travelled. A more efficient car gives more kilometres from the same litre. That is a change on the right side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efficiencies, but realistic for an older coal plant. The last line is the punchline: saving electricity at the socket saves nearly three times as much primary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identity, not a theory. The terms cancel to leave CO2 = C. Its value is as a way of organising data. Warn students that the factors are not independent; for example, richer countries often have lower energy intensity.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 is exajoule, a huge amount of energy; MJ is megajoule. Students do not need to memorise units. What matters is the check in the last line: multiply the factors and you get back the total. That same check is built into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above 1 pushed emissions up, bars below 1 pulled them down. Efficiency and cleaner energy just cancelled growth in people and income. Ask: which two bars can policy move most directly? The last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1.1 × 2.0 × 0.6 × 0.9 = 2.2 × 0.54 = 1.188, so CO2 rises by about 19%. Students who add the percentages (+10 +100 −40 −10 = +60%) get the wrong answer. That is the trap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1.1 × 2.0 × 0.6 × 0.9 = 2.2 × 0.54 = 1.188, so CO2 rises by about 19%. Students who add the percentages (+10 +100 −40 −10 = +60%) get the wrong answer. That is the trap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percentages works only for very small changes. The third point is subtle: Kaya is bookkeeping. GCAM is what explains why energy intensity fell, through prices and technology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block aloud: take kaya, and then keep Japan, and then keep five columns, and then add three new ones. Build it one line at a time in the lab, running after each line, so beginners see which line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Break one country's emissions into population, income, energy intensity and carbon intensity, and find which factor drove the change.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choose a different country before the lab starts and write it on the board. The comparison across the room at the end is the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ratio above 1 means that factor grew. Ask students to say aloud which factor grew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built-in test. Because Kaya always holds, the two numbers must match. A mismatch almost always means a misspelt column in mutate.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shortened version of step 4 in lab3.R; the full script summarises all five ratios. Expect income to dominate in fast-growing economies, while falling energy intensity is common almost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Follow energy from primary source to the service people want; Write the Kaya identity and explain each of its four factors; Use ratios to see which factor drove a country's emissions; Use dplyr verbs and the pipe to filter and compute new columns. Ask students to rate themselves on each. Then point to next week: Week 4 adds the economics: how prices balance markets, what a carbon price does, and why the future gets discounted.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3 · Energy primer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3 · Energy primer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6.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6.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6.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Energy primer</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3 OF 15  ·  STAGE 1: FOUNDATIONS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Where emissions come from, in four numbers</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dplyr: filter, select, mutate, group_by, summarise; the pipe</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2410C"/>
          </a:solidFill>
          <a:ln w="12700">
            <a:solidFill>
              <a:srgbClr val="C2410C"/>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F7FAF9"/>
          </a:solidFill>
          <a:ln w="12700">
            <a:solidFill>
              <a:srgbClr val="F7FAF9"/>
            </a:solidFill>
            <a:prstDash val="solid"/>
          </a:ln>
        </p:spPr>
      </p:sp>
      <p:sp>
        <p:nvSpPr>
          <p:cNvPr id="17" name="Shape 14"/>
          <p:cNvSpPr/>
          <p:nvPr/>
        </p:nvSpPr>
        <p:spPr>
          <a:xfrm>
            <a:off x="7124548" y="1600200"/>
            <a:ext cx="1414729" cy="1188720"/>
          </a:xfrm>
          <a:prstGeom prst="roundRect">
            <a:avLst>
              <a:gd name="adj" fmla="val 9231"/>
            </a:avLst>
          </a:prstGeom>
          <a:solidFill>
            <a:srgbClr val="F7FAF9"/>
          </a:solidFill>
          <a:ln w="12700">
            <a:solidFill>
              <a:srgbClr val="D5DDDB"/>
            </a:solidFill>
            <a:prstDash val="solid"/>
          </a:ln>
        </p:spPr>
      </p:sp>
      <p:sp>
        <p:nvSpPr>
          <p:cNvPr id="18" name="Text 15"/>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9" name="Text 16"/>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20" name="week tile"/>
          <p:cNvSpPr/>
          <p:nvPr/>
        </p:nvSpPr>
        <p:spPr>
          <a:xfrm>
            <a:off x="8676437" y="1600200"/>
            <a:ext cx="1414729" cy="1188720"/>
          </a:xfrm>
          <a:prstGeom prst="roundRect">
            <a:avLst>
              <a:gd name="adj" fmla="val 9231"/>
            </a:avLst>
          </a:prstGeom>
          <a:solidFill>
            <a:srgbClr val="F7FAF9"/>
          </a:solidFill>
          <a:ln w="12700">
            <a:solidFill>
              <a:srgbClr val="F7FAF9"/>
            </a:solidFill>
            <a:prstDash val="solid"/>
          </a:ln>
        </p:spPr>
      </p:sp>
      <p:sp>
        <p:nvSpPr>
          <p:cNvPr id="21" name="Shape 18"/>
          <p:cNvSpPr/>
          <p:nvPr/>
        </p:nvSpPr>
        <p:spPr>
          <a:xfrm>
            <a:off x="8676437" y="1600200"/>
            <a:ext cx="1414729" cy="1188720"/>
          </a:xfrm>
          <a:prstGeom prst="roundRect">
            <a:avLst>
              <a:gd name="adj" fmla="val 9231"/>
            </a:avLst>
          </a:prstGeom>
          <a:solidFill>
            <a:srgbClr val="F7FAF9"/>
          </a:solidFill>
          <a:ln w="12700">
            <a:solidFill>
              <a:srgbClr val="D5DDDB"/>
            </a:solidFill>
            <a:prstDash val="solid"/>
          </a:ln>
        </p:spPr>
      </p:sp>
      <p:sp>
        <p:nvSpPr>
          <p:cNvPr id="22" name="Text 19"/>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3" name="Text 20"/>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4" name="week tile"/>
          <p:cNvSpPr/>
          <p:nvPr/>
        </p:nvSpPr>
        <p:spPr>
          <a:xfrm>
            <a:off x="10228326" y="1600200"/>
            <a:ext cx="1414729" cy="1188720"/>
          </a:xfrm>
          <a:prstGeom prst="roundRect">
            <a:avLst>
              <a:gd name="adj" fmla="val 9231"/>
            </a:avLst>
          </a:prstGeom>
          <a:solidFill>
            <a:srgbClr val="F7FAF9"/>
          </a:solidFill>
          <a:ln w="12700">
            <a:solidFill>
              <a:srgbClr val="F7FAF9"/>
            </a:solidFill>
            <a:prstDash val="solid"/>
          </a:ln>
        </p:spPr>
      </p:sp>
      <p:sp>
        <p:nvSpPr>
          <p:cNvPr id="25" name="Shape 22"/>
          <p:cNvSpPr/>
          <p:nvPr/>
        </p:nvSpPr>
        <p:spPr>
          <a:xfrm>
            <a:off x="10228326" y="1600200"/>
            <a:ext cx="1414729" cy="1188720"/>
          </a:xfrm>
          <a:prstGeom prst="roundRect">
            <a:avLst>
              <a:gd name="adj" fmla="val 9231"/>
            </a:avLst>
          </a:prstGeom>
          <a:solidFill>
            <a:srgbClr val="F7FAF9"/>
          </a:solidFill>
          <a:ln w="12700">
            <a:solidFill>
              <a:srgbClr val="D5DDDB"/>
            </a:solidFill>
            <a:prstDash val="solid"/>
          </a:ln>
        </p:spPr>
      </p:sp>
      <p:sp>
        <p:nvSpPr>
          <p:cNvPr id="26" name="Text 23"/>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7" name="Text 24"/>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8" name="Text 25"/>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9" name="Text 26"/>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30" name="week tile"/>
          <p:cNvSpPr/>
          <p:nvPr/>
        </p:nvSpPr>
        <p:spPr>
          <a:xfrm>
            <a:off x="2468880" y="3108960"/>
            <a:ext cx="1414729" cy="1188720"/>
          </a:xfrm>
          <a:prstGeom prst="roundRect">
            <a:avLst>
              <a:gd name="adj" fmla="val 9231"/>
            </a:avLst>
          </a:prstGeom>
          <a:solidFill>
            <a:srgbClr val="F7FAF9"/>
          </a:solidFill>
          <a:ln w="12700">
            <a:solidFill>
              <a:srgbClr val="F7FAF9"/>
            </a:solidFill>
            <a:prstDash val="solid"/>
          </a:ln>
        </p:spPr>
      </p:sp>
      <p:sp>
        <p:nvSpPr>
          <p:cNvPr id="31" name="Shape 28"/>
          <p:cNvSpPr/>
          <p:nvPr/>
        </p:nvSpPr>
        <p:spPr>
          <a:xfrm>
            <a:off x="2468880" y="3108960"/>
            <a:ext cx="1414729" cy="1188720"/>
          </a:xfrm>
          <a:prstGeom prst="roundRect">
            <a:avLst>
              <a:gd name="adj" fmla="val 9231"/>
            </a:avLst>
          </a:prstGeom>
          <a:solidFill>
            <a:srgbClr val="F7FAF9"/>
          </a:solidFill>
          <a:ln w="12700">
            <a:solidFill>
              <a:srgbClr val="D5DDDB"/>
            </a:solidFill>
            <a:prstDash val="solid"/>
          </a:ln>
        </p:spPr>
      </p:sp>
      <p:sp>
        <p:nvSpPr>
          <p:cNvPr id="32" name="Text 29"/>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33" name="Text 30"/>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4"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5" name="Shape 32"/>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6" name="Text 33"/>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7" name="Text 34"/>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8"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39" name="Shape 36"/>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40" name="Text 37"/>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41" name="Text 38"/>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42"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43" name="Shape 40"/>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4" name="Text 41"/>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5" name="Text 42"/>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6" name="Text 43"/>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7" name="Text 44"/>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8"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9" name="Shape 46"/>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50" name="Text 47"/>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51" name="Text 48"/>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52"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53" name="Shape 50"/>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4" name="Text 51"/>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5" name="Text 52"/>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6"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7" name="Shape 54"/>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8" name="Text 55"/>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9" name="Text 56"/>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60"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61" name="Shape 58"/>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62" name="Text 59"/>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63" name="Text 60"/>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4"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5" name="Shape 62"/>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6" name="Text 63"/>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7" name="Text 64"/>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Follow energy from primary source to the service people want</a:t>
            </a:r>
            <a:endParaRPr lang="en-US" sz="22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Write the Kaya identity and explain each of its four factors</a:t>
            </a:r>
            <a:endParaRPr lang="en-US" sz="22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Use ratios to see which factor drove a country's emissions</a:t>
            </a:r>
            <a:endParaRPr lang="en-US" sz="22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Use dplyr verbs and the pipe to filter and compute new columns</a:t>
            </a:r>
            <a:endParaRPr lang="en-US" sz="22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The CO2 from eight billion people's daily choices can be written as four numbers multiplied together. Which ones can policy change?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Four numbers behind all CO2</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The CO2 from eight billion people's daily choices can be written as four numbers multiplied together. Two of them we hope will keep rising.</a:t>
            </a:r>
            <a:endParaRPr lang="en-US" sz="23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If population and income keep growing, what must happen to the other two?</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Energy is like water through leaky pipes</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Water leaves a reservoir, passes a treatment plant, flows through pipes and comes out of your tap. Some is lost at every stage. Energy is the same: coal or sunlight is turned into electricity, sent through wires, and finally lights your desk.</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You do not want energy, you want the service</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Some energy is lost at each step</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Two levers: cleaner supply, or less energy per service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From resource to service in four steps</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Primary</a:t>
            </a:r>
            <a:endParaRPr lang="en-US" sz="20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Coal, oil, gas, uranium, sun, wind, biomass</a:t>
            </a:r>
            <a:endParaRPr lang="en-US" sz="20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Conversion</a:t>
            </a:r>
            <a:endParaRPr lang="en-US" sz="20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Power plants and refineries make usable forms</a:t>
            </a:r>
            <a:endParaRPr lang="en-US" sz="20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Final</a:t>
            </a:r>
            <a:endParaRPr lang="en-US" sz="20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Electricity, fuels and heat delivered to users</a:t>
            </a:r>
            <a:endParaRPr lang="en-US" sz="20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Services</a:t>
            </a:r>
            <a:endParaRPr lang="en-US" sz="20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Warm rooms, light, travel, steel, cement</a:t>
            </a:r>
            <a:endParaRPr lang="en-US" sz="20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Clean up the left side (supply), or need less energy for the same service (right side).</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losses along the chain</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Start with 100 units of coal. The power plant is 40% efficient and the grid loses 10%. How much reaches homes?</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Power plant: 100 × 0.40 = 40 units of electricity</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Grid: 40 × 0.90 = 36 units reach homes</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Lost: 100 − 36 = 64 units, about two thirds</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So 1 unit saved at home saves 100 ÷ 36 ≈ 2.8 units of coal</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300" b="1" dirty="0">
                <a:solidFill>
                  <a:srgbClr val="12263A"/>
                </a:solidFill>
                <a:latin typeface="Cambria" pitchFamily="34" charset="0"/>
                <a:ea typeface="Cambria" pitchFamily="34" charset="-122"/>
                <a:cs typeface="Cambria" pitchFamily="34" charset="-120"/>
              </a:rPr>
              <a:t>36 units reach homes; saving 1 unit at home saves about 2.8 units of coal</a:t>
            </a:r>
            <a:endParaRPr lang="en-US" sz="2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POINTS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Kaya identity</a:t>
            </a:r>
            <a:endParaRPr lang="en-US" sz="3200" dirty="0"/>
          </a:p>
        </p:txBody>
      </p:sp>
      <p:sp>
        <p:nvSpPr>
          <p:cNvPr id="5" name="icon circle"/>
          <p:cNvSpPr/>
          <p:nvPr/>
        </p:nvSpPr>
        <p:spPr>
          <a:xfrm>
            <a:off x="548640" y="1737360"/>
            <a:ext cx="457200" cy="457200"/>
          </a:xfrm>
          <a:prstGeom prst="ellipse">
            <a:avLst/>
          </a:prstGeom>
          <a:solidFill>
            <a:srgbClr val="0F766E"/>
          </a:solidFill>
          <a:ln w="12700">
            <a:solidFill>
              <a:srgbClr val="0F766E"/>
            </a:solidFill>
            <a:prstDash val="solid"/>
          </a:ln>
        </p:spPr>
      </p:sp>
      <p:pic>
        <p:nvPicPr>
          <p:cNvPr id="6" name="icon" descr="preencoded.png">    </p:cNvPr>
          <p:cNvPicPr>
            <a:picLocks noChangeAspect="1"/>
          </p:cNvPicPr>
          <p:nvPr/>
        </p:nvPicPr>
        <p:blipFill>
          <a:blip r:embed="rId1"/>
          <a:stretch>
            <a:fillRect/>
          </a:stretch>
        </p:blipFill>
        <p:spPr>
          <a:xfrm>
            <a:off x="667512" y="1856232"/>
            <a:ext cx="219456" cy="219456"/>
          </a:xfrm>
          <a:prstGeom prst="rect">
            <a:avLst/>
          </a:prstGeom>
        </p:spPr>
      </p:pic>
      <p:sp>
        <p:nvSpPr>
          <p:cNvPr id="7" name="Text 3"/>
          <p:cNvSpPr txBox="1"/>
          <p:nvPr/>
        </p:nvSpPr>
        <p:spPr>
          <a:xfrm>
            <a:off x="1280160" y="15087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CO2 = P × (G ÷ P) × (E ÷ G) × (C ÷ E)</a:t>
            </a:r>
            <a:endParaRPr lang="en-US" sz="2200" dirty="0"/>
          </a:p>
        </p:txBody>
      </p:sp>
      <p:sp>
        <p:nvSpPr>
          <p:cNvPr id="8" name="icon circle"/>
          <p:cNvSpPr/>
          <p:nvPr/>
        </p:nvSpPr>
        <p:spPr>
          <a:xfrm>
            <a:off x="548640" y="2651760"/>
            <a:ext cx="457200" cy="457200"/>
          </a:xfrm>
          <a:prstGeom prst="ellipse">
            <a:avLst/>
          </a:prstGeom>
          <a:solidFill>
            <a:srgbClr val="12263A"/>
          </a:solidFill>
          <a:ln w="12700">
            <a:solidFill>
              <a:srgbClr val="12263A"/>
            </a:solidFill>
            <a:prstDash val="solid"/>
          </a:ln>
        </p:spPr>
      </p:sp>
      <p:pic>
        <p:nvPicPr>
          <p:cNvPr id="9" name="icon" descr="preencoded.png">    </p:cNvPr>
          <p:cNvPicPr>
            <a:picLocks noChangeAspect="1"/>
          </p:cNvPicPr>
          <p:nvPr/>
        </p:nvPicPr>
        <p:blipFill>
          <a:blip r:embed="rId2"/>
          <a:stretch>
            <a:fillRect/>
          </a:stretch>
        </p:blipFill>
        <p:spPr>
          <a:xfrm>
            <a:off x="667512" y="2770632"/>
            <a:ext cx="219456" cy="219456"/>
          </a:xfrm>
          <a:prstGeom prst="rect">
            <a:avLst/>
          </a:prstGeom>
        </p:spPr>
      </p:pic>
      <p:sp>
        <p:nvSpPr>
          <p:cNvPr id="10" name="Text 5"/>
          <p:cNvSpPr txBox="1"/>
          <p:nvPr/>
        </p:nvSpPr>
        <p:spPr>
          <a:xfrm>
            <a:off x="1280160" y="24231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P = population; G = GDP (the size of the economy)</a:t>
            </a:r>
            <a:endParaRPr lang="en-US" sz="2200" dirty="0"/>
          </a:p>
        </p:txBody>
      </p:sp>
      <p:sp>
        <p:nvSpPr>
          <p:cNvPr id="11" name="icon circle"/>
          <p:cNvSpPr/>
          <p:nvPr/>
        </p:nvSpPr>
        <p:spPr>
          <a:xfrm>
            <a:off x="548640" y="3566160"/>
            <a:ext cx="457200" cy="457200"/>
          </a:xfrm>
          <a:prstGeom prst="ellipse">
            <a:avLst/>
          </a:prstGeom>
          <a:solidFill>
            <a:srgbClr val="0F766E"/>
          </a:solidFill>
          <a:ln w="12700">
            <a:solidFill>
              <a:srgbClr val="0F766E"/>
            </a:solidFill>
            <a:prstDash val="solid"/>
          </a:ln>
        </p:spPr>
      </p:sp>
      <p:pic>
        <p:nvPicPr>
          <p:cNvPr id="12" name="icon" descr="preencoded.png">    </p:cNvPr>
          <p:cNvPicPr>
            <a:picLocks noChangeAspect="1"/>
          </p:cNvPicPr>
          <p:nvPr/>
        </p:nvPicPr>
        <p:blipFill>
          <a:blip r:embed="rId3"/>
          <a:stretch>
            <a:fillRect/>
          </a:stretch>
        </p:blipFill>
        <p:spPr>
          <a:xfrm>
            <a:off x="667512" y="3685032"/>
            <a:ext cx="219456" cy="219456"/>
          </a:xfrm>
          <a:prstGeom prst="rect">
            <a:avLst/>
          </a:prstGeom>
        </p:spPr>
      </p:pic>
      <p:sp>
        <p:nvSpPr>
          <p:cNvPr id="13" name="Text 7"/>
          <p:cNvSpPr txBox="1"/>
          <p:nvPr/>
        </p:nvSpPr>
        <p:spPr>
          <a:xfrm>
            <a:off x="1280160" y="33375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G ÷ P = income per person</a:t>
            </a:r>
            <a:endParaRPr lang="en-US" sz="2200" dirty="0"/>
          </a:p>
        </p:txBody>
      </p:sp>
      <p:sp>
        <p:nvSpPr>
          <p:cNvPr id="14" name="icon circle"/>
          <p:cNvSpPr/>
          <p:nvPr/>
        </p:nvSpPr>
        <p:spPr>
          <a:xfrm>
            <a:off x="548640" y="4480560"/>
            <a:ext cx="457200" cy="457200"/>
          </a:xfrm>
          <a:prstGeom prst="ellipse">
            <a:avLst/>
          </a:prstGeom>
          <a:solidFill>
            <a:srgbClr val="12263A"/>
          </a:solidFill>
          <a:ln w="12700">
            <a:solidFill>
              <a:srgbClr val="12263A"/>
            </a:solidFill>
            <a:prstDash val="solid"/>
          </a:ln>
        </p:spPr>
      </p:sp>
      <p:pic>
        <p:nvPicPr>
          <p:cNvPr id="15" name="icon" descr="preencoded.png">    </p:cNvPr>
          <p:cNvPicPr>
            <a:picLocks noChangeAspect="1"/>
          </p:cNvPicPr>
          <p:nvPr/>
        </p:nvPicPr>
        <p:blipFill>
          <a:blip r:embed="rId4"/>
          <a:stretch>
            <a:fillRect/>
          </a:stretch>
        </p:blipFill>
        <p:spPr>
          <a:xfrm>
            <a:off x="667512" y="4599432"/>
            <a:ext cx="219456" cy="219456"/>
          </a:xfrm>
          <a:prstGeom prst="rect">
            <a:avLst/>
          </a:prstGeom>
        </p:spPr>
      </p:pic>
      <p:sp>
        <p:nvSpPr>
          <p:cNvPr id="16" name="Text 9"/>
          <p:cNvSpPr txBox="1"/>
          <p:nvPr/>
        </p:nvSpPr>
        <p:spPr>
          <a:xfrm>
            <a:off x="1280160" y="42519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 ÷ G = energy intensity; C ÷ E = carbon intensity</a:t>
            </a:r>
            <a:endParaRPr lang="en-US" sz="2200" dirty="0"/>
          </a:p>
        </p:txBody>
      </p:sp>
      <p:sp>
        <p:nvSpPr>
          <p:cNvPr id="17" name="icon circle"/>
          <p:cNvSpPr/>
          <p:nvPr/>
        </p:nvSpPr>
        <p:spPr>
          <a:xfrm>
            <a:off x="548640" y="5394960"/>
            <a:ext cx="457200" cy="457200"/>
          </a:xfrm>
          <a:prstGeom prst="ellipse">
            <a:avLst/>
          </a:prstGeom>
          <a:solidFill>
            <a:srgbClr val="0F766E"/>
          </a:solidFill>
          <a:ln w="12700">
            <a:solidFill>
              <a:srgbClr val="0F766E"/>
            </a:solidFill>
            <a:prstDash val="solid"/>
          </a:ln>
        </p:spPr>
      </p:sp>
      <p:pic>
        <p:nvPicPr>
          <p:cNvPr id="18" name="icon" descr="preencoded.png">    </p:cNvPr>
          <p:cNvPicPr>
            <a:picLocks noChangeAspect="1"/>
          </p:cNvPicPr>
          <p:nvPr/>
        </p:nvPicPr>
        <p:blipFill>
          <a:blip r:embed="rId5"/>
          <a:stretch>
            <a:fillRect/>
          </a:stretch>
        </p:blipFill>
        <p:spPr>
          <a:xfrm>
            <a:off x="667512" y="5513832"/>
            <a:ext cx="219456" cy="219456"/>
          </a:xfrm>
          <a:prstGeom prst="rect">
            <a:avLst/>
          </a:prstGeom>
        </p:spPr>
      </p:pic>
      <p:sp>
        <p:nvSpPr>
          <p:cNvPr id="19" name="Text 11"/>
          <p:cNvSpPr txBox="1"/>
          <p:nvPr/>
        </p:nvSpPr>
        <p:spPr>
          <a:xfrm>
            <a:off x="1280160" y="51663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Each top cancels the bottom of the next, so it is always true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a country called Avalon</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Avalon (invented) has 100 million people, $1,000 billion GDP, 10 EJ of energy and 600 Mt of CO2. What are its four factors?</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Income: $1,000 bn ÷ 100 m = $10,000 per person</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Energy intensity: 10 EJ ÷ $1,000 bn = 10 MJ per dollar</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Carbon intensity: 600 Mt ÷ 10 EJ = 60 kg CO2 per GJ</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Check: 100 m × $10,000 × 10 MJ/$ × 0.06 kg/MJ = 600 Mt</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Income $10,000; 10 MJ per $; 60 kg CO2 per GJ. The pieces rebuild 600 Mt.</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Avalon 30 years later: what drove CO2?</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Invented numbers. Lab 3 makes this chart for a real country.</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Population ×1.2 and income ×1.5 pushed CO2 up</a:t>
            </a:r>
            <a:endParaRPr lang="en-US" sz="18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Energy intensity ×0.7 and carbon intensity ×0.8 pulled it down</a:t>
            </a:r>
            <a:endParaRPr lang="en-US" sz="18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1.2 × 1.5 × 0.7 × 0.8 = 1.008: almost flat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Over 20 years: population ×1.1, income ×2.0, energy intensity ×0.6, carbon intensity ×0.9. What happens to CO2?</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Falls by about 10%</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Stays the same</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Rises by about 19%</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Doubles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Over 20 years: population ×1.1, income ×2.0, energy intensity ×0.6, carbon intensity ×0.9. What happens to CO2?</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Falls by about 10%</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Stays the same</a:t>
            </a:r>
            <a:endParaRPr lang="en-US" sz="2000" dirty="0"/>
          </a:p>
        </p:txBody>
      </p:sp>
      <p:sp>
        <p:nvSpPr>
          <p:cNvPr id="12" name="option"/>
          <p:cNvSpPr/>
          <p:nvPr/>
        </p:nvSpPr>
        <p:spPr>
          <a:xfrm>
            <a:off x="548640" y="4297680"/>
            <a:ext cx="5410048" cy="1325880"/>
          </a:xfrm>
          <a:prstGeom prst="roundRect">
            <a:avLst>
              <a:gd name="adj" fmla="val 8276"/>
            </a:avLst>
          </a:prstGeom>
          <a:solidFill>
            <a:srgbClr val="E7F5EC"/>
          </a:solidFill>
          <a:ln w="12700">
            <a:solidFill>
              <a:srgbClr val="E7F5EC"/>
            </a:solidFill>
            <a:prstDash val="solid"/>
          </a:ln>
        </p:spPr>
      </p:sp>
      <p:sp>
        <p:nvSpPr>
          <p:cNvPr id="13" name="number badge"/>
          <p:cNvSpPr txBox="1"/>
          <p:nvPr/>
        </p:nvSpPr>
        <p:spPr>
          <a:xfrm>
            <a:off x="822960" y="46863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Rises by about 19%</a:t>
            </a:r>
            <a:endParaRPr lang="en-US" sz="2000" dirty="0"/>
          </a:p>
        </p:txBody>
      </p:sp>
      <p:sp>
        <p:nvSpPr>
          <p:cNvPr id="15" name="icon circle"/>
          <p:cNvSpPr/>
          <p:nvPr/>
        </p:nvSpPr>
        <p:spPr>
          <a:xfrm>
            <a:off x="5364328" y="4434840"/>
            <a:ext cx="411480" cy="411480"/>
          </a:xfrm>
          <a:prstGeom prst="ellipse">
            <a:avLst/>
          </a:prstGeom>
          <a:solidFill>
            <a:srgbClr val="15803D"/>
          </a:solidFill>
          <a:ln w="12700">
            <a:solidFill>
              <a:srgbClr val="15803D"/>
            </a:solidFill>
            <a:prstDash val="solid"/>
          </a:ln>
        </p:spPr>
      </p:sp>
      <p:pic>
        <p:nvPicPr>
          <p:cNvPr id="16" name="icon" descr="preencoded.png">    </p:cNvPr>
          <p:cNvPicPr>
            <a:picLocks noChangeAspect="1"/>
          </p:cNvPicPr>
          <p:nvPr/>
        </p:nvPicPr>
        <p:blipFill>
          <a:blip r:embed="rId1"/>
          <a:stretch>
            <a:fillRect/>
          </a:stretch>
        </p:blipFill>
        <p:spPr>
          <a:xfrm>
            <a:off x="5471312" y="4541825"/>
            <a:ext cx="197510" cy="197510"/>
          </a:xfrm>
          <a:prstGeom prst="rect">
            <a:avLst/>
          </a:prstGeom>
        </p:spPr>
      </p:pic>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Doubles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Add the percentage changes: +20%, +50%, −30%, −20% gives +20%.</a:t>
            </a:r>
            <a:endParaRPr lang="en-US" sz="19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Kaya factors multiply: 1.2 × 1.5 × 0.7 × 0.8 = 1.008, only +0.8%.</a:t>
            </a:r>
            <a:endParaRPr lang="en-US" sz="19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Energy intensity and carbon intensity are the same thing.</a:t>
            </a:r>
            <a:endParaRPr lang="en-US" sz="19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Energy intensity is energy per dollar (efficiency). Carbon intensity is CO2 per unit of energy (clean supply).</a:t>
            </a:r>
            <a:endParaRPr lang="en-US" sz="19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Kaya explains why emissions changed.</a:t>
            </a:r>
            <a:endParaRPr lang="en-US" sz="19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It describes how they changed. The causes behind each factor need a model.</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IN 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pipe: read it as 'and then'</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filter keeps rows; select keeps columns</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mutate makes new columns from old ones</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 compares; a single = assigns</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mine &lt;- kaya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filter(country == "Japan")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select(year, pop, gdp, energy, co2)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mutate(</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income   = gdp / pop,</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e_intens = energy / gdp,</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c_intens = co2 / energy</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Primary energy   </a:t>
            </a:r>
            <a:pPr indent="0" marL="0">
              <a:buNone/>
            </a:pPr>
            <a:r>
              <a:rPr lang="en-US" sz="2000" dirty="0">
                <a:solidFill>
                  <a:srgbClr val="1F2933"/>
                </a:solidFill>
                <a:latin typeface="Calibri" pitchFamily="34" charset="0"/>
                <a:ea typeface="Calibri" pitchFamily="34" charset="-122"/>
                <a:cs typeface="Calibri" pitchFamily="34" charset="-120"/>
              </a:rPr>
              <a:t>Energy as found in nature before conversion: coal, oil, gas, uranium, sunlight, wind, biomass.</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Final energy   </a:t>
            </a:r>
            <a:pPr indent="0" marL="0">
              <a:buNone/>
            </a:pPr>
            <a:r>
              <a:rPr lang="en-US" sz="2000" dirty="0">
                <a:solidFill>
                  <a:srgbClr val="1F2933"/>
                </a:solidFill>
                <a:latin typeface="Calibri" pitchFamily="34" charset="0"/>
                <a:ea typeface="Calibri" pitchFamily="34" charset="-122"/>
                <a:cs typeface="Calibri" pitchFamily="34" charset="-120"/>
              </a:rPr>
              <a:t>Energy delivered to users after conversion: electricity, petrol, heat.</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Energy intensity   </a:t>
            </a:r>
            <a:pPr indent="0" marL="0">
              <a:buNone/>
            </a:pPr>
            <a:r>
              <a:rPr lang="en-US" sz="2000" dirty="0">
                <a:solidFill>
                  <a:srgbClr val="1F2933"/>
                </a:solidFill>
                <a:latin typeface="Calibri" pitchFamily="34" charset="0"/>
                <a:ea typeface="Calibri" pitchFamily="34" charset="-122"/>
                <a:cs typeface="Calibri" pitchFamily="34" charset="-120"/>
              </a:rPr>
              <a:t>Energy used per dollar of GDP. Falls when the economy becomes more efficient.</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Carbon intensity   </a:t>
            </a:r>
            <a:pPr indent="0" marL="0">
              <a:buNone/>
            </a:pPr>
            <a:r>
              <a:rPr lang="en-US" sz="2000" dirty="0">
                <a:solidFill>
                  <a:srgbClr val="1F2933"/>
                </a:solidFill>
                <a:latin typeface="Calibri" pitchFamily="34" charset="0"/>
                <a:ea typeface="Calibri" pitchFamily="34" charset="-122"/>
                <a:cs typeface="Calibri" pitchFamily="34" charset="-120"/>
              </a:rPr>
              <a:t>CO2 released per unit of energy. Falls when energy comes from cleaner sources.</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Kaya identity   </a:t>
            </a:r>
            <a:pPr indent="0" marL="0">
              <a:buNone/>
            </a:pPr>
            <a:r>
              <a:rPr lang="en-US" sz="2000" dirty="0">
                <a:solidFill>
                  <a:srgbClr val="1F2933"/>
                </a:solidFill>
                <a:latin typeface="Calibri" pitchFamily="34" charset="0"/>
                <a:ea typeface="Calibri" pitchFamily="34" charset="-122"/>
                <a:cs typeface="Calibri" pitchFamily="34" charset="-120"/>
              </a:rPr>
              <a:t>CO2 = population × income per person × energy intensity × carbon intensity. Always true by arithmetic.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3: Kaya decomposition with dplyr</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Break one country's emissions into population, income, energy intensity and carbon intensity, and find which factor drove the change.</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labs/lab3.R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Pick a country and compute factors</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Replace Japan with your own country. Run after each line so you can see what changed.</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kaya &lt;- read_csv("data/kaya_data.csv")</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mine &lt;- kaya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filter(country == "Japan")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select(year, pop, gdp, energy, co2) |&gt;</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mutate(</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income   = gdp / pop,</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e_intens = energy / gdp,</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c_intens = co2 / energy</a:t>
            </a:r>
            <a:endParaRPr lang="en-US" sz="2100" dirty="0"/>
          </a:p>
          <a:p>
            <a:pPr indent="0" marL="0">
              <a:lnSpc>
                <a:spcPct val="100000"/>
              </a:lnSpc>
              <a:buNone/>
            </a:pPr>
            <a:r>
              <a:rPr lang="en-US" sz="2100" dirty="0">
                <a:solidFill>
                  <a:srgbClr val="E8EEF2"/>
                </a:solidFill>
                <a:latin typeface="Courier New" pitchFamily="34" charset="0"/>
                <a:ea typeface="Courier New" pitchFamily="34" charset="-122"/>
                <a:cs typeface="Courier New" pitchFamily="34" charset="-120"/>
              </a:rPr>
              <a:t>  )</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Compare the last year with the first</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summarise() turns many rows into one. last() ÷ first() gives the ratio for each factor.</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change &lt;- mine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arrange(year)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summarise(</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pop      = last(pop) / first(pop),</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income   = last(income) / first(income),</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e_intens = last(e_intens) / first(e_intens),</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c_intens = last(c_intens) / first(c_intens),</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co2      = last(co2) / first(co2)</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change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Check the identity</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The four ratios must multiply to the CO2 ratio. If they do not, there is a typo somewhere.</a:t>
            </a:r>
            <a:endParaRPr lang="en-US" sz="2000" dirty="0"/>
          </a:p>
        </p:txBody>
      </p:sp>
      <p:sp>
        <p:nvSpPr>
          <p:cNvPr id="7" name="code panel"/>
          <p:cNvSpPr/>
          <p:nvPr/>
        </p:nvSpPr>
        <p:spPr>
          <a:xfrm>
            <a:off x="548640" y="2738120"/>
            <a:ext cx="11094415" cy="1691640"/>
          </a:xfrm>
          <a:prstGeom prst="roundRect">
            <a:avLst>
              <a:gd name="adj" fmla="val 6486"/>
            </a:avLst>
          </a:prstGeom>
          <a:solidFill>
            <a:srgbClr val="1E2A36"/>
          </a:solidFill>
          <a:ln w="12700">
            <a:solidFill>
              <a:srgbClr val="1E2A36"/>
            </a:solidFill>
            <a:prstDash val="solid"/>
          </a:ln>
        </p:spPr>
      </p:sp>
      <p:sp>
        <p:nvSpPr>
          <p:cNvPr id="8" name="Text 5"/>
          <p:cNvSpPr txBox="1"/>
          <p:nvPr/>
        </p:nvSpPr>
        <p:spPr>
          <a:xfrm>
            <a:off x="868680" y="3012440"/>
            <a:ext cx="10545775" cy="128016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change$pop * change$income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change$e_intens * change$c_intens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change$co2</a:t>
            </a:r>
            <a:endParaRPr lang="en-US" sz="2400" dirty="0"/>
          </a:p>
        </p:txBody>
      </p:sp>
      <p:pic>
        <p:nvPicPr>
          <p:cNvPr id="9" name="tip icon" descr="preencoded.png">    </p:cNvPr>
          <p:cNvPicPr>
            <a:picLocks noChangeAspect="1"/>
          </p:cNvPicPr>
          <p:nvPr/>
        </p:nvPicPr>
        <p:blipFill>
          <a:blip r:embed="rId1"/>
          <a:stretch>
            <a:fillRect/>
          </a:stretch>
        </p:blipFill>
        <p:spPr>
          <a:xfrm>
            <a:off x="548640" y="4676648"/>
            <a:ext cx="329184" cy="329184"/>
          </a:xfrm>
          <a:prstGeom prst="rect">
            <a:avLst/>
          </a:prstGeom>
        </p:spPr>
      </p:pic>
      <p:sp>
        <p:nvSpPr>
          <p:cNvPr id="10" name="Text 6"/>
          <p:cNvSpPr txBox="1"/>
          <p:nvPr/>
        </p:nvSpPr>
        <p:spPr>
          <a:xfrm>
            <a:off x="1005840" y="465836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Three countries at once</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%in% keeps several countries. group_by(country) makes summarise work once per country.</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kaya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filter(country %in% c("Japan", "India", "Brazil"))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mutate(income = gdp / pop,</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e_intens = energy / gdp,</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c_intens = co2 / energy)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arrange(year)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group_by(country)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summarise(co2 = last(co2) / first(co2),</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income = last(income) / first(income))</a:t>
            </a:r>
            <a:endParaRPr lang="en-US" sz="18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Your four factor ratios multiply to the CO2 ratio</a:t>
            </a:r>
            <a:endParaRPr lang="en-US" sz="19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You can name the factor that grew most in your country</a:t>
            </a:r>
            <a:endParaRPr lang="en-US" sz="19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The three-country table has one row per country</a:t>
            </a:r>
            <a:endParaRPr lang="en-US" sz="19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Which Kaya factor rose most in your country, and which fell most?</a:t>
            </a:r>
            <a:endParaRPr lang="en-US" sz="19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Explain in two sentences why adding the percentage changes gives the wrong answer.</a:t>
            </a:r>
            <a:endParaRPr lang="en-US" sz="19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Compare your country with a neighbour's: which lever (efficiency or clean energy) did each rely on?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Energy flows from primary sources through conversion to the services people want, with losses</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Kaya: CO2 = population × income × energy intensity × carbon intensity</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factors multiply, so compare ratios, not added percentages</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Policy mainly works on the last two: efficiency and clean energy</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4</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Week 4 adds the economics: how prices balance markets, what a carbon price does, and why the future gets discounted.</a:t>
            </a:r>
            <a:endParaRPr lang="en-US" sz="15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3: try the kaya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IPCC AR6 Working Group III (2022), Summary for Policymakers: section on emissions trends and drivers; R for Data Science: data transformation chapter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Energy primer</dc:title>
  <dc:subject>Modelling Climate and Energy Futures</dc:subject>
  <dc:creator>IAM course team</dc:creator>
  <cp:lastModifiedBy>IAM course team</cp:lastModifiedBy>
  <cp:revision>1</cp:revision>
  <dcterms:created xsi:type="dcterms:W3CDTF">2026-10-22T18:53:46Z</dcterms:created>
  <dcterms:modified xsi:type="dcterms:W3CDTF">2026-10-22T18:53:46Z</dcterms:modified>
</cp:coreProperties>
</file>