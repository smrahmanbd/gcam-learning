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bdd87fc-5e6b-d80f-f1b6-be72a2efcd27}">
          <p14:sldIdLst>
            <p14:sldId id="256"/>
            <p14:sldId id="257"/>
            <p14:sldId id="258"/>
          </p14:sldIdLst>
        </p14:section>
        <p14:section name="Lecture" id="{5b641f66-2c29-5966-7e04-f69372c140af}">
          <p14:sldIdLst>
            <p14:sldId id="259"/>
            <p14:sldId id="260"/>
            <p14:sldId id="261"/>
            <p14:sldId id="262"/>
            <p14:sldId id="263"/>
            <p14:sldId id="264"/>
            <p14:sldId id="265"/>
            <p14:sldId id="266"/>
            <p14:sldId id="267"/>
            <p14:sldId id="268"/>
            <p14:sldId id="269"/>
            <p14:sldId id="270"/>
            <p14:sldId id="271"/>
          </p14:sldIdLst>
        </p14:section>
        <p14:section name="Lab" id="{f1904118-8f05-a0c1-d767-431ec09b03a2}">
          <p14:sldIdLst>
            <p14:sldId id="272"/>
            <p14:sldId id="273"/>
            <p14:sldId id="274"/>
            <p14:sldId id="275"/>
            <p14:sldId id="276"/>
            <p14:sldId id="277"/>
          </p14:sldIdLst>
        </p14:section>
        <p14:section name="Recap" id="{4f3c7439-0803-e240-31c4-a0c7747c41bb}">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6: The scenario framework. SSPs, RCPs and how to read a scenario chart. Today has two halves: a lecture that builds the idea step by step with everyday examples, then a guided lab where we try it in R. Nobody is expected to know the material already. New R skill this week: tidyr: long and wide data; joins; reports in R Markdown.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week 6 of 15. The course climbs in three stages: foundations (weeks 1 to 6), GCAM in depth (weeks 7 to 10) and advanced methods (weeks 11 to 15). Point out what came just before this week and what it prepares for, so students see each week as one step on a path rather than an isolated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and ask students to keep them in mind. We come back to them on the recap slide at the end. Big question for today: The highest emissions scenario was long called 'business as usual'. Was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Researchers have argued the label is misleading (Hausfather and Peters, Nature, 2020). The lesson: a scenario's name tells you its story, not how likely it is. That is the theme of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the community shares one set: if every team invented its own futures, nobody could tell whether two models disagree because of their equations or because of their stories. Shared scenarios remove the second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week 3: an SSP fixes the first two Kaya factors, population and income. Ask students which SSP feels closest to today. There is no right answer; that is the point of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week 2: forcing is step 3 of the climate chain, so an RCP number tells you roughly how warm the scenario gets. An IAM's job is to find the energy and land system that connects a given SSP to a given forcing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SSP2-4.5 aloud as 'a middle-of-the-road society reaching 4.5 W/m² in 2100'. Not every cell is possible: an SSP3 world struggles to reach 1.9. SSP4 is left out of the table for space; it has no headline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to think and vote with fingers (1 to 4) before showing the next slide. Answer: B. It is forcing in watts per square metre in 2100, not degrees. SSP3-7.0 is a regional-rivalry society reaching 7.0 W/m². The temperature trap is the most common error in the stage 1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It is forcing in watts per square metre in 2100, not degrees. SSP3-7.0 is a regional-rivalry society reaching 7.0 W/m². The temperature trap is the most common error in the stage 1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Overshoot means warming goes above a limit for some decades and then comes back down, usually by removing CO2. The pathway count and wording are from memory; check them against AR6 Working Group 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last question: the scenario database holds whatever teams chose to submit, so a band on a chart shows the spread of submissions, not the likelihood of outcomes. Students use these four questions in every later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both tables on the board. ggplot wants long data, one row per observation, which is why the reshape comes before any chart. pivot_longer does this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2.7 °C figure for SSP2-4.5 is from AR6 Working Group I; check it before teaching. All three traps come back in week 12 when we compare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teach regular expressions today; just say the pattern picks every column whose name is four digits. A join adds columns from a second table by matching rows on shared keys, here Model and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new terms this week. Ask two students to read them aloud and add them to the shared class glossary. If any definition is unclear, rewrite it together in plainer words; that rewriting is part of learning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time. Reshape AR6 scenario data from wide to long, attach each pathway's warming category, plot CO2 by category, and knit an R Markdown report. Open the course project in RStudio first so file paths work. Rule for getting stuck: read the error message aloud to a neighbour, check the "you should see" slide, then raise a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AR6 Scenario Explorer website for two minutes first. Many scenarios report only every fifth or tenth year, so long has missing values; drop_na(long, mt) removes them if they cause trouble.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 column gives each model and scenario pair its own line in the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pairs to apply the four questions to their chart. C1 lines should reach about zero near mid-century; C7 lines stay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failure: the report runs in a fresh session and cannot see objects in the console. So the report must load its libraries and read its files itself. From now on every worksheet is an R Markdown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the last twenty minutes. Students compare their output with the left column, then start the worksheet questions on the right. Anyone whose results differ should compare their code with a neighbour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goals from the start: Explain what a scenario is and why researchers share one set; Decode a label such as SSP2-4.5 into a society and a forcing level; Ask four questions of any scenario chart; Reshape wide data to long, join tables and knit an R Markdown report. Ask students to rate themselves on each. Then point to next week: Week 7 opens a full process-based IAM: GCAM, its regions and markets, and how to pull its results into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34">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28">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5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32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6 · The scenario framework</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26">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26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6 · The scenario framework</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cap">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8229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6.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6.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6.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6.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6.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6.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6.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6.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6.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6.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5400" b="1" dirty="0">
                <a:solidFill>
                  <a:srgbClr val="FFFFFF"/>
                </a:solidFill>
                <a:latin typeface="Cambria" pitchFamily="34" charset="0"/>
                <a:ea typeface="Cambria" pitchFamily="34" charset="-122"/>
                <a:cs typeface="Cambria" pitchFamily="34" charset="-120"/>
              </a:rPr>
              <a:t>The scenario framework</a:t>
            </a:r>
            <a:endParaRPr lang="en-US" sz="5400" dirty="0"/>
          </a:p>
        </p:txBody>
      </p:sp>
      <p:sp>
        <p:nvSpPr>
          <p:cNvPr id="3" name="Text 1"/>
          <p:cNvSpPr txBox="1"/>
          <p:nvPr/>
        </p:nvSpPr>
        <p:spPr>
          <a:xfrm>
            <a:off x="548640" y="822960"/>
            <a:ext cx="11094415" cy="365760"/>
          </a:xfrm>
          <a:prstGeom prst="rect">
            <a:avLst/>
          </a:prstGeom>
          <a:noFill/>
          <a:ln/>
        </p:spPr>
        <p:txBody>
          <a:bodyPr wrap="square" lIns="0" tIns="0" rIns="0" bIns="0" rtlCol="0" anchor="t"/>
          <a:lstStyle/>
          <a:p>
            <a:pPr indent="0" marL="0">
              <a:buNone/>
            </a:pPr>
            <a:r>
              <a:rPr lang="en-US" sz="1600" b="1" spc="300" kern="0" dirty="0">
                <a:solidFill>
                  <a:srgbClr val="6FD3C7"/>
                </a:solidFill>
                <a:latin typeface="Calibri" pitchFamily="34" charset="0"/>
                <a:ea typeface="Calibri" pitchFamily="34" charset="-122"/>
                <a:cs typeface="Calibri" pitchFamily="34" charset="-120"/>
              </a:rPr>
              <a:t>WEEK 6 OF 15  ·  STAGE 1: FOUNDATIONS</a:t>
            </a:r>
            <a:endParaRPr lang="en-US" sz="1600" dirty="0"/>
          </a:p>
        </p:txBody>
      </p:sp>
      <p:sp>
        <p:nvSpPr>
          <p:cNvPr id="4" name="Text 2"/>
          <p:cNvSpPr txBox="1"/>
          <p:nvPr/>
        </p:nvSpPr>
        <p:spPr>
          <a:xfrm>
            <a:off x="548640" y="3246120"/>
            <a:ext cx="9601200" cy="822960"/>
          </a:xfrm>
          <a:prstGeom prst="rect">
            <a:avLst/>
          </a:prstGeom>
          <a:noFill/>
          <a:ln/>
        </p:spPr>
        <p:txBody>
          <a:bodyPr wrap="square" lIns="0" tIns="0" rIns="0" bIns="0" rtlCol="0" anchor="t"/>
          <a:lstStyle/>
          <a:p>
            <a:pPr indent="0" marL="0">
              <a:buNone/>
            </a:pPr>
            <a:r>
              <a:rPr lang="en-US" sz="2800" dirty="0">
                <a:solidFill>
                  <a:srgbClr val="C9D6DF"/>
                </a:solidFill>
                <a:latin typeface="Calibri" pitchFamily="34" charset="0"/>
                <a:ea typeface="Calibri" pitchFamily="34" charset="-122"/>
                <a:cs typeface="Calibri" pitchFamily="34" charset="-120"/>
              </a:rPr>
              <a:t>SSPs, RCPs and how to read a scenario chart</a:t>
            </a:r>
            <a:endParaRPr lang="en-US" sz="2800" dirty="0"/>
          </a:p>
        </p:txBody>
      </p:sp>
      <p:sp>
        <p:nvSpPr>
          <p:cNvPr id="5" name="R skill pill"/>
          <p:cNvSpPr/>
          <p:nvPr/>
        </p:nvSpPr>
        <p:spPr>
          <a:xfrm>
            <a:off x="548640" y="4434840"/>
            <a:ext cx="7863840" cy="777240"/>
          </a:xfrm>
          <a:prstGeom prst="roundRect">
            <a:avLst>
              <a:gd name="adj" fmla="val 14118"/>
            </a:avLst>
          </a:prstGeom>
          <a:solidFill>
            <a:srgbClr val="1D3A52"/>
          </a:solidFill>
          <a:ln w="12700">
            <a:solidFill>
              <a:srgbClr val="1D3A52"/>
            </a:solidFill>
            <a:prstDash val="solid"/>
          </a:ln>
        </p:spPr>
      </p:sp>
      <p:sp>
        <p:nvSpPr>
          <p:cNvPr id="6" name="icon circle"/>
          <p:cNvSpPr/>
          <p:nvPr/>
        </p:nvSpPr>
        <p:spPr>
          <a:xfrm>
            <a:off x="713232" y="4562856"/>
            <a:ext cx="521208" cy="521208"/>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48746" y="4698370"/>
            <a:ext cx="250180" cy="250180"/>
          </a:xfrm>
          <a:prstGeom prst="rect">
            <a:avLst/>
          </a:prstGeom>
        </p:spPr>
      </p:pic>
      <p:sp>
        <p:nvSpPr>
          <p:cNvPr id="8" name="Text 5"/>
          <p:cNvSpPr txBox="1"/>
          <p:nvPr/>
        </p:nvSpPr>
        <p:spPr>
          <a:xfrm>
            <a:off x="1417320" y="4480560"/>
            <a:ext cx="6858000" cy="685800"/>
          </a:xfrm>
          <a:prstGeom prst="rect">
            <a:avLst/>
          </a:prstGeom>
          <a:noFill/>
          <a:ln/>
        </p:spPr>
        <p:txBody>
          <a:bodyPr wrap="square" lIns="0" tIns="0" rIns="0" bIns="0" rtlCol="0" anchor="ctr"/>
          <a:lstStyle/>
          <a:p>
            <a:pPr indent="0" marL="0">
              <a:buNone/>
            </a:pPr>
            <a:r>
              <a:rPr lang="en-US" sz="1600" b="1" dirty="0">
                <a:solidFill>
                  <a:srgbClr val="6FD3C7"/>
                </a:solidFill>
                <a:latin typeface="Calibri" pitchFamily="34" charset="0"/>
                <a:ea typeface="Calibri" pitchFamily="34" charset="-122"/>
                <a:cs typeface="Calibri" pitchFamily="34" charset="-120"/>
              </a:rPr>
              <a:t>New R skill  </a:t>
            </a:r>
            <a:pPr indent="0" marL="0">
              <a:buNone/>
            </a:pPr>
            <a:r>
              <a:rPr lang="en-US" sz="1600" dirty="0">
                <a:solidFill>
                  <a:srgbClr val="FFFFFF"/>
                </a:solidFill>
                <a:latin typeface="Calibri" pitchFamily="34" charset="0"/>
                <a:ea typeface="Calibri" pitchFamily="34" charset="-122"/>
                <a:cs typeface="Calibri" pitchFamily="34" charset="-120"/>
              </a:rPr>
              <a:t>tidyr: long and wide data; joins; reports in R Markdown</a:t>
            </a:r>
            <a:endParaRPr lang="en-US" sz="1600" dirty="0"/>
          </a:p>
        </p:txBody>
      </p:sp>
      <p:sp>
        <p:nvSpPr>
          <p:cNvPr id="9" name="Text 6"/>
          <p:cNvSpPr txBox="1"/>
          <p:nvPr/>
        </p:nvSpPr>
        <p:spPr>
          <a:xfrm>
            <a:off x="548640" y="5989320"/>
            <a:ext cx="9144000" cy="32004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Modelling Climate and Energy Futures  ·  beginner-friendly lecture and lab slides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COURSE MAP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Where we are in the course</a:t>
            </a:r>
            <a:endParaRPr lang="en-US" sz="3200" dirty="0"/>
          </a:p>
        </p:txBody>
      </p:sp>
      <p:sp>
        <p:nvSpPr>
          <p:cNvPr id="5" name="Text 2"/>
          <p:cNvSpPr txBox="1"/>
          <p:nvPr/>
        </p:nvSpPr>
        <p:spPr>
          <a:xfrm>
            <a:off x="548640" y="167335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1</a:t>
            </a:r>
            <a:endParaRPr lang="en-US" sz="1400" dirty="0"/>
          </a:p>
        </p:txBody>
      </p:sp>
      <p:sp>
        <p:nvSpPr>
          <p:cNvPr id="6" name="Text 3"/>
          <p:cNvSpPr txBox="1"/>
          <p:nvPr/>
        </p:nvSpPr>
        <p:spPr>
          <a:xfrm>
            <a:off x="548640" y="198424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Foundations</a:t>
            </a:r>
            <a:endParaRPr lang="en-US" sz="1600" dirty="0"/>
          </a:p>
        </p:txBody>
      </p:sp>
      <p:sp>
        <p:nvSpPr>
          <p:cNvPr id="7" name="week tile"/>
          <p:cNvSpPr/>
          <p:nvPr/>
        </p:nvSpPr>
        <p:spPr>
          <a:xfrm>
            <a:off x="2468880" y="1600200"/>
            <a:ext cx="1414729" cy="1188720"/>
          </a:xfrm>
          <a:prstGeom prst="roundRect">
            <a:avLst>
              <a:gd name="adj" fmla="val 9231"/>
            </a:avLst>
          </a:prstGeom>
          <a:solidFill>
            <a:srgbClr val="C9E4DF"/>
          </a:solidFill>
          <a:ln w="12700">
            <a:solidFill>
              <a:srgbClr val="C9E4DF"/>
            </a:solidFill>
            <a:prstDash val="solid"/>
          </a:ln>
        </p:spPr>
      </p:sp>
      <p:sp>
        <p:nvSpPr>
          <p:cNvPr id="8" name="Text 5"/>
          <p:cNvSpPr txBox="1"/>
          <p:nvPr/>
        </p:nvSpPr>
        <p:spPr>
          <a:xfrm>
            <a:off x="2578608"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a:t>
            </a:r>
            <a:endParaRPr lang="en-US" sz="1200" dirty="0"/>
          </a:p>
        </p:txBody>
      </p:sp>
      <p:sp>
        <p:nvSpPr>
          <p:cNvPr id="9" name="Text 6"/>
          <p:cNvSpPr txBox="1"/>
          <p:nvPr/>
        </p:nvSpPr>
        <p:spPr>
          <a:xfrm>
            <a:off x="2578608"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 the future?</a:t>
            </a:r>
            <a:endParaRPr lang="en-US" sz="1400" dirty="0"/>
          </a:p>
        </p:txBody>
      </p:sp>
      <p:sp>
        <p:nvSpPr>
          <p:cNvPr id="10" name="week tile"/>
          <p:cNvSpPr/>
          <p:nvPr/>
        </p:nvSpPr>
        <p:spPr>
          <a:xfrm>
            <a:off x="4020769" y="1600200"/>
            <a:ext cx="1414729" cy="1188720"/>
          </a:xfrm>
          <a:prstGeom prst="roundRect">
            <a:avLst>
              <a:gd name="adj" fmla="val 9231"/>
            </a:avLst>
          </a:prstGeom>
          <a:solidFill>
            <a:srgbClr val="C9E4DF"/>
          </a:solidFill>
          <a:ln w="12700">
            <a:solidFill>
              <a:srgbClr val="C9E4DF"/>
            </a:solidFill>
            <a:prstDash val="solid"/>
          </a:ln>
        </p:spPr>
      </p:sp>
      <p:sp>
        <p:nvSpPr>
          <p:cNvPr id="11" name="Text 8"/>
          <p:cNvSpPr txBox="1"/>
          <p:nvPr/>
        </p:nvSpPr>
        <p:spPr>
          <a:xfrm>
            <a:off x="4130497"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2</a:t>
            </a:r>
            <a:endParaRPr lang="en-US" sz="1200" dirty="0"/>
          </a:p>
        </p:txBody>
      </p:sp>
      <p:sp>
        <p:nvSpPr>
          <p:cNvPr id="12" name="Text 9"/>
          <p:cNvSpPr txBox="1"/>
          <p:nvPr/>
        </p:nvSpPr>
        <p:spPr>
          <a:xfrm>
            <a:off x="4130497"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Climate primer</a:t>
            </a:r>
            <a:endParaRPr lang="en-US" sz="1400" dirty="0"/>
          </a:p>
        </p:txBody>
      </p:sp>
      <p:sp>
        <p:nvSpPr>
          <p:cNvPr id="13" name="week tile"/>
          <p:cNvSpPr/>
          <p:nvPr/>
        </p:nvSpPr>
        <p:spPr>
          <a:xfrm>
            <a:off x="5572658" y="1600200"/>
            <a:ext cx="1414729" cy="1188720"/>
          </a:xfrm>
          <a:prstGeom prst="roundRect">
            <a:avLst>
              <a:gd name="adj" fmla="val 9231"/>
            </a:avLst>
          </a:prstGeom>
          <a:solidFill>
            <a:srgbClr val="C9E4DF"/>
          </a:solidFill>
          <a:ln w="12700">
            <a:solidFill>
              <a:srgbClr val="C9E4DF"/>
            </a:solidFill>
            <a:prstDash val="solid"/>
          </a:ln>
        </p:spPr>
      </p:sp>
      <p:sp>
        <p:nvSpPr>
          <p:cNvPr id="14" name="Text 11"/>
          <p:cNvSpPr txBox="1"/>
          <p:nvPr/>
        </p:nvSpPr>
        <p:spPr>
          <a:xfrm>
            <a:off x="568238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3</a:t>
            </a:r>
            <a:endParaRPr lang="en-US" sz="1200" dirty="0"/>
          </a:p>
        </p:txBody>
      </p:sp>
      <p:sp>
        <p:nvSpPr>
          <p:cNvPr id="15" name="Text 12"/>
          <p:cNvSpPr txBox="1"/>
          <p:nvPr/>
        </p:nvSpPr>
        <p:spPr>
          <a:xfrm>
            <a:off x="568238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primer</a:t>
            </a:r>
            <a:endParaRPr lang="en-US" sz="1400" dirty="0"/>
          </a:p>
        </p:txBody>
      </p:sp>
      <p:sp>
        <p:nvSpPr>
          <p:cNvPr id="16" name="week tile"/>
          <p:cNvSpPr/>
          <p:nvPr/>
        </p:nvSpPr>
        <p:spPr>
          <a:xfrm>
            <a:off x="7124548" y="1600200"/>
            <a:ext cx="1414729" cy="1188720"/>
          </a:xfrm>
          <a:prstGeom prst="roundRect">
            <a:avLst>
              <a:gd name="adj" fmla="val 9231"/>
            </a:avLst>
          </a:prstGeom>
          <a:solidFill>
            <a:srgbClr val="C9E4DF"/>
          </a:solidFill>
          <a:ln w="12700">
            <a:solidFill>
              <a:srgbClr val="C9E4DF"/>
            </a:solidFill>
            <a:prstDash val="solid"/>
          </a:ln>
        </p:spPr>
      </p:sp>
      <p:sp>
        <p:nvSpPr>
          <p:cNvPr id="17" name="Text 14"/>
          <p:cNvSpPr txBox="1"/>
          <p:nvPr/>
        </p:nvSpPr>
        <p:spPr>
          <a:xfrm>
            <a:off x="723427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4</a:t>
            </a:r>
            <a:endParaRPr lang="en-US" sz="1200" dirty="0"/>
          </a:p>
        </p:txBody>
      </p:sp>
      <p:sp>
        <p:nvSpPr>
          <p:cNvPr id="18" name="Text 15"/>
          <p:cNvSpPr txBox="1"/>
          <p:nvPr/>
        </p:nvSpPr>
        <p:spPr>
          <a:xfrm>
            <a:off x="723427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Economics primer</a:t>
            </a:r>
            <a:endParaRPr lang="en-US" sz="1400" dirty="0"/>
          </a:p>
        </p:txBody>
      </p:sp>
      <p:sp>
        <p:nvSpPr>
          <p:cNvPr id="19" name="week tile"/>
          <p:cNvSpPr/>
          <p:nvPr/>
        </p:nvSpPr>
        <p:spPr>
          <a:xfrm>
            <a:off x="8676437" y="1600200"/>
            <a:ext cx="1414729" cy="1188720"/>
          </a:xfrm>
          <a:prstGeom prst="roundRect">
            <a:avLst>
              <a:gd name="adj" fmla="val 9231"/>
            </a:avLst>
          </a:prstGeom>
          <a:solidFill>
            <a:srgbClr val="C9E4DF"/>
          </a:solidFill>
          <a:ln w="12700">
            <a:solidFill>
              <a:srgbClr val="C9E4DF"/>
            </a:solidFill>
            <a:prstDash val="solid"/>
          </a:ln>
        </p:spPr>
      </p:sp>
      <p:sp>
        <p:nvSpPr>
          <p:cNvPr id="20" name="Text 17"/>
          <p:cNvSpPr txBox="1"/>
          <p:nvPr/>
        </p:nvSpPr>
        <p:spPr>
          <a:xfrm>
            <a:off x="8786165"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5</a:t>
            </a:r>
            <a:endParaRPr lang="en-US" sz="1200" dirty="0"/>
          </a:p>
        </p:txBody>
      </p:sp>
      <p:sp>
        <p:nvSpPr>
          <p:cNvPr id="21" name="Text 18"/>
          <p:cNvSpPr txBox="1"/>
          <p:nvPr/>
        </p:nvSpPr>
        <p:spPr>
          <a:xfrm>
            <a:off x="8786165"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Cost-benefit IAMs: DICE</a:t>
            </a:r>
            <a:endParaRPr lang="en-US" sz="1400" dirty="0"/>
          </a:p>
        </p:txBody>
      </p:sp>
      <p:sp>
        <p:nvSpPr>
          <p:cNvPr id="22" name="week tile"/>
          <p:cNvSpPr/>
          <p:nvPr/>
        </p:nvSpPr>
        <p:spPr>
          <a:xfrm>
            <a:off x="10228326" y="1600200"/>
            <a:ext cx="1414729" cy="1188720"/>
          </a:xfrm>
          <a:prstGeom prst="roundRect">
            <a:avLst>
              <a:gd name="adj" fmla="val 9231"/>
            </a:avLst>
          </a:prstGeom>
          <a:solidFill>
            <a:srgbClr val="C2410C"/>
          </a:solidFill>
          <a:ln w="12700">
            <a:solidFill>
              <a:srgbClr val="C2410C"/>
            </a:solidFill>
            <a:prstDash val="solid"/>
          </a:ln>
        </p:spPr>
      </p:sp>
      <p:sp>
        <p:nvSpPr>
          <p:cNvPr id="23" name="Text 20"/>
          <p:cNvSpPr txBox="1"/>
          <p:nvPr/>
        </p:nvSpPr>
        <p:spPr>
          <a:xfrm>
            <a:off x="10338054" y="1691640"/>
            <a:ext cx="1231849"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Week 6</a:t>
            </a:r>
            <a:endParaRPr lang="en-US" sz="1200" dirty="0"/>
          </a:p>
        </p:txBody>
      </p:sp>
      <p:sp>
        <p:nvSpPr>
          <p:cNvPr id="24" name="Text 21"/>
          <p:cNvSpPr txBox="1"/>
          <p:nvPr/>
        </p:nvSpPr>
        <p:spPr>
          <a:xfrm>
            <a:off x="10338054" y="1984248"/>
            <a:ext cx="1231849" cy="731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The scenario framework</a:t>
            </a:r>
            <a:endParaRPr lang="en-US" sz="1400" dirty="0"/>
          </a:p>
        </p:txBody>
      </p:sp>
      <p:sp>
        <p:nvSpPr>
          <p:cNvPr id="25" name="Text 22"/>
          <p:cNvSpPr txBox="1"/>
          <p:nvPr/>
        </p:nvSpPr>
        <p:spPr>
          <a:xfrm>
            <a:off x="548640" y="318211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2</a:t>
            </a:r>
            <a:endParaRPr lang="en-US" sz="1400" dirty="0"/>
          </a:p>
        </p:txBody>
      </p:sp>
      <p:sp>
        <p:nvSpPr>
          <p:cNvPr id="26" name="Text 23"/>
          <p:cNvSpPr txBox="1"/>
          <p:nvPr/>
        </p:nvSpPr>
        <p:spPr>
          <a:xfrm>
            <a:off x="548640" y="349300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GCAM in depth</a:t>
            </a:r>
            <a:endParaRPr lang="en-US" sz="1600" dirty="0"/>
          </a:p>
        </p:txBody>
      </p:sp>
      <p:sp>
        <p:nvSpPr>
          <p:cNvPr id="27" name="week tile"/>
          <p:cNvSpPr/>
          <p:nvPr/>
        </p:nvSpPr>
        <p:spPr>
          <a:xfrm>
            <a:off x="2468880" y="3108960"/>
            <a:ext cx="1414729" cy="1188720"/>
          </a:xfrm>
          <a:prstGeom prst="roundRect">
            <a:avLst>
              <a:gd name="adj" fmla="val 9231"/>
            </a:avLst>
          </a:prstGeom>
          <a:solidFill>
            <a:srgbClr val="F7FAF9"/>
          </a:solidFill>
          <a:ln w="12700">
            <a:solidFill>
              <a:srgbClr val="F7FAF9"/>
            </a:solidFill>
            <a:prstDash val="solid"/>
          </a:ln>
        </p:spPr>
      </p:sp>
      <p:sp>
        <p:nvSpPr>
          <p:cNvPr id="28" name="Shape 25"/>
          <p:cNvSpPr/>
          <p:nvPr/>
        </p:nvSpPr>
        <p:spPr>
          <a:xfrm>
            <a:off x="2468880" y="3108960"/>
            <a:ext cx="1414729" cy="1188720"/>
          </a:xfrm>
          <a:prstGeom prst="roundRect">
            <a:avLst>
              <a:gd name="adj" fmla="val 9231"/>
            </a:avLst>
          </a:prstGeom>
          <a:solidFill>
            <a:srgbClr val="F7FAF9"/>
          </a:solidFill>
          <a:ln w="12700">
            <a:solidFill>
              <a:srgbClr val="D5DDDB"/>
            </a:solidFill>
            <a:prstDash val="solid"/>
          </a:ln>
        </p:spPr>
      </p:sp>
      <p:sp>
        <p:nvSpPr>
          <p:cNvPr id="29" name="Text 26"/>
          <p:cNvSpPr txBox="1"/>
          <p:nvPr/>
        </p:nvSpPr>
        <p:spPr>
          <a:xfrm>
            <a:off x="2578608"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7</a:t>
            </a:r>
            <a:endParaRPr lang="en-US" sz="1200" dirty="0"/>
          </a:p>
        </p:txBody>
      </p:sp>
      <p:sp>
        <p:nvSpPr>
          <p:cNvPr id="30" name="Text 27"/>
          <p:cNvSpPr txBox="1"/>
          <p:nvPr/>
        </p:nvSpPr>
        <p:spPr>
          <a:xfrm>
            <a:off x="2578608"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Inside GCAM</a:t>
            </a:r>
            <a:endParaRPr lang="en-US" sz="1400" dirty="0"/>
          </a:p>
        </p:txBody>
      </p:sp>
      <p:sp>
        <p:nvSpPr>
          <p:cNvPr id="31" name="week tile"/>
          <p:cNvSpPr/>
          <p:nvPr/>
        </p:nvSpPr>
        <p:spPr>
          <a:xfrm>
            <a:off x="4020769" y="3108960"/>
            <a:ext cx="1414729" cy="1188720"/>
          </a:xfrm>
          <a:prstGeom prst="roundRect">
            <a:avLst>
              <a:gd name="adj" fmla="val 9231"/>
            </a:avLst>
          </a:prstGeom>
          <a:solidFill>
            <a:srgbClr val="F7FAF9"/>
          </a:solidFill>
          <a:ln w="12700">
            <a:solidFill>
              <a:srgbClr val="F7FAF9"/>
            </a:solidFill>
            <a:prstDash val="solid"/>
          </a:ln>
        </p:spPr>
      </p:sp>
      <p:sp>
        <p:nvSpPr>
          <p:cNvPr id="32" name="Shape 29"/>
          <p:cNvSpPr/>
          <p:nvPr/>
        </p:nvSpPr>
        <p:spPr>
          <a:xfrm>
            <a:off x="4020769" y="3108960"/>
            <a:ext cx="1414729" cy="1188720"/>
          </a:xfrm>
          <a:prstGeom prst="roundRect">
            <a:avLst>
              <a:gd name="adj" fmla="val 9231"/>
            </a:avLst>
          </a:prstGeom>
          <a:solidFill>
            <a:srgbClr val="F7FAF9"/>
          </a:solidFill>
          <a:ln w="12700">
            <a:solidFill>
              <a:srgbClr val="D5DDDB"/>
            </a:solidFill>
            <a:prstDash val="solid"/>
          </a:ln>
        </p:spPr>
      </p:sp>
      <p:sp>
        <p:nvSpPr>
          <p:cNvPr id="33" name="Text 30"/>
          <p:cNvSpPr txBox="1"/>
          <p:nvPr/>
        </p:nvSpPr>
        <p:spPr>
          <a:xfrm>
            <a:off x="4130497"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8</a:t>
            </a:r>
            <a:endParaRPr lang="en-US" sz="1200" dirty="0"/>
          </a:p>
        </p:txBody>
      </p:sp>
      <p:sp>
        <p:nvSpPr>
          <p:cNvPr id="34" name="Text 31"/>
          <p:cNvSpPr txBox="1"/>
          <p:nvPr/>
        </p:nvSpPr>
        <p:spPr>
          <a:xfrm>
            <a:off x="4130497"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in GCAM</a:t>
            </a:r>
            <a:endParaRPr lang="en-US" sz="1400" dirty="0"/>
          </a:p>
        </p:txBody>
      </p:sp>
      <p:sp>
        <p:nvSpPr>
          <p:cNvPr id="35" name="week tile"/>
          <p:cNvSpPr/>
          <p:nvPr/>
        </p:nvSpPr>
        <p:spPr>
          <a:xfrm>
            <a:off x="5572658" y="3108960"/>
            <a:ext cx="1414729" cy="1188720"/>
          </a:xfrm>
          <a:prstGeom prst="roundRect">
            <a:avLst>
              <a:gd name="adj" fmla="val 9231"/>
            </a:avLst>
          </a:prstGeom>
          <a:solidFill>
            <a:srgbClr val="F7FAF9"/>
          </a:solidFill>
          <a:ln w="12700">
            <a:solidFill>
              <a:srgbClr val="F7FAF9"/>
            </a:solidFill>
            <a:prstDash val="solid"/>
          </a:ln>
        </p:spPr>
      </p:sp>
      <p:sp>
        <p:nvSpPr>
          <p:cNvPr id="36" name="Shape 33"/>
          <p:cNvSpPr/>
          <p:nvPr/>
        </p:nvSpPr>
        <p:spPr>
          <a:xfrm>
            <a:off x="5572658" y="3108960"/>
            <a:ext cx="1414729" cy="1188720"/>
          </a:xfrm>
          <a:prstGeom prst="roundRect">
            <a:avLst>
              <a:gd name="adj" fmla="val 9231"/>
            </a:avLst>
          </a:prstGeom>
          <a:solidFill>
            <a:srgbClr val="F7FAF9"/>
          </a:solidFill>
          <a:ln w="12700">
            <a:solidFill>
              <a:srgbClr val="D5DDDB"/>
            </a:solidFill>
            <a:prstDash val="solid"/>
          </a:ln>
        </p:spPr>
      </p:sp>
      <p:sp>
        <p:nvSpPr>
          <p:cNvPr id="37" name="Text 34"/>
          <p:cNvSpPr txBox="1"/>
          <p:nvPr/>
        </p:nvSpPr>
        <p:spPr>
          <a:xfrm>
            <a:off x="568238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9</a:t>
            </a:r>
            <a:endParaRPr lang="en-US" sz="1200" dirty="0"/>
          </a:p>
        </p:txBody>
      </p:sp>
      <p:sp>
        <p:nvSpPr>
          <p:cNvPr id="38" name="Text 35"/>
          <p:cNvSpPr txBox="1"/>
          <p:nvPr/>
        </p:nvSpPr>
        <p:spPr>
          <a:xfrm>
            <a:off x="568238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Land, water and bioenergy</a:t>
            </a:r>
            <a:endParaRPr lang="en-US" sz="1400" dirty="0"/>
          </a:p>
        </p:txBody>
      </p:sp>
      <p:sp>
        <p:nvSpPr>
          <p:cNvPr id="39" name="week tile"/>
          <p:cNvSpPr/>
          <p:nvPr/>
        </p:nvSpPr>
        <p:spPr>
          <a:xfrm>
            <a:off x="7124548" y="3108960"/>
            <a:ext cx="1414729" cy="1188720"/>
          </a:xfrm>
          <a:prstGeom prst="roundRect">
            <a:avLst>
              <a:gd name="adj" fmla="val 9231"/>
            </a:avLst>
          </a:prstGeom>
          <a:solidFill>
            <a:srgbClr val="F7FAF9"/>
          </a:solidFill>
          <a:ln w="12700">
            <a:solidFill>
              <a:srgbClr val="F7FAF9"/>
            </a:solidFill>
            <a:prstDash val="solid"/>
          </a:ln>
        </p:spPr>
      </p:sp>
      <p:sp>
        <p:nvSpPr>
          <p:cNvPr id="40" name="Shape 37"/>
          <p:cNvSpPr/>
          <p:nvPr/>
        </p:nvSpPr>
        <p:spPr>
          <a:xfrm>
            <a:off x="7124548" y="3108960"/>
            <a:ext cx="1414729" cy="1188720"/>
          </a:xfrm>
          <a:prstGeom prst="roundRect">
            <a:avLst>
              <a:gd name="adj" fmla="val 9231"/>
            </a:avLst>
          </a:prstGeom>
          <a:solidFill>
            <a:srgbClr val="F7FAF9"/>
          </a:solidFill>
          <a:ln w="12700">
            <a:solidFill>
              <a:srgbClr val="D5DDDB"/>
            </a:solidFill>
            <a:prstDash val="solid"/>
          </a:ln>
        </p:spPr>
      </p:sp>
      <p:sp>
        <p:nvSpPr>
          <p:cNvPr id="41" name="Text 38"/>
          <p:cNvSpPr txBox="1"/>
          <p:nvPr/>
        </p:nvSpPr>
        <p:spPr>
          <a:xfrm>
            <a:off x="723427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10</a:t>
            </a:r>
            <a:endParaRPr lang="en-US" sz="1200" dirty="0"/>
          </a:p>
        </p:txBody>
      </p:sp>
      <p:sp>
        <p:nvSpPr>
          <p:cNvPr id="42" name="Text 39"/>
          <p:cNvSpPr txBox="1"/>
          <p:nvPr/>
        </p:nvSpPr>
        <p:spPr>
          <a:xfrm>
            <a:off x="723427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Emissions and policy</a:t>
            </a:r>
            <a:endParaRPr lang="en-US" sz="1400" dirty="0"/>
          </a:p>
        </p:txBody>
      </p:sp>
      <p:sp>
        <p:nvSpPr>
          <p:cNvPr id="43" name="Text 40"/>
          <p:cNvSpPr txBox="1"/>
          <p:nvPr/>
        </p:nvSpPr>
        <p:spPr>
          <a:xfrm>
            <a:off x="548640" y="469087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3</a:t>
            </a:r>
            <a:endParaRPr lang="en-US" sz="1400" dirty="0"/>
          </a:p>
        </p:txBody>
      </p:sp>
      <p:sp>
        <p:nvSpPr>
          <p:cNvPr id="44" name="Text 41"/>
          <p:cNvSpPr txBox="1"/>
          <p:nvPr/>
        </p:nvSpPr>
        <p:spPr>
          <a:xfrm>
            <a:off x="548640" y="500176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Advanced methods</a:t>
            </a:r>
            <a:endParaRPr lang="en-US" sz="1600" dirty="0"/>
          </a:p>
        </p:txBody>
      </p:sp>
      <p:sp>
        <p:nvSpPr>
          <p:cNvPr id="45" name="week tile"/>
          <p:cNvSpPr/>
          <p:nvPr/>
        </p:nvSpPr>
        <p:spPr>
          <a:xfrm>
            <a:off x="2468880" y="4617720"/>
            <a:ext cx="1414729" cy="1188720"/>
          </a:xfrm>
          <a:prstGeom prst="roundRect">
            <a:avLst>
              <a:gd name="adj" fmla="val 9231"/>
            </a:avLst>
          </a:prstGeom>
          <a:solidFill>
            <a:srgbClr val="F7FAF9"/>
          </a:solidFill>
          <a:ln w="12700">
            <a:solidFill>
              <a:srgbClr val="F7FAF9"/>
            </a:solidFill>
            <a:prstDash val="solid"/>
          </a:ln>
        </p:spPr>
      </p:sp>
      <p:sp>
        <p:nvSpPr>
          <p:cNvPr id="46" name="Shape 43"/>
          <p:cNvSpPr/>
          <p:nvPr/>
        </p:nvSpPr>
        <p:spPr>
          <a:xfrm>
            <a:off x="2468880" y="4617720"/>
            <a:ext cx="1414729" cy="1188720"/>
          </a:xfrm>
          <a:prstGeom prst="roundRect">
            <a:avLst>
              <a:gd name="adj" fmla="val 9231"/>
            </a:avLst>
          </a:prstGeom>
          <a:solidFill>
            <a:srgbClr val="F7FAF9"/>
          </a:solidFill>
          <a:ln w="12700">
            <a:solidFill>
              <a:srgbClr val="D5DDDB"/>
            </a:solidFill>
            <a:prstDash val="solid"/>
          </a:ln>
        </p:spPr>
      </p:sp>
      <p:sp>
        <p:nvSpPr>
          <p:cNvPr id="47" name="Text 44"/>
          <p:cNvSpPr txBox="1"/>
          <p:nvPr/>
        </p:nvSpPr>
        <p:spPr>
          <a:xfrm>
            <a:off x="2578608"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11</a:t>
            </a:r>
            <a:endParaRPr lang="en-US" sz="1200" dirty="0"/>
          </a:p>
        </p:txBody>
      </p:sp>
      <p:sp>
        <p:nvSpPr>
          <p:cNvPr id="48" name="Text 45"/>
          <p:cNvSpPr txBox="1"/>
          <p:nvPr/>
        </p:nvSpPr>
        <p:spPr>
          <a:xfrm>
            <a:off x="2578608"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Optimisation IAMs</a:t>
            </a:r>
            <a:endParaRPr lang="en-US" sz="1400" dirty="0"/>
          </a:p>
        </p:txBody>
      </p:sp>
      <p:sp>
        <p:nvSpPr>
          <p:cNvPr id="49" name="week tile"/>
          <p:cNvSpPr/>
          <p:nvPr/>
        </p:nvSpPr>
        <p:spPr>
          <a:xfrm>
            <a:off x="4020769" y="4617720"/>
            <a:ext cx="1414729" cy="1188720"/>
          </a:xfrm>
          <a:prstGeom prst="roundRect">
            <a:avLst>
              <a:gd name="adj" fmla="val 9231"/>
            </a:avLst>
          </a:prstGeom>
          <a:solidFill>
            <a:srgbClr val="F7FAF9"/>
          </a:solidFill>
          <a:ln w="12700">
            <a:solidFill>
              <a:srgbClr val="F7FAF9"/>
            </a:solidFill>
            <a:prstDash val="solid"/>
          </a:ln>
        </p:spPr>
      </p:sp>
      <p:sp>
        <p:nvSpPr>
          <p:cNvPr id="50" name="Shape 47"/>
          <p:cNvSpPr/>
          <p:nvPr/>
        </p:nvSpPr>
        <p:spPr>
          <a:xfrm>
            <a:off x="4020769" y="4617720"/>
            <a:ext cx="1414729" cy="1188720"/>
          </a:xfrm>
          <a:prstGeom prst="roundRect">
            <a:avLst>
              <a:gd name="adj" fmla="val 9231"/>
            </a:avLst>
          </a:prstGeom>
          <a:solidFill>
            <a:srgbClr val="F7FAF9"/>
          </a:solidFill>
          <a:ln w="12700">
            <a:solidFill>
              <a:srgbClr val="D5DDDB"/>
            </a:solidFill>
            <a:prstDash val="solid"/>
          </a:ln>
        </p:spPr>
      </p:sp>
      <p:sp>
        <p:nvSpPr>
          <p:cNvPr id="51" name="Text 48"/>
          <p:cNvSpPr txBox="1"/>
          <p:nvPr/>
        </p:nvSpPr>
        <p:spPr>
          <a:xfrm>
            <a:off x="4130497"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12</a:t>
            </a:r>
            <a:endParaRPr lang="en-US" sz="1200" dirty="0"/>
          </a:p>
        </p:txBody>
      </p:sp>
      <p:sp>
        <p:nvSpPr>
          <p:cNvPr id="52" name="Text 49"/>
          <p:cNvSpPr txBox="1"/>
          <p:nvPr/>
        </p:nvSpPr>
        <p:spPr>
          <a:xfrm>
            <a:off x="4130497"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models disagree</a:t>
            </a:r>
            <a:endParaRPr lang="en-US" sz="1400" dirty="0"/>
          </a:p>
        </p:txBody>
      </p:sp>
      <p:sp>
        <p:nvSpPr>
          <p:cNvPr id="53" name="week tile"/>
          <p:cNvSpPr/>
          <p:nvPr/>
        </p:nvSpPr>
        <p:spPr>
          <a:xfrm>
            <a:off x="5572658" y="4617720"/>
            <a:ext cx="1414729" cy="1188720"/>
          </a:xfrm>
          <a:prstGeom prst="roundRect">
            <a:avLst>
              <a:gd name="adj" fmla="val 9231"/>
            </a:avLst>
          </a:prstGeom>
          <a:solidFill>
            <a:srgbClr val="F7FAF9"/>
          </a:solidFill>
          <a:ln w="12700">
            <a:solidFill>
              <a:srgbClr val="F7FAF9"/>
            </a:solidFill>
            <a:prstDash val="solid"/>
          </a:ln>
        </p:spPr>
      </p:sp>
      <p:sp>
        <p:nvSpPr>
          <p:cNvPr id="54" name="Shape 51"/>
          <p:cNvSpPr/>
          <p:nvPr/>
        </p:nvSpPr>
        <p:spPr>
          <a:xfrm>
            <a:off x="5572658" y="4617720"/>
            <a:ext cx="1414729" cy="1188720"/>
          </a:xfrm>
          <a:prstGeom prst="roundRect">
            <a:avLst>
              <a:gd name="adj" fmla="val 9231"/>
            </a:avLst>
          </a:prstGeom>
          <a:solidFill>
            <a:srgbClr val="F7FAF9"/>
          </a:solidFill>
          <a:ln w="12700">
            <a:solidFill>
              <a:srgbClr val="D5DDDB"/>
            </a:solidFill>
            <a:prstDash val="solid"/>
          </a:ln>
        </p:spPr>
      </p:sp>
      <p:sp>
        <p:nvSpPr>
          <p:cNvPr id="55" name="Text 52"/>
          <p:cNvSpPr txBox="1"/>
          <p:nvPr/>
        </p:nvSpPr>
        <p:spPr>
          <a:xfrm>
            <a:off x="568238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13</a:t>
            </a:r>
            <a:endParaRPr lang="en-US" sz="1200" dirty="0"/>
          </a:p>
        </p:txBody>
      </p:sp>
      <p:sp>
        <p:nvSpPr>
          <p:cNvPr id="56" name="Text 53"/>
          <p:cNvSpPr txBox="1"/>
          <p:nvPr/>
        </p:nvSpPr>
        <p:spPr>
          <a:xfrm>
            <a:off x="568238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Uncertainty</a:t>
            </a:r>
            <a:endParaRPr lang="en-US" sz="1400" dirty="0"/>
          </a:p>
        </p:txBody>
      </p:sp>
      <p:sp>
        <p:nvSpPr>
          <p:cNvPr id="57" name="week tile"/>
          <p:cNvSpPr/>
          <p:nvPr/>
        </p:nvSpPr>
        <p:spPr>
          <a:xfrm>
            <a:off x="7124548" y="4617720"/>
            <a:ext cx="1414729" cy="1188720"/>
          </a:xfrm>
          <a:prstGeom prst="roundRect">
            <a:avLst>
              <a:gd name="adj" fmla="val 9231"/>
            </a:avLst>
          </a:prstGeom>
          <a:solidFill>
            <a:srgbClr val="F7FAF9"/>
          </a:solidFill>
          <a:ln w="12700">
            <a:solidFill>
              <a:srgbClr val="F7FAF9"/>
            </a:solidFill>
            <a:prstDash val="solid"/>
          </a:ln>
        </p:spPr>
      </p:sp>
      <p:sp>
        <p:nvSpPr>
          <p:cNvPr id="58" name="Shape 55"/>
          <p:cNvSpPr/>
          <p:nvPr/>
        </p:nvSpPr>
        <p:spPr>
          <a:xfrm>
            <a:off x="7124548" y="4617720"/>
            <a:ext cx="1414729" cy="1188720"/>
          </a:xfrm>
          <a:prstGeom prst="roundRect">
            <a:avLst>
              <a:gd name="adj" fmla="val 9231"/>
            </a:avLst>
          </a:prstGeom>
          <a:solidFill>
            <a:srgbClr val="F7FAF9"/>
          </a:solidFill>
          <a:ln w="12700">
            <a:solidFill>
              <a:srgbClr val="D5DDDB"/>
            </a:solidFill>
            <a:prstDash val="solid"/>
          </a:ln>
        </p:spPr>
      </p:sp>
      <p:sp>
        <p:nvSpPr>
          <p:cNvPr id="59" name="Text 56"/>
          <p:cNvSpPr txBox="1"/>
          <p:nvPr/>
        </p:nvSpPr>
        <p:spPr>
          <a:xfrm>
            <a:off x="723427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14</a:t>
            </a:r>
            <a:endParaRPr lang="en-US" sz="1200" dirty="0"/>
          </a:p>
        </p:txBody>
      </p:sp>
      <p:sp>
        <p:nvSpPr>
          <p:cNvPr id="60" name="Text 57"/>
          <p:cNvSpPr txBox="1"/>
          <p:nvPr/>
        </p:nvSpPr>
        <p:spPr>
          <a:xfrm>
            <a:off x="723427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Frontiers and limits</a:t>
            </a:r>
            <a:endParaRPr lang="en-US" sz="1400" dirty="0"/>
          </a:p>
        </p:txBody>
      </p:sp>
      <p:sp>
        <p:nvSpPr>
          <p:cNvPr id="61" name="week tile"/>
          <p:cNvSpPr/>
          <p:nvPr/>
        </p:nvSpPr>
        <p:spPr>
          <a:xfrm>
            <a:off x="8676437" y="4617720"/>
            <a:ext cx="1414729" cy="1188720"/>
          </a:xfrm>
          <a:prstGeom prst="roundRect">
            <a:avLst>
              <a:gd name="adj" fmla="val 9231"/>
            </a:avLst>
          </a:prstGeom>
          <a:solidFill>
            <a:srgbClr val="F7FAF9"/>
          </a:solidFill>
          <a:ln w="12700">
            <a:solidFill>
              <a:srgbClr val="F7FAF9"/>
            </a:solidFill>
            <a:prstDash val="solid"/>
          </a:ln>
        </p:spPr>
      </p:sp>
      <p:sp>
        <p:nvSpPr>
          <p:cNvPr id="62" name="Shape 59"/>
          <p:cNvSpPr/>
          <p:nvPr/>
        </p:nvSpPr>
        <p:spPr>
          <a:xfrm>
            <a:off x="8676437" y="4617720"/>
            <a:ext cx="1414729" cy="1188720"/>
          </a:xfrm>
          <a:prstGeom prst="roundRect">
            <a:avLst>
              <a:gd name="adj" fmla="val 9231"/>
            </a:avLst>
          </a:prstGeom>
          <a:solidFill>
            <a:srgbClr val="F7FAF9"/>
          </a:solidFill>
          <a:ln w="12700">
            <a:solidFill>
              <a:srgbClr val="D5DDDB"/>
            </a:solidFill>
            <a:prstDash val="solid"/>
          </a:ln>
        </p:spPr>
      </p:sp>
      <p:sp>
        <p:nvSpPr>
          <p:cNvPr id="63" name="Text 60"/>
          <p:cNvSpPr txBox="1"/>
          <p:nvPr/>
        </p:nvSpPr>
        <p:spPr>
          <a:xfrm>
            <a:off x="8786165"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15</a:t>
            </a:r>
            <a:endParaRPr lang="en-US" sz="1200" dirty="0"/>
          </a:p>
        </p:txBody>
      </p:sp>
      <p:sp>
        <p:nvSpPr>
          <p:cNvPr id="64" name="Text 61"/>
          <p:cNvSpPr txBox="1"/>
          <p:nvPr/>
        </p:nvSpPr>
        <p:spPr>
          <a:xfrm>
            <a:off x="8786165"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Projects and review</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TODAY'S GOALS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By the end of today you can</a:t>
            </a:r>
            <a:endParaRPr lang="en-US" sz="3200" dirty="0"/>
          </a:p>
        </p:txBody>
      </p:sp>
      <p:sp>
        <p:nvSpPr>
          <p:cNvPr id="5" name="goal card"/>
          <p:cNvSpPr/>
          <p:nvPr/>
        </p:nvSpPr>
        <p:spPr>
          <a:xfrm>
            <a:off x="548640"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4"/>
          <p:cNvSpPr txBox="1"/>
          <p:nvPr/>
        </p:nvSpPr>
        <p:spPr>
          <a:xfrm>
            <a:off x="822960"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Explain what a scenario is and why researchers share one set</a:t>
            </a:r>
            <a:endParaRPr lang="en-US" sz="2100" dirty="0"/>
          </a:p>
        </p:txBody>
      </p:sp>
      <p:sp>
        <p:nvSpPr>
          <p:cNvPr id="8" name="goal card"/>
          <p:cNvSpPr/>
          <p:nvPr/>
        </p:nvSpPr>
        <p:spPr>
          <a:xfrm>
            <a:off x="3390824"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9" name="number badge"/>
          <p:cNvSpPr txBox="1"/>
          <p:nvPr/>
        </p:nvSpPr>
        <p:spPr>
          <a:xfrm>
            <a:off x="3665144"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7"/>
          <p:cNvSpPr txBox="1"/>
          <p:nvPr/>
        </p:nvSpPr>
        <p:spPr>
          <a:xfrm>
            <a:off x="3665144"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Decode a label such as SSP2-4.5 into a society and a forcing level</a:t>
            </a:r>
            <a:endParaRPr lang="en-US" sz="2100" dirty="0"/>
          </a:p>
        </p:txBody>
      </p:sp>
      <p:sp>
        <p:nvSpPr>
          <p:cNvPr id="11" name="goal card"/>
          <p:cNvSpPr/>
          <p:nvPr/>
        </p:nvSpPr>
        <p:spPr>
          <a:xfrm>
            <a:off x="6233008"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2" name="number badge"/>
          <p:cNvSpPr txBox="1"/>
          <p:nvPr/>
        </p:nvSpPr>
        <p:spPr>
          <a:xfrm>
            <a:off x="6507328"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0"/>
          <p:cNvSpPr txBox="1"/>
          <p:nvPr/>
        </p:nvSpPr>
        <p:spPr>
          <a:xfrm>
            <a:off x="6507328"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Ask four questions of any scenario chart</a:t>
            </a:r>
            <a:endParaRPr lang="en-US" sz="2100" dirty="0"/>
          </a:p>
        </p:txBody>
      </p:sp>
      <p:sp>
        <p:nvSpPr>
          <p:cNvPr id="14" name="goal card"/>
          <p:cNvSpPr/>
          <p:nvPr/>
        </p:nvSpPr>
        <p:spPr>
          <a:xfrm>
            <a:off x="9075191"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9349511"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3"/>
          <p:cNvSpPr txBox="1"/>
          <p:nvPr/>
        </p:nvSpPr>
        <p:spPr>
          <a:xfrm>
            <a:off x="9349511"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Reshape wide data to long, join tables and knit an R Markdown report</a:t>
            </a:r>
            <a:endParaRPr lang="en-US" sz="2100" dirty="0"/>
          </a:p>
        </p:txBody>
      </p:sp>
      <p:sp>
        <p:nvSpPr>
          <p:cNvPr id="17" name="big question"/>
          <p:cNvSpPr/>
          <p:nvPr/>
        </p:nvSpPr>
        <p:spPr>
          <a:xfrm>
            <a:off x="548640" y="5074920"/>
            <a:ext cx="11094415" cy="960120"/>
          </a:xfrm>
          <a:prstGeom prst="roundRect">
            <a:avLst>
              <a:gd name="adj" fmla="val 11429"/>
            </a:avLst>
          </a:prstGeom>
          <a:solidFill>
            <a:srgbClr val="E6F2F0"/>
          </a:solidFill>
          <a:ln w="12700">
            <a:solidFill>
              <a:srgbClr val="E6F2F0"/>
            </a:solidFill>
            <a:prstDash val="solid"/>
          </a:ln>
        </p:spPr>
      </p:sp>
      <p:sp>
        <p:nvSpPr>
          <p:cNvPr id="18" name="icon circle"/>
          <p:cNvSpPr/>
          <p:nvPr/>
        </p:nvSpPr>
        <p:spPr>
          <a:xfrm>
            <a:off x="777240" y="5212080"/>
            <a:ext cx="685800" cy="685800"/>
          </a:xfrm>
          <a:prstGeom prst="ellipse">
            <a:avLst/>
          </a:prstGeom>
          <a:solidFill>
            <a:srgbClr val="12263A"/>
          </a:solidFill>
          <a:ln w="12700">
            <a:solidFill>
              <a:srgbClr val="12263A"/>
            </a:solidFill>
            <a:prstDash val="solid"/>
          </a:ln>
        </p:spPr>
      </p:sp>
      <p:pic>
        <p:nvPicPr>
          <p:cNvPr id="19" name="icon" descr="preencoded.png">    </p:cNvPr>
          <p:cNvPicPr>
            <a:picLocks noChangeAspect="1"/>
          </p:cNvPicPr>
          <p:nvPr/>
        </p:nvPicPr>
        <p:blipFill>
          <a:blip r:embed="rId1"/>
          <a:stretch>
            <a:fillRect/>
          </a:stretch>
        </p:blipFill>
        <p:spPr>
          <a:xfrm>
            <a:off x="955548" y="5390388"/>
            <a:ext cx="329184" cy="329184"/>
          </a:xfrm>
          <a:prstGeom prst="rect">
            <a:avLst/>
          </a:prstGeom>
        </p:spPr>
      </p:pic>
      <p:sp>
        <p:nvSpPr>
          <p:cNvPr id="20" name="Text 16"/>
          <p:cNvSpPr txBox="1"/>
          <p:nvPr/>
        </p:nvSpPr>
        <p:spPr>
          <a:xfrm>
            <a:off x="1645920" y="5120640"/>
            <a:ext cx="9814255" cy="86868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Big question  </a:t>
            </a:r>
            <a:pPr indent="0" marL="0">
              <a:buNone/>
            </a:pPr>
            <a:r>
              <a:rPr lang="en-US" sz="2000" dirty="0">
                <a:solidFill>
                  <a:srgbClr val="1F2933"/>
                </a:solidFill>
                <a:latin typeface="Calibri" pitchFamily="34" charset="0"/>
                <a:ea typeface="Calibri" pitchFamily="34" charset="-122"/>
                <a:cs typeface="Calibri" pitchFamily="34" charset="-120"/>
              </a:rPr>
              <a:t>The highest emissions scenario was long called 'business as usual'. Was it?</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Was it 'business as usual'?</a:t>
            </a:r>
            <a:endParaRPr lang="en-US" sz="4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LET'S START WITH A QUESTION</a:t>
            </a:r>
            <a:endParaRPr lang="en-US" sz="1200" dirty="0"/>
          </a:p>
        </p:txBody>
      </p:sp>
      <p:sp>
        <p:nvSpPr>
          <p:cNvPr id="5" name="Text 2"/>
          <p:cNvSpPr txBox="1"/>
          <p:nvPr/>
        </p:nvSpPr>
        <p:spPr>
          <a:xfrm>
            <a:off x="548640" y="3108960"/>
            <a:ext cx="10241280" cy="1188720"/>
          </a:xfrm>
          <a:prstGeom prst="rect">
            <a:avLst/>
          </a:prstGeom>
          <a:noFill/>
          <a:ln/>
        </p:spPr>
        <p:txBody>
          <a:bodyPr wrap="square" lIns="0" tIns="0" rIns="0" bIns="0" rtlCol="0" anchor="t"/>
          <a:lstStyle/>
          <a:p>
            <a:pPr indent="0" marL="0">
              <a:buNone/>
            </a:pPr>
            <a:r>
              <a:rPr lang="en-US" sz="2300" dirty="0">
                <a:solidFill>
                  <a:srgbClr val="C9D6DF"/>
                </a:solidFill>
                <a:latin typeface="Calibri" pitchFamily="34" charset="0"/>
                <a:ea typeface="Calibri" pitchFamily="34" charset="-122"/>
                <a:cs typeface="Calibri" pitchFamily="34" charset="-120"/>
              </a:rPr>
              <a:t>The highest emissions scenario, SSP5-8.5, was long called 'business as usual'. It describes a world that burns far more coal than current trends suggest.</a:t>
            </a:r>
            <a:endParaRPr lang="en-US" sz="2300" dirty="0"/>
          </a:p>
        </p:txBody>
      </p:sp>
      <p:sp>
        <p:nvSpPr>
          <p:cNvPr id="6" name="question box"/>
          <p:cNvSpPr/>
          <p:nvPr/>
        </p:nvSpPr>
        <p:spPr>
          <a:xfrm>
            <a:off x="548640" y="4526280"/>
            <a:ext cx="11094415" cy="1143000"/>
          </a:xfrm>
          <a:prstGeom prst="roundRect">
            <a:avLst>
              <a:gd name="adj" fmla="val 9600"/>
            </a:avLst>
          </a:prstGeom>
          <a:solidFill>
            <a:srgbClr val="1D3A52"/>
          </a:solidFill>
          <a:ln w="12700">
            <a:solidFill>
              <a:srgbClr val="1D3A52"/>
            </a:solidFill>
            <a:prstDash val="solid"/>
          </a:ln>
        </p:spPr>
      </p:sp>
      <p:sp>
        <p:nvSpPr>
          <p:cNvPr id="7" name="icon circle"/>
          <p:cNvSpPr/>
          <p:nvPr/>
        </p:nvSpPr>
        <p:spPr>
          <a:xfrm>
            <a:off x="777240" y="4709160"/>
            <a:ext cx="777240" cy="777240"/>
          </a:xfrm>
          <a:prstGeom prst="ellipse">
            <a:avLst/>
          </a:prstGeom>
          <a:solidFill>
            <a:srgbClr val="C2410C"/>
          </a:solidFill>
          <a:ln w="12700">
            <a:solidFill>
              <a:srgbClr val="C2410C"/>
            </a:solidFill>
            <a:prstDash val="solid"/>
          </a:ln>
        </p:spPr>
      </p:sp>
      <p:pic>
        <p:nvPicPr>
          <p:cNvPr id="8" name="icon" descr="preencoded.png">    </p:cNvPr>
          <p:cNvPicPr>
            <a:picLocks noChangeAspect="1"/>
          </p:cNvPicPr>
          <p:nvPr/>
        </p:nvPicPr>
        <p:blipFill>
          <a:blip r:embed="rId1"/>
          <a:stretch>
            <a:fillRect/>
          </a:stretch>
        </p:blipFill>
        <p:spPr>
          <a:xfrm>
            <a:off x="979322" y="4911242"/>
            <a:ext cx="373075" cy="373075"/>
          </a:xfrm>
          <a:prstGeom prst="rect">
            <a:avLst/>
          </a:prstGeom>
        </p:spPr>
      </p:pic>
      <p:sp>
        <p:nvSpPr>
          <p:cNvPr id="9" name="Text 5"/>
          <p:cNvSpPr txBox="1"/>
          <p:nvPr/>
        </p:nvSpPr>
        <p:spPr>
          <a:xfrm>
            <a:off x="1783080" y="4572000"/>
            <a:ext cx="9631375" cy="10515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What does a scenario's name tell you, and what does it not?</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AN EVERYDAY PICTURE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A scenario is a choose-your-own-adventure book</a:t>
            </a:r>
            <a:endParaRPr lang="en-US" sz="3200" dirty="0"/>
          </a:p>
        </p:txBody>
      </p:sp>
      <p:sp>
        <p:nvSpPr>
          <p:cNvPr id="5" name="analogy card"/>
          <p:cNvSpPr/>
          <p:nvPr/>
        </p:nvSpPr>
        <p:spPr>
          <a:xfrm>
            <a:off x="548640" y="1600200"/>
            <a:ext cx="6675120" cy="4434840"/>
          </a:xfrm>
          <a:prstGeom prst="roundRect">
            <a:avLst>
              <a:gd name="adj" fmla="val 2474"/>
            </a:avLst>
          </a:prstGeom>
          <a:solidFill>
            <a:srgbClr val="E6F2F0"/>
          </a:solidFill>
          <a:ln w="12700">
            <a:solidFill>
              <a:srgbClr val="E6F2F0"/>
            </a:solidFill>
            <a:prstDash val="solid"/>
          </a:ln>
        </p:spPr>
      </p:sp>
      <p:sp>
        <p:nvSpPr>
          <p:cNvPr id="6" name="icon circle"/>
          <p:cNvSpPr/>
          <p:nvPr/>
        </p:nvSpPr>
        <p:spPr>
          <a:xfrm>
            <a:off x="868680" y="1874520"/>
            <a:ext cx="777240" cy="77724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1070762" y="2076602"/>
            <a:ext cx="373075" cy="373075"/>
          </a:xfrm>
          <a:prstGeom prst="rect">
            <a:avLst/>
          </a:prstGeom>
        </p:spPr>
      </p:pic>
      <p:sp>
        <p:nvSpPr>
          <p:cNvPr id="8" name="Text 4"/>
          <p:cNvSpPr txBox="1"/>
          <p:nvPr/>
        </p:nvSpPr>
        <p:spPr>
          <a:xfrm>
            <a:off x="868680" y="2834640"/>
            <a:ext cx="6035040" cy="3063240"/>
          </a:xfrm>
          <a:prstGeom prst="rect">
            <a:avLst/>
          </a:prstGeom>
          <a:noFill/>
          <a:ln/>
        </p:spPr>
        <p:txBody>
          <a:bodyPr wrap="square" lIns="0" tIns="0" rIns="0" bIns="0" rtlCol="0" anchor="t"/>
          <a:lstStyle/>
          <a:p>
            <a:pPr indent="0" marL="0">
              <a:buNone/>
            </a:pPr>
            <a:r>
              <a:rPr lang="en-US" sz="2600" i="1" dirty="0">
                <a:solidFill>
                  <a:srgbClr val="12263A"/>
                </a:solidFill>
                <a:latin typeface="Cambria" pitchFamily="34" charset="0"/>
                <a:ea typeface="Cambria" pitchFamily="34" charset="-122"/>
                <a:cs typeface="Cambria" pitchFamily="34" charset="-120"/>
              </a:rPr>
              <a:t>Each story describes how society might develop. A spreadsheet is stapled to every page: population, income, technology costs. Models then turn the story into energy use, emissions and warming.</a:t>
            </a:r>
            <a:endParaRPr lang="en-US" sz="2600" dirty="0"/>
          </a:p>
        </p:txBody>
      </p:sp>
      <p:sp>
        <p:nvSpPr>
          <p:cNvPr id="9" name="Text 5"/>
          <p:cNvSpPr txBox="1"/>
          <p:nvPr/>
        </p:nvSpPr>
        <p:spPr>
          <a:xfrm>
            <a:off x="7635240" y="1737360"/>
            <a:ext cx="4007815" cy="365760"/>
          </a:xfrm>
          <a:prstGeom prst="rect">
            <a:avLst/>
          </a:prstGeom>
          <a:noFill/>
          <a:ln/>
        </p:spPr>
        <p:txBody>
          <a:bodyPr wrap="square" lIns="0" tIns="0" rIns="0" bIns="0" rtlCol="0" anchor="t"/>
          <a:lstStyle/>
          <a:p>
            <a:pPr indent="0" marL="0">
              <a:buNone/>
            </a:pPr>
            <a:r>
              <a:rPr lang="en-US" sz="1600" b="1" dirty="0">
                <a:solidFill>
                  <a:srgbClr val="5B6875"/>
                </a:solidFill>
                <a:latin typeface="Calibri" pitchFamily="34" charset="0"/>
                <a:ea typeface="Calibri" pitchFamily="34" charset="-122"/>
                <a:cs typeface="Calibri" pitchFamily="34" charset="-120"/>
              </a:rPr>
              <a:t>What it means for models</a:t>
            </a:r>
            <a:endParaRPr lang="en-US" sz="1600" dirty="0"/>
          </a:p>
        </p:txBody>
      </p:sp>
      <p:sp>
        <p:nvSpPr>
          <p:cNvPr id="10" name="number badge"/>
          <p:cNvSpPr txBox="1"/>
          <p:nvPr/>
        </p:nvSpPr>
        <p:spPr>
          <a:xfrm>
            <a:off x="7635240" y="228600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7"/>
          <p:cNvSpPr txBox="1"/>
          <p:nvPr/>
        </p:nvSpPr>
        <p:spPr>
          <a:xfrm>
            <a:off x="8275320" y="226771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A scenario is a consistent what-if story with numbers</a:t>
            </a:r>
            <a:endParaRPr lang="en-US" sz="2200" dirty="0"/>
          </a:p>
        </p:txBody>
      </p:sp>
      <p:sp>
        <p:nvSpPr>
          <p:cNvPr id="12" name="number badge"/>
          <p:cNvSpPr txBox="1"/>
          <p:nvPr/>
        </p:nvSpPr>
        <p:spPr>
          <a:xfrm>
            <a:off x="7635240" y="362712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9"/>
          <p:cNvSpPr txBox="1"/>
          <p:nvPr/>
        </p:nvSpPr>
        <p:spPr>
          <a:xfrm>
            <a:off x="8275320" y="360883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It is not a forecast</a:t>
            </a:r>
            <a:endParaRPr lang="en-US" sz="2200" dirty="0"/>
          </a:p>
        </p:txBody>
      </p:sp>
      <p:sp>
        <p:nvSpPr>
          <p:cNvPr id="14" name="number badge"/>
          <p:cNvSpPr txBox="1"/>
          <p:nvPr/>
        </p:nvSpPr>
        <p:spPr>
          <a:xfrm>
            <a:off x="7635240" y="496824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1"/>
          <p:cNvSpPr txBox="1"/>
          <p:nvPr/>
        </p:nvSpPr>
        <p:spPr>
          <a:xfrm>
            <a:off x="8275320" y="494995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Shared stories let different models be compared</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KEY IDEA</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Five SSP stories about society</a:t>
            </a:r>
            <a:endParaRPr lang="en-US" sz="3200" dirty="0"/>
          </a:p>
        </p:txBody>
      </p:sp>
      <p:sp>
        <p:nvSpPr>
          <p:cNvPr id="5" name="idea card"/>
          <p:cNvSpPr/>
          <p:nvPr/>
        </p:nvSpPr>
        <p:spPr>
          <a:xfrm>
            <a:off x="548640"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2880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822960" y="2560320"/>
            <a:ext cx="2019224" cy="77724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SSP1 Sustainability</a:t>
            </a:r>
            <a:endParaRPr lang="en-US" sz="1800" dirty="0"/>
          </a:p>
        </p:txBody>
      </p:sp>
      <p:sp>
        <p:nvSpPr>
          <p:cNvPr id="8" name="Text 5"/>
          <p:cNvSpPr txBox="1"/>
          <p:nvPr/>
        </p:nvSpPr>
        <p:spPr>
          <a:xfrm>
            <a:off x="822960" y="3429000"/>
            <a:ext cx="2019224" cy="24231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Green growth, education, low inequality. Easy to cut emissions and to adapt.</a:t>
            </a:r>
            <a:endParaRPr lang="en-US" sz="1800" dirty="0"/>
          </a:p>
        </p:txBody>
      </p:sp>
      <p:sp>
        <p:nvSpPr>
          <p:cNvPr id="9" name="idea card"/>
          <p:cNvSpPr/>
          <p:nvPr/>
        </p:nvSpPr>
        <p:spPr>
          <a:xfrm>
            <a:off x="3390824"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3665144" y="18288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8"/>
          <p:cNvSpPr txBox="1"/>
          <p:nvPr/>
        </p:nvSpPr>
        <p:spPr>
          <a:xfrm>
            <a:off x="3665144" y="2560320"/>
            <a:ext cx="2019224" cy="77724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SSP2 Middle of the road</a:t>
            </a:r>
            <a:endParaRPr lang="en-US" sz="1800" dirty="0"/>
          </a:p>
        </p:txBody>
      </p:sp>
      <p:sp>
        <p:nvSpPr>
          <p:cNvPr id="12" name="Text 9"/>
          <p:cNvSpPr txBox="1"/>
          <p:nvPr/>
        </p:nvSpPr>
        <p:spPr>
          <a:xfrm>
            <a:off x="3665144" y="3429000"/>
            <a:ext cx="2019224" cy="24231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Trends roughly continue. Moderate challenges on both sides.</a:t>
            </a:r>
            <a:endParaRPr lang="en-US" sz="1800" dirty="0"/>
          </a:p>
        </p:txBody>
      </p:sp>
      <p:sp>
        <p:nvSpPr>
          <p:cNvPr id="13" name="idea card"/>
          <p:cNvSpPr/>
          <p:nvPr/>
        </p:nvSpPr>
        <p:spPr>
          <a:xfrm>
            <a:off x="6233008"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4" name="number badge"/>
          <p:cNvSpPr txBox="1"/>
          <p:nvPr/>
        </p:nvSpPr>
        <p:spPr>
          <a:xfrm>
            <a:off x="6507328" y="182880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2"/>
          <p:cNvSpPr txBox="1"/>
          <p:nvPr/>
        </p:nvSpPr>
        <p:spPr>
          <a:xfrm>
            <a:off x="6507328" y="2560320"/>
            <a:ext cx="2019224" cy="77724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SSP3 Regional rivalry</a:t>
            </a:r>
            <a:endParaRPr lang="en-US" sz="1800" dirty="0"/>
          </a:p>
        </p:txBody>
      </p:sp>
      <p:sp>
        <p:nvSpPr>
          <p:cNvPr id="16" name="Text 13"/>
          <p:cNvSpPr txBox="1"/>
          <p:nvPr/>
        </p:nvSpPr>
        <p:spPr>
          <a:xfrm>
            <a:off x="6507328" y="3429000"/>
            <a:ext cx="2019224" cy="24231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Countries turn inward, slow growth, high population. Hard to cut and to adapt.</a:t>
            </a:r>
            <a:endParaRPr lang="en-US" sz="1800" dirty="0"/>
          </a:p>
        </p:txBody>
      </p:sp>
      <p:sp>
        <p:nvSpPr>
          <p:cNvPr id="17" name="idea card"/>
          <p:cNvSpPr/>
          <p:nvPr/>
        </p:nvSpPr>
        <p:spPr>
          <a:xfrm>
            <a:off x="9075191"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9349511" y="1828800"/>
            <a:ext cx="548640" cy="548640"/>
          </a:xfrm>
          <a:prstGeom prst="ellipse">
            <a:avLst/>
          </a:prstGeom>
          <a:solidFill>
            <a:srgbClr val="D97706"/>
          </a:solidFill>
          <a:ln>
            <a:solidFill>
              <a:srgbClr val="D97706"/>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9" name="Text 16"/>
          <p:cNvSpPr txBox="1"/>
          <p:nvPr/>
        </p:nvSpPr>
        <p:spPr>
          <a:xfrm>
            <a:off x="9349511" y="2560320"/>
            <a:ext cx="2019224" cy="77724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SSP4 and SSP5</a:t>
            </a:r>
            <a:endParaRPr lang="en-US" sz="1800" dirty="0"/>
          </a:p>
        </p:txBody>
      </p:sp>
      <p:sp>
        <p:nvSpPr>
          <p:cNvPr id="20" name="Text 17"/>
          <p:cNvSpPr txBox="1"/>
          <p:nvPr/>
        </p:nvSpPr>
        <p:spPr>
          <a:xfrm>
            <a:off x="9349511" y="3429000"/>
            <a:ext cx="2019224" cy="24231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SSP4: deep inequality. SSP5: fast fossil-fuelled growth, hard to cut but easier to adapt.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COMPARE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Two labels, two jobs</a:t>
            </a:r>
            <a:endParaRPr lang="en-US" sz="3200" dirty="0"/>
          </a:p>
        </p:txBody>
      </p:sp>
      <p:sp>
        <p:nvSpPr>
          <p:cNvPr id="5" name="compare card"/>
          <p:cNvSpPr/>
          <p:nvPr/>
        </p:nvSpPr>
        <p:spPr>
          <a:xfrm>
            <a:off x="548640" y="1554480"/>
            <a:ext cx="5135728" cy="4526280"/>
          </a:xfrm>
          <a:prstGeom prst="roundRect">
            <a:avLst>
              <a:gd name="adj" fmla="val 2424"/>
            </a:avLst>
          </a:prstGeom>
          <a:solidFill>
            <a:srgbClr val="F7FAF9"/>
          </a:solidFill>
          <a:ln w="12700">
            <a:solidFill>
              <a:srgbClr val="F7FAF9"/>
            </a:solidFill>
            <a:prstDash val="solid"/>
          </a:ln>
        </p:spPr>
      </p:sp>
      <p:sp>
        <p:nvSpPr>
          <p:cNvPr id="6" name="Text 3"/>
          <p:cNvSpPr txBox="1"/>
          <p:nvPr/>
        </p:nvSpPr>
        <p:spPr>
          <a:xfrm>
            <a:off x="868680" y="1783080"/>
            <a:ext cx="4587088" cy="548640"/>
          </a:xfrm>
          <a:prstGeom prst="rect">
            <a:avLst/>
          </a:prstGeom>
          <a:noFill/>
          <a:ln/>
        </p:spPr>
        <p:txBody>
          <a:bodyPr wrap="square" lIns="0" tIns="0" rIns="0" bIns="0" rtlCol="0" anchor="t"/>
          <a:lstStyle/>
          <a:p>
            <a:pPr indent="0" marL="0">
              <a:buNone/>
            </a:pPr>
            <a:r>
              <a:rPr lang="en-US" sz="2200" b="1" dirty="0">
                <a:solidFill>
                  <a:srgbClr val="5B6875"/>
                </a:solidFill>
                <a:latin typeface="Cambria" pitchFamily="34" charset="0"/>
                <a:ea typeface="Cambria" pitchFamily="34" charset="-122"/>
                <a:cs typeface="Cambria" pitchFamily="34" charset="-120"/>
              </a:rPr>
              <a:t>SSP: society</a:t>
            </a:r>
            <a:endParaRPr lang="en-US" sz="2200" dirty="0"/>
          </a:p>
        </p:txBody>
      </p:sp>
      <p:sp>
        <p:nvSpPr>
          <p:cNvPr id="7" name="Text 4"/>
          <p:cNvSpPr txBox="1"/>
          <p:nvPr/>
        </p:nvSpPr>
        <p:spPr>
          <a:xfrm>
            <a:off x="868680" y="2468880"/>
            <a:ext cx="4495648" cy="3429000"/>
          </a:xfrm>
          <a:prstGeom prst="rect">
            <a:avLst/>
          </a:prstGeom>
          <a:noFill/>
          <a:ln/>
        </p:spPr>
        <p:txBody>
          <a:bodyPr wrap="square" lIns="0" tIns="0" rIns="0" bIns="0" rtlCol="0" anchor="t"/>
          <a:lstStyle/>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Population, income, technology, inequality</a:t>
            </a:r>
            <a:endParaRPr lang="en-US" sz="2400" dirty="0"/>
          </a:p>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Values: SSP1 to SSP5</a:t>
            </a:r>
            <a:endParaRPr lang="en-US" sz="2400" dirty="0"/>
          </a:p>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Fixes the starting story</a:t>
            </a:r>
            <a:endParaRPr lang="en-US" sz="2400" dirty="0"/>
          </a:p>
        </p:txBody>
      </p:sp>
      <p:sp>
        <p:nvSpPr>
          <p:cNvPr id="8" name="compare card"/>
          <p:cNvSpPr/>
          <p:nvPr/>
        </p:nvSpPr>
        <p:spPr>
          <a:xfrm>
            <a:off x="6507328" y="1554480"/>
            <a:ext cx="5135728" cy="4526280"/>
          </a:xfrm>
          <a:prstGeom prst="roundRect">
            <a:avLst>
              <a:gd name="adj" fmla="val 2424"/>
            </a:avLst>
          </a:prstGeom>
          <a:solidFill>
            <a:srgbClr val="E6F2F0"/>
          </a:solidFill>
          <a:ln w="12700">
            <a:solidFill>
              <a:srgbClr val="E6F2F0"/>
            </a:solidFill>
            <a:prstDash val="solid"/>
          </a:ln>
        </p:spPr>
      </p:sp>
      <p:sp>
        <p:nvSpPr>
          <p:cNvPr id="9" name="Text 6"/>
          <p:cNvSpPr txBox="1"/>
          <p:nvPr/>
        </p:nvSpPr>
        <p:spPr>
          <a:xfrm>
            <a:off x="6827368" y="1783080"/>
            <a:ext cx="4587088" cy="548640"/>
          </a:xfrm>
          <a:prstGeom prst="rect">
            <a:avLst/>
          </a:prstGeom>
          <a:noFill/>
          <a:ln/>
        </p:spPr>
        <p:txBody>
          <a:bodyPr wrap="square" lIns="0" tIns="0" rIns="0" bIns="0" rtlCol="0" anchor="t"/>
          <a:lstStyle/>
          <a:p>
            <a:pPr indent="0" marL="0">
              <a:buNone/>
            </a:pPr>
            <a:r>
              <a:rPr lang="en-US" sz="2200" b="1" dirty="0">
                <a:solidFill>
                  <a:srgbClr val="0B5550"/>
                </a:solidFill>
                <a:latin typeface="Cambria" pitchFamily="34" charset="0"/>
                <a:ea typeface="Cambria" pitchFamily="34" charset="-122"/>
                <a:cs typeface="Cambria" pitchFamily="34" charset="-120"/>
              </a:rPr>
              <a:t>RCP: climate outcome</a:t>
            </a:r>
            <a:endParaRPr lang="en-US" sz="2200" dirty="0"/>
          </a:p>
        </p:txBody>
      </p:sp>
      <p:sp>
        <p:nvSpPr>
          <p:cNvPr id="10" name="Text 7"/>
          <p:cNvSpPr txBox="1"/>
          <p:nvPr/>
        </p:nvSpPr>
        <p:spPr>
          <a:xfrm>
            <a:off x="6827368" y="2468880"/>
            <a:ext cx="4495648" cy="3429000"/>
          </a:xfrm>
          <a:prstGeom prst="rect">
            <a:avLst/>
          </a:prstGeom>
          <a:noFill/>
          <a:ln/>
        </p:spPr>
        <p:txBody>
          <a:bodyPr wrap="square" lIns="0" tIns="0" rIns="0" bIns="0" rtlCol="0" anchor="t"/>
          <a:lstStyle/>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Radiative forcing in 2100, in W/m²</a:t>
            </a:r>
            <a:endParaRPr lang="en-US" sz="2400" dirty="0"/>
          </a:p>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Values: 1.9, 2.6, 4.5, 7.0, 8.5</a:t>
            </a:r>
            <a:endParaRPr lang="en-US" sz="2400" dirty="0"/>
          </a:p>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Higher number means more warming</a:t>
            </a:r>
            <a:endParaRPr lang="en-US" sz="2400" dirty="0"/>
          </a:p>
        </p:txBody>
      </p:sp>
      <p:sp>
        <p:nvSpPr>
          <p:cNvPr id="11" name="icon circle"/>
          <p:cNvSpPr/>
          <p:nvPr/>
        </p:nvSpPr>
        <p:spPr>
          <a:xfrm>
            <a:off x="5794096" y="3515868"/>
            <a:ext cx="603504" cy="603504"/>
          </a:xfrm>
          <a:prstGeom prst="ellipse">
            <a:avLst/>
          </a:prstGeom>
          <a:solidFill>
            <a:srgbClr val="C2410C"/>
          </a:solidFill>
          <a:ln w="12700">
            <a:solidFill>
              <a:srgbClr val="C2410C"/>
            </a:solidFill>
            <a:prstDash val="solid"/>
          </a:ln>
        </p:spPr>
      </p:sp>
      <p:pic>
        <p:nvPicPr>
          <p:cNvPr id="12" name="icon" descr="preencoded.png">    </p:cNvPr>
          <p:cNvPicPr>
            <a:picLocks noChangeAspect="1"/>
          </p:cNvPicPr>
          <p:nvPr/>
        </p:nvPicPr>
        <p:blipFill>
          <a:blip r:embed="rId1"/>
          <a:stretch>
            <a:fillRect/>
          </a:stretch>
        </p:blipFill>
        <p:spPr>
          <a:xfrm>
            <a:off x="5951007" y="3672779"/>
            <a:ext cx="289682" cy="28968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SIDE BY SIDE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The scenario matrix: society × climate</a:t>
            </a:r>
            <a:endParaRPr lang="en-US" sz="32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218883"/>
                <a:gridCol w="2218883"/>
                <a:gridCol w="2218883"/>
                <a:gridCol w="2218883"/>
                <a:gridCol w="2218883"/>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Society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1.9</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2.6</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4.5</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7.0 / 8.5</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SSP1 Sustainability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SSP1-1.9</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SSP1-2.6</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SSP2 Middle of the road</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SSP2-4.5</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SSP3 Regional rivalry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SSP3-7.0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SSP5 Fossil-fuelled</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SSP5-8.5</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bl>
          </a:graphicData>
        </a:graphic>
      </p:graphicFrame>
      <p:sp>
        <p:nvSpPr>
          <p:cNvPr id="6" name="caption pill"/>
          <p:cNvSpPr/>
          <p:nvPr/>
        </p:nvSpPr>
        <p:spPr>
          <a:xfrm>
            <a:off x="548640" y="5038344"/>
            <a:ext cx="11094415" cy="640080"/>
          </a:xfrm>
          <a:prstGeom prst="roundRect">
            <a:avLst>
              <a:gd name="adj" fmla="val 17143"/>
            </a:avLst>
          </a:prstGeom>
          <a:solidFill>
            <a:srgbClr val="E6F2F0"/>
          </a:solidFill>
          <a:ln w="12700">
            <a:solidFill>
              <a:srgbClr val="E6F2F0"/>
            </a:solidFill>
            <a:prstDash val="solid"/>
          </a:ln>
        </p:spPr>
      </p:sp>
      <p:sp>
        <p:nvSpPr>
          <p:cNvPr id="7" name="icon circle"/>
          <p:cNvSpPr/>
          <p:nvPr/>
        </p:nvSpPr>
        <p:spPr>
          <a:xfrm>
            <a:off x="685800" y="5148072"/>
            <a:ext cx="420624" cy="420624"/>
          </a:xfrm>
          <a:prstGeom prst="ellipse">
            <a:avLst/>
          </a:prstGeom>
          <a:solidFill>
            <a:srgbClr val="0F766E"/>
          </a:solidFill>
          <a:ln w="12700">
            <a:solidFill>
              <a:srgbClr val="0F766E"/>
            </a:solidFill>
            <a:prstDash val="solid"/>
          </a:ln>
        </p:spPr>
      </p:sp>
      <p:pic>
        <p:nvPicPr>
          <p:cNvPr id="8" name="icon" descr="preencoded.png">    </p:cNvPr>
          <p:cNvPicPr>
            <a:picLocks noChangeAspect="1"/>
          </p:cNvPicPr>
          <p:nvPr/>
        </p:nvPicPr>
        <p:blipFill>
          <a:blip r:embed="rId1"/>
          <a:stretch>
            <a:fillRect/>
          </a:stretch>
        </p:blipFill>
        <p:spPr>
          <a:xfrm>
            <a:off x="795162" y="5257434"/>
            <a:ext cx="201900" cy="201900"/>
          </a:xfrm>
          <a:prstGeom prst="rect">
            <a:avLst/>
          </a:prstGeom>
        </p:spPr>
      </p:pic>
      <p:sp>
        <p:nvSpPr>
          <p:cNvPr id="9" name="Text 4"/>
          <p:cNvSpPr txBox="1"/>
          <p:nvPr/>
        </p:nvSpPr>
        <p:spPr>
          <a:xfrm>
            <a:off x="1280160" y="5038344"/>
            <a:ext cx="10180015" cy="640080"/>
          </a:xfrm>
          <a:prstGeom prst="rect">
            <a:avLst/>
          </a:prstGeom>
          <a:noFill/>
          <a:ln/>
        </p:spPr>
        <p:txBody>
          <a:bodyPr wrap="square" lIns="0" tIns="0" rIns="0" bIns="0" rtlCol="0" anchor="ctr"/>
          <a:lstStyle/>
          <a:p>
            <a:pPr indent="0" marL="0">
              <a:buNone/>
            </a:pPr>
            <a:r>
              <a:rPr lang="en-US" sz="1600" dirty="0">
                <a:solidFill>
                  <a:srgbClr val="0B5550"/>
                </a:solidFill>
                <a:latin typeface="Calibri" pitchFamily="34" charset="0"/>
                <a:ea typeface="Calibri" pitchFamily="34" charset="-122"/>
                <a:cs typeface="Calibri" pitchFamily="34" charset="-120"/>
              </a:rPr>
              <a:t>Columns: forcing in 2100 (W/m²). Filled cells: the five headline scenarios in IPCC AR6 climate runs.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QUICK CHECK · THINK, THEN VOTE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What does the 7.0 in SSP3-7.0 mean?</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7.0 °C of warming</a:t>
            </a:r>
            <a:endParaRPr lang="en-US" sz="2000" dirty="0"/>
          </a:p>
        </p:txBody>
      </p:sp>
      <p:sp>
        <p:nvSpPr>
          <p:cNvPr id="9" name="option"/>
          <p:cNvSpPr/>
          <p:nvPr/>
        </p:nvSpPr>
        <p:spPr>
          <a:xfrm>
            <a:off x="6233008"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6507328"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7.0 W/m² of forcing in 2100</a:t>
            </a:r>
            <a:endParaRPr lang="en-US" sz="2000" dirty="0"/>
          </a:p>
        </p:txBody>
      </p:sp>
      <p:sp>
        <p:nvSpPr>
          <p:cNvPr id="12"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3" name="number badge"/>
          <p:cNvSpPr txBox="1"/>
          <p:nvPr/>
        </p:nvSpPr>
        <p:spPr>
          <a:xfrm>
            <a:off x="822960"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4" name="Text 11"/>
          <p:cNvSpPr txBox="1"/>
          <p:nvPr/>
        </p:nvSpPr>
        <p:spPr>
          <a:xfrm>
            <a:off x="1554480"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7 billion people</a:t>
            </a:r>
            <a:endParaRPr lang="en-US" sz="2000" dirty="0"/>
          </a:p>
        </p:txBody>
      </p:sp>
      <p:sp>
        <p:nvSpPr>
          <p:cNvPr id="15"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507328"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7" name="Text 14"/>
          <p:cNvSpPr txBox="1"/>
          <p:nvPr/>
        </p:nvSpPr>
        <p:spPr>
          <a:xfrm>
            <a:off x="7238848"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7.0 Gt of CO2 a year</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15803D"/>
                </a:solidFill>
                <a:latin typeface="Calibri" pitchFamily="34" charset="0"/>
                <a:ea typeface="Calibri" pitchFamily="34" charset="-122"/>
                <a:cs typeface="Calibri" pitchFamily="34" charset="-120"/>
              </a:rPr>
              <a:t>QUICK CHECK · ANSWER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 answer</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What does the 7.0 in SSP3-7.0 mean?</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7.0 °C of warming</a:t>
            </a:r>
            <a:endParaRPr lang="en-US" sz="2000" dirty="0"/>
          </a:p>
        </p:txBody>
      </p:sp>
      <p:sp>
        <p:nvSpPr>
          <p:cNvPr id="9" name="option"/>
          <p:cNvSpPr/>
          <p:nvPr/>
        </p:nvSpPr>
        <p:spPr>
          <a:xfrm>
            <a:off x="6233008" y="2697480"/>
            <a:ext cx="5410048" cy="1325880"/>
          </a:xfrm>
          <a:prstGeom prst="roundRect">
            <a:avLst>
              <a:gd name="adj" fmla="val 8276"/>
            </a:avLst>
          </a:prstGeom>
          <a:solidFill>
            <a:srgbClr val="E7F5EC"/>
          </a:solidFill>
          <a:ln w="12700">
            <a:solidFill>
              <a:srgbClr val="E7F5EC"/>
            </a:solidFill>
            <a:prstDash val="solid"/>
          </a:ln>
        </p:spPr>
      </p:sp>
      <p:sp>
        <p:nvSpPr>
          <p:cNvPr id="10" name="number badge"/>
          <p:cNvSpPr txBox="1"/>
          <p:nvPr/>
        </p:nvSpPr>
        <p:spPr>
          <a:xfrm>
            <a:off x="6507328" y="3086100"/>
            <a:ext cx="548640" cy="548640"/>
          </a:xfrm>
          <a:prstGeom prst="ellipse">
            <a:avLst/>
          </a:prstGeom>
          <a:solidFill>
            <a:srgbClr val="15803D"/>
          </a:solidFill>
          <a:ln>
            <a:solidFill>
              <a:srgbClr val="15803D"/>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3626968" cy="1325880"/>
          </a:xfrm>
          <a:prstGeom prst="rect">
            <a:avLst/>
          </a:prstGeom>
          <a:noFill/>
          <a:ln/>
        </p:spPr>
        <p:txBody>
          <a:bodyPr wrap="square" lIns="0" tIns="0" rIns="0" bIns="0" rtlCol="0" anchor="ctr"/>
          <a:lstStyle/>
          <a:p>
            <a:pPr indent="0" marL="0">
              <a:buNone/>
            </a:pPr>
            <a:r>
              <a:rPr lang="en-US" sz="2000" b="1" dirty="0">
                <a:solidFill>
                  <a:srgbClr val="1F2933"/>
                </a:solidFill>
                <a:latin typeface="Calibri" pitchFamily="34" charset="0"/>
                <a:ea typeface="Calibri" pitchFamily="34" charset="-122"/>
                <a:cs typeface="Calibri" pitchFamily="34" charset="-120"/>
              </a:rPr>
              <a:t>7.0 W/m² of forcing in 2100</a:t>
            </a:r>
            <a:endParaRPr lang="en-US" sz="2000" dirty="0"/>
          </a:p>
        </p:txBody>
      </p:sp>
      <p:sp>
        <p:nvSpPr>
          <p:cNvPr id="12" name="icon circle"/>
          <p:cNvSpPr/>
          <p:nvPr/>
        </p:nvSpPr>
        <p:spPr>
          <a:xfrm>
            <a:off x="11048695" y="2834640"/>
            <a:ext cx="411480" cy="411480"/>
          </a:xfrm>
          <a:prstGeom prst="ellipse">
            <a:avLst/>
          </a:prstGeom>
          <a:solidFill>
            <a:srgbClr val="15803D"/>
          </a:solidFill>
          <a:ln w="12700">
            <a:solidFill>
              <a:srgbClr val="15803D"/>
            </a:solidFill>
            <a:prstDash val="solid"/>
          </a:ln>
        </p:spPr>
      </p:sp>
      <p:pic>
        <p:nvPicPr>
          <p:cNvPr id="13" name="icon" descr="preencoded.png">    </p:cNvPr>
          <p:cNvPicPr>
            <a:picLocks noChangeAspect="1"/>
          </p:cNvPicPr>
          <p:nvPr/>
        </p:nvPicPr>
        <p:blipFill>
          <a:blip r:embed="rId1"/>
          <a:stretch>
            <a:fillRect/>
          </a:stretch>
        </p:blipFill>
        <p:spPr>
          <a:xfrm>
            <a:off x="11155680" y="2941625"/>
            <a:ext cx="197510" cy="197510"/>
          </a:xfrm>
          <a:prstGeom prst="rect">
            <a:avLst/>
          </a:prstGeom>
        </p:spPr>
      </p:pic>
      <p:sp>
        <p:nvSpPr>
          <p:cNvPr id="14"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822960"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6" name="Text 12"/>
          <p:cNvSpPr txBox="1"/>
          <p:nvPr/>
        </p:nvSpPr>
        <p:spPr>
          <a:xfrm>
            <a:off x="1554480"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7 billion people</a:t>
            </a:r>
            <a:endParaRPr lang="en-US" sz="2000" dirty="0"/>
          </a:p>
        </p:txBody>
      </p:sp>
      <p:sp>
        <p:nvSpPr>
          <p:cNvPr id="17"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6507328"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9" name="Text 15"/>
          <p:cNvSpPr txBox="1"/>
          <p:nvPr/>
        </p:nvSpPr>
        <p:spPr>
          <a:xfrm>
            <a:off x="7238848"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7.0 Gt of CO2 a year</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SIDE BY SIDE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IPCC AR6 sorts pathways by warming</a:t>
            </a:r>
            <a:endParaRPr lang="en-US" sz="32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5547208"/>
                <a:gridCol w="5547208"/>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Category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Warming outcome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C1</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1.5 °C (&gt;50%), little or no overshoot</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C2</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Back to 1.5 °C after high overshoot</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C3</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Below 2 °C (&gt;67% chance)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C4 to C6</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2 °C, 2.5 °C, 3 °C (&gt;50%)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C7 and C8</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Below 4 °C, or above 4 °C</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bl>
          </a:graphicData>
        </a:graphic>
      </p:graphicFrame>
      <p:sp>
        <p:nvSpPr>
          <p:cNvPr id="6" name="caption pill"/>
          <p:cNvSpPr/>
          <p:nvPr/>
        </p:nvSpPr>
        <p:spPr>
          <a:xfrm>
            <a:off x="548640" y="4617720"/>
            <a:ext cx="11094415" cy="640080"/>
          </a:xfrm>
          <a:prstGeom prst="roundRect">
            <a:avLst>
              <a:gd name="adj" fmla="val 17143"/>
            </a:avLst>
          </a:prstGeom>
          <a:solidFill>
            <a:srgbClr val="E6F2F0"/>
          </a:solidFill>
          <a:ln w="12700">
            <a:solidFill>
              <a:srgbClr val="E6F2F0"/>
            </a:solidFill>
            <a:prstDash val="solid"/>
          </a:ln>
        </p:spPr>
      </p:sp>
      <p:sp>
        <p:nvSpPr>
          <p:cNvPr id="7" name="icon circle"/>
          <p:cNvSpPr/>
          <p:nvPr/>
        </p:nvSpPr>
        <p:spPr>
          <a:xfrm>
            <a:off x="685800" y="4727448"/>
            <a:ext cx="420624" cy="420624"/>
          </a:xfrm>
          <a:prstGeom prst="ellipse">
            <a:avLst/>
          </a:prstGeom>
          <a:solidFill>
            <a:srgbClr val="0F766E"/>
          </a:solidFill>
          <a:ln w="12700">
            <a:solidFill>
              <a:srgbClr val="0F766E"/>
            </a:solidFill>
            <a:prstDash val="solid"/>
          </a:ln>
        </p:spPr>
      </p:sp>
      <p:pic>
        <p:nvPicPr>
          <p:cNvPr id="8" name="icon" descr="preencoded.png">    </p:cNvPr>
          <p:cNvPicPr>
            <a:picLocks noChangeAspect="1"/>
          </p:cNvPicPr>
          <p:nvPr/>
        </p:nvPicPr>
        <p:blipFill>
          <a:blip r:embed="rId1"/>
          <a:stretch>
            <a:fillRect/>
          </a:stretch>
        </p:blipFill>
        <p:spPr>
          <a:xfrm>
            <a:off x="795162" y="4836810"/>
            <a:ext cx="201900" cy="201900"/>
          </a:xfrm>
          <a:prstGeom prst="rect">
            <a:avLst/>
          </a:prstGeom>
        </p:spPr>
      </p:pic>
      <p:sp>
        <p:nvSpPr>
          <p:cNvPr id="9" name="Text 4"/>
          <p:cNvSpPr txBox="1"/>
          <p:nvPr/>
        </p:nvSpPr>
        <p:spPr>
          <a:xfrm>
            <a:off x="1280160" y="4617720"/>
            <a:ext cx="10180015" cy="640080"/>
          </a:xfrm>
          <a:prstGeom prst="rect">
            <a:avLst/>
          </a:prstGeom>
          <a:noFill/>
          <a:ln/>
        </p:spPr>
        <p:txBody>
          <a:bodyPr wrap="square" lIns="0" tIns="0" rIns="0" bIns="0" rtlCol="0" anchor="ctr"/>
          <a:lstStyle/>
          <a:p>
            <a:pPr indent="0" marL="0">
              <a:buNone/>
            </a:pPr>
            <a:r>
              <a:rPr lang="en-US" sz="1600" dirty="0">
                <a:solidFill>
                  <a:srgbClr val="0B5550"/>
                </a:solidFill>
                <a:latin typeface="Calibri" pitchFamily="34" charset="0"/>
                <a:ea typeface="Calibri" pitchFamily="34" charset="-122"/>
                <a:cs typeface="Calibri" pitchFamily="34" charset="-120"/>
              </a:rPr>
              <a:t>About 1,200 pathways in the 2022 report. Check category wording against AR6 WGIII before teaching.</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HOW IT WORKS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Four questions for any scenario chart</a:t>
            </a:r>
            <a:endParaRPr lang="en-US" sz="3200" dirty="0"/>
          </a:p>
        </p:txBody>
      </p:sp>
      <p:sp>
        <p:nvSpPr>
          <p:cNvPr id="5" name="step card"/>
          <p:cNvSpPr/>
          <p:nvPr/>
        </p:nvSpPr>
        <p:spPr>
          <a:xfrm>
            <a:off x="548640"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77724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777240"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Which model?</a:t>
            </a:r>
            <a:endParaRPr lang="en-US" sz="1800" dirty="0"/>
          </a:p>
        </p:txBody>
      </p:sp>
      <p:sp>
        <p:nvSpPr>
          <p:cNvPr id="8" name="Text 5"/>
          <p:cNvSpPr txBox="1"/>
          <p:nvPr/>
        </p:nvSpPr>
        <p:spPr>
          <a:xfrm>
            <a:off x="777240" y="3246120"/>
            <a:ext cx="1934642" cy="141732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The same policy gives different results in different models</a:t>
            </a:r>
            <a:endParaRPr lang="en-US" sz="1800" dirty="0"/>
          </a:p>
        </p:txBody>
      </p:sp>
      <p:sp>
        <p:nvSpPr>
          <p:cNvPr id="9" name="arrow"/>
          <p:cNvSpPr/>
          <p:nvPr/>
        </p:nvSpPr>
        <p:spPr>
          <a:xfrm>
            <a:off x="2958770" y="2994660"/>
            <a:ext cx="411480" cy="457200"/>
          </a:xfrm>
          <a:prstGeom prst="rightArrow">
            <a:avLst/>
          </a:prstGeom>
          <a:solidFill>
            <a:srgbClr val="C9E4DF"/>
          </a:solidFill>
          <a:ln w="12700">
            <a:solidFill>
              <a:srgbClr val="C9E4DF"/>
            </a:solidFill>
            <a:prstDash val="solid"/>
          </a:ln>
        </p:spPr>
      </p:sp>
      <p:sp>
        <p:nvSpPr>
          <p:cNvPr id="10" name="step card"/>
          <p:cNvSpPr/>
          <p:nvPr/>
        </p:nvSpPr>
        <p:spPr>
          <a:xfrm>
            <a:off x="3479978"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1" name="number badge"/>
          <p:cNvSpPr txBox="1"/>
          <p:nvPr/>
        </p:nvSpPr>
        <p:spPr>
          <a:xfrm>
            <a:off x="3708578"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3708578"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Which society?</a:t>
            </a:r>
            <a:endParaRPr lang="en-US" sz="1800" dirty="0"/>
          </a:p>
        </p:txBody>
      </p:sp>
      <p:sp>
        <p:nvSpPr>
          <p:cNvPr id="13" name="Text 10"/>
          <p:cNvSpPr txBox="1"/>
          <p:nvPr/>
        </p:nvSpPr>
        <p:spPr>
          <a:xfrm>
            <a:off x="3708578" y="3246120"/>
            <a:ext cx="1934642" cy="141732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Population, income and costs drive the result</a:t>
            </a:r>
            <a:endParaRPr lang="en-US" sz="1800" dirty="0"/>
          </a:p>
        </p:txBody>
      </p:sp>
      <p:sp>
        <p:nvSpPr>
          <p:cNvPr id="14" name="arrow"/>
          <p:cNvSpPr/>
          <p:nvPr/>
        </p:nvSpPr>
        <p:spPr>
          <a:xfrm>
            <a:off x="5890108" y="2994660"/>
            <a:ext cx="411480" cy="457200"/>
          </a:xfrm>
          <a:prstGeom prst="rightArrow">
            <a:avLst/>
          </a:prstGeom>
          <a:solidFill>
            <a:srgbClr val="C9E4DF"/>
          </a:solidFill>
          <a:ln w="12700">
            <a:solidFill>
              <a:srgbClr val="C9E4DF"/>
            </a:solidFill>
            <a:prstDash val="solid"/>
          </a:ln>
        </p:spPr>
      </p:sp>
      <p:sp>
        <p:nvSpPr>
          <p:cNvPr id="15" name="step card"/>
          <p:cNvSpPr/>
          <p:nvPr/>
        </p:nvSpPr>
        <p:spPr>
          <a:xfrm>
            <a:off x="6411316"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639916"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6639916"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Reference or policy?</a:t>
            </a:r>
            <a:endParaRPr lang="en-US" sz="1800" dirty="0"/>
          </a:p>
        </p:txBody>
      </p:sp>
      <p:sp>
        <p:nvSpPr>
          <p:cNvPr id="18" name="Text 15"/>
          <p:cNvSpPr txBox="1"/>
          <p:nvPr/>
        </p:nvSpPr>
        <p:spPr>
          <a:xfrm>
            <a:off x="6639916" y="3246120"/>
            <a:ext cx="1934642" cy="141732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A reference case is not a prediction</a:t>
            </a:r>
            <a:endParaRPr lang="en-US" sz="1800" dirty="0"/>
          </a:p>
        </p:txBody>
      </p:sp>
      <p:sp>
        <p:nvSpPr>
          <p:cNvPr id="19" name="arrow"/>
          <p:cNvSpPr/>
          <p:nvPr/>
        </p:nvSpPr>
        <p:spPr>
          <a:xfrm>
            <a:off x="8821445" y="2994660"/>
            <a:ext cx="411480" cy="457200"/>
          </a:xfrm>
          <a:prstGeom prst="rightArrow">
            <a:avLst/>
          </a:prstGeom>
          <a:solidFill>
            <a:srgbClr val="C9E4DF"/>
          </a:solidFill>
          <a:ln w="12700">
            <a:solidFill>
              <a:srgbClr val="C9E4DF"/>
            </a:solidFill>
            <a:prstDash val="solid"/>
          </a:ln>
        </p:spPr>
      </p:sp>
      <p:sp>
        <p:nvSpPr>
          <p:cNvPr id="20" name="step card"/>
          <p:cNvSpPr/>
          <p:nvPr/>
        </p:nvSpPr>
        <p:spPr>
          <a:xfrm>
            <a:off x="9342653"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21" name="number badge"/>
          <p:cNvSpPr txBox="1"/>
          <p:nvPr/>
        </p:nvSpPr>
        <p:spPr>
          <a:xfrm>
            <a:off x="9571253" y="192024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19"/>
          <p:cNvSpPr txBox="1"/>
          <p:nvPr/>
        </p:nvSpPr>
        <p:spPr>
          <a:xfrm>
            <a:off x="9571253"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What is hidden?</a:t>
            </a:r>
            <a:endParaRPr lang="en-US" sz="1800" dirty="0"/>
          </a:p>
        </p:txBody>
      </p:sp>
      <p:sp>
        <p:nvSpPr>
          <p:cNvPr id="23" name="Text 20"/>
          <p:cNvSpPr txBox="1"/>
          <p:nvPr/>
        </p:nvSpPr>
        <p:spPr>
          <a:xfrm>
            <a:off x="9571253" y="3246120"/>
            <a:ext cx="1934642" cy="141732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A spread across models is not a probability</a:t>
            </a:r>
            <a:endParaRPr lang="en-US" sz="1800" dirty="0"/>
          </a:p>
        </p:txBody>
      </p:sp>
      <p:sp>
        <p:nvSpPr>
          <p:cNvPr id="24" name="formula pill"/>
          <p:cNvSpPr/>
          <p:nvPr/>
        </p:nvSpPr>
        <p:spPr>
          <a:xfrm>
            <a:off x="548640" y="5074920"/>
            <a:ext cx="11094415" cy="777240"/>
          </a:xfrm>
          <a:prstGeom prst="roundRect">
            <a:avLst>
              <a:gd name="adj" fmla="val 14118"/>
            </a:avLst>
          </a:prstGeom>
          <a:solidFill>
            <a:srgbClr val="E6F2F0"/>
          </a:solidFill>
          <a:ln w="12700">
            <a:solidFill>
              <a:srgbClr val="E6F2F0"/>
            </a:solidFill>
            <a:prstDash val="solid"/>
          </a:ln>
        </p:spPr>
      </p:sp>
      <p:sp>
        <p:nvSpPr>
          <p:cNvPr id="25" name="Text 22"/>
          <p:cNvSpPr txBox="1"/>
          <p:nvPr/>
        </p:nvSpPr>
        <p:spPr>
          <a:xfrm>
            <a:off x="822960" y="5074920"/>
            <a:ext cx="10545775" cy="777240"/>
          </a:xfrm>
          <a:prstGeom prst="rect">
            <a:avLst/>
          </a:prstGeom>
          <a:noFill/>
          <a:ln/>
        </p:spPr>
        <p:txBody>
          <a:bodyPr wrap="square" lIns="0" tIns="0" rIns="0" bIns="0" rtlCol="0" anchor="ctr"/>
          <a:lstStyle/>
          <a:p>
            <a:pPr algn="ctr" indent="0" marL="0">
              <a:buNone/>
            </a:pPr>
            <a:r>
              <a:rPr lang="en-US" sz="2200" b="1" dirty="0">
                <a:solidFill>
                  <a:srgbClr val="0B5550"/>
                </a:solidFill>
                <a:latin typeface="Calibri" pitchFamily="34" charset="0"/>
                <a:ea typeface="Calibri" pitchFamily="34" charset="-122"/>
                <a:cs typeface="Calibri" pitchFamily="34" charset="-120"/>
              </a:rPr>
              <a:t>Put a real AR6 chart on screen and answer these in pairs.</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wide to long by hand</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Two models, A and B, each report CO2 in 2030 and 2050 in wide format: A: 30, 5. B: 26, 2. Make it long, and find A's cut.</a:t>
            </a:r>
            <a:endParaRPr lang="en-US" sz="2000" dirty="0"/>
          </a:p>
        </p:txBody>
      </p:sp>
      <p:sp>
        <p:nvSpPr>
          <p:cNvPr id="9" name="number badge"/>
          <p:cNvSpPr txBox="1"/>
          <p:nvPr/>
        </p:nvSpPr>
        <p:spPr>
          <a:xfrm>
            <a:off x="548640" y="283464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1188720" y="265176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Wide: 2 rows × 2 year columns = 4 numbers</a:t>
            </a:r>
            <a:endParaRPr lang="en-US" sz="2100" dirty="0"/>
          </a:p>
        </p:txBody>
      </p:sp>
      <p:sp>
        <p:nvSpPr>
          <p:cNvPr id="11" name="number badge"/>
          <p:cNvSpPr txBox="1"/>
          <p:nvPr/>
        </p:nvSpPr>
        <p:spPr>
          <a:xfrm>
            <a:off x="548640" y="361188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1188720" y="342900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Long: one row per number, so 4 rows with columns year and value</a:t>
            </a:r>
            <a:endParaRPr lang="en-US" sz="2100" dirty="0"/>
          </a:p>
        </p:txBody>
      </p:sp>
      <p:sp>
        <p:nvSpPr>
          <p:cNvPr id="13" name="number badge"/>
          <p:cNvSpPr txBox="1"/>
          <p:nvPr/>
        </p:nvSpPr>
        <p:spPr>
          <a:xfrm>
            <a:off x="548640" y="438912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1188720" y="420624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Rows: A 2030 30; A 2050 5; B 2030 26; B 2050 2</a:t>
            </a:r>
            <a:endParaRPr lang="en-US" sz="2100" dirty="0"/>
          </a:p>
        </p:txBody>
      </p:sp>
      <p:sp>
        <p:nvSpPr>
          <p:cNvPr id="15" name="number badge"/>
          <p:cNvSpPr txBox="1"/>
          <p:nvPr/>
        </p:nvSpPr>
        <p:spPr>
          <a:xfrm>
            <a:off x="548640" y="516636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2"/>
          <p:cNvSpPr txBox="1"/>
          <p:nvPr/>
        </p:nvSpPr>
        <p:spPr>
          <a:xfrm>
            <a:off x="1188720" y="498348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A's cut: (30 − 5) ÷ 30 = 25 ÷ 30 ≈ 0.83, so 83% lower in 2050</a:t>
            </a:r>
            <a:endParaRPr lang="en-US" sz="2100" dirty="0"/>
          </a:p>
        </p:txBody>
      </p:sp>
      <p:sp>
        <p:nvSpPr>
          <p:cNvPr id="17" name="answer card"/>
          <p:cNvSpPr/>
          <p:nvPr/>
        </p:nvSpPr>
        <p:spPr>
          <a:xfrm>
            <a:off x="8686800" y="2651760"/>
            <a:ext cx="2956255" cy="3520440"/>
          </a:xfrm>
          <a:prstGeom prst="roundRect">
            <a:avLst>
              <a:gd name="adj" fmla="val 3712"/>
            </a:avLst>
          </a:prstGeom>
          <a:solidFill>
            <a:srgbClr val="FCEDE5"/>
          </a:solidFill>
          <a:ln w="12700">
            <a:solidFill>
              <a:srgbClr val="FCEDE5"/>
            </a:solidFill>
            <a:prstDash val="solid"/>
          </a:ln>
        </p:spPr>
      </p:sp>
      <p:sp>
        <p:nvSpPr>
          <p:cNvPr id="18" name="icon circle"/>
          <p:cNvSpPr/>
          <p:nvPr/>
        </p:nvSpPr>
        <p:spPr>
          <a:xfrm>
            <a:off x="8961120" y="2926080"/>
            <a:ext cx="548640" cy="548640"/>
          </a:xfrm>
          <a:prstGeom prst="ellipse">
            <a:avLst/>
          </a:prstGeom>
          <a:solidFill>
            <a:srgbClr val="C2410C"/>
          </a:solidFill>
          <a:ln w="12700">
            <a:solidFill>
              <a:srgbClr val="C2410C"/>
            </a:solidFill>
            <a:prstDash val="solid"/>
          </a:ln>
        </p:spPr>
      </p:sp>
      <p:pic>
        <p:nvPicPr>
          <p:cNvPr id="19" name="icon" descr="preencoded.png">    </p:cNvPr>
          <p:cNvPicPr>
            <a:picLocks noChangeAspect="1"/>
          </p:cNvPicPr>
          <p:nvPr/>
        </p:nvPicPr>
        <p:blipFill>
          <a:blip r:embed="rId2"/>
          <a:stretch>
            <a:fillRect/>
          </a:stretch>
        </p:blipFill>
        <p:spPr>
          <a:xfrm>
            <a:off x="9103766" y="3068726"/>
            <a:ext cx="263347" cy="263347"/>
          </a:xfrm>
          <a:prstGeom prst="rect">
            <a:avLst/>
          </a:prstGeom>
        </p:spPr>
      </p:pic>
      <p:sp>
        <p:nvSpPr>
          <p:cNvPr id="20" name="Text 15"/>
          <p:cNvSpPr txBox="1"/>
          <p:nvPr/>
        </p:nvSpPr>
        <p:spPr>
          <a:xfrm>
            <a:off x="9646920" y="2971800"/>
            <a:ext cx="1858975" cy="457200"/>
          </a:xfrm>
          <a:prstGeom prst="rect">
            <a:avLst/>
          </a:prstGeom>
          <a:noFill/>
          <a:ln/>
        </p:spPr>
        <p:txBody>
          <a:bodyPr wrap="square" lIns="0" tIns="0" rIns="0" bIns="0" rtlCol="0" anchor="t"/>
          <a:lstStyle/>
          <a:p>
            <a:pPr indent="0" marL="0">
              <a:buNone/>
            </a:pPr>
            <a:r>
              <a:rPr lang="en-US" sz="1800" b="1" dirty="0">
                <a:solidFill>
                  <a:srgbClr val="C2410C"/>
                </a:solidFill>
                <a:latin typeface="Calibri" pitchFamily="34" charset="0"/>
                <a:ea typeface="Calibri" pitchFamily="34" charset="-122"/>
                <a:cs typeface="Calibri" pitchFamily="34" charset="-120"/>
              </a:rPr>
              <a:t>Answer</a:t>
            </a:r>
            <a:endParaRPr lang="en-US" sz="1800" dirty="0"/>
          </a:p>
        </p:txBody>
      </p:sp>
      <p:sp>
        <p:nvSpPr>
          <p:cNvPr id="21" name="Text 16"/>
          <p:cNvSpPr txBox="1"/>
          <p:nvPr/>
        </p:nvSpPr>
        <p:spPr>
          <a:xfrm>
            <a:off x="8961120" y="3703320"/>
            <a:ext cx="2407615" cy="2286000"/>
          </a:xfrm>
          <a:prstGeom prst="rect">
            <a:avLst/>
          </a:prstGeom>
          <a:noFill/>
          <a:ln/>
        </p:spPr>
        <p:txBody>
          <a:bodyPr wrap="square" lIns="0" tIns="0" rIns="0" bIns="0" rtlCol="0" anchor="t"/>
          <a:lstStyle/>
          <a:p>
            <a:pPr indent="0" marL="0">
              <a:buNone/>
            </a:pPr>
            <a:r>
              <a:rPr lang="en-US" sz="2600" b="1" dirty="0">
                <a:solidFill>
                  <a:srgbClr val="12263A"/>
                </a:solidFill>
                <a:latin typeface="Cambria" pitchFamily="34" charset="0"/>
                <a:ea typeface="Cambria" pitchFamily="34" charset="-122"/>
                <a:cs typeface="Cambria" pitchFamily="34" charset="-120"/>
              </a:rPr>
              <a:t>4 long rows; model A cuts CO2 by about 83% from 2030 to 2050</a:t>
            </a:r>
            <a:endParaRPr lang="en-US" sz="2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B91C1C"/>
                </a:solidFill>
                <a:latin typeface="Calibri" pitchFamily="34" charset="0"/>
                <a:ea typeface="Calibri" pitchFamily="34" charset="-122"/>
                <a:cs typeface="Calibri" pitchFamily="34" charset="-120"/>
              </a:rPr>
              <a:t>WATCH OUT</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Common mix-ups</a:t>
            </a:r>
            <a:endParaRPr lang="en-US" sz="3200" dirty="0"/>
          </a:p>
        </p:txBody>
      </p:sp>
      <p:sp>
        <p:nvSpPr>
          <p:cNvPr id="5" name="Text 2"/>
          <p:cNvSpPr txBox="1"/>
          <p:nvPr/>
        </p:nvSpPr>
        <p:spPr>
          <a:xfrm>
            <a:off x="1143000" y="1508760"/>
            <a:ext cx="2743200" cy="320040"/>
          </a:xfrm>
          <a:prstGeom prst="rect">
            <a:avLst/>
          </a:prstGeom>
          <a:noFill/>
          <a:ln/>
        </p:spPr>
        <p:txBody>
          <a:bodyPr wrap="square" lIns="0" tIns="0" rIns="0" bIns="0" rtlCol="0" anchor="t"/>
          <a:lstStyle/>
          <a:p>
            <a:pPr indent="0" marL="0">
              <a:buNone/>
            </a:pPr>
            <a:r>
              <a:rPr lang="en-US" sz="1400" b="1" dirty="0">
                <a:solidFill>
                  <a:srgbClr val="B91C1C"/>
                </a:solidFill>
                <a:latin typeface="Calibri" pitchFamily="34" charset="0"/>
                <a:ea typeface="Calibri" pitchFamily="34" charset="-122"/>
                <a:cs typeface="Calibri" pitchFamily="34" charset="-120"/>
              </a:rPr>
              <a:t>Not quite</a:t>
            </a:r>
            <a:endParaRPr lang="en-US" sz="1400" dirty="0"/>
          </a:p>
        </p:txBody>
      </p:sp>
      <p:sp>
        <p:nvSpPr>
          <p:cNvPr id="6" name="Text 3"/>
          <p:cNvSpPr txBox="1"/>
          <p:nvPr/>
        </p:nvSpPr>
        <p:spPr>
          <a:xfrm>
            <a:off x="6827368" y="1508760"/>
            <a:ext cx="2743200" cy="320040"/>
          </a:xfrm>
          <a:prstGeom prst="rect">
            <a:avLst/>
          </a:prstGeom>
          <a:noFill/>
          <a:ln/>
        </p:spPr>
        <p:txBody>
          <a:bodyPr wrap="square" lIns="0" tIns="0" rIns="0" bIns="0" rtlCol="0" anchor="t"/>
          <a:lstStyle/>
          <a:p>
            <a:pPr indent="0" marL="0">
              <a:buNone/>
            </a:pPr>
            <a:r>
              <a:rPr lang="en-US" sz="1400" b="1" dirty="0">
                <a:solidFill>
                  <a:srgbClr val="15803D"/>
                </a:solidFill>
                <a:latin typeface="Calibri" pitchFamily="34" charset="0"/>
                <a:ea typeface="Calibri" pitchFamily="34" charset="-122"/>
                <a:cs typeface="Calibri" pitchFamily="34" charset="-120"/>
              </a:rPr>
              <a:t>Better</a:t>
            </a:r>
            <a:endParaRPr lang="en-US" sz="1400" dirty="0"/>
          </a:p>
        </p:txBody>
      </p:sp>
      <p:sp>
        <p:nvSpPr>
          <p:cNvPr id="7" name="wrong card"/>
          <p:cNvSpPr/>
          <p:nvPr/>
        </p:nvSpPr>
        <p:spPr>
          <a:xfrm>
            <a:off x="548640" y="1920240"/>
            <a:ext cx="5410048" cy="1249680"/>
          </a:xfrm>
          <a:prstGeom prst="roundRect">
            <a:avLst>
              <a:gd name="adj" fmla="val 8780"/>
            </a:avLst>
          </a:prstGeom>
          <a:solidFill>
            <a:srgbClr val="FDECEC"/>
          </a:solidFill>
          <a:ln w="12700">
            <a:solidFill>
              <a:srgbClr val="FDECEC"/>
            </a:solidFill>
            <a:prstDash val="solid"/>
          </a:ln>
        </p:spPr>
      </p:sp>
      <p:sp>
        <p:nvSpPr>
          <p:cNvPr id="8" name="right card"/>
          <p:cNvSpPr/>
          <p:nvPr/>
        </p:nvSpPr>
        <p:spPr>
          <a:xfrm>
            <a:off x="6233008" y="1920240"/>
            <a:ext cx="5410048" cy="1249680"/>
          </a:xfrm>
          <a:prstGeom prst="roundRect">
            <a:avLst>
              <a:gd name="adj" fmla="val 8780"/>
            </a:avLst>
          </a:prstGeom>
          <a:solidFill>
            <a:srgbClr val="E7F5EC"/>
          </a:solidFill>
          <a:ln w="12700">
            <a:solidFill>
              <a:srgbClr val="E7F5EC"/>
            </a:solidFill>
            <a:prstDash val="solid"/>
          </a:ln>
        </p:spPr>
      </p:sp>
      <p:sp>
        <p:nvSpPr>
          <p:cNvPr id="9" name="icon circle"/>
          <p:cNvSpPr/>
          <p:nvPr/>
        </p:nvSpPr>
        <p:spPr>
          <a:xfrm>
            <a:off x="685800" y="2339340"/>
            <a:ext cx="411480" cy="411480"/>
          </a:xfrm>
          <a:prstGeom prst="ellipse">
            <a:avLst/>
          </a:prstGeom>
          <a:solidFill>
            <a:srgbClr val="B91C1C"/>
          </a:solidFill>
          <a:ln w="12700">
            <a:solidFill>
              <a:srgbClr val="B91C1C"/>
            </a:solidFill>
            <a:prstDash val="solid"/>
          </a:ln>
        </p:spPr>
      </p:sp>
      <p:pic>
        <p:nvPicPr>
          <p:cNvPr id="10" name="icon" descr="preencoded.png">    </p:cNvPr>
          <p:cNvPicPr>
            <a:picLocks noChangeAspect="1"/>
          </p:cNvPicPr>
          <p:nvPr/>
        </p:nvPicPr>
        <p:blipFill>
          <a:blip r:embed="rId1"/>
          <a:stretch>
            <a:fillRect/>
          </a:stretch>
        </p:blipFill>
        <p:spPr>
          <a:xfrm>
            <a:off x="792785" y="2446325"/>
            <a:ext cx="197510" cy="197510"/>
          </a:xfrm>
          <a:prstGeom prst="rect">
            <a:avLst/>
          </a:prstGeom>
        </p:spPr>
      </p:pic>
      <p:sp>
        <p:nvSpPr>
          <p:cNvPr id="11" name="icon circle"/>
          <p:cNvSpPr/>
          <p:nvPr/>
        </p:nvSpPr>
        <p:spPr>
          <a:xfrm>
            <a:off x="6370168" y="2339340"/>
            <a:ext cx="411480" cy="411480"/>
          </a:xfrm>
          <a:prstGeom prst="ellipse">
            <a:avLst/>
          </a:prstGeom>
          <a:solidFill>
            <a:srgbClr val="15803D"/>
          </a:solidFill>
          <a:ln w="12700">
            <a:solidFill>
              <a:srgbClr val="15803D"/>
            </a:solidFill>
            <a:prstDash val="solid"/>
          </a:ln>
        </p:spPr>
      </p:sp>
      <p:pic>
        <p:nvPicPr>
          <p:cNvPr id="12" name="icon" descr="preencoded.png">    </p:cNvPr>
          <p:cNvPicPr>
            <a:picLocks noChangeAspect="1"/>
          </p:cNvPicPr>
          <p:nvPr/>
        </p:nvPicPr>
        <p:blipFill>
          <a:blip r:embed="rId2"/>
          <a:stretch>
            <a:fillRect/>
          </a:stretch>
        </p:blipFill>
        <p:spPr>
          <a:xfrm>
            <a:off x="6477152" y="2446325"/>
            <a:ext cx="197510" cy="197510"/>
          </a:xfrm>
          <a:prstGeom prst="rect">
            <a:avLst/>
          </a:prstGeom>
        </p:spPr>
      </p:pic>
      <p:sp>
        <p:nvSpPr>
          <p:cNvPr id="13" name="Text 8"/>
          <p:cNvSpPr txBox="1"/>
          <p:nvPr/>
        </p:nvSpPr>
        <p:spPr>
          <a:xfrm>
            <a:off x="1234440" y="192024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SSP2-4.5 means 4.5 °C of warming.</a:t>
            </a:r>
            <a:endParaRPr lang="en-US" sz="2100" dirty="0"/>
          </a:p>
        </p:txBody>
      </p:sp>
      <p:sp>
        <p:nvSpPr>
          <p:cNvPr id="14" name="Text 9"/>
          <p:cNvSpPr txBox="1"/>
          <p:nvPr/>
        </p:nvSpPr>
        <p:spPr>
          <a:xfrm>
            <a:off x="6918808" y="192024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4.5 is forcing in W/m². AR6 assesses SSP2-4.5 at roughly 2.7 °C by 2100.</a:t>
            </a:r>
            <a:endParaRPr lang="en-US" sz="2100" dirty="0"/>
          </a:p>
        </p:txBody>
      </p:sp>
      <p:sp>
        <p:nvSpPr>
          <p:cNvPr id="15" name="wrong card"/>
          <p:cNvSpPr/>
          <p:nvPr/>
        </p:nvSpPr>
        <p:spPr>
          <a:xfrm>
            <a:off x="548640" y="3398520"/>
            <a:ext cx="5410048" cy="1249680"/>
          </a:xfrm>
          <a:prstGeom prst="roundRect">
            <a:avLst>
              <a:gd name="adj" fmla="val 8780"/>
            </a:avLst>
          </a:prstGeom>
          <a:solidFill>
            <a:srgbClr val="FDECEC"/>
          </a:solidFill>
          <a:ln w="12700">
            <a:solidFill>
              <a:srgbClr val="FDECEC"/>
            </a:solidFill>
            <a:prstDash val="solid"/>
          </a:ln>
        </p:spPr>
      </p:sp>
      <p:sp>
        <p:nvSpPr>
          <p:cNvPr id="16" name="right card"/>
          <p:cNvSpPr/>
          <p:nvPr/>
        </p:nvSpPr>
        <p:spPr>
          <a:xfrm>
            <a:off x="6233008" y="3398520"/>
            <a:ext cx="5410048" cy="1249680"/>
          </a:xfrm>
          <a:prstGeom prst="roundRect">
            <a:avLst>
              <a:gd name="adj" fmla="val 8780"/>
            </a:avLst>
          </a:prstGeom>
          <a:solidFill>
            <a:srgbClr val="E7F5EC"/>
          </a:solidFill>
          <a:ln w="12700">
            <a:solidFill>
              <a:srgbClr val="E7F5EC"/>
            </a:solidFill>
            <a:prstDash val="solid"/>
          </a:ln>
        </p:spPr>
      </p:sp>
      <p:sp>
        <p:nvSpPr>
          <p:cNvPr id="17" name="icon circle"/>
          <p:cNvSpPr/>
          <p:nvPr/>
        </p:nvSpPr>
        <p:spPr>
          <a:xfrm>
            <a:off x="685800" y="3817620"/>
            <a:ext cx="411480" cy="411480"/>
          </a:xfrm>
          <a:prstGeom prst="ellipse">
            <a:avLst/>
          </a:prstGeom>
          <a:solidFill>
            <a:srgbClr val="B91C1C"/>
          </a:solidFill>
          <a:ln w="12700">
            <a:solidFill>
              <a:srgbClr val="B91C1C"/>
            </a:solidFill>
            <a:prstDash val="solid"/>
          </a:ln>
        </p:spPr>
      </p:sp>
      <p:pic>
        <p:nvPicPr>
          <p:cNvPr id="18" name="icon" descr="preencoded.png">    </p:cNvPr>
          <p:cNvPicPr>
            <a:picLocks noChangeAspect="1"/>
          </p:cNvPicPr>
          <p:nvPr/>
        </p:nvPicPr>
        <p:blipFill>
          <a:blip r:embed="rId3"/>
          <a:stretch>
            <a:fillRect/>
          </a:stretch>
        </p:blipFill>
        <p:spPr>
          <a:xfrm>
            <a:off x="792785" y="3924605"/>
            <a:ext cx="197510" cy="197510"/>
          </a:xfrm>
          <a:prstGeom prst="rect">
            <a:avLst/>
          </a:prstGeom>
        </p:spPr>
      </p:pic>
      <p:sp>
        <p:nvSpPr>
          <p:cNvPr id="19" name="icon circle"/>
          <p:cNvSpPr/>
          <p:nvPr/>
        </p:nvSpPr>
        <p:spPr>
          <a:xfrm>
            <a:off x="6370168" y="3817620"/>
            <a:ext cx="411480" cy="411480"/>
          </a:xfrm>
          <a:prstGeom prst="ellipse">
            <a:avLst/>
          </a:prstGeom>
          <a:solidFill>
            <a:srgbClr val="15803D"/>
          </a:solidFill>
          <a:ln w="12700">
            <a:solidFill>
              <a:srgbClr val="15803D"/>
            </a:solidFill>
            <a:prstDash val="solid"/>
          </a:ln>
        </p:spPr>
      </p:sp>
      <p:pic>
        <p:nvPicPr>
          <p:cNvPr id="20" name="icon" descr="preencoded.png">    </p:cNvPr>
          <p:cNvPicPr>
            <a:picLocks noChangeAspect="1"/>
          </p:cNvPicPr>
          <p:nvPr/>
        </p:nvPicPr>
        <p:blipFill>
          <a:blip r:embed="rId4"/>
          <a:stretch>
            <a:fillRect/>
          </a:stretch>
        </p:blipFill>
        <p:spPr>
          <a:xfrm>
            <a:off x="6477152" y="3924605"/>
            <a:ext cx="197510" cy="197510"/>
          </a:xfrm>
          <a:prstGeom prst="rect">
            <a:avLst/>
          </a:prstGeom>
        </p:spPr>
      </p:pic>
      <p:sp>
        <p:nvSpPr>
          <p:cNvPr id="21" name="Text 14"/>
          <p:cNvSpPr txBox="1"/>
          <p:nvPr/>
        </p:nvSpPr>
        <p:spPr>
          <a:xfrm>
            <a:off x="1234440" y="339852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30 of 40 models show it, so there is a 75% chance.</a:t>
            </a:r>
            <a:endParaRPr lang="en-US" sz="2100" dirty="0"/>
          </a:p>
        </p:txBody>
      </p:sp>
      <p:sp>
        <p:nvSpPr>
          <p:cNvPr id="22" name="Text 15"/>
          <p:cNvSpPr txBox="1"/>
          <p:nvPr/>
        </p:nvSpPr>
        <p:spPr>
          <a:xfrm>
            <a:off x="6918808" y="339852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Models are not a random sample of futures. Counting them does not give a probability.</a:t>
            </a:r>
            <a:endParaRPr lang="en-US" sz="2100" dirty="0"/>
          </a:p>
        </p:txBody>
      </p:sp>
      <p:sp>
        <p:nvSpPr>
          <p:cNvPr id="23" name="wrong card"/>
          <p:cNvSpPr/>
          <p:nvPr/>
        </p:nvSpPr>
        <p:spPr>
          <a:xfrm>
            <a:off x="548640" y="4876800"/>
            <a:ext cx="5410048" cy="1249680"/>
          </a:xfrm>
          <a:prstGeom prst="roundRect">
            <a:avLst>
              <a:gd name="adj" fmla="val 8780"/>
            </a:avLst>
          </a:prstGeom>
          <a:solidFill>
            <a:srgbClr val="FDECEC"/>
          </a:solidFill>
          <a:ln w="12700">
            <a:solidFill>
              <a:srgbClr val="FDECEC"/>
            </a:solidFill>
            <a:prstDash val="solid"/>
          </a:ln>
        </p:spPr>
      </p:sp>
      <p:sp>
        <p:nvSpPr>
          <p:cNvPr id="24" name="right card"/>
          <p:cNvSpPr/>
          <p:nvPr/>
        </p:nvSpPr>
        <p:spPr>
          <a:xfrm>
            <a:off x="6233008" y="4876800"/>
            <a:ext cx="5410048" cy="1249680"/>
          </a:xfrm>
          <a:prstGeom prst="roundRect">
            <a:avLst>
              <a:gd name="adj" fmla="val 8780"/>
            </a:avLst>
          </a:prstGeom>
          <a:solidFill>
            <a:srgbClr val="E7F5EC"/>
          </a:solidFill>
          <a:ln w="12700">
            <a:solidFill>
              <a:srgbClr val="E7F5EC"/>
            </a:solidFill>
            <a:prstDash val="solid"/>
          </a:ln>
        </p:spPr>
      </p:sp>
      <p:sp>
        <p:nvSpPr>
          <p:cNvPr id="25" name="icon circle"/>
          <p:cNvSpPr/>
          <p:nvPr/>
        </p:nvSpPr>
        <p:spPr>
          <a:xfrm>
            <a:off x="685800" y="5295900"/>
            <a:ext cx="411480" cy="411480"/>
          </a:xfrm>
          <a:prstGeom prst="ellipse">
            <a:avLst/>
          </a:prstGeom>
          <a:solidFill>
            <a:srgbClr val="B91C1C"/>
          </a:solidFill>
          <a:ln w="12700">
            <a:solidFill>
              <a:srgbClr val="B91C1C"/>
            </a:solidFill>
            <a:prstDash val="solid"/>
          </a:ln>
        </p:spPr>
      </p:sp>
      <p:pic>
        <p:nvPicPr>
          <p:cNvPr id="26" name="icon" descr="preencoded.png">    </p:cNvPr>
          <p:cNvPicPr>
            <a:picLocks noChangeAspect="1"/>
          </p:cNvPicPr>
          <p:nvPr/>
        </p:nvPicPr>
        <p:blipFill>
          <a:blip r:embed="rId5"/>
          <a:stretch>
            <a:fillRect/>
          </a:stretch>
        </p:blipFill>
        <p:spPr>
          <a:xfrm>
            <a:off x="792785" y="5402885"/>
            <a:ext cx="197510" cy="197510"/>
          </a:xfrm>
          <a:prstGeom prst="rect">
            <a:avLst/>
          </a:prstGeom>
        </p:spPr>
      </p:pic>
      <p:sp>
        <p:nvSpPr>
          <p:cNvPr id="27" name="icon circle"/>
          <p:cNvSpPr/>
          <p:nvPr/>
        </p:nvSpPr>
        <p:spPr>
          <a:xfrm>
            <a:off x="6370168" y="5295900"/>
            <a:ext cx="411480" cy="411480"/>
          </a:xfrm>
          <a:prstGeom prst="ellipse">
            <a:avLst/>
          </a:prstGeom>
          <a:solidFill>
            <a:srgbClr val="15803D"/>
          </a:solidFill>
          <a:ln w="12700">
            <a:solidFill>
              <a:srgbClr val="15803D"/>
            </a:solidFill>
            <a:prstDash val="solid"/>
          </a:ln>
        </p:spPr>
      </p:sp>
      <p:pic>
        <p:nvPicPr>
          <p:cNvPr id="28" name="icon" descr="preencoded.png">    </p:cNvPr>
          <p:cNvPicPr>
            <a:picLocks noChangeAspect="1"/>
          </p:cNvPicPr>
          <p:nvPr/>
        </p:nvPicPr>
        <p:blipFill>
          <a:blip r:embed="rId6"/>
          <a:stretch>
            <a:fillRect/>
          </a:stretch>
        </p:blipFill>
        <p:spPr>
          <a:xfrm>
            <a:off x="6477152" y="5402885"/>
            <a:ext cx="197510" cy="197510"/>
          </a:xfrm>
          <a:prstGeom prst="rect">
            <a:avLst/>
          </a:prstGeom>
        </p:spPr>
      </p:pic>
      <p:sp>
        <p:nvSpPr>
          <p:cNvPr id="29" name="Text 20"/>
          <p:cNvSpPr txBox="1"/>
          <p:nvPr/>
        </p:nvSpPr>
        <p:spPr>
          <a:xfrm>
            <a:off x="1234440" y="487680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The reference scenario is what will happen.</a:t>
            </a:r>
            <a:endParaRPr lang="en-US" sz="2100" dirty="0"/>
          </a:p>
        </p:txBody>
      </p:sp>
      <p:sp>
        <p:nvSpPr>
          <p:cNvPr id="30" name="Text 21"/>
          <p:cNvSpPr txBox="1"/>
          <p:nvPr/>
        </p:nvSpPr>
        <p:spPr>
          <a:xfrm>
            <a:off x="6918808" y="487680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It is what follows with no new policy, under its assumptions. It is a yardstick, not a forecast.</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IN 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Reshape and join in R</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marL="228600" indent="-228600">
              <a:spcAft>
                <a:spcPts val="800"/>
              </a:spcAft>
              <a:buSzPct val="100000"/>
              <a:buChar char="•"/>
            </a:pPr>
            <a:r>
              <a:rPr lang="en-US" sz="1900" dirty="0">
                <a:solidFill>
                  <a:srgbClr val="1F2933"/>
                </a:solidFill>
                <a:latin typeface="Calibri" pitchFamily="34" charset="0"/>
                <a:ea typeface="Calibri" pitchFamily="34" charset="-122"/>
                <a:cs typeface="Calibri" pitchFamily="34" charset="-120"/>
              </a:rPr>
              <a:t>pivot_longer turns year columns into rows</a:t>
            </a:r>
            <a:endParaRPr lang="en-US" sz="1900" dirty="0"/>
          </a:p>
          <a:p>
            <a:pPr marL="228600" indent="-228600">
              <a:spcAft>
                <a:spcPts val="800"/>
              </a:spcAft>
              <a:buSzPct val="100000"/>
              <a:buChar char="•"/>
            </a:pPr>
            <a:r>
              <a:rPr lang="en-US" sz="1900" dirty="0">
                <a:solidFill>
                  <a:srgbClr val="1F2933"/>
                </a:solidFill>
                <a:latin typeface="Calibri" pitchFamily="34" charset="0"/>
                <a:ea typeface="Calibri" pitchFamily="34" charset="-122"/>
                <a:cs typeface="Calibri" pitchFamily="34" charset="-120"/>
              </a:rPr>
              <a:t>matches("^[0-9]{4}$") means 'all the year columns'</a:t>
            </a:r>
            <a:endParaRPr lang="en-US" sz="1900" dirty="0"/>
          </a:p>
          <a:p>
            <a:pPr marL="228600" indent="-228600">
              <a:spcAft>
                <a:spcPts val="800"/>
              </a:spcAft>
              <a:buSzPct val="100000"/>
              <a:buChar char="•"/>
            </a:pPr>
            <a:r>
              <a:rPr lang="en-US" sz="1900" dirty="0">
                <a:solidFill>
                  <a:srgbClr val="1F2933"/>
                </a:solidFill>
                <a:latin typeface="Calibri" pitchFamily="34" charset="0"/>
                <a:ea typeface="Calibri" pitchFamily="34" charset="-122"/>
                <a:cs typeface="Calibri" pitchFamily="34" charset="-120"/>
              </a:rPr>
              <a:t>left_join adds each pathway's category by matching keys</a:t>
            </a:r>
            <a:endParaRPr lang="en-US" sz="19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long &lt;- ar6 |&gt;</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filter(Variable == "Emissions|CO2") |&gt;</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pivot_longer(matches("^[0-9]{4}$"),</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names_to = "year",</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values_to = "mt")</a:t>
            </a:r>
            <a:endParaRPr lang="en-US" sz="2100" dirty="0"/>
          </a:p>
          <a:p>
            <a:pPr indent="0" marL="0">
              <a:lnSpc>
                <a:spcPct val="100000"/>
              </a:lnSpc>
              <a:buNone/>
            </a:pP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both &lt;- long |&gt;</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left_join(meta,</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by = c("Model", "Scenario"))</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NEW WORDS THIS WEEK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Words to add to the class glossary</a:t>
            </a:r>
            <a:endParaRPr lang="en-US" sz="3200" dirty="0"/>
          </a:p>
        </p:txBody>
      </p:sp>
      <p:sp>
        <p:nvSpPr>
          <p:cNvPr id="5" name="term card"/>
          <p:cNvSpPr/>
          <p:nvPr/>
        </p:nvSpPr>
        <p:spPr>
          <a:xfrm>
            <a:off x="548640" y="1554480"/>
            <a:ext cx="5410048" cy="1386840"/>
          </a:xfrm>
          <a:prstGeom prst="roundRect">
            <a:avLst>
              <a:gd name="adj" fmla="val 7912"/>
            </a:avLst>
          </a:prstGeom>
          <a:solidFill>
            <a:srgbClr val="E6F2F0"/>
          </a:solidFill>
          <a:ln w="12700">
            <a:solidFill>
              <a:srgbClr val="E6F2F0"/>
            </a:solidFill>
            <a:prstDash val="solid"/>
          </a:ln>
        </p:spPr>
      </p:sp>
      <p:sp>
        <p:nvSpPr>
          <p:cNvPr id="6" name="Text 3"/>
          <p:cNvSpPr txBox="1"/>
          <p:nvPr/>
        </p:nvSpPr>
        <p:spPr>
          <a:xfrm>
            <a:off x="822960"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SSP   </a:t>
            </a:r>
            <a:pPr indent="0" marL="0">
              <a:buNone/>
            </a:pPr>
            <a:r>
              <a:rPr lang="en-US" sz="2000" dirty="0">
                <a:solidFill>
                  <a:srgbClr val="1F2933"/>
                </a:solidFill>
                <a:latin typeface="Calibri" pitchFamily="34" charset="0"/>
                <a:ea typeface="Calibri" pitchFamily="34" charset="-122"/>
                <a:cs typeface="Calibri" pitchFamily="34" charset="-120"/>
              </a:rPr>
              <a:t>Shared Socioeconomic Pathway: a story about how society develops (population, income, technology). Five stories, SSP1 to SSP5.</a:t>
            </a:r>
            <a:endParaRPr lang="en-US" sz="2000" dirty="0"/>
          </a:p>
        </p:txBody>
      </p:sp>
      <p:sp>
        <p:nvSpPr>
          <p:cNvPr id="7" name="term card"/>
          <p:cNvSpPr/>
          <p:nvPr/>
        </p:nvSpPr>
        <p:spPr>
          <a:xfrm>
            <a:off x="6233008" y="1554480"/>
            <a:ext cx="5410048" cy="1386840"/>
          </a:xfrm>
          <a:prstGeom prst="roundRect">
            <a:avLst>
              <a:gd name="adj" fmla="val 7912"/>
            </a:avLst>
          </a:prstGeom>
          <a:solidFill>
            <a:srgbClr val="F7FAF9"/>
          </a:solidFill>
          <a:ln w="12700">
            <a:solidFill>
              <a:srgbClr val="F7FAF9"/>
            </a:solidFill>
            <a:prstDash val="solid"/>
          </a:ln>
        </p:spPr>
      </p:sp>
      <p:sp>
        <p:nvSpPr>
          <p:cNvPr id="8" name="Text 5"/>
          <p:cNvSpPr txBox="1"/>
          <p:nvPr/>
        </p:nvSpPr>
        <p:spPr>
          <a:xfrm>
            <a:off x="6507328"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RCP   </a:t>
            </a:r>
            <a:pPr indent="0" marL="0">
              <a:buNone/>
            </a:pPr>
            <a:r>
              <a:rPr lang="en-US" sz="2000" dirty="0">
                <a:solidFill>
                  <a:srgbClr val="1F2933"/>
                </a:solidFill>
                <a:latin typeface="Calibri" pitchFamily="34" charset="0"/>
                <a:ea typeface="Calibri" pitchFamily="34" charset="-122"/>
                <a:cs typeface="Calibri" pitchFamily="34" charset="-120"/>
              </a:rPr>
              <a:t>Representative Concentration Pathway: a climate outcome, named by its radiative forcing in 2100 in W/m², such as 4.5.</a:t>
            </a:r>
            <a:endParaRPr lang="en-US" sz="2000" dirty="0"/>
          </a:p>
        </p:txBody>
      </p:sp>
      <p:sp>
        <p:nvSpPr>
          <p:cNvPr id="9" name="term card"/>
          <p:cNvSpPr/>
          <p:nvPr/>
        </p:nvSpPr>
        <p:spPr>
          <a:xfrm>
            <a:off x="548640" y="3169920"/>
            <a:ext cx="5410048" cy="1386840"/>
          </a:xfrm>
          <a:prstGeom prst="roundRect">
            <a:avLst>
              <a:gd name="adj" fmla="val 7912"/>
            </a:avLst>
          </a:prstGeom>
          <a:solidFill>
            <a:srgbClr val="E6F2F0"/>
          </a:solidFill>
          <a:ln w="12700">
            <a:solidFill>
              <a:srgbClr val="E6F2F0"/>
            </a:solidFill>
            <a:prstDash val="solid"/>
          </a:ln>
        </p:spPr>
      </p:sp>
      <p:sp>
        <p:nvSpPr>
          <p:cNvPr id="10" name="Text 7"/>
          <p:cNvSpPr txBox="1"/>
          <p:nvPr/>
        </p:nvSpPr>
        <p:spPr>
          <a:xfrm>
            <a:off x="822960"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Scenario matrix   </a:t>
            </a:r>
            <a:pPr indent="0" marL="0">
              <a:buNone/>
            </a:pPr>
            <a:r>
              <a:rPr lang="en-US" sz="2000" dirty="0">
                <a:solidFill>
                  <a:srgbClr val="1F2933"/>
                </a:solidFill>
                <a:latin typeface="Calibri" pitchFamily="34" charset="0"/>
                <a:ea typeface="Calibri" pitchFamily="34" charset="-122"/>
                <a:cs typeface="Calibri" pitchFamily="34" charset="-120"/>
              </a:rPr>
              <a:t>A grid with SSPs as rows and forcing levels as columns. Each filled cell is one combined scenario.</a:t>
            </a:r>
            <a:endParaRPr lang="en-US" sz="2000" dirty="0"/>
          </a:p>
        </p:txBody>
      </p:sp>
      <p:sp>
        <p:nvSpPr>
          <p:cNvPr id="11" name="term card"/>
          <p:cNvSpPr/>
          <p:nvPr/>
        </p:nvSpPr>
        <p:spPr>
          <a:xfrm>
            <a:off x="6233008" y="3169920"/>
            <a:ext cx="5410048" cy="1386840"/>
          </a:xfrm>
          <a:prstGeom prst="roundRect">
            <a:avLst>
              <a:gd name="adj" fmla="val 7912"/>
            </a:avLst>
          </a:prstGeom>
          <a:solidFill>
            <a:srgbClr val="F7FAF9"/>
          </a:solidFill>
          <a:ln w="12700">
            <a:solidFill>
              <a:srgbClr val="F7FAF9"/>
            </a:solidFill>
            <a:prstDash val="solid"/>
          </a:ln>
        </p:spPr>
      </p:sp>
      <p:sp>
        <p:nvSpPr>
          <p:cNvPr id="12" name="Text 9"/>
          <p:cNvSpPr txBox="1"/>
          <p:nvPr/>
        </p:nvSpPr>
        <p:spPr>
          <a:xfrm>
            <a:off x="6507328"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AR6 category   </a:t>
            </a:r>
            <a:pPr indent="0" marL="0">
              <a:buNone/>
            </a:pPr>
            <a:r>
              <a:rPr lang="en-US" sz="2000" dirty="0">
                <a:solidFill>
                  <a:srgbClr val="1F2933"/>
                </a:solidFill>
                <a:latin typeface="Calibri" pitchFamily="34" charset="0"/>
                <a:ea typeface="Calibri" pitchFamily="34" charset="-122"/>
                <a:cs typeface="Calibri" pitchFamily="34" charset="-120"/>
              </a:rPr>
              <a:t>The IPCC's sorting of pathways by warming outcome, from C1 (1.5 °C) to C8 (above 4 °C).</a:t>
            </a:r>
            <a:endParaRPr lang="en-US" sz="2000" dirty="0"/>
          </a:p>
        </p:txBody>
      </p:sp>
      <p:sp>
        <p:nvSpPr>
          <p:cNvPr id="13" name="term card"/>
          <p:cNvSpPr/>
          <p:nvPr/>
        </p:nvSpPr>
        <p:spPr>
          <a:xfrm>
            <a:off x="548640" y="4785360"/>
            <a:ext cx="11094415" cy="1386840"/>
          </a:xfrm>
          <a:prstGeom prst="roundRect">
            <a:avLst>
              <a:gd name="adj" fmla="val 7912"/>
            </a:avLst>
          </a:prstGeom>
          <a:solidFill>
            <a:srgbClr val="E6F2F0"/>
          </a:solidFill>
          <a:ln w="12700">
            <a:solidFill>
              <a:srgbClr val="E6F2F0"/>
            </a:solidFill>
            <a:prstDash val="solid"/>
          </a:ln>
        </p:spPr>
      </p:sp>
      <p:sp>
        <p:nvSpPr>
          <p:cNvPr id="14" name="Text 11"/>
          <p:cNvSpPr txBox="1"/>
          <p:nvPr/>
        </p:nvSpPr>
        <p:spPr>
          <a:xfrm>
            <a:off x="822960" y="4785360"/>
            <a:ext cx="10637215"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Long data   </a:t>
            </a:r>
            <a:pPr indent="0" marL="0">
              <a:buNone/>
            </a:pPr>
            <a:r>
              <a:rPr lang="en-US" sz="2000" dirty="0">
                <a:solidFill>
                  <a:srgbClr val="1F2933"/>
                </a:solidFill>
                <a:latin typeface="Calibri" pitchFamily="34" charset="0"/>
                <a:ea typeface="Calibri" pitchFamily="34" charset="-122"/>
                <a:cs typeface="Calibri" pitchFamily="34" charset="-120"/>
              </a:rPr>
              <a:t>A table with one row per observation, such as one row per model, scenario and year. ggplot needs it.</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Lab 6: reading AR6 scenarios</a:t>
            </a:r>
            <a:endParaRPr lang="en-US" sz="4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F59E6B"/>
                </a:solidFill>
                <a:latin typeface="Calibri" pitchFamily="34" charset="0"/>
                <a:ea typeface="Calibri" pitchFamily="34" charset="-122"/>
                <a:cs typeface="Calibri" pitchFamily="34" charset="-120"/>
              </a:rPr>
              <a:t>HANDS-ON LAB</a:t>
            </a:r>
            <a:endParaRPr lang="en-US" sz="1200" dirty="0"/>
          </a:p>
        </p:txBody>
      </p:sp>
      <p:sp>
        <p:nvSpPr>
          <p:cNvPr id="4" name="Text 2"/>
          <p:cNvSpPr txBox="1"/>
          <p:nvPr/>
        </p:nvSpPr>
        <p:spPr>
          <a:xfrm>
            <a:off x="548640" y="3291840"/>
            <a:ext cx="10058400" cy="1188720"/>
          </a:xfrm>
          <a:prstGeom prst="rect">
            <a:avLst/>
          </a:prstGeom>
          <a:noFill/>
          <a:ln/>
        </p:spPr>
        <p:txBody>
          <a:bodyPr wrap="square" lIns="0" tIns="0" rIns="0" bIns="0" rtlCol="0" anchor="t"/>
          <a:lstStyle/>
          <a:p>
            <a:pPr indent="0" marL="0">
              <a:buNone/>
            </a:pPr>
            <a:r>
              <a:rPr lang="en-US" sz="2300" dirty="0">
                <a:solidFill>
                  <a:srgbClr val="C9D6DF"/>
                </a:solidFill>
                <a:latin typeface="Calibri" pitchFamily="34" charset="0"/>
                <a:ea typeface="Calibri" pitchFamily="34" charset="-122"/>
                <a:cs typeface="Calibri" pitchFamily="34" charset="-120"/>
              </a:rPr>
              <a:t>Reshape AR6 scenario data from wide to long, attach each pathway's warming category, plot CO2 by category, and knit an R Markdown report.</a:t>
            </a:r>
            <a:endParaRPr lang="en-US" sz="2300" dirty="0"/>
          </a:p>
        </p:txBody>
      </p:sp>
      <p:sp>
        <p:nvSpPr>
          <p:cNvPr id="5" name="lab meta"/>
          <p:cNvSpPr/>
          <p:nvPr/>
        </p:nvSpPr>
        <p:spPr>
          <a:xfrm>
            <a:off x="548640" y="4846320"/>
            <a:ext cx="3520440" cy="731520"/>
          </a:xfrm>
          <a:prstGeom prst="roundRect">
            <a:avLst>
              <a:gd name="adj" fmla="val 15000"/>
            </a:avLst>
          </a:prstGeom>
          <a:solidFill>
            <a:srgbClr val="1D3A52"/>
          </a:solidFill>
          <a:ln w="12700">
            <a:solidFill>
              <a:srgbClr val="1D3A52"/>
            </a:solidFill>
            <a:prstDash val="solid"/>
          </a:ln>
        </p:spPr>
      </p:sp>
      <p:sp>
        <p:nvSpPr>
          <p:cNvPr id="6" name="Text 4"/>
          <p:cNvSpPr txBox="1"/>
          <p:nvPr/>
        </p:nvSpPr>
        <p:spPr>
          <a:xfrm>
            <a:off x="73152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Script: labs/lab6.R</a:t>
            </a:r>
            <a:endParaRPr lang="en-US" sz="1500" dirty="0"/>
          </a:p>
        </p:txBody>
      </p:sp>
      <p:sp>
        <p:nvSpPr>
          <p:cNvPr id="7" name="lab meta"/>
          <p:cNvSpPr/>
          <p:nvPr/>
        </p:nvSpPr>
        <p:spPr>
          <a:xfrm>
            <a:off x="4297680" y="4846320"/>
            <a:ext cx="3520440" cy="731520"/>
          </a:xfrm>
          <a:prstGeom prst="roundRect">
            <a:avLst>
              <a:gd name="adj" fmla="val 15000"/>
            </a:avLst>
          </a:prstGeom>
          <a:solidFill>
            <a:srgbClr val="1D3A52"/>
          </a:solidFill>
          <a:ln w="12700">
            <a:solidFill>
              <a:srgbClr val="1D3A52"/>
            </a:solidFill>
            <a:prstDash val="solid"/>
          </a:ln>
        </p:spPr>
      </p:sp>
      <p:sp>
        <p:nvSpPr>
          <p:cNvPr id="8" name="Text 6"/>
          <p:cNvSpPr txBox="1"/>
          <p:nvPr/>
        </p:nvSpPr>
        <p:spPr>
          <a:xfrm>
            <a:off x="448056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 steps</a:t>
            </a:r>
            <a:endParaRPr lang="en-US" sz="1500" dirty="0"/>
          </a:p>
        </p:txBody>
      </p:sp>
      <p:sp>
        <p:nvSpPr>
          <p:cNvPr id="9" name="lab meta"/>
          <p:cNvSpPr/>
          <p:nvPr/>
        </p:nvSpPr>
        <p:spPr>
          <a:xfrm>
            <a:off x="8046720" y="4846320"/>
            <a:ext cx="3520440" cy="731520"/>
          </a:xfrm>
          <a:prstGeom prst="roundRect">
            <a:avLst>
              <a:gd name="adj" fmla="val 15000"/>
            </a:avLst>
          </a:prstGeom>
          <a:solidFill>
            <a:srgbClr val="1D3A52"/>
          </a:solidFill>
          <a:ln w="12700">
            <a:solidFill>
              <a:srgbClr val="1D3A52"/>
            </a:solidFill>
            <a:prstDash val="solid"/>
          </a:ln>
        </p:spPr>
      </p:sp>
      <p:sp>
        <p:nvSpPr>
          <p:cNvPr id="10" name="Text 8"/>
          <p:cNvSpPr txBox="1"/>
          <p:nvPr/>
        </p:nvSpPr>
        <p:spPr>
          <a:xfrm>
            <a:off x="822960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Stuck? Read the error aloud, check the slide, then ask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1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Read and reshape</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indent="0" marL="0">
              <a:spcAft>
                <a:spcPts val="800"/>
              </a:spcAft>
              <a:buNone/>
            </a:pPr>
            <a:r>
              <a:rPr lang="en-US" sz="2200" dirty="0">
                <a:solidFill>
                  <a:srgbClr val="1F2933"/>
                </a:solidFill>
                <a:latin typeface="Calibri" pitchFamily="34" charset="0"/>
                <a:ea typeface="Calibri" pitchFamily="34" charset="-122"/>
                <a:cs typeface="Calibri" pitchFamily="34" charset="-120"/>
              </a:rPr>
              <a:t>Keep only total CO2, turn year columns into rows, and convert Mt to Gt.</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ar6 &lt;- read_csv("data/ar6_world.csv")</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long &lt;- ar6 |&gt;</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filter(Variable == "Emissions|CO2") |&gt;</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pivot_longer(</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matches("^[0-9]{4}$"),</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names_to = "year",</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values_to = "mt"</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 |&gt;</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mutate(year = as.integer(year),</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gt = mt / 1000)</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2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Join the categories</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meta has one row per pathway with its category. left_join matches on Model and Scenario.</a:t>
            </a:r>
            <a:endParaRPr lang="en-US" sz="2000" dirty="0"/>
          </a:p>
        </p:txBody>
      </p:sp>
      <p:sp>
        <p:nvSpPr>
          <p:cNvPr id="7" name="code panel"/>
          <p:cNvSpPr/>
          <p:nvPr/>
        </p:nvSpPr>
        <p:spPr>
          <a:xfrm>
            <a:off x="548640" y="2738120"/>
            <a:ext cx="11094415" cy="2788920"/>
          </a:xfrm>
          <a:prstGeom prst="roundRect">
            <a:avLst>
              <a:gd name="adj" fmla="val 3934"/>
            </a:avLst>
          </a:prstGeom>
          <a:solidFill>
            <a:srgbClr val="1E2A36"/>
          </a:solidFill>
          <a:ln w="12700">
            <a:solidFill>
              <a:srgbClr val="1E2A36"/>
            </a:solidFill>
            <a:prstDash val="solid"/>
          </a:ln>
        </p:spPr>
      </p:sp>
      <p:sp>
        <p:nvSpPr>
          <p:cNvPr id="8" name="Text 5"/>
          <p:cNvSpPr txBox="1"/>
          <p:nvPr/>
        </p:nvSpPr>
        <p:spPr>
          <a:xfrm>
            <a:off x="868680" y="3012440"/>
            <a:ext cx="10545775" cy="237744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meta &lt;- read_csv("data/ar6_meta.csv")</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both &lt;- long |&gt;</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left_join(meta,</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by = c("Model", "Scenario")) |&gt;</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filter(Category %in% c("C1", "C3", "C7")) |&gt;</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mutate(run = paste(Model, Scenario))</a:t>
            </a:r>
            <a:endParaRPr lang="en-US" sz="2400" dirty="0"/>
          </a:p>
        </p:txBody>
      </p:sp>
      <p:pic>
        <p:nvPicPr>
          <p:cNvPr id="9" name="tip icon" descr="preencoded.png">    </p:cNvPr>
          <p:cNvPicPr>
            <a:picLocks noChangeAspect="1"/>
          </p:cNvPicPr>
          <p:nvPr/>
        </p:nvPicPr>
        <p:blipFill>
          <a:blip r:embed="rId1"/>
          <a:stretch>
            <a:fillRect/>
          </a:stretch>
        </p:blipFill>
        <p:spPr>
          <a:xfrm>
            <a:off x="548640" y="5773928"/>
            <a:ext cx="329184" cy="329184"/>
          </a:xfrm>
          <a:prstGeom prst="rect">
            <a:avLst/>
          </a:prstGeom>
        </p:spPr>
      </p:pic>
      <p:sp>
        <p:nvSpPr>
          <p:cNvPr id="10" name="Text 6"/>
          <p:cNvSpPr txBox="1"/>
          <p:nvPr/>
        </p:nvSpPr>
        <p:spPr>
          <a:xfrm>
            <a:off x="1005840" y="575564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3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Plot one panel per category</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group = run stops ggplot from joining all points into one zigzag. alpha makes lines see-through.</a:t>
            </a:r>
            <a:endParaRPr lang="en-US" sz="2000" dirty="0"/>
          </a:p>
        </p:txBody>
      </p:sp>
      <p:sp>
        <p:nvSpPr>
          <p:cNvPr id="7" name="code panel"/>
          <p:cNvSpPr/>
          <p:nvPr/>
        </p:nvSpPr>
        <p:spPr>
          <a:xfrm>
            <a:off x="548640" y="2738120"/>
            <a:ext cx="11094415" cy="1691640"/>
          </a:xfrm>
          <a:prstGeom prst="roundRect">
            <a:avLst>
              <a:gd name="adj" fmla="val 6486"/>
            </a:avLst>
          </a:prstGeom>
          <a:solidFill>
            <a:srgbClr val="1E2A36"/>
          </a:solidFill>
          <a:ln w="12700">
            <a:solidFill>
              <a:srgbClr val="1E2A36"/>
            </a:solidFill>
            <a:prstDash val="solid"/>
          </a:ln>
        </p:spPr>
      </p:sp>
      <p:sp>
        <p:nvSpPr>
          <p:cNvPr id="8" name="Text 5"/>
          <p:cNvSpPr txBox="1"/>
          <p:nvPr/>
        </p:nvSpPr>
        <p:spPr>
          <a:xfrm>
            <a:off x="868680" y="3012440"/>
            <a:ext cx="10545775" cy="128016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ggplot(both, aes(year, gt, group = run)) +</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geom_line(alpha = 0.2) +</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facet_wrap(~ Category)</a:t>
            </a:r>
            <a:endParaRPr lang="en-US" sz="2400" dirty="0"/>
          </a:p>
        </p:txBody>
      </p:sp>
      <p:pic>
        <p:nvPicPr>
          <p:cNvPr id="9" name="tip icon" descr="preencoded.png">    </p:cNvPr>
          <p:cNvPicPr>
            <a:picLocks noChangeAspect="1"/>
          </p:cNvPicPr>
          <p:nvPr/>
        </p:nvPicPr>
        <p:blipFill>
          <a:blip r:embed="rId1"/>
          <a:stretch>
            <a:fillRect/>
          </a:stretch>
        </p:blipFill>
        <p:spPr>
          <a:xfrm>
            <a:off x="548640" y="4676648"/>
            <a:ext cx="329184" cy="329184"/>
          </a:xfrm>
          <a:prstGeom prst="rect">
            <a:avLst/>
          </a:prstGeom>
        </p:spPr>
      </p:pic>
      <p:sp>
        <p:nvSpPr>
          <p:cNvPr id="10" name="Text 6"/>
          <p:cNvSpPr txBox="1"/>
          <p:nvPr/>
        </p:nvSpPr>
        <p:spPr>
          <a:xfrm>
            <a:off x="1005840" y="465836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4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Knit a report</a:t>
            </a:r>
            <a:endParaRPr lang="en-US" sz="3200" dirty="0"/>
          </a:p>
        </p:txBody>
      </p:sp>
      <p:sp>
        <p:nvSpPr>
          <p:cNvPr id="5" name="number badge"/>
          <p:cNvSpPr txBox="1"/>
          <p:nvPr/>
        </p:nvSpPr>
        <p:spPr>
          <a:xfrm>
            <a:off x="731520" y="2377440"/>
            <a:ext cx="2011680" cy="201168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4</a:t>
            </a:r>
            <a:endParaRPr lang="en-US" sz="8000" dirty="0"/>
          </a:p>
        </p:txBody>
      </p:sp>
      <p:sp>
        <p:nvSpPr>
          <p:cNvPr id="6" name="Text 3"/>
          <p:cNvSpPr txBox="1"/>
          <p:nvPr/>
        </p:nvSpPr>
        <p:spPr>
          <a:xfrm>
            <a:off x="3291840" y="1691640"/>
            <a:ext cx="8351215" cy="4343400"/>
          </a:xfrm>
          <a:prstGeom prst="rect">
            <a:avLst/>
          </a:prstGeom>
          <a:noFill/>
          <a:ln/>
        </p:spPr>
        <p:txBody>
          <a:bodyPr wrap="square" lIns="0" tIns="0" rIns="0" bIns="0" rtlCol="0" anchor="ctr"/>
          <a:lstStyle/>
          <a:p>
            <a:pPr indent="0" marL="0">
              <a:spcAft>
                <a:spcPts val="800"/>
              </a:spcAft>
              <a:buNone/>
            </a:pPr>
            <a:r>
              <a:rPr lang="en-US" sz="3000" dirty="0">
                <a:solidFill>
                  <a:srgbClr val="12263A"/>
                </a:solidFill>
                <a:latin typeface="Calibri" pitchFamily="34" charset="0"/>
                <a:ea typeface="Calibri" pitchFamily="34" charset="-122"/>
                <a:cs typeface="Calibri" pitchFamily="34" charset="-120"/>
              </a:rPr>
              <a:t>File &gt; New File &gt; R Markdown. Paste the code into chunks, write one sentence under each chart, and press Knit.</a:t>
            </a: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CHECK YOUR WORK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Did it work?</a:t>
            </a:r>
            <a:endParaRPr lang="en-US" sz="3200" dirty="0"/>
          </a:p>
        </p:txBody>
      </p:sp>
      <p:sp>
        <p:nvSpPr>
          <p:cNvPr id="5" name="check card"/>
          <p:cNvSpPr/>
          <p:nvPr/>
        </p:nvSpPr>
        <p:spPr>
          <a:xfrm>
            <a:off x="548640" y="1554480"/>
            <a:ext cx="5410048" cy="4617720"/>
          </a:xfrm>
          <a:prstGeom prst="roundRect">
            <a:avLst>
              <a:gd name="adj" fmla="val 2376"/>
            </a:avLst>
          </a:prstGeom>
          <a:solidFill>
            <a:srgbClr val="E7F5EC"/>
          </a:solidFill>
          <a:ln w="12700">
            <a:solidFill>
              <a:srgbClr val="E7F5EC"/>
            </a:solidFill>
            <a:prstDash val="solid"/>
          </a:ln>
        </p:spPr>
      </p:sp>
      <p:sp>
        <p:nvSpPr>
          <p:cNvPr id="6" name="Text 3"/>
          <p:cNvSpPr txBox="1"/>
          <p:nvPr/>
        </p:nvSpPr>
        <p:spPr>
          <a:xfrm>
            <a:off x="822960" y="1737360"/>
            <a:ext cx="4861408" cy="457200"/>
          </a:xfrm>
          <a:prstGeom prst="rect">
            <a:avLst/>
          </a:prstGeom>
          <a:noFill/>
          <a:ln/>
        </p:spPr>
        <p:txBody>
          <a:bodyPr wrap="square" lIns="0" tIns="0" rIns="0" bIns="0" rtlCol="0" anchor="t"/>
          <a:lstStyle/>
          <a:p>
            <a:pPr indent="0" marL="0">
              <a:buNone/>
            </a:pPr>
            <a:r>
              <a:rPr lang="en-US" sz="2000" b="1" dirty="0">
                <a:solidFill>
                  <a:srgbClr val="15803D"/>
                </a:solidFill>
                <a:latin typeface="Cambria" pitchFamily="34" charset="0"/>
                <a:ea typeface="Cambria" pitchFamily="34" charset="-122"/>
                <a:cs typeface="Cambria" pitchFamily="34" charset="-120"/>
              </a:rPr>
              <a:t>You should see</a:t>
            </a:r>
            <a:endParaRPr lang="en-US" sz="2000" dirty="0"/>
          </a:p>
        </p:txBody>
      </p:sp>
      <p:sp>
        <p:nvSpPr>
          <p:cNvPr id="7" name="icon circle"/>
          <p:cNvSpPr/>
          <p:nvPr/>
        </p:nvSpPr>
        <p:spPr>
          <a:xfrm>
            <a:off x="822960" y="2377440"/>
            <a:ext cx="384048" cy="384048"/>
          </a:xfrm>
          <a:prstGeom prst="ellipse">
            <a:avLst/>
          </a:prstGeom>
          <a:solidFill>
            <a:srgbClr val="15803D"/>
          </a:solidFill>
          <a:ln w="12700">
            <a:solidFill>
              <a:srgbClr val="15803D"/>
            </a:solidFill>
            <a:prstDash val="solid"/>
          </a:ln>
        </p:spPr>
      </p:sp>
      <p:pic>
        <p:nvPicPr>
          <p:cNvPr id="8" name="icon" descr="preencoded.png">    </p:cNvPr>
          <p:cNvPicPr>
            <a:picLocks noChangeAspect="1"/>
          </p:cNvPicPr>
          <p:nvPr/>
        </p:nvPicPr>
        <p:blipFill>
          <a:blip r:embed="rId1"/>
          <a:stretch>
            <a:fillRect/>
          </a:stretch>
        </p:blipFill>
        <p:spPr>
          <a:xfrm>
            <a:off x="922812" y="2477292"/>
            <a:ext cx="184343" cy="184343"/>
          </a:xfrm>
          <a:prstGeom prst="rect">
            <a:avLst/>
          </a:prstGeom>
        </p:spPr>
      </p:pic>
      <p:sp>
        <p:nvSpPr>
          <p:cNvPr id="9" name="Text 5"/>
          <p:cNvSpPr txBox="1"/>
          <p:nvPr/>
        </p:nvSpPr>
        <p:spPr>
          <a:xfrm>
            <a:off x="1371600" y="233172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long has one row per model, scenario and year</a:t>
            </a:r>
            <a:endParaRPr lang="en-US" sz="2000" dirty="0"/>
          </a:p>
        </p:txBody>
      </p:sp>
      <p:sp>
        <p:nvSpPr>
          <p:cNvPr id="10" name="icon circle"/>
          <p:cNvSpPr/>
          <p:nvPr/>
        </p:nvSpPr>
        <p:spPr>
          <a:xfrm>
            <a:off x="822960" y="3611880"/>
            <a:ext cx="384048" cy="384048"/>
          </a:xfrm>
          <a:prstGeom prst="ellipse">
            <a:avLst/>
          </a:prstGeom>
          <a:solidFill>
            <a:srgbClr val="15803D"/>
          </a:solidFill>
          <a:ln w="12700">
            <a:solidFill>
              <a:srgbClr val="15803D"/>
            </a:solidFill>
            <a:prstDash val="solid"/>
          </a:ln>
        </p:spPr>
      </p:sp>
      <p:pic>
        <p:nvPicPr>
          <p:cNvPr id="11" name="icon" descr="preencoded.png">    </p:cNvPr>
          <p:cNvPicPr>
            <a:picLocks noChangeAspect="1"/>
          </p:cNvPicPr>
          <p:nvPr/>
        </p:nvPicPr>
        <p:blipFill>
          <a:blip r:embed="rId2"/>
          <a:stretch>
            <a:fillRect/>
          </a:stretch>
        </p:blipFill>
        <p:spPr>
          <a:xfrm>
            <a:off x="922812" y="3711732"/>
            <a:ext cx="184343" cy="184343"/>
          </a:xfrm>
          <a:prstGeom prst="rect">
            <a:avLst/>
          </a:prstGeom>
        </p:spPr>
      </p:pic>
      <p:sp>
        <p:nvSpPr>
          <p:cNvPr id="12" name="Text 7"/>
          <p:cNvSpPr txBox="1"/>
          <p:nvPr/>
        </p:nvSpPr>
        <p:spPr>
          <a:xfrm>
            <a:off x="1371600" y="356616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Your chart has three panels: C1, C3 and C7</a:t>
            </a:r>
            <a:endParaRPr lang="en-US" sz="2000" dirty="0"/>
          </a:p>
        </p:txBody>
      </p:sp>
      <p:sp>
        <p:nvSpPr>
          <p:cNvPr id="13" name="icon circle"/>
          <p:cNvSpPr/>
          <p:nvPr/>
        </p:nvSpPr>
        <p:spPr>
          <a:xfrm>
            <a:off x="822960" y="4846320"/>
            <a:ext cx="384048" cy="384048"/>
          </a:xfrm>
          <a:prstGeom prst="ellipse">
            <a:avLst/>
          </a:prstGeom>
          <a:solidFill>
            <a:srgbClr val="15803D"/>
          </a:solidFill>
          <a:ln w="12700">
            <a:solidFill>
              <a:srgbClr val="15803D"/>
            </a:solidFill>
            <a:prstDash val="solid"/>
          </a:ln>
        </p:spPr>
      </p:sp>
      <p:pic>
        <p:nvPicPr>
          <p:cNvPr id="14" name="icon" descr="preencoded.png">    </p:cNvPr>
          <p:cNvPicPr>
            <a:picLocks noChangeAspect="1"/>
          </p:cNvPicPr>
          <p:nvPr/>
        </p:nvPicPr>
        <p:blipFill>
          <a:blip r:embed="rId3"/>
          <a:stretch>
            <a:fillRect/>
          </a:stretch>
        </p:blipFill>
        <p:spPr>
          <a:xfrm>
            <a:off x="922812" y="4946172"/>
            <a:ext cx="184343" cy="184343"/>
          </a:xfrm>
          <a:prstGeom prst="rect">
            <a:avLst/>
          </a:prstGeom>
        </p:spPr>
      </p:pic>
      <p:sp>
        <p:nvSpPr>
          <p:cNvPr id="15" name="Text 9"/>
          <p:cNvSpPr txBox="1"/>
          <p:nvPr/>
        </p:nvSpPr>
        <p:spPr>
          <a:xfrm>
            <a:off x="1371600" y="480060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The report knits to HTML without errors</a:t>
            </a:r>
            <a:endParaRPr lang="en-US" sz="2000" dirty="0"/>
          </a:p>
        </p:txBody>
      </p:sp>
      <p:sp>
        <p:nvSpPr>
          <p:cNvPr id="16" name="worksheet card"/>
          <p:cNvSpPr/>
          <p:nvPr/>
        </p:nvSpPr>
        <p:spPr>
          <a:xfrm>
            <a:off x="6233008" y="1554480"/>
            <a:ext cx="5410048" cy="4617720"/>
          </a:xfrm>
          <a:prstGeom prst="roundRect">
            <a:avLst>
              <a:gd name="adj" fmla="val 23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7" name="Text 11"/>
          <p:cNvSpPr txBox="1"/>
          <p:nvPr/>
        </p:nvSpPr>
        <p:spPr>
          <a:xfrm>
            <a:off x="6507328" y="1737360"/>
            <a:ext cx="4861408" cy="4572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Worksheet questions</a:t>
            </a:r>
            <a:endParaRPr lang="en-US" sz="2000" dirty="0"/>
          </a:p>
        </p:txBody>
      </p:sp>
      <p:sp>
        <p:nvSpPr>
          <p:cNvPr id="18" name="number badge"/>
          <p:cNvSpPr txBox="1"/>
          <p:nvPr/>
        </p:nvSpPr>
        <p:spPr>
          <a:xfrm>
            <a:off x="6507328" y="23774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9" name="Text 13"/>
          <p:cNvSpPr txBox="1"/>
          <p:nvPr/>
        </p:nvSpPr>
        <p:spPr>
          <a:xfrm>
            <a:off x="7055968" y="233172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Describe the C1 panel in two sentences: when do emissions reach about zero?</a:t>
            </a:r>
            <a:endParaRPr lang="en-US" sz="2000" dirty="0"/>
          </a:p>
        </p:txBody>
      </p:sp>
      <p:sp>
        <p:nvSpPr>
          <p:cNvPr id="20" name="number badge"/>
          <p:cNvSpPr txBox="1"/>
          <p:nvPr/>
        </p:nvSpPr>
        <p:spPr>
          <a:xfrm>
            <a:off x="6507328" y="361188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5"/>
          <p:cNvSpPr txBox="1"/>
          <p:nvPr/>
        </p:nvSpPr>
        <p:spPr>
          <a:xfrm>
            <a:off x="7055968" y="356616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Apply the four questions to your chart. Which is hardest to answer from the data alone?</a:t>
            </a:r>
            <a:endParaRPr lang="en-US" sz="2000" dirty="0"/>
          </a:p>
        </p:txBody>
      </p:sp>
      <p:sp>
        <p:nvSpPr>
          <p:cNvPr id="22" name="number badge"/>
          <p:cNvSpPr txBox="1"/>
          <p:nvPr/>
        </p:nvSpPr>
        <p:spPr>
          <a:xfrm>
            <a:off x="6507328" y="484632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3" name="Text 17"/>
          <p:cNvSpPr txBox="1"/>
          <p:nvPr/>
        </p:nvSpPr>
        <p:spPr>
          <a:xfrm>
            <a:off x="7055968" y="480060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Why can't the share of C1 pathways be read as the chance of reaching 1.5 °C?</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RECAP</a:t>
            </a:r>
            <a:endParaRPr lang="en-US" sz="1200" dirty="0"/>
          </a:p>
        </p:txBody>
      </p:sp>
      <p:sp>
        <p:nvSpPr>
          <p:cNvPr id="3" name="Text 0"/>
          <p:cNvSpPr/>
          <p:nvPr>
            <p:ph idx="100" type="title" hasCustomPrompt="1"/>
          </p:nvPr>
        </p:nvSpPr>
        <p:spPr>
          <a:xfrm>
            <a:off x="548640" y="685800"/>
            <a:ext cx="11094415" cy="82296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Take-home messages</a:t>
            </a:r>
            <a:endParaRPr lang="en-US" sz="4000" dirty="0"/>
          </a:p>
        </p:txBody>
      </p:sp>
      <p:sp>
        <p:nvSpPr>
          <p:cNvPr id="4" name="number badge"/>
          <p:cNvSpPr txBox="1"/>
          <p:nvPr/>
        </p:nvSpPr>
        <p:spPr>
          <a:xfrm>
            <a:off x="548640" y="193167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234440" y="169164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A scenario is a consistent what-if story, not a forecast</a:t>
            </a:r>
            <a:endParaRPr lang="en-US" sz="2000" dirty="0"/>
          </a:p>
        </p:txBody>
      </p:sp>
      <p:sp>
        <p:nvSpPr>
          <p:cNvPr id="6" name="number badge"/>
          <p:cNvSpPr txBox="1"/>
          <p:nvPr/>
        </p:nvSpPr>
        <p:spPr>
          <a:xfrm>
            <a:off x="548640" y="286893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7" name="Text 5"/>
          <p:cNvSpPr txBox="1"/>
          <p:nvPr/>
        </p:nvSpPr>
        <p:spPr>
          <a:xfrm>
            <a:off x="1234440" y="262890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SSPs describe society; RCP numbers are forcing in W/m² in 2100, not °C</a:t>
            </a:r>
            <a:endParaRPr lang="en-US" sz="2000" dirty="0"/>
          </a:p>
        </p:txBody>
      </p:sp>
      <p:sp>
        <p:nvSpPr>
          <p:cNvPr id="8" name="number badge"/>
          <p:cNvSpPr txBox="1"/>
          <p:nvPr/>
        </p:nvSpPr>
        <p:spPr>
          <a:xfrm>
            <a:off x="548640" y="380619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9" name="Text 7"/>
          <p:cNvSpPr txBox="1"/>
          <p:nvPr/>
        </p:nvSpPr>
        <p:spPr>
          <a:xfrm>
            <a:off x="1234440" y="356616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AR6 sorts about 1,200 pathways into categories C1 to C8 by warming</a:t>
            </a:r>
            <a:endParaRPr lang="en-US" sz="2000" dirty="0"/>
          </a:p>
        </p:txBody>
      </p:sp>
      <p:sp>
        <p:nvSpPr>
          <p:cNvPr id="10" name="number badge"/>
          <p:cNvSpPr txBox="1"/>
          <p:nvPr/>
        </p:nvSpPr>
        <p:spPr>
          <a:xfrm>
            <a:off x="548640" y="474345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1" name="Text 9"/>
          <p:cNvSpPr txBox="1"/>
          <p:nvPr/>
        </p:nvSpPr>
        <p:spPr>
          <a:xfrm>
            <a:off x="1234440" y="450342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Ask four questions of any scenario chart; a range across models is not a probability</a:t>
            </a:r>
            <a:endParaRPr lang="en-US" sz="2000" dirty="0"/>
          </a:p>
        </p:txBody>
      </p:sp>
      <p:sp>
        <p:nvSpPr>
          <p:cNvPr id="12" name="next week"/>
          <p:cNvSpPr/>
          <p:nvPr/>
        </p:nvSpPr>
        <p:spPr>
          <a:xfrm>
            <a:off x="8503920" y="1737360"/>
            <a:ext cx="3139135" cy="2057400"/>
          </a:xfrm>
          <a:prstGeom prst="roundRect">
            <a:avLst>
              <a:gd name="adj" fmla="val 5333"/>
            </a:avLst>
          </a:prstGeom>
          <a:solidFill>
            <a:srgbClr val="1D3A52"/>
          </a:solidFill>
          <a:ln w="12700">
            <a:solidFill>
              <a:srgbClr val="1D3A52"/>
            </a:solidFill>
            <a:prstDash val="solid"/>
          </a:ln>
        </p:spPr>
      </p:sp>
      <p:sp>
        <p:nvSpPr>
          <p:cNvPr id="13" name="Text 11"/>
          <p:cNvSpPr txBox="1"/>
          <p:nvPr/>
        </p:nvSpPr>
        <p:spPr>
          <a:xfrm>
            <a:off x="8778240" y="1874520"/>
            <a:ext cx="2590495" cy="411480"/>
          </a:xfrm>
          <a:prstGeom prst="rect">
            <a:avLst/>
          </a:prstGeom>
          <a:noFill/>
          <a:ln/>
        </p:spPr>
        <p:txBody>
          <a:bodyPr wrap="square" lIns="0" tIns="0" rIns="0" bIns="0" rtlCol="0" anchor="t"/>
          <a:lstStyle/>
          <a:p>
            <a:pPr indent="0" marL="0">
              <a:buNone/>
            </a:pPr>
            <a:r>
              <a:rPr lang="en-US" sz="1600" b="1" dirty="0">
                <a:solidFill>
                  <a:srgbClr val="F59E6B"/>
                </a:solidFill>
                <a:latin typeface="Calibri" pitchFamily="34" charset="0"/>
                <a:ea typeface="Calibri" pitchFamily="34" charset="-122"/>
                <a:cs typeface="Calibri" pitchFamily="34" charset="-120"/>
              </a:rPr>
              <a:t>Next: week 7</a:t>
            </a:r>
            <a:endParaRPr lang="en-US" sz="1600" dirty="0"/>
          </a:p>
        </p:txBody>
      </p:sp>
      <p:sp>
        <p:nvSpPr>
          <p:cNvPr id="14" name="Text 12"/>
          <p:cNvSpPr txBox="1"/>
          <p:nvPr/>
        </p:nvSpPr>
        <p:spPr>
          <a:xfrm>
            <a:off x="8778240" y="2286000"/>
            <a:ext cx="2590495" cy="14173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Week 7 opens a full process-based IAM: GCAM, its regions and markets, and how to pull its results into R.</a:t>
            </a:r>
            <a:endParaRPr lang="en-US" sz="1600" dirty="0"/>
          </a:p>
        </p:txBody>
      </p:sp>
      <p:sp>
        <p:nvSpPr>
          <p:cNvPr id="15" name="practise"/>
          <p:cNvSpPr/>
          <p:nvPr/>
        </p:nvSpPr>
        <p:spPr>
          <a:xfrm>
            <a:off x="8503920" y="4023360"/>
            <a:ext cx="3139135" cy="1371600"/>
          </a:xfrm>
          <a:prstGeom prst="roundRect">
            <a:avLst>
              <a:gd name="adj" fmla="val 8000"/>
            </a:avLst>
          </a:prstGeom>
          <a:solidFill>
            <a:srgbClr val="1D3A52"/>
          </a:solidFill>
          <a:ln w="12700">
            <a:solidFill>
              <a:srgbClr val="1D3A52"/>
            </a:solidFill>
            <a:prstDash val="solid"/>
          </a:ln>
        </p:spPr>
      </p:sp>
      <p:sp>
        <p:nvSpPr>
          <p:cNvPr id="16" name="Text 14"/>
          <p:cNvSpPr txBox="1"/>
          <p:nvPr/>
        </p:nvSpPr>
        <p:spPr>
          <a:xfrm>
            <a:off x="8778240" y="4114800"/>
            <a:ext cx="2590495" cy="411480"/>
          </a:xfrm>
          <a:prstGeom prst="rect">
            <a:avLst/>
          </a:prstGeom>
          <a:noFill/>
          <a:ln/>
        </p:spPr>
        <p:txBody>
          <a:bodyPr wrap="square" lIns="0" tIns="0" rIns="0" bIns="0" rtlCol="0" anchor="t"/>
          <a:lstStyle/>
          <a:p>
            <a:pPr indent="0" marL="0">
              <a:buNone/>
            </a:pPr>
            <a:r>
              <a:rPr lang="en-US" sz="1600" b="1" dirty="0">
                <a:solidFill>
                  <a:srgbClr val="6FD3C7"/>
                </a:solidFill>
                <a:latin typeface="Calibri" pitchFamily="34" charset="0"/>
                <a:ea typeface="Calibri" pitchFamily="34" charset="-122"/>
                <a:cs typeface="Calibri" pitchFamily="34" charset="-120"/>
              </a:rPr>
              <a:t>Practise</a:t>
            </a:r>
            <a:endParaRPr lang="en-US" sz="1600" dirty="0"/>
          </a:p>
        </p:txBody>
      </p:sp>
      <p:sp>
        <p:nvSpPr>
          <p:cNvPr id="17" name="Text 15"/>
          <p:cNvSpPr txBox="1"/>
          <p:nvPr/>
        </p:nvSpPr>
        <p:spPr>
          <a:xfrm>
            <a:off x="8778240" y="4498848"/>
            <a:ext cx="2590495"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Interactive course, week 6: try the matrix explorer and the 5-question quiz.</a:t>
            </a:r>
            <a:endParaRPr lang="en-US" sz="1400" dirty="0"/>
          </a:p>
        </p:txBody>
      </p:sp>
      <p:sp>
        <p:nvSpPr>
          <p:cNvPr id="18" name="Text 16"/>
          <p:cNvSpPr txBox="1"/>
          <p:nvPr/>
        </p:nvSpPr>
        <p:spPr>
          <a:xfrm>
            <a:off x="548640" y="5577840"/>
            <a:ext cx="10180015" cy="64008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Readings: Carbon Brief (2018), 'Explainer: How Shared Socioeconomic Pathways explore future climate change'; Optional: Riahi et al. (2017), Global Environmental Change; R for Data Science: data tidying and joins chapters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IAM Course">
  <a:themeElements>
    <a:clrScheme name="IAM Course">
      <a:dk1>
        <a:srgbClr val="1F2933"/>
      </a:dk1>
      <a:lt1>
        <a:srgbClr val="FFFFFF"/>
      </a:lt1>
      <a:dk2>
        <a:srgbClr val="12263A"/>
      </a:dk2>
      <a:lt2>
        <a:srgbClr val="E6F2F0"/>
      </a:lt2>
      <a:accent1>
        <a:srgbClr val="0F766E"/>
      </a:accent1>
      <a:accent2>
        <a:srgbClr val="C2410C"/>
      </a:accent2>
      <a:accent3>
        <a:srgbClr val="D97706"/>
      </a:accent3>
      <a:accent4>
        <a:srgbClr val="5B6875"/>
      </a:accent4>
      <a:accent5>
        <a:srgbClr val="15803D"/>
      </a:accent5>
      <a:accent6>
        <a:srgbClr val="B91C1C"/>
      </a:accent6>
      <a:hlink>
        <a:srgbClr val="0F766E"/>
      </a:hlink>
      <a:folHlink>
        <a:srgbClr val="6B21A8"/>
      </a:folHlink>
    </a:clrScheme>
    <a:fontScheme name="IAM Cour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IAM course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6: The scenario framework</dc:title>
  <dc:subject>Modelling Climate and Energy Futures</dc:subject>
  <dc:creator>IAM course team</dc:creator>
  <cp:lastModifiedBy>IAM course team</cp:lastModifiedBy>
  <cp:revision>1</cp:revision>
  <dcterms:created xsi:type="dcterms:W3CDTF">2026-10-22T18:53:46Z</dcterms:created>
  <dcterms:modified xsi:type="dcterms:W3CDTF">2026-10-22T18:53:46Z</dcterms:modified>
</cp:coreProperties>
</file>