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4.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5.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cf5fc5fb-8d38-bab0-72b0-69a926a30916}">
          <p14:sldIdLst>
            <p14:sldId id="256"/>
            <p14:sldId id="257"/>
            <p14:sldId id="258"/>
          </p14:sldIdLst>
        </p14:section>
        <p14:section name="Lecture" id="{776434d5-2617-0818-8fe0-522436218aaf}">
          <p14:sldIdLst>
            <p14:sldId id="259"/>
            <p14:sldId id="260"/>
            <p14:sldId id="261"/>
            <p14:sldId id="262"/>
            <p14:sldId id="263"/>
            <p14:sldId id="264"/>
            <p14:sldId id="265"/>
            <p14:sldId id="266"/>
            <p14:sldId id="267"/>
            <p14:sldId id="268"/>
            <p14:sldId id="269"/>
            <p14:sldId id="270"/>
            <p14:sldId id="271"/>
          </p14:sldIdLst>
        </p14:section>
        <p14:section name="Lab" id="{de8a91d9-4bb7-77b8-2292-bfb2f1f0226e}">
          <p14:sldIdLst>
            <p14:sldId id="272"/>
            <p14:sldId id="273"/>
            <p14:sldId id="274"/>
            <p14:sldId id="275"/>
            <p14:sldId id="276"/>
            <p14:sldId id="277"/>
          </p14:sldIdLst>
        </p14:section>
        <p14:section name="Recap" id="{573889ae-fbcb-2ef5-cf69-1cbb16cadb69}">
          <p14:sldIdLst>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Demand</c:v>
                </c:pt>
              </c:strCache>
            </c:strRef>
          </c:tx>
          <c:spPr>
            <a:solidFill>
              <a:srgbClr val="0F766E"/>
            </a:solidFill>
            <a:ln w="38100" cap="flat">
              <a:solidFill>
                <a:srgbClr val="0F766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0F766E"/>
              </a:solidFill>
              <a:ln w="9525" cap="flat">
                <a:solidFill>
                  <a:srgbClr val="0F766E"/>
                </a:solidFill>
                <a:prstDash val="solid"/>
                <a:round/>
              </a:ln>
              <a:effectLst/>
            </c:spPr>
          </c:marker>
          <c:cat>
            <c:multiLvlStrRef>
              <c:f>Sheet1!$A$2:$A$8</c:f>
              <c:multiLvlStrCache>
                <c:ptCount val="7"/>
                <c:lvl>
                  <c:pt idx="0">
                    <c:v>0</c:v>
                  </c:pt>
                  <c:pt idx="1">
                    <c:v>25</c:v>
                  </c:pt>
                  <c:pt idx="2">
                    <c:v>50</c:v>
                  </c:pt>
                  <c:pt idx="3">
                    <c:v>75</c:v>
                  </c:pt>
                  <c:pt idx="4">
                    <c:v>100</c:v>
                  </c:pt>
                  <c:pt idx="5">
                    <c:v>125</c:v>
                  </c:pt>
                  <c:pt idx="6">
                    <c:v>150</c:v>
                  </c:pt>
                </c:lvl>
              </c:multiLvlStrCache>
            </c:multiLvlStrRef>
          </c:cat>
          <c:val>
            <c:numRef>
              <c:f>Sheet1!$B$2:$B$8</c:f>
              <c:numCache>
                <c:formatCode>General</c:formatCode>
                <c:ptCount val="7"/>
                <c:pt idx="0">
                  <c:v>1000</c:v>
                </c:pt>
                <c:pt idx="1">
                  <c:v>900</c:v>
                </c:pt>
                <c:pt idx="2">
                  <c:v>800</c:v>
                </c:pt>
                <c:pt idx="3">
                  <c:v>700</c:v>
                </c:pt>
                <c:pt idx="4">
                  <c:v>600</c:v>
                </c:pt>
                <c:pt idx="5">
                  <c:v>500</c:v>
                </c:pt>
                <c:pt idx="6">
                  <c:v>400</c:v>
                </c:pt>
              </c:numCache>
            </c:numRef>
          </c:val>
          <c:smooth val="0"/>
        </c:ser>
        <c:ser>
          <c:idx val="1"/>
          <c:order val="1"/>
          <c:tx>
            <c:strRef>
              <c:f>Sheet1!$C$1</c:f>
              <c:strCache>
                <c:ptCount val="1"/>
                <c:pt idx="0">
                  <c:v>Supply</c:v>
                </c:pt>
              </c:strCache>
            </c:strRef>
          </c:tx>
          <c:spPr>
            <a:solidFill>
              <a:srgbClr val="C2410C"/>
            </a:solidFill>
            <a:ln w="38100" cap="flat">
              <a:solidFill>
                <a:srgbClr val="C2410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C2410C"/>
              </a:solidFill>
              <a:ln w="9525" cap="flat">
                <a:solidFill>
                  <a:srgbClr val="C2410C"/>
                </a:solidFill>
                <a:prstDash val="solid"/>
                <a:round/>
              </a:ln>
              <a:effectLst/>
            </c:spPr>
          </c:marker>
          <c:cat>
            <c:multiLvlStrRef>
              <c:f>Sheet1!$A$2:$A$8</c:f>
              <c:multiLvlStrCache>
                <c:ptCount val="7"/>
                <c:lvl>
                  <c:pt idx="0">
                    <c:v>0</c:v>
                  </c:pt>
                  <c:pt idx="1">
                    <c:v>25</c:v>
                  </c:pt>
                  <c:pt idx="2">
                    <c:v>50</c:v>
                  </c:pt>
                  <c:pt idx="3">
                    <c:v>75</c:v>
                  </c:pt>
                  <c:pt idx="4">
                    <c:v>100</c:v>
                  </c:pt>
                  <c:pt idx="5">
                    <c:v>125</c:v>
                  </c:pt>
                  <c:pt idx="6">
                    <c:v>150</c:v>
                  </c:pt>
                </c:lvl>
              </c:multiLvlStrCache>
            </c:multiLvlStrRef>
          </c:cat>
          <c:val>
            <c:numRef>
              <c:f>Sheet1!$C$2:$C$8</c:f>
              <c:numCache>
                <c:formatCode>General</c:formatCode>
                <c:ptCount val="7"/>
                <c:pt idx="0">
                  <c:v>0</c:v>
                </c:pt>
                <c:pt idx="1">
                  <c:v>150</c:v>
                </c:pt>
                <c:pt idx="2">
                  <c:v>300</c:v>
                </c:pt>
                <c:pt idx="3">
                  <c:v>450</c:v>
                </c:pt>
                <c:pt idx="4">
                  <c:v>600</c:v>
                </c:pt>
                <c:pt idx="5">
                  <c:v>750</c:v>
                </c:pt>
                <c:pt idx="6">
                  <c:v>900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5B6875"/>
                    </a:solidFill>
                    <a:latin typeface="+mn-lt"/>
                  </a:defRPr>
                </a:pPr>
                <a:r>
                  <a:rPr sz="1200" b="0" i="0" u="none" strike="noStrike">
                    <a:solidFill>
                      <a:srgbClr val="5B6875"/>
                    </a:solidFill>
                    <a:latin typeface="+mn-lt"/>
                  </a:rPr>
                  <a:t>Price ($ per MWh)</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875"/>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3E8E7"/>
              </a:solidFill>
              <a:prstDash val="solid"/>
              <a:round/>
            </a:ln>
          </c:spPr>
        </c:majorGridlines>
        <c:title>
          <c:tx>
            <c:rich>
              <a:bodyPr/>
              <a:lstStyle/>
              <a:p>
                <a:pPr>
                  <a:defRPr sz="1200" b="0" i="0" u="none" strike="noStrike">
                    <a:solidFill>
                      <a:srgbClr val="5B6875"/>
                    </a:solidFill>
                    <a:latin typeface="+mn-lt"/>
                  </a:defRPr>
                </a:pPr>
                <a:r>
                  <a:rPr sz="1200" b="0" i="0" u="none" strike="noStrike">
                    <a:solidFill>
                      <a:srgbClr val="5B6875"/>
                    </a:solidFill>
                    <a:latin typeface="+mn-lt"/>
                  </a:rPr>
                  <a:t>Quantity (MWh)</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875"/>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1F293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Value today of $100 in 100 years</c:v>
                </c:pt>
              </c:strCache>
            </c:strRef>
          </c:tx>
          <c:spPr>
            <a:solidFill>
              <a:srgbClr val="0F766E"/>
            </a:solidFill>
            <a:effectLst/>
          </c:spPr>
          <c:invertIfNegative val="0"/>
          <c:dLbls>
            <c:numFmt formatCode="#,##0.##" sourceLinked="0"/>
            <c:txPr>
              <a:bodyPr/>
              <a:lstStyle/>
              <a:p>
                <a:pPr>
                  <a:defRPr b="0" i="0" strike="noStrike" sz="1200" u="none">
                    <a:solidFill>
                      <a:srgbClr val="1F2933"/>
                    </a:solidFill>
                    <a:latin typeface="+mn-lt"/>
                  </a:defRPr>
                </a:pPr>
              </a:p>
            </c:txPr>
            <c:showLegendKey val="0"/>
            <c:showVal val="1"/>
            <c:showCatName val="0"/>
            <c:showSerName val="0"/>
            <c:showPercent val="0"/>
            <c:showBubbleSize val="0"/>
            <c:showLeaderLines val="0"/>
          </c:dLbls>
          <c:cat>
            <c:multiLvlStrRef>
              <c:f>Sheet1!$A$2:$A$4</c:f>
              <c:multiLvlStrCache>
                <c:ptCount val="3"/>
                <c:lvl>
                  <c:pt idx="0">
                    <c:v>1.5%</c:v>
                  </c:pt>
                  <c:pt idx="1">
                    <c:v>3%</c:v>
                  </c:pt>
                  <c:pt idx="2">
                    <c:v>5%</c:v>
                  </c:pt>
                </c:lvl>
              </c:multiLvlStrCache>
            </c:multiLvlStrRef>
          </c:cat>
          <c:val>
            <c:numRef>
              <c:f>Sheet1!$B$2:$B$4</c:f>
              <c:numCache>
                <c:formatCode>General</c:formatCode>
                <c:ptCount val="3"/>
                <c:pt idx="0">
                  <c:v>22.6</c:v>
                </c:pt>
                <c:pt idx="1">
                  <c:v>5.2</c:v>
                </c:pt>
                <c:pt idx="2">
                  <c:v>0.76</c:v>
                </c:pt>
              </c:numCache>
            </c:numRef>
          </c:val>
        </c:ser>
        <c:dLbls>
          <c:numFmt formatCode="#,##0.##" sourceLinked="0"/>
          <c:txPr>
            <a:bodyPr/>
            <a:lstStyle/>
            <a:p>
              <a:pPr>
                <a:defRPr b="0" i="0" strike="noStrike" sz="1200" u="none">
                  <a:solidFill>
                    <a:srgbClr val="1F2933"/>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title>
          <c:tx>
            <c:rich>
              <a:bodyPr/>
              <a:lstStyle/>
              <a:p>
                <a:pPr>
                  <a:defRPr sz="1200" b="0" i="0" u="none" strike="noStrike">
                    <a:solidFill>
                      <a:srgbClr val="5B6875"/>
                    </a:solidFill>
                    <a:latin typeface="+mn-lt"/>
                  </a:defRPr>
                </a:pPr>
                <a:r>
                  <a:rPr sz="1200" b="0" i="0" u="none" strike="noStrike">
                    <a:solidFill>
                      <a:srgbClr val="5B6875"/>
                    </a:solidFill>
                    <a:latin typeface="+mn-lt"/>
                  </a:rPr>
                  <a:t>Discount rate</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875"/>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3E8E7"/>
              </a:solidFill>
              <a:prstDash val="solid"/>
              <a:round/>
            </a:ln>
          </c:spPr>
        </c:majorGridlines>
        <c:title>
          <c:tx>
            <c:rich>
              <a:bodyPr/>
              <a:lstStyle/>
              <a:p>
                <a:pPr>
                  <a:defRPr sz="1200" b="0" i="0" u="none" strike="noStrike">
                    <a:solidFill>
                      <a:srgbClr val="5B6875"/>
                    </a:solidFill>
                    <a:latin typeface="+mn-lt"/>
                  </a:defRPr>
                </a:pPr>
                <a:r>
                  <a:rPr sz="1200" b="0" i="0" u="none" strike="noStrike">
                    <a:solidFill>
                      <a:srgbClr val="5B6875"/>
                    </a:solidFill>
                    <a:latin typeface="+mn-lt"/>
                  </a:rPr>
                  <a:t>$ today</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87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week 4: Economics primer. How prices decide what gets built. Today has two halves: a lecture that builds the idea step by step with everyday examples, then a guided lab where we try it in R. Nobody is expected to know the material already. New R skill this week: Writing functions; if and for; solving one equation numerically.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week 4 of 15. The course climbs in three stages: foundations (weeks 1 to 6), GCAM in depth (weeks 7 to 10) and advanced methods (weeks 11 to 15). Point out what came just before this week and what it prepares for, so students see each week as one step on a path rather than an isolated topic.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goals aloud and ask students to keep them in mind. We come back to them on the recap slide at the end. Big question for today: If solar is clean but coal is cheaper, which one does the economy choose, and what can change that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to vote before showing anything. Most will say coal because it is cheapest. Then ask what could change the answer: subsidies, a carbon price, cheaper panels. Keep the list; we return to it at the end of the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Economics for this course needs only three ideas, and this is the first. Every IAM that represents markets, including GCAM, is doing this auction for every fuel and crop in every region, over and over until all the markets clear at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to the crossing. At a price of 100, buyers want 1000 - 400 = 600 and sellers offer 6 x 100 = 600. Below 100 there is a shortage, above 100 a surplus. In the lab students find this crossing in R with uniroot rather than by eye.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this on the board slowly. The point for later is that a computer does exactly this, but with thousands of equations that cannot be solved by hand, so it searches for the price instead. That search is what uniroot does in the lab and what GCAM's solver does every model period.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one formula is the whole mechanism of carbon pricing in a model. Solar has an emission factor of zero, so its cost does not change. Coal has the highest factor, so it is hit hardest. Ask: what happens to a technology with carbon capture? Its factor shrinks, so it is hit less.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 each row aloud. Then ask: at what carbon price does gas beat coal? Set 60 + 0.9t = 70 + 0.4t, so 0.5t = 10 and t = 20 dollars. At what price does solar beat gas? 70 + 0.4t = 80, so t = 25 dollars. These two break-even prices come back in the lab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30 seconds to think and vote with fingers (1 to 4) before showing the next slide. Answer: gas. Coal is 60 + 0.9 x 22 = 79.8, gas is 70 + 0.4 x 22 = 78.8, solar stays 80. 22 is between the two break-even prices of 20 and 25, so gas wins. This is the second value in the lab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gas. Coal is 60 + 0.9 x 22 = 79.8, gas is 70 + 0.4 x 22 = 78.8, solar stays 80. 22 is between the two break-even prices of 20 and 25, so gas wins. This is the second value in the lab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tax per MWh is 0.9 x 50 = 45 dollars. Buyers see the price go up by 27 and sellers keep 18 less per unit. Who carries more depends on how strongly each side responds to price. This is called tax incidence; students do not need the word, only the idea that a tax is shared.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Climate change is a problem where costs come now and benefits come decades later, so discounting quietly decides many results. Keep the formula simple and give one number: 100 dollars in 30 years at 3 percent is worth 100 / 1.03^30 = 41 dollars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compute these in R with their own function. Then discuss: choosing the rate is partly an ethical choice about how much future generations count, not only a market number. This is the first thing we vary in DICE next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three come up every year in quizzes. The second one is a deliberate simplification of this week that GCAM fixes in week 7 with the logit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only new terms this week. Ask two students to read them aloud and add them to the shared class glossary. If any definition is unclear, rewrite it together in plainer words; that rewriting is part of learning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time. Write a cost function, loop over carbon prices to find the cheapest technology, then find the market price with and without a tax. Open the course project in RStudio first so file paths work. Rule for getting stuck: read the error message aloud to a neighbour, check the "you should see" slide, then raise a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call cost() for gas and solar too before moving on. The if line is a guard: it stops the function with a clear message if someone passes a negative tax.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students predict the four answers on paper first, using the break-even prices of 20 and 25 from the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supply function shows that a seller facing a tax behaves as if the price they receive is lower by 0.9 x tax.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Small rounding differences are normal because the search is numerical. If uniroot complains that the end points have the same sign, the range does not contain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slide up for the last twenty minutes. Students compare their output with the left column, then start the worksheet questions on the right. Anyone whose results differ should compare their code with a neighbour line by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back to the goals from the start: Explain how a market price balances supply and demand; Add a carbon price to a technology's cost and say which option wins; Discount a future cost to today's value and explain why the rate matters; Write a small R function, a loop, and solve one equation with uniroot. Ask students to rate themselves on each. Then point to next week: Week 5 joins the climate chain, the economy and discounting into one small model: DICE.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2263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4415" cy="1005840"/>
          </a:xfrm>
          <a:prstGeom prst="rect">
            <a:avLst/>
          </a:prstGeom>
          <a:noFill/>
          <a:ln/>
        </p:spPr>
        <p:txBody>
          <a:bodyPr wrap="square" rtlCol="0"/>
          <a:lstStyle>
            <a:lvl1pPr algn="l" indent="0" marL="0">
              <a:buNone/>
              <a:defRPr lang="en-US" sz="44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34">
    <p:bg>
      <p:bgPr>
        <a:solidFill>
          <a:srgbClr val="12263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4415" cy="1005840"/>
          </a:xfrm>
          <a:prstGeom prst="rect">
            <a:avLst/>
          </a:prstGeom>
          <a:noFill/>
          <a:ln/>
        </p:spPr>
        <p:txBody>
          <a:bodyPr wrap="square" rtlCol="0"/>
          <a:lstStyle>
            <a:lvl1pPr algn="l" indent="0" marL="0">
              <a:buNone/>
              <a:defRPr lang="en-US" sz="34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28">
    <p:bg>
      <p:bgPr>
        <a:solidFill>
          <a:srgbClr val="12263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4415" cy="1005840"/>
          </a:xfrm>
          <a:prstGeom prst="rect">
            <a:avLst/>
          </a:prstGeom>
          <a:noFill/>
          <a:ln/>
        </p:spPr>
        <p:txBody>
          <a:bodyPr wrap="square" rtlCol="0"/>
          <a:lstStyle>
            <a:lvl1pPr algn="l" indent="0" marL="0">
              <a:buNone/>
              <a:defRPr lang="en-US" sz="28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ver">
    <p:bg>
      <p:bgPr>
        <a:solidFill>
          <a:srgbClr val="12263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4415" cy="1005840"/>
          </a:xfrm>
          <a:prstGeom prst="rect">
            <a:avLst/>
          </a:prstGeom>
          <a:noFill/>
          <a:ln/>
        </p:spPr>
        <p:txBody>
          <a:bodyPr wrap="square" rtlCol="0"/>
          <a:lstStyle>
            <a:lvl1pPr algn="l" indent="0" marL="0">
              <a:buNone/>
              <a:defRPr lang="en-US" sz="54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5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94415" cy="868680"/>
          </a:xfrm>
          <a:prstGeom prst="rect">
            <a:avLst/>
          </a:prstGeom>
          <a:noFill/>
          <a:ln/>
        </p:spPr>
        <p:txBody>
          <a:bodyPr wrap="square" rtlCol="0"/>
          <a:lstStyle>
            <a:lvl1pPr algn="l" indent="0" marL="0">
              <a:buNone/>
              <a:defRPr lang="en-US" sz="3200" b="1" dirty="0">
                <a:solidFill>
                  <a:srgbClr val="12263A"/>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B6875"/>
                </a:solidFill>
                <a:latin typeface="Calibri" pitchFamily="34" charset="0"/>
                <a:ea typeface="Calibri" pitchFamily="34" charset="-122"/>
                <a:cs typeface="Calibri" pitchFamily="34" charset="-120"/>
              </a:rPr>
              <a:t>Week 4 · Economics primer</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1006</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ntent 26">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94415" cy="868680"/>
          </a:xfrm>
          <a:prstGeom prst="rect">
            <a:avLst/>
          </a:prstGeom>
          <a:noFill/>
          <a:ln/>
        </p:spPr>
        <p:txBody>
          <a:bodyPr wrap="square" rtlCol="0"/>
          <a:lstStyle>
            <a:lvl1pPr algn="l" indent="0" marL="0">
              <a:buNone/>
              <a:defRPr lang="en-US" sz="2600" b="1" dirty="0">
                <a:solidFill>
                  <a:srgbClr val="12263A"/>
                </a:solidFill>
                <a:latin typeface="Cambria" pitchFamily="34" charset="0"/>
                <a:ea typeface="Cambria" pitchFamily="34" charset="-122"/>
                <a:cs typeface="Cambria" pitchFamily="34" charset="-120"/>
              </a:defRPr>
            </a:lvl1pPr>
          </a:lstStyle>
          <a:p>
            <a:pPr algn="l" indent="0" marL="0">
              <a:buNone/>
            </a:pPr>
            <a:endParaRPr lang="en-US" sz="26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B6875"/>
                </a:solidFill>
                <a:latin typeface="Calibri" pitchFamily="34" charset="0"/>
                <a:ea typeface="Calibri" pitchFamily="34" charset="-122"/>
                <a:cs typeface="Calibri" pitchFamily="34" charset="-120"/>
              </a:rPr>
              <a:t>Week 4 · Economics primer</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1007</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Recap">
    <p:bg>
      <p:bgPr>
        <a:solidFill>
          <a:srgbClr val="12263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685800"/>
            <a:ext cx="11094415" cy="82296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1008</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5.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6.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6.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6.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6.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6.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6.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6.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7.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7.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6.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6.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6.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6.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6.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6.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4415" cy="1005840"/>
          </a:xfrm>
          <a:prstGeom prst="rect">
            <a:avLst/>
          </a:prstGeom>
          <a:noFill/>
          <a:ln/>
        </p:spPr>
        <p:txBody>
          <a:bodyPr wrap="square" lIns="0" tIns="0" rIns="0" bIns="0" rtlCol="0" anchor="t"/>
          <a:lstStyle/>
          <a:p>
            <a:pPr algn="l" indent="0" marL="0">
              <a:buNone/>
            </a:pPr>
            <a:r>
              <a:rPr lang="en-US" sz="5400" b="1" dirty="0">
                <a:solidFill>
                  <a:srgbClr val="FFFFFF"/>
                </a:solidFill>
                <a:latin typeface="Cambria" pitchFamily="34" charset="0"/>
                <a:ea typeface="Cambria" pitchFamily="34" charset="-122"/>
                <a:cs typeface="Cambria" pitchFamily="34" charset="-120"/>
              </a:rPr>
              <a:t>Economics primer</a:t>
            </a:r>
            <a:endParaRPr lang="en-US" sz="5400" dirty="0"/>
          </a:p>
        </p:txBody>
      </p:sp>
      <p:sp>
        <p:nvSpPr>
          <p:cNvPr id="3" name="Text 1"/>
          <p:cNvSpPr txBox="1"/>
          <p:nvPr/>
        </p:nvSpPr>
        <p:spPr>
          <a:xfrm>
            <a:off x="548640" y="822960"/>
            <a:ext cx="11094415" cy="365760"/>
          </a:xfrm>
          <a:prstGeom prst="rect">
            <a:avLst/>
          </a:prstGeom>
          <a:noFill/>
          <a:ln/>
        </p:spPr>
        <p:txBody>
          <a:bodyPr wrap="square" lIns="0" tIns="0" rIns="0" bIns="0" rtlCol="0" anchor="t"/>
          <a:lstStyle/>
          <a:p>
            <a:pPr indent="0" marL="0">
              <a:buNone/>
            </a:pPr>
            <a:r>
              <a:rPr lang="en-US" sz="1600" b="1" spc="300" kern="0" dirty="0">
                <a:solidFill>
                  <a:srgbClr val="6FD3C7"/>
                </a:solidFill>
                <a:latin typeface="Calibri" pitchFamily="34" charset="0"/>
                <a:ea typeface="Calibri" pitchFamily="34" charset="-122"/>
                <a:cs typeface="Calibri" pitchFamily="34" charset="-120"/>
              </a:rPr>
              <a:t>WEEK 4 OF 15  ·  STAGE 1: FOUNDATIONS</a:t>
            </a:r>
            <a:endParaRPr lang="en-US" sz="1600" dirty="0"/>
          </a:p>
        </p:txBody>
      </p:sp>
      <p:sp>
        <p:nvSpPr>
          <p:cNvPr id="4" name="Text 2"/>
          <p:cNvSpPr txBox="1"/>
          <p:nvPr/>
        </p:nvSpPr>
        <p:spPr>
          <a:xfrm>
            <a:off x="548640" y="3246120"/>
            <a:ext cx="9601200" cy="822960"/>
          </a:xfrm>
          <a:prstGeom prst="rect">
            <a:avLst/>
          </a:prstGeom>
          <a:noFill/>
          <a:ln/>
        </p:spPr>
        <p:txBody>
          <a:bodyPr wrap="square" lIns="0" tIns="0" rIns="0" bIns="0" rtlCol="0" anchor="t"/>
          <a:lstStyle/>
          <a:p>
            <a:pPr indent="0" marL="0">
              <a:buNone/>
            </a:pPr>
            <a:r>
              <a:rPr lang="en-US" sz="2800" dirty="0">
                <a:solidFill>
                  <a:srgbClr val="C9D6DF"/>
                </a:solidFill>
                <a:latin typeface="Calibri" pitchFamily="34" charset="0"/>
                <a:ea typeface="Calibri" pitchFamily="34" charset="-122"/>
                <a:cs typeface="Calibri" pitchFamily="34" charset="-120"/>
              </a:rPr>
              <a:t>How prices decide what gets built</a:t>
            </a:r>
            <a:endParaRPr lang="en-US" sz="2800" dirty="0"/>
          </a:p>
        </p:txBody>
      </p:sp>
      <p:sp>
        <p:nvSpPr>
          <p:cNvPr id="5" name="R skill pill"/>
          <p:cNvSpPr/>
          <p:nvPr/>
        </p:nvSpPr>
        <p:spPr>
          <a:xfrm>
            <a:off x="548640" y="4434840"/>
            <a:ext cx="7863840" cy="777240"/>
          </a:xfrm>
          <a:prstGeom prst="roundRect">
            <a:avLst>
              <a:gd name="adj" fmla="val 14118"/>
            </a:avLst>
          </a:prstGeom>
          <a:solidFill>
            <a:srgbClr val="1D3A52"/>
          </a:solidFill>
          <a:ln w="12700">
            <a:solidFill>
              <a:srgbClr val="1D3A52"/>
            </a:solidFill>
            <a:prstDash val="solid"/>
          </a:ln>
        </p:spPr>
      </p:sp>
      <p:sp>
        <p:nvSpPr>
          <p:cNvPr id="6" name="icon circle"/>
          <p:cNvSpPr/>
          <p:nvPr/>
        </p:nvSpPr>
        <p:spPr>
          <a:xfrm>
            <a:off x="713232" y="4562856"/>
            <a:ext cx="521208" cy="521208"/>
          </a:xfrm>
          <a:prstGeom prst="ellipse">
            <a:avLst/>
          </a:prstGeom>
          <a:solidFill>
            <a:srgbClr val="0F766E"/>
          </a:solidFill>
          <a:ln w="12700">
            <a:solidFill>
              <a:srgbClr val="0F766E"/>
            </a:solidFill>
            <a:prstDash val="solid"/>
          </a:ln>
        </p:spPr>
      </p:sp>
      <p:pic>
        <p:nvPicPr>
          <p:cNvPr id="7" name="icon" descr="preencoded.png">    </p:cNvPr>
          <p:cNvPicPr>
            <a:picLocks noChangeAspect="1"/>
          </p:cNvPicPr>
          <p:nvPr/>
        </p:nvPicPr>
        <p:blipFill>
          <a:blip r:embed="rId1"/>
          <a:stretch>
            <a:fillRect/>
          </a:stretch>
        </p:blipFill>
        <p:spPr>
          <a:xfrm>
            <a:off x="848746" y="4698370"/>
            <a:ext cx="250180" cy="250180"/>
          </a:xfrm>
          <a:prstGeom prst="rect">
            <a:avLst/>
          </a:prstGeom>
        </p:spPr>
      </p:pic>
      <p:sp>
        <p:nvSpPr>
          <p:cNvPr id="8" name="Text 5"/>
          <p:cNvSpPr txBox="1"/>
          <p:nvPr/>
        </p:nvSpPr>
        <p:spPr>
          <a:xfrm>
            <a:off x="1417320" y="4480560"/>
            <a:ext cx="6858000" cy="685800"/>
          </a:xfrm>
          <a:prstGeom prst="rect">
            <a:avLst/>
          </a:prstGeom>
          <a:noFill/>
          <a:ln/>
        </p:spPr>
        <p:txBody>
          <a:bodyPr wrap="square" lIns="0" tIns="0" rIns="0" bIns="0" rtlCol="0" anchor="ctr"/>
          <a:lstStyle/>
          <a:p>
            <a:pPr indent="0" marL="0">
              <a:buNone/>
            </a:pPr>
            <a:r>
              <a:rPr lang="en-US" sz="1600" b="1" dirty="0">
                <a:solidFill>
                  <a:srgbClr val="6FD3C7"/>
                </a:solidFill>
                <a:latin typeface="Calibri" pitchFamily="34" charset="0"/>
                <a:ea typeface="Calibri" pitchFamily="34" charset="-122"/>
                <a:cs typeface="Calibri" pitchFamily="34" charset="-120"/>
              </a:rPr>
              <a:t>New R skill  </a:t>
            </a:r>
            <a:pPr indent="0" marL="0">
              <a:buNone/>
            </a:pPr>
            <a:r>
              <a:rPr lang="en-US" sz="1600" dirty="0">
                <a:solidFill>
                  <a:srgbClr val="FFFFFF"/>
                </a:solidFill>
                <a:latin typeface="Calibri" pitchFamily="34" charset="0"/>
                <a:ea typeface="Calibri" pitchFamily="34" charset="-122"/>
                <a:cs typeface="Calibri" pitchFamily="34" charset="-120"/>
              </a:rPr>
              <a:t>Writing functions; if and for; solving one equation numerically</a:t>
            </a:r>
            <a:endParaRPr lang="en-US" sz="1600" dirty="0"/>
          </a:p>
        </p:txBody>
      </p:sp>
      <p:sp>
        <p:nvSpPr>
          <p:cNvPr id="9" name="Text 6"/>
          <p:cNvSpPr txBox="1"/>
          <p:nvPr/>
        </p:nvSpPr>
        <p:spPr>
          <a:xfrm>
            <a:off x="548640" y="5989320"/>
            <a:ext cx="9144000" cy="320040"/>
          </a:xfrm>
          <a:prstGeom prst="rect">
            <a:avLst/>
          </a:prstGeom>
          <a:noFill/>
          <a:ln/>
        </p:spPr>
        <p:txBody>
          <a:bodyPr wrap="square" lIns="0" tIns="0" rIns="0" bIns="0" rtlCol="0" anchor="t"/>
          <a:lstStyle/>
          <a:p>
            <a:pPr indent="0" marL="0">
              <a:buNone/>
            </a:pPr>
            <a:r>
              <a:rPr lang="en-US" sz="1300" dirty="0">
                <a:solidFill>
                  <a:srgbClr val="C9D6DF"/>
                </a:solidFill>
                <a:latin typeface="Calibri" pitchFamily="34" charset="0"/>
                <a:ea typeface="Calibri" pitchFamily="34" charset="-122"/>
                <a:cs typeface="Calibri" pitchFamily="34" charset="-120"/>
              </a:rPr>
              <a:t>Modelling Climate and Energy Futures  ·  beginner-friendly lecture and lab slides</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COURSE MAP</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Where we are in the course</a:t>
            </a:r>
            <a:endParaRPr lang="en-US" sz="3200" dirty="0"/>
          </a:p>
        </p:txBody>
      </p:sp>
      <p:sp>
        <p:nvSpPr>
          <p:cNvPr id="5" name="Text 2"/>
          <p:cNvSpPr txBox="1"/>
          <p:nvPr/>
        </p:nvSpPr>
        <p:spPr>
          <a:xfrm>
            <a:off x="548640" y="1673352"/>
            <a:ext cx="1737360" cy="320040"/>
          </a:xfrm>
          <a:prstGeom prst="rect">
            <a:avLst/>
          </a:prstGeom>
          <a:noFill/>
          <a:ln/>
        </p:spPr>
        <p:txBody>
          <a:bodyPr wrap="square" lIns="0" tIns="0" rIns="0" bIns="0" rtlCol="0" anchor="t"/>
          <a:lstStyle/>
          <a:p>
            <a:pPr indent="0" marL="0">
              <a:buNone/>
            </a:pPr>
            <a:r>
              <a:rPr lang="en-US" sz="1400" b="1" dirty="0">
                <a:solidFill>
                  <a:srgbClr val="5B6875"/>
                </a:solidFill>
                <a:latin typeface="Calibri" pitchFamily="34" charset="0"/>
                <a:ea typeface="Calibri" pitchFamily="34" charset="-122"/>
                <a:cs typeface="Calibri" pitchFamily="34" charset="-120"/>
              </a:rPr>
              <a:t>Stage 1</a:t>
            </a:r>
            <a:endParaRPr lang="en-US" sz="1400" dirty="0"/>
          </a:p>
        </p:txBody>
      </p:sp>
      <p:sp>
        <p:nvSpPr>
          <p:cNvPr id="6" name="Text 3"/>
          <p:cNvSpPr txBox="1"/>
          <p:nvPr/>
        </p:nvSpPr>
        <p:spPr>
          <a:xfrm>
            <a:off x="548640" y="1984248"/>
            <a:ext cx="1737360" cy="548640"/>
          </a:xfrm>
          <a:prstGeom prst="rect">
            <a:avLst/>
          </a:prstGeom>
          <a:noFill/>
          <a:ln/>
        </p:spPr>
        <p:txBody>
          <a:bodyPr wrap="square" lIns="0" tIns="0" rIns="0" bIns="0" rtlCol="0" anchor="t"/>
          <a:lstStyle/>
          <a:p>
            <a:pPr indent="0" marL="0">
              <a:buNone/>
            </a:pPr>
            <a:r>
              <a:rPr lang="en-US" sz="1600" b="1" dirty="0">
                <a:solidFill>
                  <a:srgbClr val="12263A"/>
                </a:solidFill>
                <a:latin typeface="Cambria" pitchFamily="34" charset="0"/>
                <a:ea typeface="Cambria" pitchFamily="34" charset="-122"/>
                <a:cs typeface="Cambria" pitchFamily="34" charset="-120"/>
              </a:rPr>
              <a:t>Foundations</a:t>
            </a:r>
            <a:endParaRPr lang="en-US" sz="1600" dirty="0"/>
          </a:p>
        </p:txBody>
      </p:sp>
      <p:sp>
        <p:nvSpPr>
          <p:cNvPr id="7" name="week tile"/>
          <p:cNvSpPr/>
          <p:nvPr/>
        </p:nvSpPr>
        <p:spPr>
          <a:xfrm>
            <a:off x="2468880" y="1600200"/>
            <a:ext cx="1414729" cy="1188720"/>
          </a:xfrm>
          <a:prstGeom prst="roundRect">
            <a:avLst>
              <a:gd name="adj" fmla="val 9231"/>
            </a:avLst>
          </a:prstGeom>
          <a:solidFill>
            <a:srgbClr val="C9E4DF"/>
          </a:solidFill>
          <a:ln w="12700">
            <a:solidFill>
              <a:srgbClr val="C9E4DF"/>
            </a:solidFill>
            <a:prstDash val="solid"/>
          </a:ln>
        </p:spPr>
      </p:sp>
      <p:sp>
        <p:nvSpPr>
          <p:cNvPr id="8" name="Text 5"/>
          <p:cNvSpPr txBox="1"/>
          <p:nvPr/>
        </p:nvSpPr>
        <p:spPr>
          <a:xfrm>
            <a:off x="2578608" y="169164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1</a:t>
            </a:r>
            <a:endParaRPr lang="en-US" sz="1200" dirty="0"/>
          </a:p>
        </p:txBody>
      </p:sp>
      <p:sp>
        <p:nvSpPr>
          <p:cNvPr id="9" name="Text 6"/>
          <p:cNvSpPr txBox="1"/>
          <p:nvPr/>
        </p:nvSpPr>
        <p:spPr>
          <a:xfrm>
            <a:off x="2578608" y="198424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Why model the future?</a:t>
            </a:r>
            <a:endParaRPr lang="en-US" sz="1400" dirty="0"/>
          </a:p>
        </p:txBody>
      </p:sp>
      <p:sp>
        <p:nvSpPr>
          <p:cNvPr id="10" name="week tile"/>
          <p:cNvSpPr/>
          <p:nvPr/>
        </p:nvSpPr>
        <p:spPr>
          <a:xfrm>
            <a:off x="4020769" y="1600200"/>
            <a:ext cx="1414729" cy="1188720"/>
          </a:xfrm>
          <a:prstGeom prst="roundRect">
            <a:avLst>
              <a:gd name="adj" fmla="val 9231"/>
            </a:avLst>
          </a:prstGeom>
          <a:solidFill>
            <a:srgbClr val="C9E4DF"/>
          </a:solidFill>
          <a:ln w="12700">
            <a:solidFill>
              <a:srgbClr val="C9E4DF"/>
            </a:solidFill>
            <a:prstDash val="solid"/>
          </a:ln>
        </p:spPr>
      </p:sp>
      <p:sp>
        <p:nvSpPr>
          <p:cNvPr id="11" name="Text 8"/>
          <p:cNvSpPr txBox="1"/>
          <p:nvPr/>
        </p:nvSpPr>
        <p:spPr>
          <a:xfrm>
            <a:off x="4130497" y="169164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2</a:t>
            </a:r>
            <a:endParaRPr lang="en-US" sz="1200" dirty="0"/>
          </a:p>
        </p:txBody>
      </p:sp>
      <p:sp>
        <p:nvSpPr>
          <p:cNvPr id="12" name="Text 9"/>
          <p:cNvSpPr txBox="1"/>
          <p:nvPr/>
        </p:nvSpPr>
        <p:spPr>
          <a:xfrm>
            <a:off x="4130497" y="198424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Climate primer</a:t>
            </a:r>
            <a:endParaRPr lang="en-US" sz="1400" dirty="0"/>
          </a:p>
        </p:txBody>
      </p:sp>
      <p:sp>
        <p:nvSpPr>
          <p:cNvPr id="13" name="week tile"/>
          <p:cNvSpPr/>
          <p:nvPr/>
        </p:nvSpPr>
        <p:spPr>
          <a:xfrm>
            <a:off x="5572658" y="1600200"/>
            <a:ext cx="1414729" cy="1188720"/>
          </a:xfrm>
          <a:prstGeom prst="roundRect">
            <a:avLst>
              <a:gd name="adj" fmla="val 9231"/>
            </a:avLst>
          </a:prstGeom>
          <a:solidFill>
            <a:srgbClr val="C9E4DF"/>
          </a:solidFill>
          <a:ln w="12700">
            <a:solidFill>
              <a:srgbClr val="C9E4DF"/>
            </a:solidFill>
            <a:prstDash val="solid"/>
          </a:ln>
        </p:spPr>
      </p:sp>
      <p:sp>
        <p:nvSpPr>
          <p:cNvPr id="14" name="Text 11"/>
          <p:cNvSpPr txBox="1"/>
          <p:nvPr/>
        </p:nvSpPr>
        <p:spPr>
          <a:xfrm>
            <a:off x="5682386" y="169164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3</a:t>
            </a:r>
            <a:endParaRPr lang="en-US" sz="1200" dirty="0"/>
          </a:p>
        </p:txBody>
      </p:sp>
      <p:sp>
        <p:nvSpPr>
          <p:cNvPr id="15" name="Text 12"/>
          <p:cNvSpPr txBox="1"/>
          <p:nvPr/>
        </p:nvSpPr>
        <p:spPr>
          <a:xfrm>
            <a:off x="5682386" y="198424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Energy primer</a:t>
            </a:r>
            <a:endParaRPr lang="en-US" sz="1400" dirty="0"/>
          </a:p>
        </p:txBody>
      </p:sp>
      <p:sp>
        <p:nvSpPr>
          <p:cNvPr id="16" name="week tile"/>
          <p:cNvSpPr/>
          <p:nvPr/>
        </p:nvSpPr>
        <p:spPr>
          <a:xfrm>
            <a:off x="7124548" y="1600200"/>
            <a:ext cx="1414729" cy="1188720"/>
          </a:xfrm>
          <a:prstGeom prst="roundRect">
            <a:avLst>
              <a:gd name="adj" fmla="val 9231"/>
            </a:avLst>
          </a:prstGeom>
          <a:solidFill>
            <a:srgbClr val="C2410C"/>
          </a:solidFill>
          <a:ln w="12700">
            <a:solidFill>
              <a:srgbClr val="C2410C"/>
            </a:solidFill>
            <a:prstDash val="solid"/>
          </a:ln>
        </p:spPr>
      </p:sp>
      <p:sp>
        <p:nvSpPr>
          <p:cNvPr id="17" name="Text 14"/>
          <p:cNvSpPr txBox="1"/>
          <p:nvPr/>
        </p:nvSpPr>
        <p:spPr>
          <a:xfrm>
            <a:off x="7234276" y="1691640"/>
            <a:ext cx="1231849" cy="274320"/>
          </a:xfrm>
          <a:prstGeom prst="rect">
            <a:avLst/>
          </a:prstGeom>
          <a:noFill/>
          <a:ln/>
        </p:spPr>
        <p:txBody>
          <a:bodyPr wrap="square" lIns="0" tIns="0" rIns="0" bIns="0"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Week 4</a:t>
            </a:r>
            <a:endParaRPr lang="en-US" sz="1200" dirty="0"/>
          </a:p>
        </p:txBody>
      </p:sp>
      <p:sp>
        <p:nvSpPr>
          <p:cNvPr id="18" name="Text 15"/>
          <p:cNvSpPr txBox="1"/>
          <p:nvPr/>
        </p:nvSpPr>
        <p:spPr>
          <a:xfrm>
            <a:off x="7234276" y="1984248"/>
            <a:ext cx="1231849" cy="73152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Economics primer</a:t>
            </a:r>
            <a:endParaRPr lang="en-US" sz="1400" dirty="0"/>
          </a:p>
        </p:txBody>
      </p:sp>
      <p:sp>
        <p:nvSpPr>
          <p:cNvPr id="19" name="week tile"/>
          <p:cNvSpPr/>
          <p:nvPr/>
        </p:nvSpPr>
        <p:spPr>
          <a:xfrm>
            <a:off x="8676437" y="1600200"/>
            <a:ext cx="1414729" cy="1188720"/>
          </a:xfrm>
          <a:prstGeom prst="roundRect">
            <a:avLst>
              <a:gd name="adj" fmla="val 9231"/>
            </a:avLst>
          </a:prstGeom>
          <a:solidFill>
            <a:srgbClr val="F7FAF9"/>
          </a:solidFill>
          <a:ln w="12700">
            <a:solidFill>
              <a:srgbClr val="F7FAF9"/>
            </a:solidFill>
            <a:prstDash val="solid"/>
          </a:ln>
        </p:spPr>
      </p:sp>
      <p:sp>
        <p:nvSpPr>
          <p:cNvPr id="20" name="Shape 17"/>
          <p:cNvSpPr/>
          <p:nvPr/>
        </p:nvSpPr>
        <p:spPr>
          <a:xfrm>
            <a:off x="8676437" y="1600200"/>
            <a:ext cx="1414729" cy="1188720"/>
          </a:xfrm>
          <a:prstGeom prst="roundRect">
            <a:avLst>
              <a:gd name="adj" fmla="val 9231"/>
            </a:avLst>
          </a:prstGeom>
          <a:solidFill>
            <a:srgbClr val="F7FAF9"/>
          </a:solidFill>
          <a:ln w="12700">
            <a:solidFill>
              <a:srgbClr val="D5DDDB"/>
            </a:solidFill>
            <a:prstDash val="solid"/>
          </a:ln>
        </p:spPr>
      </p:sp>
      <p:sp>
        <p:nvSpPr>
          <p:cNvPr id="21" name="Text 18"/>
          <p:cNvSpPr txBox="1"/>
          <p:nvPr/>
        </p:nvSpPr>
        <p:spPr>
          <a:xfrm>
            <a:off x="8786165" y="169164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5</a:t>
            </a:r>
            <a:endParaRPr lang="en-US" sz="1200" dirty="0"/>
          </a:p>
        </p:txBody>
      </p:sp>
      <p:sp>
        <p:nvSpPr>
          <p:cNvPr id="22" name="Text 19"/>
          <p:cNvSpPr txBox="1"/>
          <p:nvPr/>
        </p:nvSpPr>
        <p:spPr>
          <a:xfrm>
            <a:off x="8786165" y="198424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Cost-benefit IAMs: DICE</a:t>
            </a:r>
            <a:endParaRPr lang="en-US" sz="1400" dirty="0"/>
          </a:p>
        </p:txBody>
      </p:sp>
      <p:sp>
        <p:nvSpPr>
          <p:cNvPr id="23" name="week tile"/>
          <p:cNvSpPr/>
          <p:nvPr/>
        </p:nvSpPr>
        <p:spPr>
          <a:xfrm>
            <a:off x="10228326" y="1600200"/>
            <a:ext cx="1414729" cy="1188720"/>
          </a:xfrm>
          <a:prstGeom prst="roundRect">
            <a:avLst>
              <a:gd name="adj" fmla="val 9231"/>
            </a:avLst>
          </a:prstGeom>
          <a:solidFill>
            <a:srgbClr val="F7FAF9"/>
          </a:solidFill>
          <a:ln w="12700">
            <a:solidFill>
              <a:srgbClr val="F7FAF9"/>
            </a:solidFill>
            <a:prstDash val="solid"/>
          </a:ln>
        </p:spPr>
      </p:sp>
      <p:sp>
        <p:nvSpPr>
          <p:cNvPr id="24" name="Shape 21"/>
          <p:cNvSpPr/>
          <p:nvPr/>
        </p:nvSpPr>
        <p:spPr>
          <a:xfrm>
            <a:off x="10228326" y="1600200"/>
            <a:ext cx="1414729" cy="1188720"/>
          </a:xfrm>
          <a:prstGeom prst="roundRect">
            <a:avLst>
              <a:gd name="adj" fmla="val 9231"/>
            </a:avLst>
          </a:prstGeom>
          <a:solidFill>
            <a:srgbClr val="F7FAF9"/>
          </a:solidFill>
          <a:ln w="12700">
            <a:solidFill>
              <a:srgbClr val="D5DDDB"/>
            </a:solidFill>
            <a:prstDash val="solid"/>
          </a:ln>
        </p:spPr>
      </p:sp>
      <p:sp>
        <p:nvSpPr>
          <p:cNvPr id="25" name="Text 22"/>
          <p:cNvSpPr txBox="1"/>
          <p:nvPr/>
        </p:nvSpPr>
        <p:spPr>
          <a:xfrm>
            <a:off x="10338054" y="169164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6</a:t>
            </a:r>
            <a:endParaRPr lang="en-US" sz="1200" dirty="0"/>
          </a:p>
        </p:txBody>
      </p:sp>
      <p:sp>
        <p:nvSpPr>
          <p:cNvPr id="26" name="Text 23"/>
          <p:cNvSpPr txBox="1"/>
          <p:nvPr/>
        </p:nvSpPr>
        <p:spPr>
          <a:xfrm>
            <a:off x="10338054" y="198424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The scenario framework</a:t>
            </a:r>
            <a:endParaRPr lang="en-US" sz="1400" dirty="0"/>
          </a:p>
        </p:txBody>
      </p:sp>
      <p:sp>
        <p:nvSpPr>
          <p:cNvPr id="27" name="Text 24"/>
          <p:cNvSpPr txBox="1"/>
          <p:nvPr/>
        </p:nvSpPr>
        <p:spPr>
          <a:xfrm>
            <a:off x="548640" y="3182112"/>
            <a:ext cx="1737360" cy="320040"/>
          </a:xfrm>
          <a:prstGeom prst="rect">
            <a:avLst/>
          </a:prstGeom>
          <a:noFill/>
          <a:ln/>
        </p:spPr>
        <p:txBody>
          <a:bodyPr wrap="square" lIns="0" tIns="0" rIns="0" bIns="0" rtlCol="0" anchor="t"/>
          <a:lstStyle/>
          <a:p>
            <a:pPr indent="0" marL="0">
              <a:buNone/>
            </a:pPr>
            <a:r>
              <a:rPr lang="en-US" sz="1400" b="1" dirty="0">
                <a:solidFill>
                  <a:srgbClr val="5B6875"/>
                </a:solidFill>
                <a:latin typeface="Calibri" pitchFamily="34" charset="0"/>
                <a:ea typeface="Calibri" pitchFamily="34" charset="-122"/>
                <a:cs typeface="Calibri" pitchFamily="34" charset="-120"/>
              </a:rPr>
              <a:t>Stage 2</a:t>
            </a:r>
            <a:endParaRPr lang="en-US" sz="1400" dirty="0"/>
          </a:p>
        </p:txBody>
      </p:sp>
      <p:sp>
        <p:nvSpPr>
          <p:cNvPr id="28" name="Text 25"/>
          <p:cNvSpPr txBox="1"/>
          <p:nvPr/>
        </p:nvSpPr>
        <p:spPr>
          <a:xfrm>
            <a:off x="548640" y="3493008"/>
            <a:ext cx="1737360" cy="548640"/>
          </a:xfrm>
          <a:prstGeom prst="rect">
            <a:avLst/>
          </a:prstGeom>
          <a:noFill/>
          <a:ln/>
        </p:spPr>
        <p:txBody>
          <a:bodyPr wrap="square" lIns="0" tIns="0" rIns="0" bIns="0" rtlCol="0" anchor="t"/>
          <a:lstStyle/>
          <a:p>
            <a:pPr indent="0" marL="0">
              <a:buNone/>
            </a:pPr>
            <a:r>
              <a:rPr lang="en-US" sz="1600" b="1" dirty="0">
                <a:solidFill>
                  <a:srgbClr val="12263A"/>
                </a:solidFill>
                <a:latin typeface="Cambria" pitchFamily="34" charset="0"/>
                <a:ea typeface="Cambria" pitchFamily="34" charset="-122"/>
                <a:cs typeface="Cambria" pitchFamily="34" charset="-120"/>
              </a:rPr>
              <a:t>GCAM in depth</a:t>
            </a:r>
            <a:endParaRPr lang="en-US" sz="1600" dirty="0"/>
          </a:p>
        </p:txBody>
      </p:sp>
      <p:sp>
        <p:nvSpPr>
          <p:cNvPr id="29" name="week tile"/>
          <p:cNvSpPr/>
          <p:nvPr/>
        </p:nvSpPr>
        <p:spPr>
          <a:xfrm>
            <a:off x="2468880" y="3108960"/>
            <a:ext cx="1414729" cy="1188720"/>
          </a:xfrm>
          <a:prstGeom prst="roundRect">
            <a:avLst>
              <a:gd name="adj" fmla="val 9231"/>
            </a:avLst>
          </a:prstGeom>
          <a:solidFill>
            <a:srgbClr val="F7FAF9"/>
          </a:solidFill>
          <a:ln w="12700">
            <a:solidFill>
              <a:srgbClr val="F7FAF9"/>
            </a:solidFill>
            <a:prstDash val="solid"/>
          </a:ln>
        </p:spPr>
      </p:sp>
      <p:sp>
        <p:nvSpPr>
          <p:cNvPr id="30" name="Shape 27"/>
          <p:cNvSpPr/>
          <p:nvPr/>
        </p:nvSpPr>
        <p:spPr>
          <a:xfrm>
            <a:off x="2468880" y="3108960"/>
            <a:ext cx="1414729" cy="1188720"/>
          </a:xfrm>
          <a:prstGeom prst="roundRect">
            <a:avLst>
              <a:gd name="adj" fmla="val 9231"/>
            </a:avLst>
          </a:prstGeom>
          <a:solidFill>
            <a:srgbClr val="F7FAF9"/>
          </a:solidFill>
          <a:ln w="12700">
            <a:solidFill>
              <a:srgbClr val="D5DDDB"/>
            </a:solidFill>
            <a:prstDash val="solid"/>
          </a:ln>
        </p:spPr>
      </p:sp>
      <p:sp>
        <p:nvSpPr>
          <p:cNvPr id="31" name="Text 28"/>
          <p:cNvSpPr txBox="1"/>
          <p:nvPr/>
        </p:nvSpPr>
        <p:spPr>
          <a:xfrm>
            <a:off x="2578608" y="320040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7</a:t>
            </a:r>
            <a:endParaRPr lang="en-US" sz="1200" dirty="0"/>
          </a:p>
        </p:txBody>
      </p:sp>
      <p:sp>
        <p:nvSpPr>
          <p:cNvPr id="32" name="Text 29"/>
          <p:cNvSpPr txBox="1"/>
          <p:nvPr/>
        </p:nvSpPr>
        <p:spPr>
          <a:xfrm>
            <a:off x="2578608" y="349300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Inside GCAM</a:t>
            </a:r>
            <a:endParaRPr lang="en-US" sz="1400" dirty="0"/>
          </a:p>
        </p:txBody>
      </p:sp>
      <p:sp>
        <p:nvSpPr>
          <p:cNvPr id="33" name="week tile"/>
          <p:cNvSpPr/>
          <p:nvPr/>
        </p:nvSpPr>
        <p:spPr>
          <a:xfrm>
            <a:off x="4020769" y="3108960"/>
            <a:ext cx="1414729" cy="1188720"/>
          </a:xfrm>
          <a:prstGeom prst="roundRect">
            <a:avLst>
              <a:gd name="adj" fmla="val 9231"/>
            </a:avLst>
          </a:prstGeom>
          <a:solidFill>
            <a:srgbClr val="F7FAF9"/>
          </a:solidFill>
          <a:ln w="12700">
            <a:solidFill>
              <a:srgbClr val="F7FAF9"/>
            </a:solidFill>
            <a:prstDash val="solid"/>
          </a:ln>
        </p:spPr>
      </p:sp>
      <p:sp>
        <p:nvSpPr>
          <p:cNvPr id="34" name="Shape 31"/>
          <p:cNvSpPr/>
          <p:nvPr/>
        </p:nvSpPr>
        <p:spPr>
          <a:xfrm>
            <a:off x="4020769" y="3108960"/>
            <a:ext cx="1414729" cy="1188720"/>
          </a:xfrm>
          <a:prstGeom prst="roundRect">
            <a:avLst>
              <a:gd name="adj" fmla="val 9231"/>
            </a:avLst>
          </a:prstGeom>
          <a:solidFill>
            <a:srgbClr val="F7FAF9"/>
          </a:solidFill>
          <a:ln w="12700">
            <a:solidFill>
              <a:srgbClr val="D5DDDB"/>
            </a:solidFill>
            <a:prstDash val="solid"/>
          </a:ln>
        </p:spPr>
      </p:sp>
      <p:sp>
        <p:nvSpPr>
          <p:cNvPr id="35" name="Text 32"/>
          <p:cNvSpPr txBox="1"/>
          <p:nvPr/>
        </p:nvSpPr>
        <p:spPr>
          <a:xfrm>
            <a:off x="4130497" y="320040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8</a:t>
            </a:r>
            <a:endParaRPr lang="en-US" sz="1200" dirty="0"/>
          </a:p>
        </p:txBody>
      </p:sp>
      <p:sp>
        <p:nvSpPr>
          <p:cNvPr id="36" name="Text 33"/>
          <p:cNvSpPr txBox="1"/>
          <p:nvPr/>
        </p:nvSpPr>
        <p:spPr>
          <a:xfrm>
            <a:off x="4130497" y="349300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Energy in GCAM</a:t>
            </a:r>
            <a:endParaRPr lang="en-US" sz="1400" dirty="0"/>
          </a:p>
        </p:txBody>
      </p:sp>
      <p:sp>
        <p:nvSpPr>
          <p:cNvPr id="37" name="week tile"/>
          <p:cNvSpPr/>
          <p:nvPr/>
        </p:nvSpPr>
        <p:spPr>
          <a:xfrm>
            <a:off x="5572658" y="3108960"/>
            <a:ext cx="1414729" cy="1188720"/>
          </a:xfrm>
          <a:prstGeom prst="roundRect">
            <a:avLst>
              <a:gd name="adj" fmla="val 9231"/>
            </a:avLst>
          </a:prstGeom>
          <a:solidFill>
            <a:srgbClr val="F7FAF9"/>
          </a:solidFill>
          <a:ln w="12700">
            <a:solidFill>
              <a:srgbClr val="F7FAF9"/>
            </a:solidFill>
            <a:prstDash val="solid"/>
          </a:ln>
        </p:spPr>
      </p:sp>
      <p:sp>
        <p:nvSpPr>
          <p:cNvPr id="38" name="Shape 35"/>
          <p:cNvSpPr/>
          <p:nvPr/>
        </p:nvSpPr>
        <p:spPr>
          <a:xfrm>
            <a:off x="5572658" y="3108960"/>
            <a:ext cx="1414729" cy="1188720"/>
          </a:xfrm>
          <a:prstGeom prst="roundRect">
            <a:avLst>
              <a:gd name="adj" fmla="val 9231"/>
            </a:avLst>
          </a:prstGeom>
          <a:solidFill>
            <a:srgbClr val="F7FAF9"/>
          </a:solidFill>
          <a:ln w="12700">
            <a:solidFill>
              <a:srgbClr val="D5DDDB"/>
            </a:solidFill>
            <a:prstDash val="solid"/>
          </a:ln>
        </p:spPr>
      </p:sp>
      <p:sp>
        <p:nvSpPr>
          <p:cNvPr id="39" name="Text 36"/>
          <p:cNvSpPr txBox="1"/>
          <p:nvPr/>
        </p:nvSpPr>
        <p:spPr>
          <a:xfrm>
            <a:off x="5682386" y="320040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9</a:t>
            </a:r>
            <a:endParaRPr lang="en-US" sz="1200" dirty="0"/>
          </a:p>
        </p:txBody>
      </p:sp>
      <p:sp>
        <p:nvSpPr>
          <p:cNvPr id="40" name="Text 37"/>
          <p:cNvSpPr txBox="1"/>
          <p:nvPr/>
        </p:nvSpPr>
        <p:spPr>
          <a:xfrm>
            <a:off x="5682386" y="349300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Land, water and bioenergy</a:t>
            </a:r>
            <a:endParaRPr lang="en-US" sz="1400" dirty="0"/>
          </a:p>
        </p:txBody>
      </p:sp>
      <p:sp>
        <p:nvSpPr>
          <p:cNvPr id="41" name="week tile"/>
          <p:cNvSpPr/>
          <p:nvPr/>
        </p:nvSpPr>
        <p:spPr>
          <a:xfrm>
            <a:off x="7124548" y="3108960"/>
            <a:ext cx="1414729" cy="1188720"/>
          </a:xfrm>
          <a:prstGeom prst="roundRect">
            <a:avLst>
              <a:gd name="adj" fmla="val 9231"/>
            </a:avLst>
          </a:prstGeom>
          <a:solidFill>
            <a:srgbClr val="F7FAF9"/>
          </a:solidFill>
          <a:ln w="12700">
            <a:solidFill>
              <a:srgbClr val="F7FAF9"/>
            </a:solidFill>
            <a:prstDash val="solid"/>
          </a:ln>
        </p:spPr>
      </p:sp>
      <p:sp>
        <p:nvSpPr>
          <p:cNvPr id="42" name="Shape 39"/>
          <p:cNvSpPr/>
          <p:nvPr/>
        </p:nvSpPr>
        <p:spPr>
          <a:xfrm>
            <a:off x="7124548" y="3108960"/>
            <a:ext cx="1414729" cy="1188720"/>
          </a:xfrm>
          <a:prstGeom prst="roundRect">
            <a:avLst>
              <a:gd name="adj" fmla="val 9231"/>
            </a:avLst>
          </a:prstGeom>
          <a:solidFill>
            <a:srgbClr val="F7FAF9"/>
          </a:solidFill>
          <a:ln w="12700">
            <a:solidFill>
              <a:srgbClr val="D5DDDB"/>
            </a:solidFill>
            <a:prstDash val="solid"/>
          </a:ln>
        </p:spPr>
      </p:sp>
      <p:sp>
        <p:nvSpPr>
          <p:cNvPr id="43" name="Text 40"/>
          <p:cNvSpPr txBox="1"/>
          <p:nvPr/>
        </p:nvSpPr>
        <p:spPr>
          <a:xfrm>
            <a:off x="7234276" y="320040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10</a:t>
            </a:r>
            <a:endParaRPr lang="en-US" sz="1200" dirty="0"/>
          </a:p>
        </p:txBody>
      </p:sp>
      <p:sp>
        <p:nvSpPr>
          <p:cNvPr id="44" name="Text 41"/>
          <p:cNvSpPr txBox="1"/>
          <p:nvPr/>
        </p:nvSpPr>
        <p:spPr>
          <a:xfrm>
            <a:off x="7234276" y="349300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Emissions and policy</a:t>
            </a:r>
            <a:endParaRPr lang="en-US" sz="1400" dirty="0"/>
          </a:p>
        </p:txBody>
      </p:sp>
      <p:sp>
        <p:nvSpPr>
          <p:cNvPr id="45" name="Text 42"/>
          <p:cNvSpPr txBox="1"/>
          <p:nvPr/>
        </p:nvSpPr>
        <p:spPr>
          <a:xfrm>
            <a:off x="548640" y="4690872"/>
            <a:ext cx="1737360" cy="320040"/>
          </a:xfrm>
          <a:prstGeom prst="rect">
            <a:avLst/>
          </a:prstGeom>
          <a:noFill/>
          <a:ln/>
        </p:spPr>
        <p:txBody>
          <a:bodyPr wrap="square" lIns="0" tIns="0" rIns="0" bIns="0" rtlCol="0" anchor="t"/>
          <a:lstStyle/>
          <a:p>
            <a:pPr indent="0" marL="0">
              <a:buNone/>
            </a:pPr>
            <a:r>
              <a:rPr lang="en-US" sz="1400" b="1" dirty="0">
                <a:solidFill>
                  <a:srgbClr val="5B6875"/>
                </a:solidFill>
                <a:latin typeface="Calibri" pitchFamily="34" charset="0"/>
                <a:ea typeface="Calibri" pitchFamily="34" charset="-122"/>
                <a:cs typeface="Calibri" pitchFamily="34" charset="-120"/>
              </a:rPr>
              <a:t>Stage 3</a:t>
            </a:r>
            <a:endParaRPr lang="en-US" sz="1400" dirty="0"/>
          </a:p>
        </p:txBody>
      </p:sp>
      <p:sp>
        <p:nvSpPr>
          <p:cNvPr id="46" name="Text 43"/>
          <p:cNvSpPr txBox="1"/>
          <p:nvPr/>
        </p:nvSpPr>
        <p:spPr>
          <a:xfrm>
            <a:off x="548640" y="5001768"/>
            <a:ext cx="1737360" cy="548640"/>
          </a:xfrm>
          <a:prstGeom prst="rect">
            <a:avLst/>
          </a:prstGeom>
          <a:noFill/>
          <a:ln/>
        </p:spPr>
        <p:txBody>
          <a:bodyPr wrap="square" lIns="0" tIns="0" rIns="0" bIns="0" rtlCol="0" anchor="t"/>
          <a:lstStyle/>
          <a:p>
            <a:pPr indent="0" marL="0">
              <a:buNone/>
            </a:pPr>
            <a:r>
              <a:rPr lang="en-US" sz="1600" b="1" dirty="0">
                <a:solidFill>
                  <a:srgbClr val="12263A"/>
                </a:solidFill>
                <a:latin typeface="Cambria" pitchFamily="34" charset="0"/>
                <a:ea typeface="Cambria" pitchFamily="34" charset="-122"/>
                <a:cs typeface="Cambria" pitchFamily="34" charset="-120"/>
              </a:rPr>
              <a:t>Advanced methods</a:t>
            </a:r>
            <a:endParaRPr lang="en-US" sz="1600" dirty="0"/>
          </a:p>
        </p:txBody>
      </p:sp>
      <p:sp>
        <p:nvSpPr>
          <p:cNvPr id="47" name="week tile"/>
          <p:cNvSpPr/>
          <p:nvPr/>
        </p:nvSpPr>
        <p:spPr>
          <a:xfrm>
            <a:off x="2468880" y="4617720"/>
            <a:ext cx="1414729" cy="1188720"/>
          </a:xfrm>
          <a:prstGeom prst="roundRect">
            <a:avLst>
              <a:gd name="adj" fmla="val 9231"/>
            </a:avLst>
          </a:prstGeom>
          <a:solidFill>
            <a:srgbClr val="F7FAF9"/>
          </a:solidFill>
          <a:ln w="12700">
            <a:solidFill>
              <a:srgbClr val="F7FAF9"/>
            </a:solidFill>
            <a:prstDash val="solid"/>
          </a:ln>
        </p:spPr>
      </p:sp>
      <p:sp>
        <p:nvSpPr>
          <p:cNvPr id="48" name="Shape 45"/>
          <p:cNvSpPr/>
          <p:nvPr/>
        </p:nvSpPr>
        <p:spPr>
          <a:xfrm>
            <a:off x="2468880" y="4617720"/>
            <a:ext cx="1414729" cy="1188720"/>
          </a:xfrm>
          <a:prstGeom prst="roundRect">
            <a:avLst>
              <a:gd name="adj" fmla="val 9231"/>
            </a:avLst>
          </a:prstGeom>
          <a:solidFill>
            <a:srgbClr val="F7FAF9"/>
          </a:solidFill>
          <a:ln w="12700">
            <a:solidFill>
              <a:srgbClr val="D5DDDB"/>
            </a:solidFill>
            <a:prstDash val="solid"/>
          </a:ln>
        </p:spPr>
      </p:sp>
      <p:sp>
        <p:nvSpPr>
          <p:cNvPr id="49" name="Text 46"/>
          <p:cNvSpPr txBox="1"/>
          <p:nvPr/>
        </p:nvSpPr>
        <p:spPr>
          <a:xfrm>
            <a:off x="2578608" y="470916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11</a:t>
            </a:r>
            <a:endParaRPr lang="en-US" sz="1200" dirty="0"/>
          </a:p>
        </p:txBody>
      </p:sp>
      <p:sp>
        <p:nvSpPr>
          <p:cNvPr id="50" name="Text 47"/>
          <p:cNvSpPr txBox="1"/>
          <p:nvPr/>
        </p:nvSpPr>
        <p:spPr>
          <a:xfrm>
            <a:off x="2578608" y="500176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Optimisation IAMs</a:t>
            </a:r>
            <a:endParaRPr lang="en-US" sz="1400" dirty="0"/>
          </a:p>
        </p:txBody>
      </p:sp>
      <p:sp>
        <p:nvSpPr>
          <p:cNvPr id="51" name="week tile"/>
          <p:cNvSpPr/>
          <p:nvPr/>
        </p:nvSpPr>
        <p:spPr>
          <a:xfrm>
            <a:off x="4020769" y="4617720"/>
            <a:ext cx="1414729" cy="1188720"/>
          </a:xfrm>
          <a:prstGeom prst="roundRect">
            <a:avLst>
              <a:gd name="adj" fmla="val 9231"/>
            </a:avLst>
          </a:prstGeom>
          <a:solidFill>
            <a:srgbClr val="F7FAF9"/>
          </a:solidFill>
          <a:ln w="12700">
            <a:solidFill>
              <a:srgbClr val="F7FAF9"/>
            </a:solidFill>
            <a:prstDash val="solid"/>
          </a:ln>
        </p:spPr>
      </p:sp>
      <p:sp>
        <p:nvSpPr>
          <p:cNvPr id="52" name="Shape 49"/>
          <p:cNvSpPr/>
          <p:nvPr/>
        </p:nvSpPr>
        <p:spPr>
          <a:xfrm>
            <a:off x="4020769" y="4617720"/>
            <a:ext cx="1414729" cy="1188720"/>
          </a:xfrm>
          <a:prstGeom prst="roundRect">
            <a:avLst>
              <a:gd name="adj" fmla="val 9231"/>
            </a:avLst>
          </a:prstGeom>
          <a:solidFill>
            <a:srgbClr val="F7FAF9"/>
          </a:solidFill>
          <a:ln w="12700">
            <a:solidFill>
              <a:srgbClr val="D5DDDB"/>
            </a:solidFill>
            <a:prstDash val="solid"/>
          </a:ln>
        </p:spPr>
      </p:sp>
      <p:sp>
        <p:nvSpPr>
          <p:cNvPr id="53" name="Text 50"/>
          <p:cNvSpPr txBox="1"/>
          <p:nvPr/>
        </p:nvSpPr>
        <p:spPr>
          <a:xfrm>
            <a:off x="4130497" y="470916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12</a:t>
            </a:r>
            <a:endParaRPr lang="en-US" sz="1200" dirty="0"/>
          </a:p>
        </p:txBody>
      </p:sp>
      <p:sp>
        <p:nvSpPr>
          <p:cNvPr id="54" name="Text 51"/>
          <p:cNvSpPr txBox="1"/>
          <p:nvPr/>
        </p:nvSpPr>
        <p:spPr>
          <a:xfrm>
            <a:off x="4130497" y="500176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Why models disagree</a:t>
            </a:r>
            <a:endParaRPr lang="en-US" sz="1400" dirty="0"/>
          </a:p>
        </p:txBody>
      </p:sp>
      <p:sp>
        <p:nvSpPr>
          <p:cNvPr id="55" name="week tile"/>
          <p:cNvSpPr/>
          <p:nvPr/>
        </p:nvSpPr>
        <p:spPr>
          <a:xfrm>
            <a:off x="5572658" y="4617720"/>
            <a:ext cx="1414729" cy="1188720"/>
          </a:xfrm>
          <a:prstGeom prst="roundRect">
            <a:avLst>
              <a:gd name="adj" fmla="val 9231"/>
            </a:avLst>
          </a:prstGeom>
          <a:solidFill>
            <a:srgbClr val="F7FAF9"/>
          </a:solidFill>
          <a:ln w="12700">
            <a:solidFill>
              <a:srgbClr val="F7FAF9"/>
            </a:solidFill>
            <a:prstDash val="solid"/>
          </a:ln>
        </p:spPr>
      </p:sp>
      <p:sp>
        <p:nvSpPr>
          <p:cNvPr id="56" name="Shape 53"/>
          <p:cNvSpPr/>
          <p:nvPr/>
        </p:nvSpPr>
        <p:spPr>
          <a:xfrm>
            <a:off x="5572658" y="4617720"/>
            <a:ext cx="1414729" cy="1188720"/>
          </a:xfrm>
          <a:prstGeom prst="roundRect">
            <a:avLst>
              <a:gd name="adj" fmla="val 9231"/>
            </a:avLst>
          </a:prstGeom>
          <a:solidFill>
            <a:srgbClr val="F7FAF9"/>
          </a:solidFill>
          <a:ln w="12700">
            <a:solidFill>
              <a:srgbClr val="D5DDDB"/>
            </a:solidFill>
            <a:prstDash val="solid"/>
          </a:ln>
        </p:spPr>
      </p:sp>
      <p:sp>
        <p:nvSpPr>
          <p:cNvPr id="57" name="Text 54"/>
          <p:cNvSpPr txBox="1"/>
          <p:nvPr/>
        </p:nvSpPr>
        <p:spPr>
          <a:xfrm>
            <a:off x="5682386" y="470916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13</a:t>
            </a:r>
            <a:endParaRPr lang="en-US" sz="1200" dirty="0"/>
          </a:p>
        </p:txBody>
      </p:sp>
      <p:sp>
        <p:nvSpPr>
          <p:cNvPr id="58" name="Text 55"/>
          <p:cNvSpPr txBox="1"/>
          <p:nvPr/>
        </p:nvSpPr>
        <p:spPr>
          <a:xfrm>
            <a:off x="5682386" y="500176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Uncertainty</a:t>
            </a:r>
            <a:endParaRPr lang="en-US" sz="1400" dirty="0"/>
          </a:p>
        </p:txBody>
      </p:sp>
      <p:sp>
        <p:nvSpPr>
          <p:cNvPr id="59" name="week tile"/>
          <p:cNvSpPr/>
          <p:nvPr/>
        </p:nvSpPr>
        <p:spPr>
          <a:xfrm>
            <a:off x="7124548" y="4617720"/>
            <a:ext cx="1414729" cy="1188720"/>
          </a:xfrm>
          <a:prstGeom prst="roundRect">
            <a:avLst>
              <a:gd name="adj" fmla="val 9231"/>
            </a:avLst>
          </a:prstGeom>
          <a:solidFill>
            <a:srgbClr val="F7FAF9"/>
          </a:solidFill>
          <a:ln w="12700">
            <a:solidFill>
              <a:srgbClr val="F7FAF9"/>
            </a:solidFill>
            <a:prstDash val="solid"/>
          </a:ln>
        </p:spPr>
      </p:sp>
      <p:sp>
        <p:nvSpPr>
          <p:cNvPr id="60" name="Shape 57"/>
          <p:cNvSpPr/>
          <p:nvPr/>
        </p:nvSpPr>
        <p:spPr>
          <a:xfrm>
            <a:off x="7124548" y="4617720"/>
            <a:ext cx="1414729" cy="1188720"/>
          </a:xfrm>
          <a:prstGeom prst="roundRect">
            <a:avLst>
              <a:gd name="adj" fmla="val 9231"/>
            </a:avLst>
          </a:prstGeom>
          <a:solidFill>
            <a:srgbClr val="F7FAF9"/>
          </a:solidFill>
          <a:ln w="12700">
            <a:solidFill>
              <a:srgbClr val="D5DDDB"/>
            </a:solidFill>
            <a:prstDash val="solid"/>
          </a:ln>
        </p:spPr>
      </p:sp>
      <p:sp>
        <p:nvSpPr>
          <p:cNvPr id="61" name="Text 58"/>
          <p:cNvSpPr txBox="1"/>
          <p:nvPr/>
        </p:nvSpPr>
        <p:spPr>
          <a:xfrm>
            <a:off x="7234276" y="470916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14</a:t>
            </a:r>
            <a:endParaRPr lang="en-US" sz="1200" dirty="0"/>
          </a:p>
        </p:txBody>
      </p:sp>
      <p:sp>
        <p:nvSpPr>
          <p:cNvPr id="62" name="Text 59"/>
          <p:cNvSpPr txBox="1"/>
          <p:nvPr/>
        </p:nvSpPr>
        <p:spPr>
          <a:xfrm>
            <a:off x="7234276" y="500176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Frontiers and limits</a:t>
            </a:r>
            <a:endParaRPr lang="en-US" sz="1400" dirty="0"/>
          </a:p>
        </p:txBody>
      </p:sp>
      <p:sp>
        <p:nvSpPr>
          <p:cNvPr id="63" name="week tile"/>
          <p:cNvSpPr/>
          <p:nvPr/>
        </p:nvSpPr>
        <p:spPr>
          <a:xfrm>
            <a:off x="8676437" y="4617720"/>
            <a:ext cx="1414729" cy="1188720"/>
          </a:xfrm>
          <a:prstGeom prst="roundRect">
            <a:avLst>
              <a:gd name="adj" fmla="val 9231"/>
            </a:avLst>
          </a:prstGeom>
          <a:solidFill>
            <a:srgbClr val="F7FAF9"/>
          </a:solidFill>
          <a:ln w="12700">
            <a:solidFill>
              <a:srgbClr val="F7FAF9"/>
            </a:solidFill>
            <a:prstDash val="solid"/>
          </a:ln>
        </p:spPr>
      </p:sp>
      <p:sp>
        <p:nvSpPr>
          <p:cNvPr id="64" name="Shape 61"/>
          <p:cNvSpPr/>
          <p:nvPr/>
        </p:nvSpPr>
        <p:spPr>
          <a:xfrm>
            <a:off x="8676437" y="4617720"/>
            <a:ext cx="1414729" cy="1188720"/>
          </a:xfrm>
          <a:prstGeom prst="roundRect">
            <a:avLst>
              <a:gd name="adj" fmla="val 9231"/>
            </a:avLst>
          </a:prstGeom>
          <a:solidFill>
            <a:srgbClr val="F7FAF9"/>
          </a:solidFill>
          <a:ln w="12700">
            <a:solidFill>
              <a:srgbClr val="D5DDDB"/>
            </a:solidFill>
            <a:prstDash val="solid"/>
          </a:ln>
        </p:spPr>
      </p:sp>
      <p:sp>
        <p:nvSpPr>
          <p:cNvPr id="65" name="Text 62"/>
          <p:cNvSpPr txBox="1"/>
          <p:nvPr/>
        </p:nvSpPr>
        <p:spPr>
          <a:xfrm>
            <a:off x="8786165" y="470916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15</a:t>
            </a:r>
            <a:endParaRPr lang="en-US" sz="1200" dirty="0"/>
          </a:p>
        </p:txBody>
      </p:sp>
      <p:sp>
        <p:nvSpPr>
          <p:cNvPr id="66" name="Text 63"/>
          <p:cNvSpPr txBox="1"/>
          <p:nvPr/>
        </p:nvSpPr>
        <p:spPr>
          <a:xfrm>
            <a:off x="8786165" y="500176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Projects and review</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TODAY'S GOALS</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By the end of today you can</a:t>
            </a:r>
            <a:endParaRPr lang="en-US" sz="3200" dirty="0"/>
          </a:p>
        </p:txBody>
      </p:sp>
      <p:sp>
        <p:nvSpPr>
          <p:cNvPr id="5" name="goal card"/>
          <p:cNvSpPr/>
          <p:nvPr/>
        </p:nvSpPr>
        <p:spPr>
          <a:xfrm>
            <a:off x="548640" y="1645920"/>
            <a:ext cx="2567864" cy="3108960"/>
          </a:xfrm>
          <a:prstGeom prst="roundRect">
            <a:avLst>
              <a:gd name="adj" fmla="val 4273"/>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6" name="number badge"/>
          <p:cNvSpPr txBox="1"/>
          <p:nvPr/>
        </p:nvSpPr>
        <p:spPr>
          <a:xfrm>
            <a:off x="822960" y="1874520"/>
            <a:ext cx="594360" cy="59436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7" name="Text 4"/>
          <p:cNvSpPr txBox="1"/>
          <p:nvPr/>
        </p:nvSpPr>
        <p:spPr>
          <a:xfrm>
            <a:off x="822960" y="2560320"/>
            <a:ext cx="2064944" cy="2057400"/>
          </a:xfrm>
          <a:prstGeom prst="rect">
            <a:avLst/>
          </a:prstGeom>
          <a:noFill/>
          <a:ln/>
        </p:spPr>
        <p:txBody>
          <a:bodyPr wrap="square" lIns="0" tIns="0" rIns="0" bIns="0" rtlCol="0" anchor="t"/>
          <a:lstStyle/>
          <a:p>
            <a:pPr indent="0" marL="0">
              <a:buNone/>
            </a:pPr>
            <a:r>
              <a:rPr lang="en-US" sz="2100" dirty="0">
                <a:solidFill>
                  <a:srgbClr val="1F2933"/>
                </a:solidFill>
                <a:latin typeface="Calibri" pitchFamily="34" charset="0"/>
                <a:ea typeface="Calibri" pitchFamily="34" charset="-122"/>
                <a:cs typeface="Calibri" pitchFamily="34" charset="-120"/>
              </a:rPr>
              <a:t>Explain how a market price balances supply and demand</a:t>
            </a:r>
            <a:endParaRPr lang="en-US" sz="2100" dirty="0"/>
          </a:p>
        </p:txBody>
      </p:sp>
      <p:sp>
        <p:nvSpPr>
          <p:cNvPr id="8" name="goal card"/>
          <p:cNvSpPr/>
          <p:nvPr/>
        </p:nvSpPr>
        <p:spPr>
          <a:xfrm>
            <a:off x="3390824" y="1645920"/>
            <a:ext cx="2567864" cy="3108960"/>
          </a:xfrm>
          <a:prstGeom prst="roundRect">
            <a:avLst>
              <a:gd name="adj" fmla="val 4273"/>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9" name="number badge"/>
          <p:cNvSpPr txBox="1"/>
          <p:nvPr/>
        </p:nvSpPr>
        <p:spPr>
          <a:xfrm>
            <a:off x="3665144" y="1874520"/>
            <a:ext cx="594360" cy="59436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0" name="Text 7"/>
          <p:cNvSpPr txBox="1"/>
          <p:nvPr/>
        </p:nvSpPr>
        <p:spPr>
          <a:xfrm>
            <a:off x="3665144" y="2560320"/>
            <a:ext cx="2064944" cy="2057400"/>
          </a:xfrm>
          <a:prstGeom prst="rect">
            <a:avLst/>
          </a:prstGeom>
          <a:noFill/>
          <a:ln/>
        </p:spPr>
        <p:txBody>
          <a:bodyPr wrap="square" lIns="0" tIns="0" rIns="0" bIns="0" rtlCol="0" anchor="t"/>
          <a:lstStyle/>
          <a:p>
            <a:pPr indent="0" marL="0">
              <a:buNone/>
            </a:pPr>
            <a:r>
              <a:rPr lang="en-US" sz="2100" dirty="0">
                <a:solidFill>
                  <a:srgbClr val="1F2933"/>
                </a:solidFill>
                <a:latin typeface="Calibri" pitchFamily="34" charset="0"/>
                <a:ea typeface="Calibri" pitchFamily="34" charset="-122"/>
                <a:cs typeface="Calibri" pitchFamily="34" charset="-120"/>
              </a:rPr>
              <a:t>Add a carbon price to a technology's cost and say which option wins</a:t>
            </a:r>
            <a:endParaRPr lang="en-US" sz="2100" dirty="0"/>
          </a:p>
        </p:txBody>
      </p:sp>
      <p:sp>
        <p:nvSpPr>
          <p:cNvPr id="11" name="goal card"/>
          <p:cNvSpPr/>
          <p:nvPr/>
        </p:nvSpPr>
        <p:spPr>
          <a:xfrm>
            <a:off x="6233008" y="1645920"/>
            <a:ext cx="2567864" cy="3108960"/>
          </a:xfrm>
          <a:prstGeom prst="roundRect">
            <a:avLst>
              <a:gd name="adj" fmla="val 4273"/>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2" name="number badge"/>
          <p:cNvSpPr txBox="1"/>
          <p:nvPr/>
        </p:nvSpPr>
        <p:spPr>
          <a:xfrm>
            <a:off x="6507328" y="1874520"/>
            <a:ext cx="594360" cy="59436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3" name="Text 10"/>
          <p:cNvSpPr txBox="1"/>
          <p:nvPr/>
        </p:nvSpPr>
        <p:spPr>
          <a:xfrm>
            <a:off x="6507328" y="2560320"/>
            <a:ext cx="2064944" cy="2057400"/>
          </a:xfrm>
          <a:prstGeom prst="rect">
            <a:avLst/>
          </a:prstGeom>
          <a:noFill/>
          <a:ln/>
        </p:spPr>
        <p:txBody>
          <a:bodyPr wrap="square" lIns="0" tIns="0" rIns="0" bIns="0" rtlCol="0" anchor="t"/>
          <a:lstStyle/>
          <a:p>
            <a:pPr indent="0" marL="0">
              <a:buNone/>
            </a:pPr>
            <a:r>
              <a:rPr lang="en-US" sz="2100" dirty="0">
                <a:solidFill>
                  <a:srgbClr val="1F2933"/>
                </a:solidFill>
                <a:latin typeface="Calibri" pitchFamily="34" charset="0"/>
                <a:ea typeface="Calibri" pitchFamily="34" charset="-122"/>
                <a:cs typeface="Calibri" pitchFamily="34" charset="-120"/>
              </a:rPr>
              <a:t>Discount a future cost to today's value and explain why the rate matters</a:t>
            </a:r>
            <a:endParaRPr lang="en-US" sz="2100" dirty="0"/>
          </a:p>
        </p:txBody>
      </p:sp>
      <p:sp>
        <p:nvSpPr>
          <p:cNvPr id="14" name="goal card"/>
          <p:cNvSpPr/>
          <p:nvPr/>
        </p:nvSpPr>
        <p:spPr>
          <a:xfrm>
            <a:off x="9075191" y="1645920"/>
            <a:ext cx="2567864" cy="3108960"/>
          </a:xfrm>
          <a:prstGeom prst="roundRect">
            <a:avLst>
              <a:gd name="adj" fmla="val 4273"/>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5" name="number badge"/>
          <p:cNvSpPr txBox="1"/>
          <p:nvPr/>
        </p:nvSpPr>
        <p:spPr>
          <a:xfrm>
            <a:off x="9349511" y="1874520"/>
            <a:ext cx="594360" cy="59436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16" name="Text 13"/>
          <p:cNvSpPr txBox="1"/>
          <p:nvPr/>
        </p:nvSpPr>
        <p:spPr>
          <a:xfrm>
            <a:off x="9349511" y="2560320"/>
            <a:ext cx="2064944" cy="2057400"/>
          </a:xfrm>
          <a:prstGeom prst="rect">
            <a:avLst/>
          </a:prstGeom>
          <a:noFill/>
          <a:ln/>
        </p:spPr>
        <p:txBody>
          <a:bodyPr wrap="square" lIns="0" tIns="0" rIns="0" bIns="0" rtlCol="0" anchor="t"/>
          <a:lstStyle/>
          <a:p>
            <a:pPr indent="0" marL="0">
              <a:buNone/>
            </a:pPr>
            <a:r>
              <a:rPr lang="en-US" sz="2100" dirty="0">
                <a:solidFill>
                  <a:srgbClr val="1F2933"/>
                </a:solidFill>
                <a:latin typeface="Calibri" pitchFamily="34" charset="0"/>
                <a:ea typeface="Calibri" pitchFamily="34" charset="-122"/>
                <a:cs typeface="Calibri" pitchFamily="34" charset="-120"/>
              </a:rPr>
              <a:t>Write a small R function, a loop, and solve one equation with uniroot</a:t>
            </a:r>
            <a:endParaRPr lang="en-US" sz="2100" dirty="0"/>
          </a:p>
        </p:txBody>
      </p:sp>
      <p:sp>
        <p:nvSpPr>
          <p:cNvPr id="17" name="big question"/>
          <p:cNvSpPr/>
          <p:nvPr/>
        </p:nvSpPr>
        <p:spPr>
          <a:xfrm>
            <a:off x="548640" y="5074920"/>
            <a:ext cx="11094415" cy="960120"/>
          </a:xfrm>
          <a:prstGeom prst="roundRect">
            <a:avLst>
              <a:gd name="adj" fmla="val 11429"/>
            </a:avLst>
          </a:prstGeom>
          <a:solidFill>
            <a:srgbClr val="E6F2F0"/>
          </a:solidFill>
          <a:ln w="12700">
            <a:solidFill>
              <a:srgbClr val="E6F2F0"/>
            </a:solidFill>
            <a:prstDash val="solid"/>
          </a:ln>
        </p:spPr>
      </p:sp>
      <p:sp>
        <p:nvSpPr>
          <p:cNvPr id="18" name="icon circle"/>
          <p:cNvSpPr/>
          <p:nvPr/>
        </p:nvSpPr>
        <p:spPr>
          <a:xfrm>
            <a:off x="777240" y="5212080"/>
            <a:ext cx="685800" cy="685800"/>
          </a:xfrm>
          <a:prstGeom prst="ellipse">
            <a:avLst/>
          </a:prstGeom>
          <a:solidFill>
            <a:srgbClr val="12263A"/>
          </a:solidFill>
          <a:ln w="12700">
            <a:solidFill>
              <a:srgbClr val="12263A"/>
            </a:solidFill>
            <a:prstDash val="solid"/>
          </a:ln>
        </p:spPr>
      </p:sp>
      <p:pic>
        <p:nvPicPr>
          <p:cNvPr id="19" name="icon" descr="preencoded.png">    </p:cNvPr>
          <p:cNvPicPr>
            <a:picLocks noChangeAspect="1"/>
          </p:cNvPicPr>
          <p:nvPr/>
        </p:nvPicPr>
        <p:blipFill>
          <a:blip r:embed="rId1"/>
          <a:stretch>
            <a:fillRect/>
          </a:stretch>
        </p:blipFill>
        <p:spPr>
          <a:xfrm>
            <a:off x="955548" y="5390388"/>
            <a:ext cx="329184" cy="329184"/>
          </a:xfrm>
          <a:prstGeom prst="rect">
            <a:avLst/>
          </a:prstGeom>
        </p:spPr>
      </p:pic>
      <p:sp>
        <p:nvSpPr>
          <p:cNvPr id="20" name="Text 16"/>
          <p:cNvSpPr txBox="1"/>
          <p:nvPr/>
        </p:nvSpPr>
        <p:spPr>
          <a:xfrm>
            <a:off x="1645920" y="5120640"/>
            <a:ext cx="9814255" cy="868680"/>
          </a:xfrm>
          <a:prstGeom prst="rect">
            <a:avLst/>
          </a:prstGeom>
          <a:noFill/>
          <a:ln/>
        </p:spPr>
        <p:txBody>
          <a:bodyPr wrap="square" lIns="0" tIns="0" rIns="0" bIns="0" rtlCol="0" anchor="ctr"/>
          <a:lstStyle/>
          <a:p>
            <a:pPr indent="0" marL="0">
              <a:buNone/>
            </a:pPr>
            <a:r>
              <a:rPr lang="en-US" sz="2000" b="1" dirty="0">
                <a:solidFill>
                  <a:srgbClr val="0B5550"/>
                </a:solidFill>
                <a:latin typeface="Calibri" pitchFamily="34" charset="0"/>
                <a:ea typeface="Calibri" pitchFamily="34" charset="-122"/>
                <a:cs typeface="Calibri" pitchFamily="34" charset="-120"/>
              </a:rPr>
              <a:t>Big question  </a:t>
            </a:r>
            <a:pPr indent="0" marL="0">
              <a:buNone/>
            </a:pPr>
            <a:r>
              <a:rPr lang="en-US" sz="2000" dirty="0">
                <a:solidFill>
                  <a:srgbClr val="1F2933"/>
                </a:solidFill>
                <a:latin typeface="Calibri" pitchFamily="34" charset="0"/>
                <a:ea typeface="Calibri" pitchFamily="34" charset="-122"/>
                <a:cs typeface="Calibri" pitchFamily="34" charset="-120"/>
              </a:rPr>
              <a:t>If solar is clean but coal is cheaper, which one does the economy choose, and what can change that choice?</a:t>
            </a:r>
            <a:endParaRPr lang="en-US" sz="2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4415" cy="1005840"/>
          </a:xfrm>
          <a:prstGeom prst="rect">
            <a:avLst/>
          </a:prstGeom>
          <a:noFill/>
          <a:ln/>
        </p:spPr>
        <p:txBody>
          <a:bodyPr wrap="square" lIns="0" tIns="0" rIns="0" bIns="0" rtlCol="0" anchor="t"/>
          <a:lstStyle/>
          <a:p>
            <a:pPr algn="l" indent="0" marL="0">
              <a:buNone/>
            </a:pPr>
            <a:r>
              <a:rPr lang="en-US" sz="4400" b="1" dirty="0">
                <a:solidFill>
                  <a:srgbClr val="FFFFFF"/>
                </a:solidFill>
                <a:latin typeface="Cambria" pitchFamily="34" charset="0"/>
                <a:ea typeface="Cambria" pitchFamily="34" charset="-122"/>
                <a:cs typeface="Cambria" pitchFamily="34" charset="-120"/>
              </a:rPr>
              <a:t>Coal, gas or solar?</a:t>
            </a:r>
            <a:endParaRPr lang="en-US" sz="4400" dirty="0"/>
          </a:p>
        </p:txBody>
      </p:sp>
      <p:sp>
        <p:nvSpPr>
          <p:cNvPr id="3" name="Text 1"/>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6FD3C7"/>
                </a:solidFill>
                <a:latin typeface="Calibri" pitchFamily="34" charset="0"/>
                <a:ea typeface="Calibri" pitchFamily="34" charset="-122"/>
                <a:cs typeface="Calibri" pitchFamily="34" charset="-120"/>
              </a:rPr>
              <a:t>LET'S START WITH A QUESTION</a:t>
            </a:r>
            <a:endParaRPr lang="en-US" sz="1200" dirty="0"/>
          </a:p>
        </p:txBody>
      </p:sp>
      <p:sp>
        <p:nvSpPr>
          <p:cNvPr id="5" name="Text 2"/>
          <p:cNvSpPr txBox="1"/>
          <p:nvPr/>
        </p:nvSpPr>
        <p:spPr>
          <a:xfrm>
            <a:off x="548640" y="3108960"/>
            <a:ext cx="10241280" cy="1188720"/>
          </a:xfrm>
          <a:prstGeom prst="rect">
            <a:avLst/>
          </a:prstGeom>
          <a:noFill/>
          <a:ln/>
        </p:spPr>
        <p:txBody>
          <a:bodyPr wrap="square" lIns="0" tIns="0" rIns="0" bIns="0" rtlCol="0" anchor="t"/>
          <a:lstStyle/>
          <a:p>
            <a:pPr indent="0" marL="0">
              <a:buNone/>
            </a:pPr>
            <a:r>
              <a:rPr lang="en-US" sz="2600" dirty="0">
                <a:solidFill>
                  <a:srgbClr val="C9D6DF"/>
                </a:solidFill>
                <a:latin typeface="Calibri" pitchFamily="34" charset="0"/>
                <a:ea typeface="Calibri" pitchFamily="34" charset="-122"/>
                <a:cs typeface="Calibri" pitchFamily="34" charset="-120"/>
              </a:rPr>
              <a:t>A city needs electricity. Coal costs 60, gas 70, solar 80 dollars per MWh. Which gets built?</a:t>
            </a:r>
            <a:endParaRPr lang="en-US" sz="2600" dirty="0"/>
          </a:p>
        </p:txBody>
      </p:sp>
      <p:sp>
        <p:nvSpPr>
          <p:cNvPr id="6" name="question box"/>
          <p:cNvSpPr/>
          <p:nvPr/>
        </p:nvSpPr>
        <p:spPr>
          <a:xfrm>
            <a:off x="548640" y="4526280"/>
            <a:ext cx="11094415" cy="1143000"/>
          </a:xfrm>
          <a:prstGeom prst="roundRect">
            <a:avLst>
              <a:gd name="adj" fmla="val 9600"/>
            </a:avLst>
          </a:prstGeom>
          <a:solidFill>
            <a:srgbClr val="1D3A52"/>
          </a:solidFill>
          <a:ln w="12700">
            <a:solidFill>
              <a:srgbClr val="1D3A52"/>
            </a:solidFill>
            <a:prstDash val="solid"/>
          </a:ln>
        </p:spPr>
      </p:sp>
      <p:sp>
        <p:nvSpPr>
          <p:cNvPr id="7" name="icon circle"/>
          <p:cNvSpPr/>
          <p:nvPr/>
        </p:nvSpPr>
        <p:spPr>
          <a:xfrm>
            <a:off x="777240" y="4709160"/>
            <a:ext cx="777240" cy="777240"/>
          </a:xfrm>
          <a:prstGeom prst="ellipse">
            <a:avLst/>
          </a:prstGeom>
          <a:solidFill>
            <a:srgbClr val="C2410C"/>
          </a:solidFill>
          <a:ln w="12700">
            <a:solidFill>
              <a:srgbClr val="C2410C"/>
            </a:solidFill>
            <a:prstDash val="solid"/>
          </a:ln>
        </p:spPr>
      </p:sp>
      <p:pic>
        <p:nvPicPr>
          <p:cNvPr id="8" name="icon" descr="preencoded.png">    </p:cNvPr>
          <p:cNvPicPr>
            <a:picLocks noChangeAspect="1"/>
          </p:cNvPicPr>
          <p:nvPr/>
        </p:nvPicPr>
        <p:blipFill>
          <a:blip r:embed="rId1"/>
          <a:stretch>
            <a:fillRect/>
          </a:stretch>
        </p:blipFill>
        <p:spPr>
          <a:xfrm>
            <a:off x="979322" y="4911242"/>
            <a:ext cx="373075" cy="373075"/>
          </a:xfrm>
          <a:prstGeom prst="rect">
            <a:avLst/>
          </a:prstGeom>
        </p:spPr>
      </p:pic>
      <p:sp>
        <p:nvSpPr>
          <p:cNvPr id="9" name="Text 5"/>
          <p:cNvSpPr txBox="1"/>
          <p:nvPr/>
        </p:nvSpPr>
        <p:spPr>
          <a:xfrm>
            <a:off x="1783080" y="4572000"/>
            <a:ext cx="9631375" cy="105156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What would have to change for solar to win?</a:t>
            </a:r>
            <a:endParaRPr lang="en-US" sz="2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AN EVERYDAY PICTURE</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A market is like an auction that never stops</a:t>
            </a:r>
            <a:endParaRPr lang="en-US" sz="3200" dirty="0"/>
          </a:p>
        </p:txBody>
      </p:sp>
      <p:sp>
        <p:nvSpPr>
          <p:cNvPr id="5" name="analogy card"/>
          <p:cNvSpPr/>
          <p:nvPr/>
        </p:nvSpPr>
        <p:spPr>
          <a:xfrm>
            <a:off x="548640" y="1600200"/>
            <a:ext cx="6675120" cy="4434840"/>
          </a:xfrm>
          <a:prstGeom prst="roundRect">
            <a:avLst>
              <a:gd name="adj" fmla="val 2474"/>
            </a:avLst>
          </a:prstGeom>
          <a:solidFill>
            <a:srgbClr val="E6F2F0"/>
          </a:solidFill>
          <a:ln w="12700">
            <a:solidFill>
              <a:srgbClr val="E6F2F0"/>
            </a:solidFill>
            <a:prstDash val="solid"/>
          </a:ln>
        </p:spPr>
      </p:sp>
      <p:sp>
        <p:nvSpPr>
          <p:cNvPr id="6" name="icon circle"/>
          <p:cNvSpPr/>
          <p:nvPr/>
        </p:nvSpPr>
        <p:spPr>
          <a:xfrm>
            <a:off x="868680" y="1874520"/>
            <a:ext cx="777240" cy="777240"/>
          </a:xfrm>
          <a:prstGeom prst="ellipse">
            <a:avLst/>
          </a:prstGeom>
          <a:solidFill>
            <a:srgbClr val="0F766E"/>
          </a:solidFill>
          <a:ln w="12700">
            <a:solidFill>
              <a:srgbClr val="0F766E"/>
            </a:solidFill>
            <a:prstDash val="solid"/>
          </a:ln>
        </p:spPr>
      </p:sp>
      <p:pic>
        <p:nvPicPr>
          <p:cNvPr id="7" name="icon" descr="preencoded.png">    </p:cNvPr>
          <p:cNvPicPr>
            <a:picLocks noChangeAspect="1"/>
          </p:cNvPicPr>
          <p:nvPr/>
        </p:nvPicPr>
        <p:blipFill>
          <a:blip r:embed="rId1"/>
          <a:stretch>
            <a:fillRect/>
          </a:stretch>
        </p:blipFill>
        <p:spPr>
          <a:xfrm>
            <a:off x="1070762" y="2076602"/>
            <a:ext cx="373075" cy="373075"/>
          </a:xfrm>
          <a:prstGeom prst="rect">
            <a:avLst/>
          </a:prstGeom>
        </p:spPr>
      </p:pic>
      <p:sp>
        <p:nvSpPr>
          <p:cNvPr id="8" name="Text 4"/>
          <p:cNvSpPr txBox="1"/>
          <p:nvPr/>
        </p:nvSpPr>
        <p:spPr>
          <a:xfrm>
            <a:off x="868680" y="2834640"/>
            <a:ext cx="6035040" cy="3063240"/>
          </a:xfrm>
          <a:prstGeom prst="rect">
            <a:avLst/>
          </a:prstGeom>
          <a:noFill/>
          <a:ln/>
        </p:spPr>
        <p:txBody>
          <a:bodyPr wrap="square" lIns="0" tIns="0" rIns="0" bIns="0" rtlCol="0" anchor="t"/>
          <a:lstStyle/>
          <a:p>
            <a:pPr indent="0" marL="0">
              <a:buNone/>
            </a:pPr>
            <a:r>
              <a:rPr lang="en-US" sz="2600" i="1" dirty="0">
                <a:solidFill>
                  <a:srgbClr val="12263A"/>
                </a:solidFill>
                <a:latin typeface="Cambria" pitchFamily="34" charset="0"/>
                <a:ea typeface="Cambria" pitchFamily="34" charset="-122"/>
                <a:cs typeface="Cambria" pitchFamily="34" charset="-120"/>
              </a:rPr>
              <a:t>Think of a farmers' market at closing time. If tomatoes pile up unsold, sellers cut the price. If they run out by noon, they raise it next week. The price keeps moving until what is brought equals what is bought.</a:t>
            </a:r>
            <a:endParaRPr lang="en-US" sz="2600" dirty="0"/>
          </a:p>
        </p:txBody>
      </p:sp>
      <p:sp>
        <p:nvSpPr>
          <p:cNvPr id="9" name="Text 5"/>
          <p:cNvSpPr txBox="1"/>
          <p:nvPr/>
        </p:nvSpPr>
        <p:spPr>
          <a:xfrm>
            <a:off x="7635240" y="1737360"/>
            <a:ext cx="4007815" cy="365760"/>
          </a:xfrm>
          <a:prstGeom prst="rect">
            <a:avLst/>
          </a:prstGeom>
          <a:noFill/>
          <a:ln/>
        </p:spPr>
        <p:txBody>
          <a:bodyPr wrap="square" lIns="0" tIns="0" rIns="0" bIns="0" rtlCol="0" anchor="t"/>
          <a:lstStyle/>
          <a:p>
            <a:pPr indent="0" marL="0">
              <a:buNone/>
            </a:pPr>
            <a:r>
              <a:rPr lang="en-US" sz="1600" b="1" dirty="0">
                <a:solidFill>
                  <a:srgbClr val="5B6875"/>
                </a:solidFill>
                <a:latin typeface="Calibri" pitchFamily="34" charset="0"/>
                <a:ea typeface="Calibri" pitchFamily="34" charset="-122"/>
                <a:cs typeface="Calibri" pitchFamily="34" charset="-120"/>
              </a:rPr>
              <a:t>What it means for models</a:t>
            </a:r>
            <a:endParaRPr lang="en-US" sz="1600" dirty="0"/>
          </a:p>
        </p:txBody>
      </p:sp>
      <p:sp>
        <p:nvSpPr>
          <p:cNvPr id="10" name="number badge"/>
          <p:cNvSpPr txBox="1"/>
          <p:nvPr/>
        </p:nvSpPr>
        <p:spPr>
          <a:xfrm>
            <a:off x="7635240" y="2286000"/>
            <a:ext cx="457200" cy="45720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11" name="Text 7"/>
          <p:cNvSpPr txBox="1"/>
          <p:nvPr/>
        </p:nvSpPr>
        <p:spPr>
          <a:xfrm>
            <a:off x="8275320" y="2267712"/>
            <a:ext cx="3367735" cy="1249680"/>
          </a:xfrm>
          <a:prstGeom prst="rect">
            <a:avLst/>
          </a:prstGeom>
          <a:noFill/>
          <a:ln/>
        </p:spPr>
        <p:txBody>
          <a:bodyPr wrap="square" lIns="0" tIns="0" rIns="0" bIns="0" rtlCol="0" anchor="t"/>
          <a:lstStyle/>
          <a:p>
            <a:pPr indent="0" marL="0">
              <a:buNone/>
            </a:pPr>
            <a:r>
              <a:rPr lang="en-US" sz="2200" dirty="0">
                <a:solidFill>
                  <a:srgbClr val="1F2933"/>
                </a:solidFill>
                <a:latin typeface="Calibri" pitchFamily="34" charset="0"/>
                <a:ea typeface="Calibri" pitchFamily="34" charset="-122"/>
                <a:cs typeface="Calibri" pitchFamily="34" charset="-120"/>
              </a:rPr>
              <a:t>Buyers want less when the price is high</a:t>
            </a:r>
            <a:endParaRPr lang="en-US" sz="2200" dirty="0"/>
          </a:p>
        </p:txBody>
      </p:sp>
      <p:sp>
        <p:nvSpPr>
          <p:cNvPr id="12" name="number badge"/>
          <p:cNvSpPr txBox="1"/>
          <p:nvPr/>
        </p:nvSpPr>
        <p:spPr>
          <a:xfrm>
            <a:off x="7635240" y="3627120"/>
            <a:ext cx="457200" cy="45720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3" name="Text 9"/>
          <p:cNvSpPr txBox="1"/>
          <p:nvPr/>
        </p:nvSpPr>
        <p:spPr>
          <a:xfrm>
            <a:off x="8275320" y="3608832"/>
            <a:ext cx="3367735" cy="1249680"/>
          </a:xfrm>
          <a:prstGeom prst="rect">
            <a:avLst/>
          </a:prstGeom>
          <a:noFill/>
          <a:ln/>
        </p:spPr>
        <p:txBody>
          <a:bodyPr wrap="square" lIns="0" tIns="0" rIns="0" bIns="0" rtlCol="0" anchor="t"/>
          <a:lstStyle/>
          <a:p>
            <a:pPr indent="0" marL="0">
              <a:buNone/>
            </a:pPr>
            <a:r>
              <a:rPr lang="en-US" sz="2200" dirty="0">
                <a:solidFill>
                  <a:srgbClr val="1F2933"/>
                </a:solidFill>
                <a:latin typeface="Calibri" pitchFamily="34" charset="0"/>
                <a:ea typeface="Calibri" pitchFamily="34" charset="-122"/>
                <a:cs typeface="Calibri" pitchFamily="34" charset="-120"/>
              </a:rPr>
              <a:t>Sellers offer more when the price is high</a:t>
            </a:r>
            <a:endParaRPr lang="en-US" sz="2200" dirty="0"/>
          </a:p>
        </p:txBody>
      </p:sp>
      <p:sp>
        <p:nvSpPr>
          <p:cNvPr id="14" name="number badge"/>
          <p:cNvSpPr txBox="1"/>
          <p:nvPr/>
        </p:nvSpPr>
        <p:spPr>
          <a:xfrm>
            <a:off x="7635240" y="4968240"/>
            <a:ext cx="457200" cy="45720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5" name="Text 11"/>
          <p:cNvSpPr txBox="1"/>
          <p:nvPr/>
        </p:nvSpPr>
        <p:spPr>
          <a:xfrm>
            <a:off x="8275320" y="4949952"/>
            <a:ext cx="3367735" cy="1249680"/>
          </a:xfrm>
          <a:prstGeom prst="rect">
            <a:avLst/>
          </a:prstGeom>
          <a:noFill/>
          <a:ln/>
        </p:spPr>
        <p:txBody>
          <a:bodyPr wrap="square" lIns="0" tIns="0" rIns="0" bIns="0" rtlCol="0" anchor="t"/>
          <a:lstStyle/>
          <a:p>
            <a:pPr indent="0" marL="0">
              <a:buNone/>
            </a:pPr>
            <a:r>
              <a:rPr lang="en-US" sz="2200" dirty="0">
                <a:solidFill>
                  <a:srgbClr val="1F2933"/>
                </a:solidFill>
                <a:latin typeface="Calibri" pitchFamily="34" charset="0"/>
                <a:ea typeface="Calibri" pitchFamily="34" charset="-122"/>
                <a:cs typeface="Calibri" pitchFamily="34" charset="-120"/>
              </a:rPr>
              <a:t>The price where both agree is the equilibrium</a:t>
            </a:r>
            <a:endParaRPr lang="en-US" sz="2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PICTURE THE NUMBERS</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Supply and demand cross at one price</a:t>
            </a:r>
            <a:endParaRPr lang="en-US" sz="3200" dirty="0"/>
          </a:p>
        </p:txBody>
      </p:sp>
      <p:graphicFrame>
        <p:nvGraphicFramePr>
          <p:cNvPr id="5" name="chart" descr=""/>
          <p:cNvGraphicFramePr/>
          <p:nvPr/>
        </p:nvGraphicFramePr>
        <p:xfrm>
          <a:off x="548640" y="1554480"/>
          <a:ext cx="7223760" cy="416052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548640" y="5806440"/>
            <a:ext cx="7223760" cy="365760"/>
          </a:xfrm>
          <a:prstGeom prst="rect">
            <a:avLst/>
          </a:prstGeom>
          <a:noFill/>
          <a:ln/>
        </p:spPr>
        <p:txBody>
          <a:bodyPr wrap="square" lIns="0" tIns="0" rIns="0" bIns="0" rtlCol="0" anchor="t"/>
          <a:lstStyle/>
          <a:p>
            <a:pPr indent="0" marL="0">
              <a:buNone/>
            </a:pPr>
            <a:r>
              <a:rPr lang="en-US" sz="1100" i="1" dirty="0">
                <a:solidFill>
                  <a:srgbClr val="5B6875"/>
                </a:solidFill>
                <a:latin typeface="Calibri" pitchFamily="34" charset="0"/>
                <a:ea typeface="Calibri" pitchFamily="34" charset="-122"/>
                <a:cs typeface="Calibri" pitchFamily="34" charset="-120"/>
              </a:rPr>
              <a:t>Illustrative numbers from the week 4 lab</a:t>
            </a:r>
            <a:endParaRPr lang="en-US" sz="1100" dirty="0"/>
          </a:p>
        </p:txBody>
      </p:sp>
      <p:sp>
        <p:nvSpPr>
          <p:cNvPr id="7" name="takeaways card"/>
          <p:cNvSpPr/>
          <p:nvPr/>
        </p:nvSpPr>
        <p:spPr>
          <a:xfrm>
            <a:off x="8138160" y="1554480"/>
            <a:ext cx="3504895" cy="4526280"/>
          </a:xfrm>
          <a:prstGeom prst="roundRect">
            <a:avLst>
              <a:gd name="adj" fmla="val 3131"/>
            </a:avLst>
          </a:prstGeom>
          <a:solidFill>
            <a:srgbClr val="E6F2F0"/>
          </a:solidFill>
          <a:ln w="12700">
            <a:solidFill>
              <a:srgbClr val="E6F2F0"/>
            </a:solidFill>
            <a:prstDash val="solid"/>
          </a:ln>
        </p:spPr>
      </p:sp>
      <p:sp>
        <p:nvSpPr>
          <p:cNvPr id="8" name="Text 4"/>
          <p:cNvSpPr txBox="1"/>
          <p:nvPr/>
        </p:nvSpPr>
        <p:spPr>
          <a:xfrm>
            <a:off x="8412480" y="1783080"/>
            <a:ext cx="3047695" cy="365760"/>
          </a:xfrm>
          <a:prstGeom prst="rect">
            <a:avLst/>
          </a:prstGeom>
          <a:noFill/>
          <a:ln/>
        </p:spPr>
        <p:txBody>
          <a:bodyPr wrap="square" lIns="0" tIns="0" rIns="0" bIns="0" rtlCol="0" anchor="t"/>
          <a:lstStyle/>
          <a:p>
            <a:pPr indent="0" marL="0">
              <a:buNone/>
            </a:pPr>
            <a:r>
              <a:rPr lang="en-US" sz="1600" b="1" dirty="0">
                <a:solidFill>
                  <a:srgbClr val="0B5550"/>
                </a:solidFill>
                <a:latin typeface="Calibri" pitchFamily="34" charset="0"/>
                <a:ea typeface="Calibri" pitchFamily="34" charset="-122"/>
                <a:cs typeface="Calibri" pitchFamily="34" charset="-120"/>
              </a:rPr>
              <a:t>Read it like this</a:t>
            </a:r>
            <a:endParaRPr lang="en-US" sz="1600" dirty="0"/>
          </a:p>
        </p:txBody>
      </p:sp>
      <p:sp>
        <p:nvSpPr>
          <p:cNvPr id="9" name="number badge"/>
          <p:cNvSpPr txBox="1"/>
          <p:nvPr/>
        </p:nvSpPr>
        <p:spPr>
          <a:xfrm>
            <a:off x="8412480" y="2331720"/>
            <a:ext cx="411480" cy="41148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10" name="Text 6"/>
          <p:cNvSpPr txBox="1"/>
          <p:nvPr/>
        </p:nvSpPr>
        <p:spPr>
          <a:xfrm>
            <a:off x="8961120" y="2304288"/>
            <a:ext cx="2499055" cy="1127760"/>
          </a:xfrm>
          <a:prstGeom prst="rect">
            <a:avLst/>
          </a:prstGeom>
          <a:noFill/>
          <a:ln/>
        </p:spPr>
        <p:txBody>
          <a:bodyPr wrap="square" lIns="0" tIns="0" rIns="0" bIns="0" rtlCol="0" anchor="t"/>
          <a:lstStyle/>
          <a:p>
            <a:pPr indent="0" marL="0">
              <a:buNone/>
            </a:pPr>
            <a:r>
              <a:rPr lang="en-US" sz="2000" dirty="0">
                <a:solidFill>
                  <a:srgbClr val="1F2933"/>
                </a:solidFill>
                <a:latin typeface="Calibri" pitchFamily="34" charset="0"/>
                <a:ea typeface="Calibri" pitchFamily="34" charset="-122"/>
                <a:cs typeface="Calibri" pitchFamily="34" charset="-120"/>
              </a:rPr>
              <a:t>Demand: 1000 minus 4 × price</a:t>
            </a:r>
            <a:endParaRPr lang="en-US" sz="2000" dirty="0"/>
          </a:p>
        </p:txBody>
      </p:sp>
      <p:sp>
        <p:nvSpPr>
          <p:cNvPr id="11" name="number badge"/>
          <p:cNvSpPr txBox="1"/>
          <p:nvPr/>
        </p:nvSpPr>
        <p:spPr>
          <a:xfrm>
            <a:off x="8412480" y="3550920"/>
            <a:ext cx="411480" cy="41148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2" name="Text 8"/>
          <p:cNvSpPr txBox="1"/>
          <p:nvPr/>
        </p:nvSpPr>
        <p:spPr>
          <a:xfrm>
            <a:off x="8961120" y="3523488"/>
            <a:ext cx="2499055" cy="1127760"/>
          </a:xfrm>
          <a:prstGeom prst="rect">
            <a:avLst/>
          </a:prstGeom>
          <a:noFill/>
          <a:ln/>
        </p:spPr>
        <p:txBody>
          <a:bodyPr wrap="square" lIns="0" tIns="0" rIns="0" bIns="0" rtlCol="0" anchor="t"/>
          <a:lstStyle/>
          <a:p>
            <a:pPr indent="0" marL="0">
              <a:buNone/>
            </a:pPr>
            <a:r>
              <a:rPr lang="en-US" sz="2000" dirty="0">
                <a:solidFill>
                  <a:srgbClr val="1F2933"/>
                </a:solidFill>
                <a:latin typeface="Calibri" pitchFamily="34" charset="0"/>
                <a:ea typeface="Calibri" pitchFamily="34" charset="-122"/>
                <a:cs typeface="Calibri" pitchFamily="34" charset="-120"/>
              </a:rPr>
              <a:t>Supply: 6 × price</a:t>
            </a:r>
            <a:endParaRPr lang="en-US" sz="2000" dirty="0"/>
          </a:p>
        </p:txBody>
      </p:sp>
      <p:sp>
        <p:nvSpPr>
          <p:cNvPr id="13" name="number badge"/>
          <p:cNvSpPr txBox="1"/>
          <p:nvPr/>
        </p:nvSpPr>
        <p:spPr>
          <a:xfrm>
            <a:off x="8412480" y="4770120"/>
            <a:ext cx="411480" cy="41148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0"/>
          <p:cNvSpPr txBox="1"/>
          <p:nvPr/>
        </p:nvSpPr>
        <p:spPr>
          <a:xfrm>
            <a:off x="8961120" y="4742688"/>
            <a:ext cx="2499055" cy="1127760"/>
          </a:xfrm>
          <a:prstGeom prst="rect">
            <a:avLst/>
          </a:prstGeom>
          <a:noFill/>
          <a:ln/>
        </p:spPr>
        <p:txBody>
          <a:bodyPr wrap="square" lIns="0" tIns="0" rIns="0" bIns="0" rtlCol="0" anchor="t"/>
          <a:lstStyle/>
          <a:p>
            <a:pPr indent="0" marL="0">
              <a:buNone/>
            </a:pPr>
            <a:r>
              <a:rPr lang="en-US" sz="2000" dirty="0">
                <a:solidFill>
                  <a:srgbClr val="1F2933"/>
                </a:solidFill>
                <a:latin typeface="Calibri" pitchFamily="34" charset="0"/>
                <a:ea typeface="Calibri" pitchFamily="34" charset="-122"/>
                <a:cs typeface="Calibri" pitchFamily="34" charset="-120"/>
              </a:rPr>
              <a:t>They meet at a price of 100 and a quantity of 600</a:t>
            </a:r>
            <a:endParaRPr lang="en-US" sz="2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WORKED EXAMPLE · STEP BY STEP</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Worked example: finding the equilibrium by hand</a:t>
            </a:r>
            <a:endParaRPr lang="en-US" sz="3200" dirty="0"/>
          </a:p>
        </p:txBody>
      </p:sp>
      <p:sp>
        <p:nvSpPr>
          <p:cNvPr id="5" name="problem box"/>
          <p:cNvSpPr/>
          <p:nvPr/>
        </p:nvSpPr>
        <p:spPr>
          <a:xfrm>
            <a:off x="548640" y="1554480"/>
            <a:ext cx="11094415" cy="868680"/>
          </a:xfrm>
          <a:prstGeom prst="roundRect">
            <a:avLst>
              <a:gd name="adj" fmla="val 12632"/>
            </a:avLst>
          </a:prstGeom>
          <a:solidFill>
            <a:srgbClr val="E6F2F0"/>
          </a:solidFill>
          <a:ln w="12700">
            <a:solidFill>
              <a:srgbClr val="E6F2F0"/>
            </a:solidFill>
            <a:prstDash val="solid"/>
          </a:ln>
        </p:spPr>
      </p:sp>
      <p:sp>
        <p:nvSpPr>
          <p:cNvPr id="6" name="icon circle"/>
          <p:cNvSpPr/>
          <p:nvPr/>
        </p:nvSpPr>
        <p:spPr>
          <a:xfrm>
            <a:off x="731520" y="1691640"/>
            <a:ext cx="594360" cy="594360"/>
          </a:xfrm>
          <a:prstGeom prst="ellipse">
            <a:avLst/>
          </a:prstGeom>
          <a:solidFill>
            <a:srgbClr val="0F766E"/>
          </a:solidFill>
          <a:ln w="12700">
            <a:solidFill>
              <a:srgbClr val="0F766E"/>
            </a:solidFill>
            <a:prstDash val="solid"/>
          </a:ln>
        </p:spPr>
      </p:sp>
      <p:pic>
        <p:nvPicPr>
          <p:cNvPr id="7" name="icon" descr="preencoded.png">    </p:cNvPr>
          <p:cNvPicPr>
            <a:picLocks noChangeAspect="1"/>
          </p:cNvPicPr>
          <p:nvPr/>
        </p:nvPicPr>
        <p:blipFill>
          <a:blip r:embed="rId1"/>
          <a:stretch>
            <a:fillRect/>
          </a:stretch>
        </p:blipFill>
        <p:spPr>
          <a:xfrm>
            <a:off x="886054" y="1846174"/>
            <a:ext cx="285293" cy="285293"/>
          </a:xfrm>
          <a:prstGeom prst="rect">
            <a:avLst/>
          </a:prstGeom>
        </p:spPr>
      </p:pic>
      <p:sp>
        <p:nvSpPr>
          <p:cNvPr id="8" name="Text 4"/>
          <p:cNvSpPr txBox="1"/>
          <p:nvPr/>
        </p:nvSpPr>
        <p:spPr>
          <a:xfrm>
            <a:off x="1508760" y="1600200"/>
            <a:ext cx="9951415" cy="777240"/>
          </a:xfrm>
          <a:prstGeom prst="rect">
            <a:avLst/>
          </a:prstGeom>
          <a:noFill/>
          <a:ln/>
        </p:spPr>
        <p:txBody>
          <a:bodyPr wrap="square" lIns="0" tIns="0" rIns="0" bIns="0" rtlCol="0" anchor="ctr"/>
          <a:lstStyle/>
          <a:p>
            <a:pPr indent="0" marL="0">
              <a:buNone/>
            </a:pPr>
            <a:r>
              <a:rPr lang="en-US" sz="2000" b="1" dirty="0">
                <a:solidFill>
                  <a:srgbClr val="0B5550"/>
                </a:solidFill>
                <a:latin typeface="Calibri" pitchFamily="34" charset="0"/>
                <a:ea typeface="Calibri" pitchFamily="34" charset="-122"/>
                <a:cs typeface="Calibri" pitchFamily="34" charset="-120"/>
              </a:rPr>
              <a:t>Problem  </a:t>
            </a:r>
            <a:pPr indent="0" marL="0">
              <a:buNone/>
            </a:pPr>
            <a:r>
              <a:rPr lang="en-US" sz="2000" dirty="0">
                <a:solidFill>
                  <a:srgbClr val="1F2933"/>
                </a:solidFill>
                <a:latin typeface="Calibri" pitchFamily="34" charset="0"/>
                <a:ea typeface="Calibri" pitchFamily="34" charset="-122"/>
                <a:cs typeface="Calibri" pitchFamily="34" charset="-120"/>
              </a:rPr>
              <a:t>Demand = 1000 − 4p. Supply = 6p. Find the price p where they are equal.</a:t>
            </a:r>
            <a:endParaRPr lang="en-US" sz="2000" dirty="0"/>
          </a:p>
        </p:txBody>
      </p:sp>
      <p:sp>
        <p:nvSpPr>
          <p:cNvPr id="9" name="number badge"/>
          <p:cNvSpPr txBox="1"/>
          <p:nvPr/>
        </p:nvSpPr>
        <p:spPr>
          <a:xfrm>
            <a:off x="548640" y="2834640"/>
            <a:ext cx="411480" cy="41148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10" name="Text 6"/>
          <p:cNvSpPr txBox="1"/>
          <p:nvPr/>
        </p:nvSpPr>
        <p:spPr>
          <a:xfrm>
            <a:off x="1188720" y="2651760"/>
            <a:ext cx="7132320" cy="777240"/>
          </a:xfrm>
          <a:prstGeom prst="rect">
            <a:avLst/>
          </a:prstGeom>
          <a:noFill/>
          <a:ln/>
        </p:spPr>
        <p:txBody>
          <a:bodyPr wrap="square" lIns="0" tIns="0" rIns="0" bIns="0" rtlCol="0" anchor="ctr"/>
          <a:lstStyle/>
          <a:p>
            <a:pPr indent="0" marL="0">
              <a:buNone/>
            </a:pPr>
            <a:r>
              <a:rPr lang="en-US" sz="2200" dirty="0">
                <a:solidFill>
                  <a:srgbClr val="1F2933"/>
                </a:solidFill>
                <a:latin typeface="Calibri" pitchFamily="34" charset="0"/>
                <a:ea typeface="Calibri" pitchFamily="34" charset="-122"/>
                <a:cs typeface="Calibri" pitchFamily="34" charset="-120"/>
              </a:rPr>
              <a:t>Set them equal: 1000 − 4p = 6p</a:t>
            </a:r>
            <a:endParaRPr lang="en-US" sz="2200" dirty="0"/>
          </a:p>
        </p:txBody>
      </p:sp>
      <p:sp>
        <p:nvSpPr>
          <p:cNvPr id="11" name="number badge"/>
          <p:cNvSpPr txBox="1"/>
          <p:nvPr/>
        </p:nvSpPr>
        <p:spPr>
          <a:xfrm>
            <a:off x="548640" y="3611880"/>
            <a:ext cx="411480" cy="41148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2" name="Text 8"/>
          <p:cNvSpPr txBox="1"/>
          <p:nvPr/>
        </p:nvSpPr>
        <p:spPr>
          <a:xfrm>
            <a:off x="1188720" y="3429000"/>
            <a:ext cx="7132320" cy="777240"/>
          </a:xfrm>
          <a:prstGeom prst="rect">
            <a:avLst/>
          </a:prstGeom>
          <a:noFill/>
          <a:ln/>
        </p:spPr>
        <p:txBody>
          <a:bodyPr wrap="square" lIns="0" tIns="0" rIns="0" bIns="0" rtlCol="0" anchor="ctr"/>
          <a:lstStyle/>
          <a:p>
            <a:pPr indent="0" marL="0">
              <a:buNone/>
            </a:pPr>
            <a:r>
              <a:rPr lang="en-US" sz="2200" dirty="0">
                <a:solidFill>
                  <a:srgbClr val="1F2933"/>
                </a:solidFill>
                <a:latin typeface="Calibri" pitchFamily="34" charset="0"/>
                <a:ea typeface="Calibri" pitchFamily="34" charset="-122"/>
                <a:cs typeface="Calibri" pitchFamily="34" charset="-120"/>
              </a:rPr>
              <a:t>Move the p terms to one side: 1000 = 10p</a:t>
            </a:r>
            <a:endParaRPr lang="en-US" sz="2200" dirty="0"/>
          </a:p>
        </p:txBody>
      </p:sp>
      <p:sp>
        <p:nvSpPr>
          <p:cNvPr id="13" name="number badge"/>
          <p:cNvSpPr txBox="1"/>
          <p:nvPr/>
        </p:nvSpPr>
        <p:spPr>
          <a:xfrm>
            <a:off x="548640" y="4389120"/>
            <a:ext cx="411480" cy="41148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0"/>
          <p:cNvSpPr txBox="1"/>
          <p:nvPr/>
        </p:nvSpPr>
        <p:spPr>
          <a:xfrm>
            <a:off x="1188720" y="4206240"/>
            <a:ext cx="7132320" cy="777240"/>
          </a:xfrm>
          <a:prstGeom prst="rect">
            <a:avLst/>
          </a:prstGeom>
          <a:noFill/>
          <a:ln/>
        </p:spPr>
        <p:txBody>
          <a:bodyPr wrap="square" lIns="0" tIns="0" rIns="0" bIns="0" rtlCol="0" anchor="ctr"/>
          <a:lstStyle/>
          <a:p>
            <a:pPr indent="0" marL="0">
              <a:buNone/>
            </a:pPr>
            <a:r>
              <a:rPr lang="en-US" sz="2200" dirty="0">
                <a:solidFill>
                  <a:srgbClr val="1F2933"/>
                </a:solidFill>
                <a:latin typeface="Calibri" pitchFamily="34" charset="0"/>
                <a:ea typeface="Calibri" pitchFamily="34" charset="-122"/>
                <a:cs typeface="Calibri" pitchFamily="34" charset="-120"/>
              </a:rPr>
              <a:t>Divide by 10: p = 100</a:t>
            </a:r>
            <a:endParaRPr lang="en-US" sz="2200" dirty="0"/>
          </a:p>
        </p:txBody>
      </p:sp>
      <p:sp>
        <p:nvSpPr>
          <p:cNvPr id="15" name="number badge"/>
          <p:cNvSpPr txBox="1"/>
          <p:nvPr/>
        </p:nvSpPr>
        <p:spPr>
          <a:xfrm>
            <a:off x="548640" y="5166360"/>
            <a:ext cx="411480" cy="41148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6" name="Text 12"/>
          <p:cNvSpPr txBox="1"/>
          <p:nvPr/>
        </p:nvSpPr>
        <p:spPr>
          <a:xfrm>
            <a:off x="1188720" y="4983480"/>
            <a:ext cx="7132320" cy="777240"/>
          </a:xfrm>
          <a:prstGeom prst="rect">
            <a:avLst/>
          </a:prstGeom>
          <a:noFill/>
          <a:ln/>
        </p:spPr>
        <p:txBody>
          <a:bodyPr wrap="square" lIns="0" tIns="0" rIns="0" bIns="0" rtlCol="0" anchor="ctr"/>
          <a:lstStyle/>
          <a:p>
            <a:pPr indent="0" marL="0">
              <a:buNone/>
            </a:pPr>
            <a:r>
              <a:rPr lang="en-US" sz="2200" dirty="0">
                <a:solidFill>
                  <a:srgbClr val="1F2933"/>
                </a:solidFill>
                <a:latin typeface="Calibri" pitchFamily="34" charset="0"/>
                <a:ea typeface="Calibri" pitchFamily="34" charset="-122"/>
                <a:cs typeface="Calibri" pitchFamily="34" charset="-120"/>
              </a:rPr>
              <a:t>Quantity: 6 × 100 = 600</a:t>
            </a:r>
            <a:endParaRPr lang="en-US" sz="2200" dirty="0"/>
          </a:p>
        </p:txBody>
      </p:sp>
      <p:sp>
        <p:nvSpPr>
          <p:cNvPr id="17" name="answer card"/>
          <p:cNvSpPr/>
          <p:nvPr/>
        </p:nvSpPr>
        <p:spPr>
          <a:xfrm>
            <a:off x="8686800" y="2651760"/>
            <a:ext cx="2956255" cy="3520440"/>
          </a:xfrm>
          <a:prstGeom prst="roundRect">
            <a:avLst>
              <a:gd name="adj" fmla="val 3712"/>
            </a:avLst>
          </a:prstGeom>
          <a:solidFill>
            <a:srgbClr val="FCEDE5"/>
          </a:solidFill>
          <a:ln w="12700">
            <a:solidFill>
              <a:srgbClr val="FCEDE5"/>
            </a:solidFill>
            <a:prstDash val="solid"/>
          </a:ln>
        </p:spPr>
      </p:sp>
      <p:sp>
        <p:nvSpPr>
          <p:cNvPr id="18" name="icon circle"/>
          <p:cNvSpPr/>
          <p:nvPr/>
        </p:nvSpPr>
        <p:spPr>
          <a:xfrm>
            <a:off x="8961120" y="2926080"/>
            <a:ext cx="548640" cy="548640"/>
          </a:xfrm>
          <a:prstGeom prst="ellipse">
            <a:avLst/>
          </a:prstGeom>
          <a:solidFill>
            <a:srgbClr val="C2410C"/>
          </a:solidFill>
          <a:ln w="12700">
            <a:solidFill>
              <a:srgbClr val="C2410C"/>
            </a:solidFill>
            <a:prstDash val="solid"/>
          </a:ln>
        </p:spPr>
      </p:sp>
      <p:pic>
        <p:nvPicPr>
          <p:cNvPr id="19" name="icon" descr="preencoded.png">    </p:cNvPr>
          <p:cNvPicPr>
            <a:picLocks noChangeAspect="1"/>
          </p:cNvPicPr>
          <p:nvPr/>
        </p:nvPicPr>
        <p:blipFill>
          <a:blip r:embed="rId2"/>
          <a:stretch>
            <a:fillRect/>
          </a:stretch>
        </p:blipFill>
        <p:spPr>
          <a:xfrm>
            <a:off x="9103766" y="3068726"/>
            <a:ext cx="263347" cy="263347"/>
          </a:xfrm>
          <a:prstGeom prst="rect">
            <a:avLst/>
          </a:prstGeom>
        </p:spPr>
      </p:pic>
      <p:sp>
        <p:nvSpPr>
          <p:cNvPr id="20" name="Text 15"/>
          <p:cNvSpPr txBox="1"/>
          <p:nvPr/>
        </p:nvSpPr>
        <p:spPr>
          <a:xfrm>
            <a:off x="9646920" y="2971800"/>
            <a:ext cx="1858975" cy="457200"/>
          </a:xfrm>
          <a:prstGeom prst="rect">
            <a:avLst/>
          </a:prstGeom>
          <a:noFill/>
          <a:ln/>
        </p:spPr>
        <p:txBody>
          <a:bodyPr wrap="square" lIns="0" tIns="0" rIns="0" bIns="0" rtlCol="0" anchor="t"/>
          <a:lstStyle/>
          <a:p>
            <a:pPr indent="0" marL="0">
              <a:buNone/>
            </a:pPr>
            <a:r>
              <a:rPr lang="en-US" sz="1800" b="1" dirty="0">
                <a:solidFill>
                  <a:srgbClr val="C2410C"/>
                </a:solidFill>
                <a:latin typeface="Calibri" pitchFamily="34" charset="0"/>
                <a:ea typeface="Calibri" pitchFamily="34" charset="-122"/>
                <a:cs typeface="Calibri" pitchFamily="34" charset="-120"/>
              </a:rPr>
              <a:t>Answer</a:t>
            </a:r>
            <a:endParaRPr lang="en-US" sz="1800" dirty="0"/>
          </a:p>
        </p:txBody>
      </p:sp>
      <p:sp>
        <p:nvSpPr>
          <p:cNvPr id="21" name="Text 16"/>
          <p:cNvSpPr txBox="1"/>
          <p:nvPr/>
        </p:nvSpPr>
        <p:spPr>
          <a:xfrm>
            <a:off x="8961120" y="3703320"/>
            <a:ext cx="2407615" cy="2286000"/>
          </a:xfrm>
          <a:prstGeom prst="rect">
            <a:avLst/>
          </a:prstGeom>
          <a:noFill/>
          <a:ln/>
        </p:spPr>
        <p:txBody>
          <a:bodyPr wrap="square" lIns="0" tIns="0" rIns="0" bIns="0" rtlCol="0" anchor="t"/>
          <a:lstStyle/>
          <a:p>
            <a:pPr indent="0" marL="0">
              <a:buNone/>
            </a:pPr>
            <a:r>
              <a:rPr lang="en-US" sz="2800" b="1" dirty="0">
                <a:solidFill>
                  <a:srgbClr val="12263A"/>
                </a:solidFill>
                <a:latin typeface="Cambria" pitchFamily="34" charset="0"/>
                <a:ea typeface="Cambria" pitchFamily="34" charset="-122"/>
                <a:cs typeface="Cambria" pitchFamily="34" charset="-120"/>
              </a:rPr>
              <a:t>Price 100 $/MWh, quantity 600 MWh</a:t>
            </a:r>
            <a:endParaRPr lang="en-US" sz="2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HOW IT WORKS</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2600" b="1" dirty="0">
                <a:solidFill>
                  <a:srgbClr val="12263A"/>
                </a:solidFill>
                <a:latin typeface="Cambria" pitchFamily="34" charset="0"/>
                <a:ea typeface="Cambria" pitchFamily="34" charset="-122"/>
                <a:cs typeface="Cambria" pitchFamily="34" charset="-120"/>
              </a:rPr>
              <a:t>A carbon price adds cost in proportion to emissions</a:t>
            </a:r>
            <a:endParaRPr lang="en-US" sz="2600" dirty="0"/>
          </a:p>
        </p:txBody>
      </p:sp>
      <p:sp>
        <p:nvSpPr>
          <p:cNvPr id="5" name="step card"/>
          <p:cNvSpPr/>
          <p:nvPr/>
        </p:nvSpPr>
        <p:spPr>
          <a:xfrm>
            <a:off x="548640" y="1691640"/>
            <a:ext cx="2300402" cy="3063240"/>
          </a:xfrm>
          <a:prstGeom prst="roundRect">
            <a:avLst>
              <a:gd name="adj" fmla="val 4770"/>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6" name="number badge"/>
          <p:cNvSpPr txBox="1"/>
          <p:nvPr/>
        </p:nvSpPr>
        <p:spPr>
          <a:xfrm>
            <a:off x="777240" y="1920240"/>
            <a:ext cx="548640" cy="54864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Text 4"/>
          <p:cNvSpPr txBox="1"/>
          <p:nvPr/>
        </p:nvSpPr>
        <p:spPr>
          <a:xfrm>
            <a:off x="777240" y="2560320"/>
            <a:ext cx="1934642" cy="685800"/>
          </a:xfrm>
          <a:prstGeom prst="rect">
            <a:avLst/>
          </a:prstGeom>
          <a:noFill/>
          <a:ln/>
        </p:spPr>
        <p:txBody>
          <a:bodyPr wrap="square" lIns="0" tIns="0" rIns="0" bIns="0" rtlCol="0" anchor="t"/>
          <a:lstStyle/>
          <a:p>
            <a:pPr indent="0" marL="0">
              <a:buNone/>
            </a:pPr>
            <a:r>
              <a:rPr lang="en-US" sz="1900" b="1" dirty="0">
                <a:solidFill>
                  <a:srgbClr val="12263A"/>
                </a:solidFill>
                <a:latin typeface="Cambria" pitchFamily="34" charset="0"/>
                <a:ea typeface="Cambria" pitchFamily="34" charset="-122"/>
                <a:cs typeface="Cambria" pitchFamily="34" charset="-120"/>
              </a:rPr>
              <a:t>Start cost</a:t>
            </a:r>
            <a:endParaRPr lang="en-US" sz="1900" dirty="0"/>
          </a:p>
        </p:txBody>
      </p:sp>
      <p:sp>
        <p:nvSpPr>
          <p:cNvPr id="8" name="Text 5"/>
          <p:cNvSpPr txBox="1"/>
          <p:nvPr/>
        </p:nvSpPr>
        <p:spPr>
          <a:xfrm>
            <a:off x="777240" y="3246120"/>
            <a:ext cx="1934642" cy="1417320"/>
          </a:xfrm>
          <a:prstGeom prst="rect">
            <a:avLst/>
          </a:prstGeom>
          <a:noFill/>
          <a:ln/>
        </p:spPr>
        <p:txBody>
          <a:bodyPr wrap="square" lIns="0" tIns="0" rIns="0" bIns="0" rtlCol="0" anchor="t"/>
          <a:lstStyle/>
          <a:p>
            <a:pPr indent="0" marL="0">
              <a:buNone/>
            </a:pPr>
            <a:r>
              <a:rPr lang="en-US" sz="2000" dirty="0">
                <a:solidFill>
                  <a:srgbClr val="1F2933"/>
                </a:solidFill>
                <a:latin typeface="Calibri" pitchFamily="34" charset="0"/>
                <a:ea typeface="Calibri" pitchFamily="34" charset="-122"/>
                <a:cs typeface="Calibri" pitchFamily="34" charset="-120"/>
              </a:rPr>
              <a:t>What the plant costs to run, in $/MWh</a:t>
            </a:r>
            <a:endParaRPr lang="en-US" sz="2000" dirty="0"/>
          </a:p>
        </p:txBody>
      </p:sp>
      <p:sp>
        <p:nvSpPr>
          <p:cNvPr id="9" name="arrow"/>
          <p:cNvSpPr/>
          <p:nvPr/>
        </p:nvSpPr>
        <p:spPr>
          <a:xfrm>
            <a:off x="2958770" y="2994660"/>
            <a:ext cx="411480" cy="457200"/>
          </a:xfrm>
          <a:prstGeom prst="rightArrow">
            <a:avLst/>
          </a:prstGeom>
          <a:solidFill>
            <a:srgbClr val="C9E4DF"/>
          </a:solidFill>
          <a:ln w="12700">
            <a:solidFill>
              <a:srgbClr val="C9E4DF"/>
            </a:solidFill>
            <a:prstDash val="solid"/>
          </a:ln>
        </p:spPr>
      </p:sp>
      <p:sp>
        <p:nvSpPr>
          <p:cNvPr id="10" name="step card"/>
          <p:cNvSpPr/>
          <p:nvPr/>
        </p:nvSpPr>
        <p:spPr>
          <a:xfrm>
            <a:off x="3479978" y="1691640"/>
            <a:ext cx="2300402" cy="3063240"/>
          </a:xfrm>
          <a:prstGeom prst="roundRect">
            <a:avLst>
              <a:gd name="adj" fmla="val 4770"/>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1" name="number badge"/>
          <p:cNvSpPr txBox="1"/>
          <p:nvPr/>
        </p:nvSpPr>
        <p:spPr>
          <a:xfrm>
            <a:off x="3708578" y="1920240"/>
            <a:ext cx="548640" cy="54864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2" name="Text 9"/>
          <p:cNvSpPr txBox="1"/>
          <p:nvPr/>
        </p:nvSpPr>
        <p:spPr>
          <a:xfrm>
            <a:off x="3708578" y="2560320"/>
            <a:ext cx="1934642" cy="685800"/>
          </a:xfrm>
          <a:prstGeom prst="rect">
            <a:avLst/>
          </a:prstGeom>
          <a:noFill/>
          <a:ln/>
        </p:spPr>
        <p:txBody>
          <a:bodyPr wrap="square" lIns="0" tIns="0" rIns="0" bIns="0" rtlCol="0" anchor="t"/>
          <a:lstStyle/>
          <a:p>
            <a:pPr indent="0" marL="0">
              <a:buNone/>
            </a:pPr>
            <a:r>
              <a:rPr lang="en-US" sz="1900" b="1" dirty="0">
                <a:solidFill>
                  <a:srgbClr val="12263A"/>
                </a:solidFill>
                <a:latin typeface="Cambria" pitchFamily="34" charset="0"/>
                <a:ea typeface="Cambria" pitchFamily="34" charset="-122"/>
                <a:cs typeface="Cambria" pitchFamily="34" charset="-120"/>
              </a:rPr>
              <a:t>Emissions</a:t>
            </a:r>
            <a:endParaRPr lang="en-US" sz="1900" dirty="0"/>
          </a:p>
        </p:txBody>
      </p:sp>
      <p:sp>
        <p:nvSpPr>
          <p:cNvPr id="13" name="Text 10"/>
          <p:cNvSpPr txBox="1"/>
          <p:nvPr/>
        </p:nvSpPr>
        <p:spPr>
          <a:xfrm>
            <a:off x="3708578" y="3246120"/>
            <a:ext cx="1934642" cy="1417320"/>
          </a:xfrm>
          <a:prstGeom prst="rect">
            <a:avLst/>
          </a:prstGeom>
          <a:noFill/>
          <a:ln/>
        </p:spPr>
        <p:txBody>
          <a:bodyPr wrap="square" lIns="0" tIns="0" rIns="0" bIns="0" rtlCol="0" anchor="t"/>
          <a:lstStyle/>
          <a:p>
            <a:pPr indent="0" marL="0">
              <a:buNone/>
            </a:pPr>
            <a:r>
              <a:rPr lang="en-US" sz="2000" dirty="0">
                <a:solidFill>
                  <a:srgbClr val="1F2933"/>
                </a:solidFill>
                <a:latin typeface="Calibri" pitchFamily="34" charset="0"/>
                <a:ea typeface="Calibri" pitchFamily="34" charset="-122"/>
                <a:cs typeface="Calibri" pitchFamily="34" charset="-120"/>
              </a:rPr>
              <a:t>Tonnes of CO2 per MWh (the emission factor)</a:t>
            </a:r>
            <a:endParaRPr lang="en-US" sz="2000" dirty="0"/>
          </a:p>
        </p:txBody>
      </p:sp>
      <p:sp>
        <p:nvSpPr>
          <p:cNvPr id="14" name="arrow"/>
          <p:cNvSpPr/>
          <p:nvPr/>
        </p:nvSpPr>
        <p:spPr>
          <a:xfrm>
            <a:off x="5890108" y="2994660"/>
            <a:ext cx="411480" cy="457200"/>
          </a:xfrm>
          <a:prstGeom prst="rightArrow">
            <a:avLst/>
          </a:prstGeom>
          <a:solidFill>
            <a:srgbClr val="C9E4DF"/>
          </a:solidFill>
          <a:ln w="12700">
            <a:solidFill>
              <a:srgbClr val="C9E4DF"/>
            </a:solidFill>
            <a:prstDash val="solid"/>
          </a:ln>
        </p:spPr>
      </p:sp>
      <p:sp>
        <p:nvSpPr>
          <p:cNvPr id="15" name="step card"/>
          <p:cNvSpPr/>
          <p:nvPr/>
        </p:nvSpPr>
        <p:spPr>
          <a:xfrm>
            <a:off x="6411316" y="1691640"/>
            <a:ext cx="2300402" cy="3063240"/>
          </a:xfrm>
          <a:prstGeom prst="roundRect">
            <a:avLst>
              <a:gd name="adj" fmla="val 4770"/>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6" name="number badge"/>
          <p:cNvSpPr txBox="1"/>
          <p:nvPr/>
        </p:nvSpPr>
        <p:spPr>
          <a:xfrm>
            <a:off x="6639916" y="1920240"/>
            <a:ext cx="548640" cy="54864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7" name="Text 14"/>
          <p:cNvSpPr txBox="1"/>
          <p:nvPr/>
        </p:nvSpPr>
        <p:spPr>
          <a:xfrm>
            <a:off x="6639916" y="2560320"/>
            <a:ext cx="1934642" cy="685800"/>
          </a:xfrm>
          <a:prstGeom prst="rect">
            <a:avLst/>
          </a:prstGeom>
          <a:noFill/>
          <a:ln/>
        </p:spPr>
        <p:txBody>
          <a:bodyPr wrap="square" lIns="0" tIns="0" rIns="0" bIns="0" rtlCol="0" anchor="t"/>
          <a:lstStyle/>
          <a:p>
            <a:pPr indent="0" marL="0">
              <a:buNone/>
            </a:pPr>
            <a:r>
              <a:rPr lang="en-US" sz="1900" b="1" dirty="0">
                <a:solidFill>
                  <a:srgbClr val="12263A"/>
                </a:solidFill>
                <a:latin typeface="Cambria" pitchFamily="34" charset="0"/>
                <a:ea typeface="Cambria" pitchFamily="34" charset="-122"/>
                <a:cs typeface="Cambria" pitchFamily="34" charset="-120"/>
              </a:rPr>
              <a:t>Carbon charge</a:t>
            </a:r>
            <a:endParaRPr lang="en-US" sz="1900" dirty="0"/>
          </a:p>
        </p:txBody>
      </p:sp>
      <p:sp>
        <p:nvSpPr>
          <p:cNvPr id="18" name="Text 15"/>
          <p:cNvSpPr txBox="1"/>
          <p:nvPr/>
        </p:nvSpPr>
        <p:spPr>
          <a:xfrm>
            <a:off x="6639916" y="3246120"/>
            <a:ext cx="1934642" cy="1417320"/>
          </a:xfrm>
          <a:prstGeom prst="rect">
            <a:avLst/>
          </a:prstGeom>
          <a:noFill/>
          <a:ln/>
        </p:spPr>
        <p:txBody>
          <a:bodyPr wrap="square" lIns="0" tIns="0" rIns="0" bIns="0" rtlCol="0" anchor="t"/>
          <a:lstStyle/>
          <a:p>
            <a:pPr indent="0" marL="0">
              <a:buNone/>
            </a:pPr>
            <a:r>
              <a:rPr lang="en-US" sz="2000" dirty="0">
                <a:solidFill>
                  <a:srgbClr val="1F2933"/>
                </a:solidFill>
                <a:latin typeface="Calibri" pitchFamily="34" charset="0"/>
                <a:ea typeface="Calibri" pitchFamily="34" charset="-122"/>
                <a:cs typeface="Calibri" pitchFamily="34" charset="-120"/>
              </a:rPr>
              <a:t>Emission factor × carbon price</a:t>
            </a:r>
            <a:endParaRPr lang="en-US" sz="2000" dirty="0"/>
          </a:p>
        </p:txBody>
      </p:sp>
      <p:sp>
        <p:nvSpPr>
          <p:cNvPr id="19" name="arrow"/>
          <p:cNvSpPr/>
          <p:nvPr/>
        </p:nvSpPr>
        <p:spPr>
          <a:xfrm>
            <a:off x="8821445" y="2994660"/>
            <a:ext cx="411480" cy="457200"/>
          </a:xfrm>
          <a:prstGeom prst="rightArrow">
            <a:avLst/>
          </a:prstGeom>
          <a:solidFill>
            <a:srgbClr val="C9E4DF"/>
          </a:solidFill>
          <a:ln w="12700">
            <a:solidFill>
              <a:srgbClr val="C9E4DF"/>
            </a:solidFill>
            <a:prstDash val="solid"/>
          </a:ln>
        </p:spPr>
      </p:sp>
      <p:sp>
        <p:nvSpPr>
          <p:cNvPr id="20" name="step card"/>
          <p:cNvSpPr/>
          <p:nvPr/>
        </p:nvSpPr>
        <p:spPr>
          <a:xfrm>
            <a:off x="9342653" y="1691640"/>
            <a:ext cx="2300402" cy="3063240"/>
          </a:xfrm>
          <a:prstGeom prst="roundRect">
            <a:avLst>
              <a:gd name="adj" fmla="val 4770"/>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21" name="number badge"/>
          <p:cNvSpPr txBox="1"/>
          <p:nvPr/>
        </p:nvSpPr>
        <p:spPr>
          <a:xfrm>
            <a:off x="9571253" y="1920240"/>
            <a:ext cx="548640" cy="548640"/>
          </a:xfrm>
          <a:prstGeom prst="ellipse">
            <a:avLst/>
          </a:prstGeom>
          <a:solidFill>
            <a:srgbClr val="C2410C"/>
          </a:solidFill>
          <a:ln>
            <a:solidFill>
              <a:srgbClr val="C2410C"/>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2" name="Text 19"/>
          <p:cNvSpPr txBox="1"/>
          <p:nvPr/>
        </p:nvSpPr>
        <p:spPr>
          <a:xfrm>
            <a:off x="9571253" y="2560320"/>
            <a:ext cx="1934642" cy="685800"/>
          </a:xfrm>
          <a:prstGeom prst="rect">
            <a:avLst/>
          </a:prstGeom>
          <a:noFill/>
          <a:ln/>
        </p:spPr>
        <p:txBody>
          <a:bodyPr wrap="square" lIns="0" tIns="0" rIns="0" bIns="0" rtlCol="0" anchor="t"/>
          <a:lstStyle/>
          <a:p>
            <a:pPr indent="0" marL="0">
              <a:buNone/>
            </a:pPr>
            <a:r>
              <a:rPr lang="en-US" sz="1900" b="1" dirty="0">
                <a:solidFill>
                  <a:srgbClr val="12263A"/>
                </a:solidFill>
                <a:latin typeface="Cambria" pitchFamily="34" charset="0"/>
                <a:ea typeface="Cambria" pitchFamily="34" charset="-122"/>
                <a:cs typeface="Cambria" pitchFamily="34" charset="-120"/>
              </a:rPr>
              <a:t>New cost</a:t>
            </a:r>
            <a:endParaRPr lang="en-US" sz="1900" dirty="0"/>
          </a:p>
        </p:txBody>
      </p:sp>
      <p:sp>
        <p:nvSpPr>
          <p:cNvPr id="23" name="Text 20"/>
          <p:cNvSpPr txBox="1"/>
          <p:nvPr/>
        </p:nvSpPr>
        <p:spPr>
          <a:xfrm>
            <a:off x="9571253" y="3246120"/>
            <a:ext cx="1934642" cy="1417320"/>
          </a:xfrm>
          <a:prstGeom prst="rect">
            <a:avLst/>
          </a:prstGeom>
          <a:noFill/>
          <a:ln/>
        </p:spPr>
        <p:txBody>
          <a:bodyPr wrap="square" lIns="0" tIns="0" rIns="0" bIns="0" rtlCol="0" anchor="t"/>
          <a:lstStyle/>
          <a:p>
            <a:pPr indent="0" marL="0">
              <a:buNone/>
            </a:pPr>
            <a:r>
              <a:rPr lang="en-US" sz="2000" dirty="0">
                <a:solidFill>
                  <a:srgbClr val="1F2933"/>
                </a:solidFill>
                <a:latin typeface="Calibri" pitchFamily="34" charset="0"/>
                <a:ea typeface="Calibri" pitchFamily="34" charset="-122"/>
                <a:cs typeface="Calibri" pitchFamily="34" charset="-120"/>
              </a:rPr>
              <a:t>Start cost + carbon charge</a:t>
            </a:r>
            <a:endParaRPr lang="en-US" sz="2000" dirty="0"/>
          </a:p>
        </p:txBody>
      </p:sp>
      <p:sp>
        <p:nvSpPr>
          <p:cNvPr id="24" name="formula pill"/>
          <p:cNvSpPr/>
          <p:nvPr/>
        </p:nvSpPr>
        <p:spPr>
          <a:xfrm>
            <a:off x="548640" y="5074920"/>
            <a:ext cx="11094415" cy="777240"/>
          </a:xfrm>
          <a:prstGeom prst="roundRect">
            <a:avLst>
              <a:gd name="adj" fmla="val 14118"/>
            </a:avLst>
          </a:prstGeom>
          <a:solidFill>
            <a:srgbClr val="E6F2F0"/>
          </a:solidFill>
          <a:ln w="12700">
            <a:solidFill>
              <a:srgbClr val="E6F2F0"/>
            </a:solidFill>
            <a:prstDash val="solid"/>
          </a:ln>
        </p:spPr>
      </p:sp>
      <p:sp>
        <p:nvSpPr>
          <p:cNvPr id="25" name="Text 22"/>
          <p:cNvSpPr txBox="1"/>
          <p:nvPr/>
        </p:nvSpPr>
        <p:spPr>
          <a:xfrm>
            <a:off x="822960" y="5074920"/>
            <a:ext cx="10545775" cy="777240"/>
          </a:xfrm>
          <a:prstGeom prst="rect">
            <a:avLst/>
          </a:prstGeom>
          <a:noFill/>
          <a:ln/>
        </p:spPr>
        <p:txBody>
          <a:bodyPr wrap="square" lIns="0" tIns="0" rIns="0" bIns="0" rtlCol="0" anchor="ctr"/>
          <a:lstStyle/>
          <a:p>
            <a:pPr algn="ctr" indent="0" marL="0">
              <a:buNone/>
            </a:pPr>
            <a:r>
              <a:rPr lang="en-US" sz="2200" b="1" dirty="0">
                <a:solidFill>
                  <a:srgbClr val="0B5550"/>
                </a:solidFill>
                <a:latin typeface="Calibri" pitchFamily="34" charset="0"/>
                <a:ea typeface="Calibri" pitchFamily="34" charset="-122"/>
                <a:cs typeface="Calibri" pitchFamily="34" charset="-120"/>
              </a:rPr>
              <a:t>New cost = base + ef × tax</a:t>
            </a:r>
            <a:endParaRPr lang="en-US" sz="2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SIDE BY SIDE</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With a $50 carbon price the winner changes</a:t>
            </a:r>
            <a:endParaRPr lang="en-US" sz="3200" dirty="0"/>
          </a:p>
        </p:txBody>
      </p:sp>
      <p:graphicFrame>
        <p:nvGraphicFramePr>
          <p:cNvPr id="10" name="table"/>
          <p:cNvGraphicFramePr>
            <a:graphicFrameLocks noGrp="1"/>
          </p:cNvGraphicFramePr>
          <p:nvPr>
            <p:extLst>
              <p:ext uri="{D42A27DB-BD31-4B8C-83A1-F6EECF244321}">
                <p14:modId xmlns:p14="http://schemas.microsoft.com/office/powerpoint/2010/main" val="1579011935"/>
              </p:ext>
            </p:extLst>
          </p:nvPr>
        </p:nvGraphicFramePr>
        <p:xfrm>
          <a:off x="548640" y="1645920"/>
          <a:ext cx="11094415" cy="914400"/>
        </p:xfrm>
        <a:graphic>
          <a:graphicData uri="http://schemas.openxmlformats.org/drawingml/2006/table">
            <a:tbl>
              <a:tblPr/>
              <a:tblGrid>
                <a:gridCol w="2773604"/>
                <a:gridCol w="2773604"/>
                <a:gridCol w="2773604"/>
                <a:gridCol w="2773604"/>
              </a:tblGrid>
              <a:tr h="45720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Technology</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12263A"/>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Cost $/MWh</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12263A"/>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tCO2 per MWh</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12263A"/>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With $50/tCO2</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12263A"/>
                    </a:solidFill>
                  </a:tcPr>
                </a:tc>
              </a:tr>
              <a:tr h="457200">
                <a:tc>
                  <a:txBody>
                    <a:bodyPr/>
                    <a:lstStyle/>
                    <a:p>
                      <a:pPr indent="0" marL="0">
                        <a:buNone/>
                      </a:pPr>
                      <a:r>
                        <a:rPr lang="en-US" sz="1800" b="1" dirty="0">
                          <a:solidFill>
                            <a:srgbClr val="1F2933"/>
                          </a:solidFill>
                          <a:latin typeface="Calibri" pitchFamily="34" charset="0"/>
                          <a:ea typeface="Calibri" pitchFamily="34" charset="-122"/>
                          <a:cs typeface="Calibri" pitchFamily="34" charset="-120"/>
                        </a:rPr>
                        <a:t>Coal</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7FAF9"/>
                    </a:solidFill>
                  </a:tcPr>
                </a:tc>
                <a:tc>
                  <a:txBody>
                    <a:bodyPr/>
                    <a:lstStyle/>
                    <a:p>
                      <a:pPr indent="0" marL="0">
                        <a:buNone/>
                      </a:pPr>
                      <a:r>
                        <a:rPr lang="en-US" sz="1800" dirty="0">
                          <a:solidFill>
                            <a:srgbClr val="1F2933"/>
                          </a:solidFill>
                          <a:latin typeface="Calibri" pitchFamily="34" charset="0"/>
                          <a:ea typeface="Calibri" pitchFamily="34" charset="-122"/>
                          <a:cs typeface="Calibri" pitchFamily="34" charset="-120"/>
                        </a:rPr>
                        <a:t>60</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7FAF9"/>
                    </a:solidFill>
                  </a:tcPr>
                </a:tc>
                <a:tc>
                  <a:txBody>
                    <a:bodyPr/>
                    <a:lstStyle/>
                    <a:p>
                      <a:pPr indent="0" marL="0">
                        <a:buNone/>
                      </a:pPr>
                      <a:r>
                        <a:rPr lang="en-US" sz="1800" dirty="0">
                          <a:solidFill>
                            <a:srgbClr val="1F2933"/>
                          </a:solidFill>
                          <a:latin typeface="Calibri" pitchFamily="34" charset="0"/>
                          <a:ea typeface="Calibri" pitchFamily="34" charset="-122"/>
                          <a:cs typeface="Calibri" pitchFamily="34" charset="-120"/>
                        </a:rPr>
                        <a:t>0.9</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7FAF9"/>
                    </a:solidFill>
                  </a:tcPr>
                </a:tc>
                <a:tc>
                  <a:txBody>
                    <a:bodyPr/>
                    <a:lstStyle/>
                    <a:p>
                      <a:pPr indent="0" marL="0">
                        <a:buNone/>
                      </a:pPr>
                      <a:r>
                        <a:rPr lang="en-US" sz="1800" dirty="0">
                          <a:solidFill>
                            <a:srgbClr val="1F2933"/>
                          </a:solidFill>
                          <a:latin typeface="Calibri" pitchFamily="34" charset="0"/>
                          <a:ea typeface="Calibri" pitchFamily="34" charset="-122"/>
                          <a:cs typeface="Calibri" pitchFamily="34" charset="-120"/>
                        </a:rPr>
                        <a:t>60 + 0.9 × 50 = 105</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7FAF9"/>
                    </a:solidFill>
                  </a:tcPr>
                </a:tc>
              </a:tr>
              <a:tr h="457200">
                <a:tc>
                  <a:txBody>
                    <a:bodyPr/>
                    <a:lstStyle/>
                    <a:p>
                      <a:pPr indent="0" marL="0">
                        <a:buNone/>
                      </a:pPr>
                      <a:r>
                        <a:rPr lang="en-US" sz="1800" b="1" dirty="0">
                          <a:solidFill>
                            <a:srgbClr val="1F2933"/>
                          </a:solidFill>
                          <a:latin typeface="Calibri" pitchFamily="34" charset="0"/>
                          <a:ea typeface="Calibri" pitchFamily="34" charset="-122"/>
                          <a:cs typeface="Calibri" pitchFamily="34" charset="-120"/>
                        </a:rPr>
                        <a:t>Gas</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FFFFF"/>
                    </a:solidFill>
                  </a:tcPr>
                </a:tc>
                <a:tc>
                  <a:txBody>
                    <a:bodyPr/>
                    <a:lstStyle/>
                    <a:p>
                      <a:pPr indent="0" marL="0">
                        <a:buNone/>
                      </a:pPr>
                      <a:r>
                        <a:rPr lang="en-US" sz="1800" dirty="0">
                          <a:solidFill>
                            <a:srgbClr val="1F2933"/>
                          </a:solidFill>
                          <a:latin typeface="Calibri" pitchFamily="34" charset="0"/>
                          <a:ea typeface="Calibri" pitchFamily="34" charset="-122"/>
                          <a:cs typeface="Calibri" pitchFamily="34" charset="-120"/>
                        </a:rPr>
                        <a:t>70</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FFFFF"/>
                    </a:solidFill>
                  </a:tcPr>
                </a:tc>
                <a:tc>
                  <a:txBody>
                    <a:bodyPr/>
                    <a:lstStyle/>
                    <a:p>
                      <a:pPr indent="0" marL="0">
                        <a:buNone/>
                      </a:pPr>
                      <a:r>
                        <a:rPr lang="en-US" sz="1800" dirty="0">
                          <a:solidFill>
                            <a:srgbClr val="1F2933"/>
                          </a:solidFill>
                          <a:latin typeface="Calibri" pitchFamily="34" charset="0"/>
                          <a:ea typeface="Calibri" pitchFamily="34" charset="-122"/>
                          <a:cs typeface="Calibri" pitchFamily="34" charset="-120"/>
                        </a:rPr>
                        <a:t>0.4</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FFFFF"/>
                    </a:solidFill>
                  </a:tcPr>
                </a:tc>
                <a:tc>
                  <a:txBody>
                    <a:bodyPr/>
                    <a:lstStyle/>
                    <a:p>
                      <a:pPr indent="0" marL="0">
                        <a:buNone/>
                      </a:pPr>
                      <a:r>
                        <a:rPr lang="en-US" sz="1800" dirty="0">
                          <a:solidFill>
                            <a:srgbClr val="1F2933"/>
                          </a:solidFill>
                          <a:latin typeface="Calibri" pitchFamily="34" charset="0"/>
                          <a:ea typeface="Calibri" pitchFamily="34" charset="-122"/>
                          <a:cs typeface="Calibri" pitchFamily="34" charset="-120"/>
                        </a:rPr>
                        <a:t>70 + 0.4 × 50 = 90</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FFFFF"/>
                    </a:solidFill>
                  </a:tcPr>
                </a:tc>
              </a:tr>
              <a:tr h="457200">
                <a:tc>
                  <a:txBody>
                    <a:bodyPr/>
                    <a:lstStyle/>
                    <a:p>
                      <a:pPr indent="0" marL="0">
                        <a:buNone/>
                      </a:pPr>
                      <a:r>
                        <a:rPr lang="en-US" sz="1800" b="1" dirty="0">
                          <a:solidFill>
                            <a:srgbClr val="1F2933"/>
                          </a:solidFill>
                          <a:latin typeface="Calibri" pitchFamily="34" charset="0"/>
                          <a:ea typeface="Calibri" pitchFamily="34" charset="-122"/>
                          <a:cs typeface="Calibri" pitchFamily="34" charset="-120"/>
                        </a:rPr>
                        <a:t>Solar</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7FAF9"/>
                    </a:solidFill>
                  </a:tcPr>
                </a:tc>
                <a:tc>
                  <a:txBody>
                    <a:bodyPr/>
                    <a:lstStyle/>
                    <a:p>
                      <a:pPr indent="0" marL="0">
                        <a:buNone/>
                      </a:pPr>
                      <a:r>
                        <a:rPr lang="en-US" sz="1800" dirty="0">
                          <a:solidFill>
                            <a:srgbClr val="1F2933"/>
                          </a:solidFill>
                          <a:latin typeface="Calibri" pitchFamily="34" charset="0"/>
                          <a:ea typeface="Calibri" pitchFamily="34" charset="-122"/>
                          <a:cs typeface="Calibri" pitchFamily="34" charset="-120"/>
                        </a:rPr>
                        <a:t>80</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7FAF9"/>
                    </a:solidFill>
                  </a:tcPr>
                </a:tc>
                <a:tc>
                  <a:txBody>
                    <a:bodyPr/>
                    <a:lstStyle/>
                    <a:p>
                      <a:pPr indent="0" marL="0">
                        <a:buNone/>
                      </a:pPr>
                      <a:r>
                        <a:rPr lang="en-US" sz="1800" dirty="0">
                          <a:solidFill>
                            <a:srgbClr val="1F2933"/>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7FAF9"/>
                    </a:solidFill>
                  </a:tcPr>
                </a:tc>
                <a:tc>
                  <a:txBody>
                    <a:bodyPr/>
                    <a:lstStyle/>
                    <a:p>
                      <a:pPr indent="0" marL="0">
                        <a:buNone/>
                      </a:pPr>
                      <a:r>
                        <a:rPr lang="en-US" sz="1800" dirty="0">
                          <a:solidFill>
                            <a:srgbClr val="1F2933"/>
                          </a:solidFill>
                          <a:latin typeface="Calibri" pitchFamily="34" charset="0"/>
                          <a:ea typeface="Calibri" pitchFamily="34" charset="-122"/>
                          <a:cs typeface="Calibri" pitchFamily="34" charset="-120"/>
                        </a:rPr>
                        <a:t>80 + 0 × 50 = 80</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7FAF9"/>
                    </a:solidFill>
                  </a:tcPr>
                </a:tc>
              </a:tr>
            </a:tbl>
          </a:graphicData>
        </a:graphic>
      </p:graphicFrame>
      <p:sp>
        <p:nvSpPr>
          <p:cNvPr id="6" name="caption pill"/>
          <p:cNvSpPr/>
          <p:nvPr/>
        </p:nvSpPr>
        <p:spPr>
          <a:xfrm>
            <a:off x="548640" y="3703320"/>
            <a:ext cx="11094415" cy="640080"/>
          </a:xfrm>
          <a:prstGeom prst="roundRect">
            <a:avLst>
              <a:gd name="adj" fmla="val 17143"/>
            </a:avLst>
          </a:prstGeom>
          <a:solidFill>
            <a:srgbClr val="E6F2F0"/>
          </a:solidFill>
          <a:ln w="12700">
            <a:solidFill>
              <a:srgbClr val="E6F2F0"/>
            </a:solidFill>
            <a:prstDash val="solid"/>
          </a:ln>
        </p:spPr>
      </p:sp>
      <p:sp>
        <p:nvSpPr>
          <p:cNvPr id="7" name="icon circle"/>
          <p:cNvSpPr/>
          <p:nvPr/>
        </p:nvSpPr>
        <p:spPr>
          <a:xfrm>
            <a:off x="685800" y="3813048"/>
            <a:ext cx="420624" cy="420624"/>
          </a:xfrm>
          <a:prstGeom prst="ellipse">
            <a:avLst/>
          </a:prstGeom>
          <a:solidFill>
            <a:srgbClr val="0F766E"/>
          </a:solidFill>
          <a:ln w="12700">
            <a:solidFill>
              <a:srgbClr val="0F766E"/>
            </a:solidFill>
            <a:prstDash val="solid"/>
          </a:ln>
        </p:spPr>
      </p:sp>
      <p:pic>
        <p:nvPicPr>
          <p:cNvPr id="8" name="icon" descr="preencoded.png">    </p:cNvPr>
          <p:cNvPicPr>
            <a:picLocks noChangeAspect="1"/>
          </p:cNvPicPr>
          <p:nvPr/>
        </p:nvPicPr>
        <p:blipFill>
          <a:blip r:embed="rId1"/>
          <a:stretch>
            <a:fillRect/>
          </a:stretch>
        </p:blipFill>
        <p:spPr>
          <a:xfrm>
            <a:off x="795162" y="3922410"/>
            <a:ext cx="201900" cy="201900"/>
          </a:xfrm>
          <a:prstGeom prst="rect">
            <a:avLst/>
          </a:prstGeom>
        </p:spPr>
      </p:pic>
      <p:sp>
        <p:nvSpPr>
          <p:cNvPr id="9" name="Text 4"/>
          <p:cNvSpPr txBox="1"/>
          <p:nvPr/>
        </p:nvSpPr>
        <p:spPr>
          <a:xfrm>
            <a:off x="1280160" y="3703320"/>
            <a:ext cx="10180015" cy="640080"/>
          </a:xfrm>
          <a:prstGeom prst="rect">
            <a:avLst/>
          </a:prstGeom>
          <a:noFill/>
          <a:ln/>
        </p:spPr>
        <p:txBody>
          <a:bodyPr wrap="square" lIns="0" tIns="0" rIns="0" bIns="0" rtlCol="0" anchor="ctr"/>
          <a:lstStyle/>
          <a:p>
            <a:pPr indent="0" marL="0">
              <a:buNone/>
            </a:pPr>
            <a:r>
              <a:rPr lang="en-US" sz="1600" dirty="0">
                <a:solidFill>
                  <a:srgbClr val="0B5550"/>
                </a:solidFill>
                <a:latin typeface="Calibri" pitchFamily="34" charset="0"/>
                <a:ea typeface="Calibri" pitchFamily="34" charset="-122"/>
                <a:cs typeface="Calibri" pitchFamily="34" charset="-120"/>
              </a:rPr>
              <a:t>Cheapest without a carbon price: coal. Cheapest with it: solar. Illustrative numbers.</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C2410C"/>
                </a:solidFill>
                <a:latin typeface="Calibri" pitchFamily="34" charset="0"/>
                <a:ea typeface="Calibri" pitchFamily="34" charset="-122"/>
                <a:cs typeface="Calibri" pitchFamily="34" charset="-120"/>
              </a:rPr>
              <a:t>QUICK CHECK · THINK, THEN VOTE</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Quick check</a:t>
            </a:r>
            <a:endParaRPr lang="en-US" sz="3200" dirty="0"/>
          </a:p>
        </p:txBody>
      </p:sp>
      <p:sp>
        <p:nvSpPr>
          <p:cNvPr id="5" name="Text 2"/>
          <p:cNvSpPr txBox="1"/>
          <p:nvPr/>
        </p:nvSpPr>
        <p:spPr>
          <a:xfrm>
            <a:off x="548640" y="1554480"/>
            <a:ext cx="11094415" cy="914400"/>
          </a:xfrm>
          <a:prstGeom prst="rect">
            <a:avLst/>
          </a:prstGeom>
          <a:noFill/>
          <a:ln/>
        </p:spPr>
        <p:txBody>
          <a:bodyPr wrap="square" lIns="0" tIns="0" rIns="0" bIns="0" rtlCol="0" anchor="t"/>
          <a:lstStyle/>
          <a:p>
            <a:pPr indent="0" marL="0">
              <a:buNone/>
            </a:pPr>
            <a:r>
              <a:rPr lang="en-US" sz="2400" b="1" dirty="0">
                <a:solidFill>
                  <a:srgbClr val="12263A"/>
                </a:solidFill>
                <a:latin typeface="Calibri" pitchFamily="34" charset="0"/>
                <a:ea typeface="Calibri" pitchFamily="34" charset="-122"/>
                <a:cs typeface="Calibri" pitchFamily="34" charset="-120"/>
              </a:rPr>
              <a:t>At a carbon price of $22 per tonne, which technology is cheapest?</a:t>
            </a:r>
            <a:endParaRPr lang="en-US" sz="2400" dirty="0"/>
          </a:p>
        </p:txBody>
      </p:sp>
      <p:sp>
        <p:nvSpPr>
          <p:cNvPr id="6" name="option"/>
          <p:cNvSpPr/>
          <p:nvPr/>
        </p:nvSpPr>
        <p:spPr>
          <a:xfrm>
            <a:off x="548640" y="2697480"/>
            <a:ext cx="5410048" cy="1325880"/>
          </a:xfrm>
          <a:prstGeom prst="roundRect">
            <a:avLst>
              <a:gd name="adj" fmla="val 8276"/>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7" name="number badge"/>
          <p:cNvSpPr txBox="1"/>
          <p:nvPr/>
        </p:nvSpPr>
        <p:spPr>
          <a:xfrm>
            <a:off x="822960" y="3086100"/>
            <a:ext cx="548640" cy="54864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a:t>
            </a:r>
            <a:endParaRPr lang="en-US" sz="1800" dirty="0"/>
          </a:p>
        </p:txBody>
      </p:sp>
      <p:sp>
        <p:nvSpPr>
          <p:cNvPr id="8" name="Text 5"/>
          <p:cNvSpPr txBox="1"/>
          <p:nvPr/>
        </p:nvSpPr>
        <p:spPr>
          <a:xfrm>
            <a:off x="1554480" y="2697480"/>
            <a:ext cx="4221328" cy="1325880"/>
          </a:xfrm>
          <a:prstGeom prst="rect">
            <a:avLst/>
          </a:prstGeom>
          <a:noFill/>
          <a:ln/>
        </p:spPr>
        <p:txBody>
          <a:bodyPr wrap="square" lIns="0" tIns="0" rIns="0" bIns="0" rtlCol="0" anchor="ctr"/>
          <a:lstStyle/>
          <a:p>
            <a:pPr indent="0" marL="0">
              <a:buNone/>
            </a:pPr>
            <a:r>
              <a:rPr lang="en-US" sz="2000" dirty="0">
                <a:solidFill>
                  <a:srgbClr val="1F2933"/>
                </a:solidFill>
                <a:latin typeface="Calibri" pitchFamily="34" charset="0"/>
                <a:ea typeface="Calibri" pitchFamily="34" charset="-122"/>
                <a:cs typeface="Calibri" pitchFamily="34" charset="-120"/>
              </a:rPr>
              <a:t>Coal (79.8)</a:t>
            </a:r>
            <a:endParaRPr lang="en-US" sz="2000" dirty="0"/>
          </a:p>
        </p:txBody>
      </p:sp>
      <p:sp>
        <p:nvSpPr>
          <p:cNvPr id="9" name="option"/>
          <p:cNvSpPr/>
          <p:nvPr/>
        </p:nvSpPr>
        <p:spPr>
          <a:xfrm>
            <a:off x="6233008" y="2697480"/>
            <a:ext cx="5410048" cy="1325880"/>
          </a:xfrm>
          <a:prstGeom prst="roundRect">
            <a:avLst>
              <a:gd name="adj" fmla="val 8276"/>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0" name="number badge"/>
          <p:cNvSpPr txBox="1"/>
          <p:nvPr/>
        </p:nvSpPr>
        <p:spPr>
          <a:xfrm>
            <a:off x="6507328" y="3086100"/>
            <a:ext cx="548640" cy="54864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B</a:t>
            </a:r>
            <a:endParaRPr lang="en-US" sz="1800" dirty="0"/>
          </a:p>
        </p:txBody>
      </p:sp>
      <p:sp>
        <p:nvSpPr>
          <p:cNvPr id="11" name="Text 8"/>
          <p:cNvSpPr txBox="1"/>
          <p:nvPr/>
        </p:nvSpPr>
        <p:spPr>
          <a:xfrm>
            <a:off x="7238848" y="2697480"/>
            <a:ext cx="4221328" cy="1325880"/>
          </a:xfrm>
          <a:prstGeom prst="rect">
            <a:avLst/>
          </a:prstGeom>
          <a:noFill/>
          <a:ln/>
        </p:spPr>
        <p:txBody>
          <a:bodyPr wrap="square" lIns="0" tIns="0" rIns="0" bIns="0" rtlCol="0" anchor="ctr"/>
          <a:lstStyle/>
          <a:p>
            <a:pPr indent="0" marL="0">
              <a:buNone/>
            </a:pPr>
            <a:r>
              <a:rPr lang="en-US" sz="2000" dirty="0">
                <a:solidFill>
                  <a:srgbClr val="1F2933"/>
                </a:solidFill>
                <a:latin typeface="Calibri" pitchFamily="34" charset="0"/>
                <a:ea typeface="Calibri" pitchFamily="34" charset="-122"/>
                <a:cs typeface="Calibri" pitchFamily="34" charset="-120"/>
              </a:rPr>
              <a:t>Gas (78.8)</a:t>
            </a:r>
            <a:endParaRPr lang="en-US" sz="2000" dirty="0"/>
          </a:p>
        </p:txBody>
      </p:sp>
      <p:sp>
        <p:nvSpPr>
          <p:cNvPr id="12" name="option"/>
          <p:cNvSpPr/>
          <p:nvPr/>
        </p:nvSpPr>
        <p:spPr>
          <a:xfrm>
            <a:off x="548640" y="4297680"/>
            <a:ext cx="5410048" cy="1325880"/>
          </a:xfrm>
          <a:prstGeom prst="roundRect">
            <a:avLst>
              <a:gd name="adj" fmla="val 8276"/>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3" name="number badge"/>
          <p:cNvSpPr txBox="1"/>
          <p:nvPr/>
        </p:nvSpPr>
        <p:spPr>
          <a:xfrm>
            <a:off x="822960" y="4686300"/>
            <a:ext cx="548640" cy="54864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C</a:t>
            </a:r>
            <a:endParaRPr lang="en-US" sz="1800" dirty="0"/>
          </a:p>
        </p:txBody>
      </p:sp>
      <p:sp>
        <p:nvSpPr>
          <p:cNvPr id="14" name="Text 11"/>
          <p:cNvSpPr txBox="1"/>
          <p:nvPr/>
        </p:nvSpPr>
        <p:spPr>
          <a:xfrm>
            <a:off x="1554480" y="4297680"/>
            <a:ext cx="4221328" cy="1325880"/>
          </a:xfrm>
          <a:prstGeom prst="rect">
            <a:avLst/>
          </a:prstGeom>
          <a:noFill/>
          <a:ln/>
        </p:spPr>
        <p:txBody>
          <a:bodyPr wrap="square" lIns="0" tIns="0" rIns="0" bIns="0" rtlCol="0" anchor="ctr"/>
          <a:lstStyle/>
          <a:p>
            <a:pPr indent="0" marL="0">
              <a:buNone/>
            </a:pPr>
            <a:r>
              <a:rPr lang="en-US" sz="2000" dirty="0">
                <a:solidFill>
                  <a:srgbClr val="1F2933"/>
                </a:solidFill>
                <a:latin typeface="Calibri" pitchFamily="34" charset="0"/>
                <a:ea typeface="Calibri" pitchFamily="34" charset="-122"/>
                <a:cs typeface="Calibri" pitchFamily="34" charset="-120"/>
              </a:rPr>
              <a:t>Solar (80)</a:t>
            </a:r>
            <a:endParaRPr lang="en-US" sz="2000" dirty="0"/>
          </a:p>
        </p:txBody>
      </p:sp>
      <p:sp>
        <p:nvSpPr>
          <p:cNvPr id="15" name="option"/>
          <p:cNvSpPr/>
          <p:nvPr/>
        </p:nvSpPr>
        <p:spPr>
          <a:xfrm>
            <a:off x="6233008" y="4297680"/>
            <a:ext cx="5410048" cy="1325880"/>
          </a:xfrm>
          <a:prstGeom prst="roundRect">
            <a:avLst>
              <a:gd name="adj" fmla="val 8276"/>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6" name="number badge"/>
          <p:cNvSpPr txBox="1"/>
          <p:nvPr/>
        </p:nvSpPr>
        <p:spPr>
          <a:xfrm>
            <a:off x="6507328" y="4686300"/>
            <a:ext cx="548640" cy="54864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D</a:t>
            </a:r>
            <a:endParaRPr lang="en-US" sz="1800" dirty="0"/>
          </a:p>
        </p:txBody>
      </p:sp>
      <p:sp>
        <p:nvSpPr>
          <p:cNvPr id="17" name="Text 14"/>
          <p:cNvSpPr txBox="1"/>
          <p:nvPr/>
        </p:nvSpPr>
        <p:spPr>
          <a:xfrm>
            <a:off x="7238848" y="4297680"/>
            <a:ext cx="4221328" cy="1325880"/>
          </a:xfrm>
          <a:prstGeom prst="rect">
            <a:avLst/>
          </a:prstGeom>
          <a:noFill/>
          <a:ln/>
        </p:spPr>
        <p:txBody>
          <a:bodyPr wrap="square" lIns="0" tIns="0" rIns="0" bIns="0" rtlCol="0" anchor="ctr"/>
          <a:lstStyle/>
          <a:p>
            <a:pPr indent="0" marL="0">
              <a:buNone/>
            </a:pPr>
            <a:r>
              <a:rPr lang="en-US" sz="2000" dirty="0">
                <a:solidFill>
                  <a:srgbClr val="1F2933"/>
                </a:solidFill>
                <a:latin typeface="Calibri" pitchFamily="34" charset="0"/>
                <a:ea typeface="Calibri" pitchFamily="34" charset="-122"/>
                <a:cs typeface="Calibri" pitchFamily="34" charset="-120"/>
              </a:rPr>
              <a:t>They all cost the same</a:t>
            </a:r>
            <a:endParaRPr lang="en-US" sz="2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15803D"/>
                </a:solidFill>
                <a:latin typeface="Calibri" pitchFamily="34" charset="0"/>
                <a:ea typeface="Calibri" pitchFamily="34" charset="-122"/>
                <a:cs typeface="Calibri" pitchFamily="34" charset="-120"/>
              </a:rPr>
              <a:t>QUICK CHECK · ANSWER</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Quick check: answer</a:t>
            </a:r>
            <a:endParaRPr lang="en-US" sz="3200" dirty="0"/>
          </a:p>
        </p:txBody>
      </p:sp>
      <p:sp>
        <p:nvSpPr>
          <p:cNvPr id="5" name="Text 2"/>
          <p:cNvSpPr txBox="1"/>
          <p:nvPr/>
        </p:nvSpPr>
        <p:spPr>
          <a:xfrm>
            <a:off x="548640" y="1554480"/>
            <a:ext cx="11094415" cy="914400"/>
          </a:xfrm>
          <a:prstGeom prst="rect">
            <a:avLst/>
          </a:prstGeom>
          <a:noFill/>
          <a:ln/>
        </p:spPr>
        <p:txBody>
          <a:bodyPr wrap="square" lIns="0" tIns="0" rIns="0" bIns="0" rtlCol="0" anchor="t"/>
          <a:lstStyle/>
          <a:p>
            <a:pPr indent="0" marL="0">
              <a:buNone/>
            </a:pPr>
            <a:r>
              <a:rPr lang="en-US" sz="2400" b="1" dirty="0">
                <a:solidFill>
                  <a:srgbClr val="12263A"/>
                </a:solidFill>
                <a:latin typeface="Calibri" pitchFamily="34" charset="0"/>
                <a:ea typeface="Calibri" pitchFamily="34" charset="-122"/>
                <a:cs typeface="Calibri" pitchFamily="34" charset="-120"/>
              </a:rPr>
              <a:t>At a carbon price of $22 per tonne, which technology is cheapest?</a:t>
            </a:r>
            <a:endParaRPr lang="en-US" sz="2400" dirty="0"/>
          </a:p>
        </p:txBody>
      </p:sp>
      <p:sp>
        <p:nvSpPr>
          <p:cNvPr id="6" name="option"/>
          <p:cNvSpPr/>
          <p:nvPr/>
        </p:nvSpPr>
        <p:spPr>
          <a:xfrm>
            <a:off x="548640" y="2697480"/>
            <a:ext cx="5410048" cy="1325880"/>
          </a:xfrm>
          <a:prstGeom prst="roundRect">
            <a:avLst>
              <a:gd name="adj" fmla="val 8276"/>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7" name="number badge"/>
          <p:cNvSpPr txBox="1"/>
          <p:nvPr/>
        </p:nvSpPr>
        <p:spPr>
          <a:xfrm>
            <a:off x="822960" y="3086100"/>
            <a:ext cx="548640" cy="548640"/>
          </a:xfrm>
          <a:prstGeom prst="ellipse">
            <a:avLst/>
          </a:prstGeom>
          <a:solidFill>
            <a:srgbClr val="B8C2C0"/>
          </a:solidFill>
          <a:ln>
            <a:solidFill>
              <a:srgbClr val="B8C2C0"/>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a:t>
            </a:r>
            <a:endParaRPr lang="en-US" sz="1800" dirty="0"/>
          </a:p>
        </p:txBody>
      </p:sp>
      <p:sp>
        <p:nvSpPr>
          <p:cNvPr id="8" name="Text 5"/>
          <p:cNvSpPr txBox="1"/>
          <p:nvPr/>
        </p:nvSpPr>
        <p:spPr>
          <a:xfrm>
            <a:off x="1554480" y="2697480"/>
            <a:ext cx="3626968" cy="1325880"/>
          </a:xfrm>
          <a:prstGeom prst="rect">
            <a:avLst/>
          </a:prstGeom>
          <a:noFill/>
          <a:ln/>
        </p:spPr>
        <p:txBody>
          <a:bodyPr wrap="square" lIns="0" tIns="0" rIns="0" bIns="0" rtlCol="0" anchor="ctr"/>
          <a:lstStyle/>
          <a:p>
            <a:pPr indent="0" marL="0">
              <a:buNone/>
            </a:pPr>
            <a:r>
              <a:rPr lang="en-US" sz="2000" dirty="0">
                <a:solidFill>
                  <a:srgbClr val="5B6875"/>
                </a:solidFill>
                <a:latin typeface="Calibri" pitchFamily="34" charset="0"/>
                <a:ea typeface="Calibri" pitchFamily="34" charset="-122"/>
                <a:cs typeface="Calibri" pitchFamily="34" charset="-120"/>
              </a:rPr>
              <a:t>Coal (79.8)</a:t>
            </a:r>
            <a:endParaRPr lang="en-US" sz="2000" dirty="0"/>
          </a:p>
        </p:txBody>
      </p:sp>
      <p:sp>
        <p:nvSpPr>
          <p:cNvPr id="9" name="option"/>
          <p:cNvSpPr/>
          <p:nvPr/>
        </p:nvSpPr>
        <p:spPr>
          <a:xfrm>
            <a:off x="6233008" y="2697480"/>
            <a:ext cx="5410048" cy="1325880"/>
          </a:xfrm>
          <a:prstGeom prst="roundRect">
            <a:avLst>
              <a:gd name="adj" fmla="val 8276"/>
            </a:avLst>
          </a:prstGeom>
          <a:solidFill>
            <a:srgbClr val="E7F5EC"/>
          </a:solidFill>
          <a:ln w="12700">
            <a:solidFill>
              <a:srgbClr val="E7F5EC"/>
            </a:solidFill>
            <a:prstDash val="solid"/>
          </a:ln>
        </p:spPr>
      </p:sp>
      <p:sp>
        <p:nvSpPr>
          <p:cNvPr id="10" name="number badge"/>
          <p:cNvSpPr txBox="1"/>
          <p:nvPr/>
        </p:nvSpPr>
        <p:spPr>
          <a:xfrm>
            <a:off x="6507328" y="3086100"/>
            <a:ext cx="548640" cy="548640"/>
          </a:xfrm>
          <a:prstGeom prst="ellipse">
            <a:avLst/>
          </a:prstGeom>
          <a:solidFill>
            <a:srgbClr val="15803D"/>
          </a:solidFill>
          <a:ln>
            <a:solidFill>
              <a:srgbClr val="15803D"/>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B</a:t>
            </a:r>
            <a:endParaRPr lang="en-US" sz="1800" dirty="0"/>
          </a:p>
        </p:txBody>
      </p:sp>
      <p:sp>
        <p:nvSpPr>
          <p:cNvPr id="11" name="Text 8"/>
          <p:cNvSpPr txBox="1"/>
          <p:nvPr/>
        </p:nvSpPr>
        <p:spPr>
          <a:xfrm>
            <a:off x="7238848" y="2697480"/>
            <a:ext cx="3626968" cy="1325880"/>
          </a:xfrm>
          <a:prstGeom prst="rect">
            <a:avLst/>
          </a:prstGeom>
          <a:noFill/>
          <a:ln/>
        </p:spPr>
        <p:txBody>
          <a:bodyPr wrap="square" lIns="0" tIns="0" rIns="0" bIns="0" rtlCol="0" anchor="ctr"/>
          <a:lstStyle/>
          <a:p>
            <a:pPr indent="0" marL="0">
              <a:buNone/>
            </a:pPr>
            <a:r>
              <a:rPr lang="en-US" sz="2000" b="1" dirty="0">
                <a:solidFill>
                  <a:srgbClr val="1F2933"/>
                </a:solidFill>
                <a:latin typeface="Calibri" pitchFamily="34" charset="0"/>
                <a:ea typeface="Calibri" pitchFamily="34" charset="-122"/>
                <a:cs typeface="Calibri" pitchFamily="34" charset="-120"/>
              </a:rPr>
              <a:t>Gas (78.8)</a:t>
            </a:r>
            <a:endParaRPr lang="en-US" sz="2000" dirty="0"/>
          </a:p>
        </p:txBody>
      </p:sp>
      <p:sp>
        <p:nvSpPr>
          <p:cNvPr id="12" name="icon circle"/>
          <p:cNvSpPr/>
          <p:nvPr/>
        </p:nvSpPr>
        <p:spPr>
          <a:xfrm>
            <a:off x="11048695" y="2834640"/>
            <a:ext cx="411480" cy="411480"/>
          </a:xfrm>
          <a:prstGeom prst="ellipse">
            <a:avLst/>
          </a:prstGeom>
          <a:solidFill>
            <a:srgbClr val="15803D"/>
          </a:solidFill>
          <a:ln w="12700">
            <a:solidFill>
              <a:srgbClr val="15803D"/>
            </a:solidFill>
            <a:prstDash val="solid"/>
          </a:ln>
        </p:spPr>
      </p:sp>
      <p:pic>
        <p:nvPicPr>
          <p:cNvPr id="13" name="icon" descr="preencoded.png">    </p:cNvPr>
          <p:cNvPicPr>
            <a:picLocks noChangeAspect="1"/>
          </p:cNvPicPr>
          <p:nvPr/>
        </p:nvPicPr>
        <p:blipFill>
          <a:blip r:embed="rId1"/>
          <a:stretch>
            <a:fillRect/>
          </a:stretch>
        </p:blipFill>
        <p:spPr>
          <a:xfrm>
            <a:off x="11155680" y="2941625"/>
            <a:ext cx="197510" cy="197510"/>
          </a:xfrm>
          <a:prstGeom prst="rect">
            <a:avLst/>
          </a:prstGeom>
        </p:spPr>
      </p:pic>
      <p:sp>
        <p:nvSpPr>
          <p:cNvPr id="14" name="option"/>
          <p:cNvSpPr/>
          <p:nvPr/>
        </p:nvSpPr>
        <p:spPr>
          <a:xfrm>
            <a:off x="548640" y="4297680"/>
            <a:ext cx="5410048" cy="1325880"/>
          </a:xfrm>
          <a:prstGeom prst="roundRect">
            <a:avLst>
              <a:gd name="adj" fmla="val 8276"/>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5" name="number badge"/>
          <p:cNvSpPr txBox="1"/>
          <p:nvPr/>
        </p:nvSpPr>
        <p:spPr>
          <a:xfrm>
            <a:off x="822960" y="4686300"/>
            <a:ext cx="548640" cy="548640"/>
          </a:xfrm>
          <a:prstGeom prst="ellipse">
            <a:avLst/>
          </a:prstGeom>
          <a:solidFill>
            <a:srgbClr val="B8C2C0"/>
          </a:solidFill>
          <a:ln>
            <a:solidFill>
              <a:srgbClr val="B8C2C0"/>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C</a:t>
            </a:r>
            <a:endParaRPr lang="en-US" sz="1800" dirty="0"/>
          </a:p>
        </p:txBody>
      </p:sp>
      <p:sp>
        <p:nvSpPr>
          <p:cNvPr id="16" name="Text 12"/>
          <p:cNvSpPr txBox="1"/>
          <p:nvPr/>
        </p:nvSpPr>
        <p:spPr>
          <a:xfrm>
            <a:off x="1554480" y="4297680"/>
            <a:ext cx="3626968" cy="1325880"/>
          </a:xfrm>
          <a:prstGeom prst="rect">
            <a:avLst/>
          </a:prstGeom>
          <a:noFill/>
          <a:ln/>
        </p:spPr>
        <p:txBody>
          <a:bodyPr wrap="square" lIns="0" tIns="0" rIns="0" bIns="0" rtlCol="0" anchor="ctr"/>
          <a:lstStyle/>
          <a:p>
            <a:pPr indent="0" marL="0">
              <a:buNone/>
            </a:pPr>
            <a:r>
              <a:rPr lang="en-US" sz="2000" dirty="0">
                <a:solidFill>
                  <a:srgbClr val="5B6875"/>
                </a:solidFill>
                <a:latin typeface="Calibri" pitchFamily="34" charset="0"/>
                <a:ea typeface="Calibri" pitchFamily="34" charset="-122"/>
                <a:cs typeface="Calibri" pitchFamily="34" charset="-120"/>
              </a:rPr>
              <a:t>Solar (80)</a:t>
            </a:r>
            <a:endParaRPr lang="en-US" sz="2000" dirty="0"/>
          </a:p>
        </p:txBody>
      </p:sp>
      <p:sp>
        <p:nvSpPr>
          <p:cNvPr id="17" name="option"/>
          <p:cNvSpPr/>
          <p:nvPr/>
        </p:nvSpPr>
        <p:spPr>
          <a:xfrm>
            <a:off x="6233008" y="4297680"/>
            <a:ext cx="5410048" cy="1325880"/>
          </a:xfrm>
          <a:prstGeom prst="roundRect">
            <a:avLst>
              <a:gd name="adj" fmla="val 8276"/>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8" name="number badge"/>
          <p:cNvSpPr txBox="1"/>
          <p:nvPr/>
        </p:nvSpPr>
        <p:spPr>
          <a:xfrm>
            <a:off x="6507328" y="4686300"/>
            <a:ext cx="548640" cy="548640"/>
          </a:xfrm>
          <a:prstGeom prst="ellipse">
            <a:avLst/>
          </a:prstGeom>
          <a:solidFill>
            <a:srgbClr val="B8C2C0"/>
          </a:solidFill>
          <a:ln>
            <a:solidFill>
              <a:srgbClr val="B8C2C0"/>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D</a:t>
            </a:r>
            <a:endParaRPr lang="en-US" sz="1800" dirty="0"/>
          </a:p>
        </p:txBody>
      </p:sp>
      <p:sp>
        <p:nvSpPr>
          <p:cNvPr id="19" name="Text 15"/>
          <p:cNvSpPr txBox="1"/>
          <p:nvPr/>
        </p:nvSpPr>
        <p:spPr>
          <a:xfrm>
            <a:off x="7238848" y="4297680"/>
            <a:ext cx="3626968" cy="1325880"/>
          </a:xfrm>
          <a:prstGeom prst="rect">
            <a:avLst/>
          </a:prstGeom>
          <a:noFill/>
          <a:ln/>
        </p:spPr>
        <p:txBody>
          <a:bodyPr wrap="square" lIns="0" tIns="0" rIns="0" bIns="0" rtlCol="0" anchor="ctr"/>
          <a:lstStyle/>
          <a:p>
            <a:pPr indent="0" marL="0">
              <a:buNone/>
            </a:pPr>
            <a:r>
              <a:rPr lang="en-US" sz="2000" dirty="0">
                <a:solidFill>
                  <a:srgbClr val="5B6875"/>
                </a:solidFill>
                <a:latin typeface="Calibri" pitchFamily="34" charset="0"/>
                <a:ea typeface="Calibri" pitchFamily="34" charset="-122"/>
                <a:cs typeface="Calibri" pitchFamily="34" charset="-120"/>
              </a:rPr>
              <a:t>They all cost the same</a:t>
            </a:r>
            <a:endParaRPr lang="en-US" sz="2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COMPARE</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Who pays the carbon tax?</a:t>
            </a:r>
            <a:endParaRPr lang="en-US" sz="3200" dirty="0"/>
          </a:p>
        </p:txBody>
      </p:sp>
      <p:sp>
        <p:nvSpPr>
          <p:cNvPr id="5" name="compare card"/>
          <p:cNvSpPr/>
          <p:nvPr/>
        </p:nvSpPr>
        <p:spPr>
          <a:xfrm>
            <a:off x="548640" y="1554480"/>
            <a:ext cx="5135728" cy="4526280"/>
          </a:xfrm>
          <a:prstGeom prst="roundRect">
            <a:avLst>
              <a:gd name="adj" fmla="val 2424"/>
            </a:avLst>
          </a:prstGeom>
          <a:solidFill>
            <a:srgbClr val="F7FAF9"/>
          </a:solidFill>
          <a:ln w="12700">
            <a:solidFill>
              <a:srgbClr val="F7FAF9"/>
            </a:solidFill>
            <a:prstDash val="solid"/>
          </a:ln>
        </p:spPr>
      </p:sp>
      <p:sp>
        <p:nvSpPr>
          <p:cNvPr id="6" name="Text 3"/>
          <p:cNvSpPr txBox="1"/>
          <p:nvPr/>
        </p:nvSpPr>
        <p:spPr>
          <a:xfrm>
            <a:off x="868680" y="1783080"/>
            <a:ext cx="4587088" cy="548640"/>
          </a:xfrm>
          <a:prstGeom prst="rect">
            <a:avLst/>
          </a:prstGeom>
          <a:noFill/>
          <a:ln/>
        </p:spPr>
        <p:txBody>
          <a:bodyPr wrap="square" lIns="0" tIns="0" rIns="0" bIns="0" rtlCol="0" anchor="t"/>
          <a:lstStyle/>
          <a:p>
            <a:pPr indent="0" marL="0">
              <a:buNone/>
            </a:pPr>
            <a:r>
              <a:rPr lang="en-US" sz="2200" b="1" dirty="0">
                <a:solidFill>
                  <a:srgbClr val="5B6875"/>
                </a:solidFill>
                <a:latin typeface="Cambria" pitchFamily="34" charset="0"/>
                <a:ea typeface="Cambria" pitchFamily="34" charset="-122"/>
                <a:cs typeface="Cambria" pitchFamily="34" charset="-120"/>
              </a:rPr>
              <a:t>Before the tax</a:t>
            </a:r>
            <a:endParaRPr lang="en-US" sz="2200" dirty="0"/>
          </a:p>
        </p:txBody>
      </p:sp>
      <p:sp>
        <p:nvSpPr>
          <p:cNvPr id="7" name="Text 4"/>
          <p:cNvSpPr txBox="1"/>
          <p:nvPr/>
        </p:nvSpPr>
        <p:spPr>
          <a:xfrm>
            <a:off x="868680" y="2468880"/>
            <a:ext cx="4495648" cy="3429000"/>
          </a:xfrm>
          <a:prstGeom prst="rect">
            <a:avLst/>
          </a:prstGeom>
          <a:noFill/>
          <a:ln/>
        </p:spPr>
        <p:txBody>
          <a:bodyPr wrap="square" lIns="0" tIns="0" rIns="0" bIns="0" rtlCol="0" anchor="t"/>
          <a:lstStyle/>
          <a:p>
            <a:pPr marL="228600" indent="-228600">
              <a:spcAft>
                <a:spcPts val="1000"/>
              </a:spcAft>
              <a:buSzPct val="100000"/>
              <a:buChar char="•"/>
            </a:pPr>
            <a:r>
              <a:rPr lang="en-US" sz="2400" dirty="0">
                <a:solidFill>
                  <a:srgbClr val="1F2933"/>
                </a:solidFill>
                <a:latin typeface="Calibri" pitchFamily="34" charset="0"/>
                <a:ea typeface="Calibri" pitchFamily="34" charset="-122"/>
                <a:cs typeface="Calibri" pitchFamily="34" charset="-120"/>
              </a:rPr>
              <a:t>Price: 100 $/MWh</a:t>
            </a:r>
            <a:endParaRPr lang="en-US" sz="2400" dirty="0"/>
          </a:p>
          <a:p>
            <a:pPr marL="228600" indent="-228600">
              <a:spcAft>
                <a:spcPts val="1000"/>
              </a:spcAft>
              <a:buSzPct val="100000"/>
              <a:buChar char="•"/>
            </a:pPr>
            <a:r>
              <a:rPr lang="en-US" sz="2400" dirty="0">
                <a:solidFill>
                  <a:srgbClr val="1F2933"/>
                </a:solidFill>
                <a:latin typeface="Calibri" pitchFamily="34" charset="0"/>
                <a:ea typeface="Calibri" pitchFamily="34" charset="-122"/>
                <a:cs typeface="Calibri" pitchFamily="34" charset="-120"/>
              </a:rPr>
              <a:t>Quantity sold: 600 MWh</a:t>
            </a:r>
            <a:endParaRPr lang="en-US" sz="2400" dirty="0"/>
          </a:p>
          <a:p>
            <a:pPr marL="228600" indent="-228600">
              <a:spcAft>
                <a:spcPts val="1000"/>
              </a:spcAft>
              <a:buSzPct val="100000"/>
              <a:buChar char="•"/>
            </a:pPr>
            <a:r>
              <a:rPr lang="en-US" sz="2400" dirty="0">
                <a:solidFill>
                  <a:srgbClr val="1F2933"/>
                </a:solidFill>
                <a:latin typeface="Calibri" pitchFamily="34" charset="0"/>
                <a:ea typeface="Calibri" pitchFamily="34" charset="-122"/>
                <a:cs typeface="Calibri" pitchFamily="34" charset="-120"/>
              </a:rPr>
              <a:t>No carbon charge</a:t>
            </a:r>
            <a:endParaRPr lang="en-US" sz="2400" dirty="0"/>
          </a:p>
        </p:txBody>
      </p:sp>
      <p:sp>
        <p:nvSpPr>
          <p:cNvPr id="8" name="compare card"/>
          <p:cNvSpPr/>
          <p:nvPr/>
        </p:nvSpPr>
        <p:spPr>
          <a:xfrm>
            <a:off x="6507328" y="1554480"/>
            <a:ext cx="5135728" cy="4526280"/>
          </a:xfrm>
          <a:prstGeom prst="roundRect">
            <a:avLst>
              <a:gd name="adj" fmla="val 2424"/>
            </a:avLst>
          </a:prstGeom>
          <a:solidFill>
            <a:srgbClr val="E6F2F0"/>
          </a:solidFill>
          <a:ln w="12700">
            <a:solidFill>
              <a:srgbClr val="E6F2F0"/>
            </a:solidFill>
            <a:prstDash val="solid"/>
          </a:ln>
        </p:spPr>
      </p:sp>
      <p:sp>
        <p:nvSpPr>
          <p:cNvPr id="9" name="Text 6"/>
          <p:cNvSpPr txBox="1"/>
          <p:nvPr/>
        </p:nvSpPr>
        <p:spPr>
          <a:xfrm>
            <a:off x="6827368" y="1783080"/>
            <a:ext cx="4587088" cy="548640"/>
          </a:xfrm>
          <a:prstGeom prst="rect">
            <a:avLst/>
          </a:prstGeom>
          <a:noFill/>
          <a:ln/>
        </p:spPr>
        <p:txBody>
          <a:bodyPr wrap="square" lIns="0" tIns="0" rIns="0" bIns="0" rtlCol="0" anchor="t"/>
          <a:lstStyle/>
          <a:p>
            <a:pPr indent="0" marL="0">
              <a:buNone/>
            </a:pPr>
            <a:r>
              <a:rPr lang="en-US" sz="2200" b="1" dirty="0">
                <a:solidFill>
                  <a:srgbClr val="0B5550"/>
                </a:solidFill>
                <a:latin typeface="Cambria" pitchFamily="34" charset="0"/>
                <a:ea typeface="Cambria" pitchFamily="34" charset="-122"/>
                <a:cs typeface="Cambria" pitchFamily="34" charset="-120"/>
              </a:rPr>
              <a:t>With $50/tCO2 (coal supply)</a:t>
            </a:r>
            <a:endParaRPr lang="en-US" sz="2200" dirty="0"/>
          </a:p>
        </p:txBody>
      </p:sp>
      <p:sp>
        <p:nvSpPr>
          <p:cNvPr id="10" name="Text 7"/>
          <p:cNvSpPr txBox="1"/>
          <p:nvPr/>
        </p:nvSpPr>
        <p:spPr>
          <a:xfrm>
            <a:off x="6827368" y="2468880"/>
            <a:ext cx="4495648" cy="3429000"/>
          </a:xfrm>
          <a:prstGeom prst="rect">
            <a:avLst/>
          </a:prstGeom>
          <a:noFill/>
          <a:ln/>
        </p:spPr>
        <p:txBody>
          <a:bodyPr wrap="square" lIns="0" tIns="0" rIns="0" bIns="0" rtlCol="0" anchor="t"/>
          <a:lstStyle/>
          <a:p>
            <a:pPr marL="228600" indent="-228600">
              <a:spcAft>
                <a:spcPts val="1000"/>
              </a:spcAft>
              <a:buSzPct val="100000"/>
              <a:buChar char="•"/>
            </a:pPr>
            <a:r>
              <a:rPr lang="en-US" sz="2400" dirty="0">
                <a:solidFill>
                  <a:srgbClr val="1F2933"/>
                </a:solidFill>
                <a:latin typeface="Calibri" pitchFamily="34" charset="0"/>
                <a:ea typeface="Calibri" pitchFamily="34" charset="-122"/>
                <a:cs typeface="Calibri" pitchFamily="34" charset="-120"/>
              </a:rPr>
              <a:t>Price rises to about 127</a:t>
            </a:r>
            <a:endParaRPr lang="en-US" sz="2400" dirty="0"/>
          </a:p>
          <a:p>
            <a:pPr marL="228600" indent="-228600">
              <a:spcAft>
                <a:spcPts val="1000"/>
              </a:spcAft>
              <a:buSzPct val="100000"/>
              <a:buChar char="•"/>
            </a:pPr>
            <a:r>
              <a:rPr lang="en-US" sz="2400" dirty="0">
                <a:solidFill>
                  <a:srgbClr val="1F2933"/>
                </a:solidFill>
                <a:latin typeface="Calibri" pitchFamily="34" charset="0"/>
                <a:ea typeface="Calibri" pitchFamily="34" charset="-122"/>
                <a:cs typeface="Calibri" pitchFamily="34" charset="-120"/>
              </a:rPr>
              <a:t>Quantity falls to about 492</a:t>
            </a:r>
            <a:endParaRPr lang="en-US" sz="2400" dirty="0"/>
          </a:p>
          <a:p>
            <a:pPr marL="228600" indent="-228600">
              <a:spcAft>
                <a:spcPts val="1000"/>
              </a:spcAft>
              <a:buSzPct val="100000"/>
              <a:buChar char="•"/>
            </a:pPr>
            <a:r>
              <a:rPr lang="en-US" sz="2400" dirty="0">
                <a:solidFill>
                  <a:srgbClr val="1F2933"/>
                </a:solidFill>
                <a:latin typeface="Calibri" pitchFamily="34" charset="0"/>
                <a:ea typeface="Calibri" pitchFamily="34" charset="-122"/>
                <a:cs typeface="Calibri" pitchFamily="34" charset="-120"/>
              </a:rPr>
              <a:t>Tax per MWh is 45, but price rises only 27, so sellers absorb 18</a:t>
            </a:r>
            <a:endParaRPr lang="en-US" sz="2400" dirty="0"/>
          </a:p>
        </p:txBody>
      </p:sp>
      <p:sp>
        <p:nvSpPr>
          <p:cNvPr id="11" name="icon circle"/>
          <p:cNvSpPr/>
          <p:nvPr/>
        </p:nvSpPr>
        <p:spPr>
          <a:xfrm>
            <a:off x="5794096" y="3515868"/>
            <a:ext cx="603504" cy="603504"/>
          </a:xfrm>
          <a:prstGeom prst="ellipse">
            <a:avLst/>
          </a:prstGeom>
          <a:solidFill>
            <a:srgbClr val="C2410C"/>
          </a:solidFill>
          <a:ln w="12700">
            <a:solidFill>
              <a:srgbClr val="C2410C"/>
            </a:solidFill>
            <a:prstDash val="solid"/>
          </a:ln>
        </p:spPr>
      </p:sp>
      <p:pic>
        <p:nvPicPr>
          <p:cNvPr id="12" name="icon" descr="preencoded.png">    </p:cNvPr>
          <p:cNvPicPr>
            <a:picLocks noChangeAspect="1"/>
          </p:cNvPicPr>
          <p:nvPr/>
        </p:nvPicPr>
        <p:blipFill>
          <a:blip r:embed="rId1"/>
          <a:stretch>
            <a:fillRect/>
          </a:stretch>
        </p:blipFill>
        <p:spPr>
          <a:xfrm>
            <a:off x="5951007" y="3672779"/>
            <a:ext cx="289682" cy="289682"/>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AN EVERYDAY PICTURE</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2600" b="1" dirty="0">
                <a:solidFill>
                  <a:srgbClr val="12263A"/>
                </a:solidFill>
                <a:latin typeface="Cambria" pitchFamily="34" charset="0"/>
                <a:ea typeface="Cambria" pitchFamily="34" charset="-122"/>
                <a:cs typeface="Cambria" pitchFamily="34" charset="-120"/>
              </a:rPr>
              <a:t>Discounting: a dollar today is worth more than a dollar later</a:t>
            </a:r>
            <a:endParaRPr lang="en-US" sz="2600" dirty="0"/>
          </a:p>
        </p:txBody>
      </p:sp>
      <p:sp>
        <p:nvSpPr>
          <p:cNvPr id="5" name="analogy card"/>
          <p:cNvSpPr/>
          <p:nvPr/>
        </p:nvSpPr>
        <p:spPr>
          <a:xfrm>
            <a:off x="548640" y="1600200"/>
            <a:ext cx="6675120" cy="4434840"/>
          </a:xfrm>
          <a:prstGeom prst="roundRect">
            <a:avLst>
              <a:gd name="adj" fmla="val 2474"/>
            </a:avLst>
          </a:prstGeom>
          <a:solidFill>
            <a:srgbClr val="E6F2F0"/>
          </a:solidFill>
          <a:ln w="12700">
            <a:solidFill>
              <a:srgbClr val="E6F2F0"/>
            </a:solidFill>
            <a:prstDash val="solid"/>
          </a:ln>
        </p:spPr>
      </p:sp>
      <p:sp>
        <p:nvSpPr>
          <p:cNvPr id="6" name="icon circle"/>
          <p:cNvSpPr/>
          <p:nvPr/>
        </p:nvSpPr>
        <p:spPr>
          <a:xfrm>
            <a:off x="868680" y="1874520"/>
            <a:ext cx="777240" cy="777240"/>
          </a:xfrm>
          <a:prstGeom prst="ellipse">
            <a:avLst/>
          </a:prstGeom>
          <a:solidFill>
            <a:srgbClr val="0F766E"/>
          </a:solidFill>
          <a:ln w="12700">
            <a:solidFill>
              <a:srgbClr val="0F766E"/>
            </a:solidFill>
            <a:prstDash val="solid"/>
          </a:ln>
        </p:spPr>
      </p:sp>
      <p:pic>
        <p:nvPicPr>
          <p:cNvPr id="7" name="icon" descr="preencoded.png">    </p:cNvPr>
          <p:cNvPicPr>
            <a:picLocks noChangeAspect="1"/>
          </p:cNvPicPr>
          <p:nvPr/>
        </p:nvPicPr>
        <p:blipFill>
          <a:blip r:embed="rId1"/>
          <a:stretch>
            <a:fillRect/>
          </a:stretch>
        </p:blipFill>
        <p:spPr>
          <a:xfrm>
            <a:off x="1070762" y="2076602"/>
            <a:ext cx="373075" cy="373075"/>
          </a:xfrm>
          <a:prstGeom prst="rect">
            <a:avLst/>
          </a:prstGeom>
        </p:spPr>
      </p:pic>
      <p:sp>
        <p:nvSpPr>
          <p:cNvPr id="8" name="Text 4"/>
          <p:cNvSpPr txBox="1"/>
          <p:nvPr/>
        </p:nvSpPr>
        <p:spPr>
          <a:xfrm>
            <a:off x="868680" y="2834640"/>
            <a:ext cx="6035040" cy="3063240"/>
          </a:xfrm>
          <a:prstGeom prst="rect">
            <a:avLst/>
          </a:prstGeom>
          <a:noFill/>
          <a:ln/>
        </p:spPr>
        <p:txBody>
          <a:bodyPr wrap="square" lIns="0" tIns="0" rIns="0" bIns="0" rtlCol="0" anchor="t"/>
          <a:lstStyle/>
          <a:p>
            <a:pPr indent="0" marL="0">
              <a:buNone/>
            </a:pPr>
            <a:r>
              <a:rPr lang="en-US" sz="2600" i="1" dirty="0">
                <a:solidFill>
                  <a:srgbClr val="12263A"/>
                </a:solidFill>
                <a:latin typeface="Cambria" pitchFamily="34" charset="0"/>
                <a:ea typeface="Cambria" pitchFamily="34" charset="-122"/>
                <a:cs typeface="Cambria" pitchFamily="34" charset="-120"/>
              </a:rPr>
              <a:t>Would you rather get 100 dollars today or 100 dollars in ten years? Almost everyone says today: you could save it and earn interest, or use it now. Discounting turns that feeling into a number.</a:t>
            </a:r>
            <a:endParaRPr lang="en-US" sz="2600" dirty="0"/>
          </a:p>
        </p:txBody>
      </p:sp>
      <p:sp>
        <p:nvSpPr>
          <p:cNvPr id="9" name="Text 5"/>
          <p:cNvSpPr txBox="1"/>
          <p:nvPr/>
        </p:nvSpPr>
        <p:spPr>
          <a:xfrm>
            <a:off x="7635240" y="1737360"/>
            <a:ext cx="4007815" cy="365760"/>
          </a:xfrm>
          <a:prstGeom prst="rect">
            <a:avLst/>
          </a:prstGeom>
          <a:noFill/>
          <a:ln/>
        </p:spPr>
        <p:txBody>
          <a:bodyPr wrap="square" lIns="0" tIns="0" rIns="0" bIns="0" rtlCol="0" anchor="t"/>
          <a:lstStyle/>
          <a:p>
            <a:pPr indent="0" marL="0">
              <a:buNone/>
            </a:pPr>
            <a:r>
              <a:rPr lang="en-US" sz="1600" b="1" dirty="0">
                <a:solidFill>
                  <a:srgbClr val="5B6875"/>
                </a:solidFill>
                <a:latin typeface="Calibri" pitchFamily="34" charset="0"/>
                <a:ea typeface="Calibri" pitchFamily="34" charset="-122"/>
                <a:cs typeface="Calibri" pitchFamily="34" charset="-120"/>
              </a:rPr>
              <a:t>What it means for models</a:t>
            </a:r>
            <a:endParaRPr lang="en-US" sz="1600" dirty="0"/>
          </a:p>
        </p:txBody>
      </p:sp>
      <p:sp>
        <p:nvSpPr>
          <p:cNvPr id="10" name="number badge"/>
          <p:cNvSpPr txBox="1"/>
          <p:nvPr/>
        </p:nvSpPr>
        <p:spPr>
          <a:xfrm>
            <a:off x="7635240" y="2286000"/>
            <a:ext cx="457200" cy="45720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11" name="Text 7"/>
          <p:cNvSpPr txBox="1"/>
          <p:nvPr/>
        </p:nvSpPr>
        <p:spPr>
          <a:xfrm>
            <a:off x="8275320" y="2267712"/>
            <a:ext cx="3367735" cy="1249680"/>
          </a:xfrm>
          <a:prstGeom prst="rect">
            <a:avLst/>
          </a:prstGeom>
          <a:noFill/>
          <a:ln/>
        </p:spPr>
        <p:txBody>
          <a:bodyPr wrap="square" lIns="0" tIns="0" rIns="0" bIns="0" rtlCol="0" anchor="t"/>
          <a:lstStyle/>
          <a:p>
            <a:pPr indent="0" marL="0">
              <a:buNone/>
            </a:pPr>
            <a:r>
              <a:rPr lang="en-US" sz="2200" dirty="0">
                <a:solidFill>
                  <a:srgbClr val="1F2933"/>
                </a:solidFill>
                <a:latin typeface="Calibri" pitchFamily="34" charset="0"/>
                <a:ea typeface="Calibri" pitchFamily="34" charset="-122"/>
                <a:cs typeface="Calibri" pitchFamily="34" charset="-120"/>
              </a:rPr>
              <a:t>Present value = future amount ÷ (1 + r)^years</a:t>
            </a:r>
            <a:endParaRPr lang="en-US" sz="2200" dirty="0"/>
          </a:p>
        </p:txBody>
      </p:sp>
      <p:sp>
        <p:nvSpPr>
          <p:cNvPr id="12" name="number badge"/>
          <p:cNvSpPr txBox="1"/>
          <p:nvPr/>
        </p:nvSpPr>
        <p:spPr>
          <a:xfrm>
            <a:off x="7635240" y="3627120"/>
            <a:ext cx="457200" cy="45720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3" name="Text 9"/>
          <p:cNvSpPr txBox="1"/>
          <p:nvPr/>
        </p:nvSpPr>
        <p:spPr>
          <a:xfrm>
            <a:off x="8275320" y="3608832"/>
            <a:ext cx="3367735" cy="1249680"/>
          </a:xfrm>
          <a:prstGeom prst="rect">
            <a:avLst/>
          </a:prstGeom>
          <a:noFill/>
          <a:ln/>
        </p:spPr>
        <p:txBody>
          <a:bodyPr wrap="square" lIns="0" tIns="0" rIns="0" bIns="0" rtlCol="0" anchor="t"/>
          <a:lstStyle/>
          <a:p>
            <a:pPr indent="0" marL="0">
              <a:buNone/>
            </a:pPr>
            <a:r>
              <a:rPr lang="en-US" sz="2200" dirty="0">
                <a:solidFill>
                  <a:srgbClr val="1F2933"/>
                </a:solidFill>
                <a:latin typeface="Calibri" pitchFamily="34" charset="0"/>
                <a:ea typeface="Calibri" pitchFamily="34" charset="-122"/>
                <a:cs typeface="Calibri" pitchFamily="34" charset="-120"/>
              </a:rPr>
              <a:t>r is the discount rate</a:t>
            </a:r>
            <a:endParaRPr lang="en-US" sz="2200" dirty="0"/>
          </a:p>
        </p:txBody>
      </p:sp>
      <p:sp>
        <p:nvSpPr>
          <p:cNvPr id="14" name="number badge"/>
          <p:cNvSpPr txBox="1"/>
          <p:nvPr/>
        </p:nvSpPr>
        <p:spPr>
          <a:xfrm>
            <a:off x="7635240" y="4968240"/>
            <a:ext cx="457200" cy="45720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5" name="Text 11"/>
          <p:cNvSpPr txBox="1"/>
          <p:nvPr/>
        </p:nvSpPr>
        <p:spPr>
          <a:xfrm>
            <a:off x="8275320" y="4949952"/>
            <a:ext cx="3367735" cy="1249680"/>
          </a:xfrm>
          <a:prstGeom prst="rect">
            <a:avLst/>
          </a:prstGeom>
          <a:noFill/>
          <a:ln/>
        </p:spPr>
        <p:txBody>
          <a:bodyPr wrap="square" lIns="0" tIns="0" rIns="0" bIns="0" rtlCol="0" anchor="t"/>
          <a:lstStyle/>
          <a:p>
            <a:pPr indent="0" marL="0">
              <a:buNone/>
            </a:pPr>
            <a:r>
              <a:rPr lang="en-US" sz="2200" dirty="0">
                <a:solidFill>
                  <a:srgbClr val="1F2933"/>
                </a:solidFill>
                <a:latin typeface="Calibri" pitchFamily="34" charset="0"/>
                <a:ea typeface="Calibri" pitchFamily="34" charset="-122"/>
                <a:cs typeface="Calibri" pitchFamily="34" charset="-120"/>
              </a:rPr>
              <a:t>The further away, the smaller today's value</a:t>
            </a:r>
            <a:endParaRPr lang="en-US" sz="2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PICTURE THE NUMBERS</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2600" b="1" dirty="0">
                <a:solidFill>
                  <a:srgbClr val="12263A"/>
                </a:solidFill>
                <a:latin typeface="Cambria" pitchFamily="34" charset="0"/>
                <a:ea typeface="Cambria" pitchFamily="34" charset="-122"/>
                <a:cs typeface="Cambria" pitchFamily="34" charset="-120"/>
              </a:rPr>
              <a:t>The discount rate decides how much 2120 counts today</a:t>
            </a:r>
            <a:endParaRPr lang="en-US" sz="2600" dirty="0"/>
          </a:p>
        </p:txBody>
      </p:sp>
      <p:graphicFrame>
        <p:nvGraphicFramePr>
          <p:cNvPr id="5" name="chart" descr=""/>
          <p:cNvGraphicFramePr/>
          <p:nvPr/>
        </p:nvGraphicFramePr>
        <p:xfrm>
          <a:off x="548640" y="1554480"/>
          <a:ext cx="7223760" cy="416052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548640" y="5806440"/>
            <a:ext cx="7223760" cy="365760"/>
          </a:xfrm>
          <a:prstGeom prst="rect">
            <a:avLst/>
          </a:prstGeom>
          <a:noFill/>
          <a:ln/>
        </p:spPr>
        <p:txBody>
          <a:bodyPr wrap="square" lIns="0" tIns="0" rIns="0" bIns="0" rtlCol="0" anchor="t"/>
          <a:lstStyle/>
          <a:p>
            <a:pPr indent="0" marL="0">
              <a:buNone/>
            </a:pPr>
            <a:r>
              <a:rPr lang="en-US" sz="1100" i="1" dirty="0">
                <a:solidFill>
                  <a:srgbClr val="5B6875"/>
                </a:solidFill>
                <a:latin typeface="Calibri" pitchFamily="34" charset="0"/>
                <a:ea typeface="Calibri" pitchFamily="34" charset="-122"/>
                <a:cs typeface="Calibri" pitchFamily="34" charset="-120"/>
              </a:rPr>
              <a:t>Same future damage, thirty times smaller at 5% than at 1.5%</a:t>
            </a:r>
            <a:endParaRPr lang="en-US" sz="1100" dirty="0"/>
          </a:p>
        </p:txBody>
      </p:sp>
      <p:sp>
        <p:nvSpPr>
          <p:cNvPr id="7" name="takeaways card"/>
          <p:cNvSpPr/>
          <p:nvPr/>
        </p:nvSpPr>
        <p:spPr>
          <a:xfrm>
            <a:off x="8138160" y="1554480"/>
            <a:ext cx="3504895" cy="4526280"/>
          </a:xfrm>
          <a:prstGeom prst="roundRect">
            <a:avLst>
              <a:gd name="adj" fmla="val 3131"/>
            </a:avLst>
          </a:prstGeom>
          <a:solidFill>
            <a:srgbClr val="E6F2F0"/>
          </a:solidFill>
          <a:ln w="12700">
            <a:solidFill>
              <a:srgbClr val="E6F2F0"/>
            </a:solidFill>
            <a:prstDash val="solid"/>
          </a:ln>
        </p:spPr>
      </p:sp>
      <p:sp>
        <p:nvSpPr>
          <p:cNvPr id="8" name="Text 4"/>
          <p:cNvSpPr txBox="1"/>
          <p:nvPr/>
        </p:nvSpPr>
        <p:spPr>
          <a:xfrm>
            <a:off x="8412480" y="1783080"/>
            <a:ext cx="3047695" cy="365760"/>
          </a:xfrm>
          <a:prstGeom prst="rect">
            <a:avLst/>
          </a:prstGeom>
          <a:noFill/>
          <a:ln/>
        </p:spPr>
        <p:txBody>
          <a:bodyPr wrap="square" lIns="0" tIns="0" rIns="0" bIns="0" rtlCol="0" anchor="t"/>
          <a:lstStyle/>
          <a:p>
            <a:pPr indent="0" marL="0">
              <a:buNone/>
            </a:pPr>
            <a:r>
              <a:rPr lang="en-US" sz="1600" b="1" dirty="0">
                <a:solidFill>
                  <a:srgbClr val="0B5550"/>
                </a:solidFill>
                <a:latin typeface="Calibri" pitchFamily="34" charset="0"/>
                <a:ea typeface="Calibri" pitchFamily="34" charset="-122"/>
                <a:cs typeface="Calibri" pitchFamily="34" charset="-120"/>
              </a:rPr>
              <a:t>Read it like this</a:t>
            </a:r>
            <a:endParaRPr lang="en-US" sz="1600" dirty="0"/>
          </a:p>
        </p:txBody>
      </p:sp>
      <p:sp>
        <p:nvSpPr>
          <p:cNvPr id="9" name="number badge"/>
          <p:cNvSpPr txBox="1"/>
          <p:nvPr/>
        </p:nvSpPr>
        <p:spPr>
          <a:xfrm>
            <a:off x="8412480" y="2331720"/>
            <a:ext cx="411480" cy="41148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10" name="Text 6"/>
          <p:cNvSpPr txBox="1"/>
          <p:nvPr/>
        </p:nvSpPr>
        <p:spPr>
          <a:xfrm>
            <a:off x="8961120" y="2304288"/>
            <a:ext cx="2499055" cy="1127760"/>
          </a:xfrm>
          <a:prstGeom prst="rect">
            <a:avLst/>
          </a:prstGeom>
          <a:noFill/>
          <a:ln/>
        </p:spPr>
        <p:txBody>
          <a:bodyPr wrap="square" lIns="0" tIns="0" rIns="0" bIns="0" rtlCol="0" anchor="t"/>
          <a:lstStyle/>
          <a:p>
            <a:pPr indent="0" marL="0">
              <a:buNone/>
            </a:pPr>
            <a:r>
              <a:rPr lang="en-US" sz="2000" dirty="0">
                <a:solidFill>
                  <a:srgbClr val="1F2933"/>
                </a:solidFill>
                <a:latin typeface="Calibri" pitchFamily="34" charset="0"/>
                <a:ea typeface="Calibri" pitchFamily="34" charset="-122"/>
                <a:cs typeface="Calibri" pitchFamily="34" charset="-120"/>
              </a:rPr>
              <a:t>At 1.5%: 100 ÷ 1.015^100 ≈ 22.6</a:t>
            </a:r>
            <a:endParaRPr lang="en-US" sz="2000" dirty="0"/>
          </a:p>
        </p:txBody>
      </p:sp>
      <p:sp>
        <p:nvSpPr>
          <p:cNvPr id="11" name="number badge"/>
          <p:cNvSpPr txBox="1"/>
          <p:nvPr/>
        </p:nvSpPr>
        <p:spPr>
          <a:xfrm>
            <a:off x="8412480" y="3550920"/>
            <a:ext cx="411480" cy="41148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2" name="Text 8"/>
          <p:cNvSpPr txBox="1"/>
          <p:nvPr/>
        </p:nvSpPr>
        <p:spPr>
          <a:xfrm>
            <a:off x="8961120" y="3523488"/>
            <a:ext cx="2499055" cy="1127760"/>
          </a:xfrm>
          <a:prstGeom prst="rect">
            <a:avLst/>
          </a:prstGeom>
          <a:noFill/>
          <a:ln/>
        </p:spPr>
        <p:txBody>
          <a:bodyPr wrap="square" lIns="0" tIns="0" rIns="0" bIns="0" rtlCol="0" anchor="t"/>
          <a:lstStyle/>
          <a:p>
            <a:pPr indent="0" marL="0">
              <a:buNone/>
            </a:pPr>
            <a:r>
              <a:rPr lang="en-US" sz="2000" dirty="0">
                <a:solidFill>
                  <a:srgbClr val="1F2933"/>
                </a:solidFill>
                <a:latin typeface="Calibri" pitchFamily="34" charset="0"/>
                <a:ea typeface="Calibri" pitchFamily="34" charset="-122"/>
                <a:cs typeface="Calibri" pitchFamily="34" charset="-120"/>
              </a:rPr>
              <a:t>At 3%: 100 ÷ 1.03^100 ≈ 5.2</a:t>
            </a:r>
            <a:endParaRPr lang="en-US" sz="2000" dirty="0"/>
          </a:p>
        </p:txBody>
      </p:sp>
      <p:sp>
        <p:nvSpPr>
          <p:cNvPr id="13" name="number badge"/>
          <p:cNvSpPr txBox="1"/>
          <p:nvPr/>
        </p:nvSpPr>
        <p:spPr>
          <a:xfrm>
            <a:off x="8412480" y="4770120"/>
            <a:ext cx="411480" cy="41148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0"/>
          <p:cNvSpPr txBox="1"/>
          <p:nvPr/>
        </p:nvSpPr>
        <p:spPr>
          <a:xfrm>
            <a:off x="8961120" y="4742688"/>
            <a:ext cx="2499055" cy="1127760"/>
          </a:xfrm>
          <a:prstGeom prst="rect">
            <a:avLst/>
          </a:prstGeom>
          <a:noFill/>
          <a:ln/>
        </p:spPr>
        <p:txBody>
          <a:bodyPr wrap="square" lIns="0" tIns="0" rIns="0" bIns="0" rtlCol="0" anchor="t"/>
          <a:lstStyle/>
          <a:p>
            <a:pPr indent="0" marL="0">
              <a:buNone/>
            </a:pPr>
            <a:r>
              <a:rPr lang="en-US" sz="2000" dirty="0">
                <a:solidFill>
                  <a:srgbClr val="1F2933"/>
                </a:solidFill>
                <a:latin typeface="Calibri" pitchFamily="34" charset="0"/>
                <a:ea typeface="Calibri" pitchFamily="34" charset="-122"/>
                <a:cs typeface="Calibri" pitchFamily="34" charset="-120"/>
              </a:rPr>
              <a:t>At 5%: 100 ÷ 1.05^100 ≈ 0.76</a:t>
            </a:r>
            <a:endParaRPr lang="en-US" sz="2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B91C1C"/>
                </a:solidFill>
                <a:latin typeface="Calibri" pitchFamily="34" charset="0"/>
                <a:ea typeface="Calibri" pitchFamily="34" charset="-122"/>
                <a:cs typeface="Calibri" pitchFamily="34" charset="-120"/>
              </a:rPr>
              <a:t>WATCH OUT</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Common mix-ups</a:t>
            </a:r>
            <a:endParaRPr lang="en-US" sz="3200" dirty="0"/>
          </a:p>
        </p:txBody>
      </p:sp>
      <p:sp>
        <p:nvSpPr>
          <p:cNvPr id="5" name="Text 2"/>
          <p:cNvSpPr txBox="1"/>
          <p:nvPr/>
        </p:nvSpPr>
        <p:spPr>
          <a:xfrm>
            <a:off x="1143000" y="1508760"/>
            <a:ext cx="2743200" cy="320040"/>
          </a:xfrm>
          <a:prstGeom prst="rect">
            <a:avLst/>
          </a:prstGeom>
          <a:noFill/>
          <a:ln/>
        </p:spPr>
        <p:txBody>
          <a:bodyPr wrap="square" lIns="0" tIns="0" rIns="0" bIns="0" rtlCol="0" anchor="t"/>
          <a:lstStyle/>
          <a:p>
            <a:pPr indent="0" marL="0">
              <a:buNone/>
            </a:pPr>
            <a:r>
              <a:rPr lang="en-US" sz="1400" b="1" dirty="0">
                <a:solidFill>
                  <a:srgbClr val="B91C1C"/>
                </a:solidFill>
                <a:latin typeface="Calibri" pitchFamily="34" charset="0"/>
                <a:ea typeface="Calibri" pitchFamily="34" charset="-122"/>
                <a:cs typeface="Calibri" pitchFamily="34" charset="-120"/>
              </a:rPr>
              <a:t>Not quite</a:t>
            </a:r>
            <a:endParaRPr lang="en-US" sz="1400" dirty="0"/>
          </a:p>
        </p:txBody>
      </p:sp>
      <p:sp>
        <p:nvSpPr>
          <p:cNvPr id="6" name="Text 3"/>
          <p:cNvSpPr txBox="1"/>
          <p:nvPr/>
        </p:nvSpPr>
        <p:spPr>
          <a:xfrm>
            <a:off x="6827368" y="1508760"/>
            <a:ext cx="2743200" cy="320040"/>
          </a:xfrm>
          <a:prstGeom prst="rect">
            <a:avLst/>
          </a:prstGeom>
          <a:noFill/>
          <a:ln/>
        </p:spPr>
        <p:txBody>
          <a:bodyPr wrap="square" lIns="0" tIns="0" rIns="0" bIns="0" rtlCol="0" anchor="t"/>
          <a:lstStyle/>
          <a:p>
            <a:pPr indent="0" marL="0">
              <a:buNone/>
            </a:pPr>
            <a:r>
              <a:rPr lang="en-US" sz="1400" b="1" dirty="0">
                <a:solidFill>
                  <a:srgbClr val="15803D"/>
                </a:solidFill>
                <a:latin typeface="Calibri" pitchFamily="34" charset="0"/>
                <a:ea typeface="Calibri" pitchFamily="34" charset="-122"/>
                <a:cs typeface="Calibri" pitchFamily="34" charset="-120"/>
              </a:rPr>
              <a:t>Better</a:t>
            </a:r>
            <a:endParaRPr lang="en-US" sz="1400" dirty="0"/>
          </a:p>
        </p:txBody>
      </p:sp>
      <p:sp>
        <p:nvSpPr>
          <p:cNvPr id="7" name="wrong card"/>
          <p:cNvSpPr/>
          <p:nvPr/>
        </p:nvSpPr>
        <p:spPr>
          <a:xfrm>
            <a:off x="548640" y="1920240"/>
            <a:ext cx="5410048" cy="1249680"/>
          </a:xfrm>
          <a:prstGeom prst="roundRect">
            <a:avLst>
              <a:gd name="adj" fmla="val 8780"/>
            </a:avLst>
          </a:prstGeom>
          <a:solidFill>
            <a:srgbClr val="FDECEC"/>
          </a:solidFill>
          <a:ln w="12700">
            <a:solidFill>
              <a:srgbClr val="FDECEC"/>
            </a:solidFill>
            <a:prstDash val="solid"/>
          </a:ln>
        </p:spPr>
      </p:sp>
      <p:sp>
        <p:nvSpPr>
          <p:cNvPr id="8" name="right card"/>
          <p:cNvSpPr/>
          <p:nvPr/>
        </p:nvSpPr>
        <p:spPr>
          <a:xfrm>
            <a:off x="6233008" y="1920240"/>
            <a:ext cx="5410048" cy="1249680"/>
          </a:xfrm>
          <a:prstGeom prst="roundRect">
            <a:avLst>
              <a:gd name="adj" fmla="val 8780"/>
            </a:avLst>
          </a:prstGeom>
          <a:solidFill>
            <a:srgbClr val="E7F5EC"/>
          </a:solidFill>
          <a:ln w="12700">
            <a:solidFill>
              <a:srgbClr val="E7F5EC"/>
            </a:solidFill>
            <a:prstDash val="solid"/>
          </a:ln>
        </p:spPr>
      </p:sp>
      <p:sp>
        <p:nvSpPr>
          <p:cNvPr id="9" name="icon circle"/>
          <p:cNvSpPr/>
          <p:nvPr/>
        </p:nvSpPr>
        <p:spPr>
          <a:xfrm>
            <a:off x="685800" y="2339340"/>
            <a:ext cx="411480" cy="411480"/>
          </a:xfrm>
          <a:prstGeom prst="ellipse">
            <a:avLst/>
          </a:prstGeom>
          <a:solidFill>
            <a:srgbClr val="B91C1C"/>
          </a:solidFill>
          <a:ln w="12700">
            <a:solidFill>
              <a:srgbClr val="B91C1C"/>
            </a:solidFill>
            <a:prstDash val="solid"/>
          </a:ln>
        </p:spPr>
      </p:sp>
      <p:pic>
        <p:nvPicPr>
          <p:cNvPr id="10" name="icon" descr="preencoded.png">    </p:cNvPr>
          <p:cNvPicPr>
            <a:picLocks noChangeAspect="1"/>
          </p:cNvPicPr>
          <p:nvPr/>
        </p:nvPicPr>
        <p:blipFill>
          <a:blip r:embed="rId1"/>
          <a:stretch>
            <a:fillRect/>
          </a:stretch>
        </p:blipFill>
        <p:spPr>
          <a:xfrm>
            <a:off x="792785" y="2446325"/>
            <a:ext cx="197510" cy="197510"/>
          </a:xfrm>
          <a:prstGeom prst="rect">
            <a:avLst/>
          </a:prstGeom>
        </p:spPr>
      </p:pic>
      <p:sp>
        <p:nvSpPr>
          <p:cNvPr id="11" name="icon circle"/>
          <p:cNvSpPr/>
          <p:nvPr/>
        </p:nvSpPr>
        <p:spPr>
          <a:xfrm>
            <a:off x="6370168" y="2339340"/>
            <a:ext cx="411480" cy="411480"/>
          </a:xfrm>
          <a:prstGeom prst="ellipse">
            <a:avLst/>
          </a:prstGeom>
          <a:solidFill>
            <a:srgbClr val="15803D"/>
          </a:solidFill>
          <a:ln w="12700">
            <a:solidFill>
              <a:srgbClr val="15803D"/>
            </a:solidFill>
            <a:prstDash val="solid"/>
          </a:ln>
        </p:spPr>
      </p:sp>
      <p:pic>
        <p:nvPicPr>
          <p:cNvPr id="12" name="icon" descr="preencoded.png">    </p:cNvPr>
          <p:cNvPicPr>
            <a:picLocks noChangeAspect="1"/>
          </p:cNvPicPr>
          <p:nvPr/>
        </p:nvPicPr>
        <p:blipFill>
          <a:blip r:embed="rId2"/>
          <a:stretch>
            <a:fillRect/>
          </a:stretch>
        </p:blipFill>
        <p:spPr>
          <a:xfrm>
            <a:off x="6477152" y="2446325"/>
            <a:ext cx="197510" cy="197510"/>
          </a:xfrm>
          <a:prstGeom prst="rect">
            <a:avLst/>
          </a:prstGeom>
        </p:spPr>
      </p:pic>
      <p:sp>
        <p:nvSpPr>
          <p:cNvPr id="13" name="Text 8"/>
          <p:cNvSpPr txBox="1"/>
          <p:nvPr/>
        </p:nvSpPr>
        <p:spPr>
          <a:xfrm>
            <a:off x="1234440" y="1920240"/>
            <a:ext cx="4541368" cy="1249680"/>
          </a:xfrm>
          <a:prstGeom prst="rect">
            <a:avLst/>
          </a:prstGeom>
          <a:noFill/>
          <a:ln/>
        </p:spPr>
        <p:txBody>
          <a:bodyPr wrap="square" lIns="0" tIns="0" rIns="0" bIns="0" rtlCol="0" anchor="ctr"/>
          <a:lstStyle/>
          <a:p>
            <a:pPr indent="0" marL="0">
              <a:buNone/>
            </a:pPr>
            <a:r>
              <a:rPr lang="en-US" sz="2100" dirty="0">
                <a:solidFill>
                  <a:srgbClr val="1F2933"/>
                </a:solidFill>
                <a:latin typeface="Calibri" pitchFamily="34" charset="0"/>
                <a:ea typeface="Calibri" pitchFamily="34" charset="-122"/>
                <a:cs typeface="Calibri" pitchFamily="34" charset="-120"/>
              </a:rPr>
              <a:t>A carbon price makes every technology more expensive</a:t>
            </a:r>
            <a:endParaRPr lang="en-US" sz="2100" dirty="0"/>
          </a:p>
        </p:txBody>
      </p:sp>
      <p:sp>
        <p:nvSpPr>
          <p:cNvPr id="14" name="Text 9"/>
          <p:cNvSpPr txBox="1"/>
          <p:nvPr/>
        </p:nvSpPr>
        <p:spPr>
          <a:xfrm>
            <a:off x="6918808" y="1920240"/>
            <a:ext cx="4541368" cy="1249680"/>
          </a:xfrm>
          <a:prstGeom prst="rect">
            <a:avLst/>
          </a:prstGeom>
          <a:noFill/>
          <a:ln/>
        </p:spPr>
        <p:txBody>
          <a:bodyPr wrap="square" lIns="0" tIns="0" rIns="0" bIns="0" rtlCol="0" anchor="ctr"/>
          <a:lstStyle/>
          <a:p>
            <a:pPr indent="0" marL="0">
              <a:buNone/>
            </a:pPr>
            <a:r>
              <a:rPr lang="en-US" sz="2100" dirty="0">
                <a:solidFill>
                  <a:srgbClr val="1F2933"/>
                </a:solidFill>
                <a:latin typeface="Calibri" pitchFamily="34" charset="0"/>
                <a:ea typeface="Calibri" pitchFamily="34" charset="-122"/>
                <a:cs typeface="Calibri" pitchFamily="34" charset="-120"/>
              </a:rPr>
              <a:t>Only options that emit. Solar's cost is unchanged because its emission factor is zero.</a:t>
            </a:r>
            <a:endParaRPr lang="en-US" sz="2100" dirty="0"/>
          </a:p>
        </p:txBody>
      </p:sp>
      <p:sp>
        <p:nvSpPr>
          <p:cNvPr id="15" name="wrong card"/>
          <p:cNvSpPr/>
          <p:nvPr/>
        </p:nvSpPr>
        <p:spPr>
          <a:xfrm>
            <a:off x="548640" y="3398520"/>
            <a:ext cx="5410048" cy="1249680"/>
          </a:xfrm>
          <a:prstGeom prst="roundRect">
            <a:avLst>
              <a:gd name="adj" fmla="val 8780"/>
            </a:avLst>
          </a:prstGeom>
          <a:solidFill>
            <a:srgbClr val="FDECEC"/>
          </a:solidFill>
          <a:ln w="12700">
            <a:solidFill>
              <a:srgbClr val="FDECEC"/>
            </a:solidFill>
            <a:prstDash val="solid"/>
          </a:ln>
        </p:spPr>
      </p:sp>
      <p:sp>
        <p:nvSpPr>
          <p:cNvPr id="16" name="right card"/>
          <p:cNvSpPr/>
          <p:nvPr/>
        </p:nvSpPr>
        <p:spPr>
          <a:xfrm>
            <a:off x="6233008" y="3398520"/>
            <a:ext cx="5410048" cy="1249680"/>
          </a:xfrm>
          <a:prstGeom prst="roundRect">
            <a:avLst>
              <a:gd name="adj" fmla="val 8780"/>
            </a:avLst>
          </a:prstGeom>
          <a:solidFill>
            <a:srgbClr val="E7F5EC"/>
          </a:solidFill>
          <a:ln w="12700">
            <a:solidFill>
              <a:srgbClr val="E7F5EC"/>
            </a:solidFill>
            <a:prstDash val="solid"/>
          </a:ln>
        </p:spPr>
      </p:sp>
      <p:sp>
        <p:nvSpPr>
          <p:cNvPr id="17" name="icon circle"/>
          <p:cNvSpPr/>
          <p:nvPr/>
        </p:nvSpPr>
        <p:spPr>
          <a:xfrm>
            <a:off x="685800" y="3817620"/>
            <a:ext cx="411480" cy="411480"/>
          </a:xfrm>
          <a:prstGeom prst="ellipse">
            <a:avLst/>
          </a:prstGeom>
          <a:solidFill>
            <a:srgbClr val="B91C1C"/>
          </a:solidFill>
          <a:ln w="12700">
            <a:solidFill>
              <a:srgbClr val="B91C1C"/>
            </a:solidFill>
            <a:prstDash val="solid"/>
          </a:ln>
        </p:spPr>
      </p:sp>
      <p:pic>
        <p:nvPicPr>
          <p:cNvPr id="18" name="icon" descr="preencoded.png">    </p:cNvPr>
          <p:cNvPicPr>
            <a:picLocks noChangeAspect="1"/>
          </p:cNvPicPr>
          <p:nvPr/>
        </p:nvPicPr>
        <p:blipFill>
          <a:blip r:embed="rId3"/>
          <a:stretch>
            <a:fillRect/>
          </a:stretch>
        </p:blipFill>
        <p:spPr>
          <a:xfrm>
            <a:off x="792785" y="3924605"/>
            <a:ext cx="197510" cy="197510"/>
          </a:xfrm>
          <a:prstGeom prst="rect">
            <a:avLst/>
          </a:prstGeom>
        </p:spPr>
      </p:pic>
      <p:sp>
        <p:nvSpPr>
          <p:cNvPr id="19" name="icon circle"/>
          <p:cNvSpPr/>
          <p:nvPr/>
        </p:nvSpPr>
        <p:spPr>
          <a:xfrm>
            <a:off x="6370168" y="3817620"/>
            <a:ext cx="411480" cy="411480"/>
          </a:xfrm>
          <a:prstGeom prst="ellipse">
            <a:avLst/>
          </a:prstGeom>
          <a:solidFill>
            <a:srgbClr val="15803D"/>
          </a:solidFill>
          <a:ln w="12700">
            <a:solidFill>
              <a:srgbClr val="15803D"/>
            </a:solidFill>
            <a:prstDash val="solid"/>
          </a:ln>
        </p:spPr>
      </p:sp>
      <p:pic>
        <p:nvPicPr>
          <p:cNvPr id="20" name="icon" descr="preencoded.png">    </p:cNvPr>
          <p:cNvPicPr>
            <a:picLocks noChangeAspect="1"/>
          </p:cNvPicPr>
          <p:nvPr/>
        </p:nvPicPr>
        <p:blipFill>
          <a:blip r:embed="rId4"/>
          <a:stretch>
            <a:fillRect/>
          </a:stretch>
        </p:blipFill>
        <p:spPr>
          <a:xfrm>
            <a:off x="6477152" y="3924605"/>
            <a:ext cx="197510" cy="197510"/>
          </a:xfrm>
          <a:prstGeom prst="rect">
            <a:avLst/>
          </a:prstGeom>
        </p:spPr>
      </p:pic>
      <p:sp>
        <p:nvSpPr>
          <p:cNvPr id="21" name="Text 14"/>
          <p:cNvSpPr txBox="1"/>
          <p:nvPr/>
        </p:nvSpPr>
        <p:spPr>
          <a:xfrm>
            <a:off x="1234440" y="3398520"/>
            <a:ext cx="4541368" cy="1249680"/>
          </a:xfrm>
          <a:prstGeom prst="rect">
            <a:avLst/>
          </a:prstGeom>
          <a:noFill/>
          <a:ln/>
        </p:spPr>
        <p:txBody>
          <a:bodyPr wrap="square" lIns="0" tIns="0" rIns="0" bIns="0" rtlCol="0" anchor="ctr"/>
          <a:lstStyle/>
          <a:p>
            <a:pPr indent="0" marL="0">
              <a:buNone/>
            </a:pPr>
            <a:r>
              <a:rPr lang="en-US" sz="2100" dirty="0">
                <a:solidFill>
                  <a:srgbClr val="1F2933"/>
                </a:solidFill>
                <a:latin typeface="Calibri" pitchFamily="34" charset="0"/>
                <a:ea typeface="Calibri" pitchFamily="34" charset="-122"/>
                <a:cs typeface="Calibri" pitchFamily="34" charset="-120"/>
              </a:rPr>
              <a:t>The cheapest technology takes 100% of the market</a:t>
            </a:r>
            <a:endParaRPr lang="en-US" sz="2100" dirty="0"/>
          </a:p>
        </p:txBody>
      </p:sp>
      <p:sp>
        <p:nvSpPr>
          <p:cNvPr id="22" name="Text 15"/>
          <p:cNvSpPr txBox="1"/>
          <p:nvPr/>
        </p:nvSpPr>
        <p:spPr>
          <a:xfrm>
            <a:off x="6918808" y="3398520"/>
            <a:ext cx="4541368" cy="1249680"/>
          </a:xfrm>
          <a:prstGeom prst="rect">
            <a:avLst/>
          </a:prstGeom>
          <a:noFill/>
          <a:ln/>
        </p:spPr>
        <p:txBody>
          <a:bodyPr wrap="square" lIns="0" tIns="0" rIns="0" bIns="0" rtlCol="0" anchor="ctr"/>
          <a:lstStyle/>
          <a:p>
            <a:pPr indent="0" marL="0">
              <a:buNone/>
            </a:pPr>
            <a:r>
              <a:rPr lang="en-US" sz="2100" dirty="0">
                <a:solidFill>
                  <a:srgbClr val="1F2933"/>
                </a:solidFill>
                <a:latin typeface="Calibri" pitchFamily="34" charset="0"/>
                <a:ea typeface="Calibri" pitchFamily="34" charset="-122"/>
                <a:cs typeface="Calibri" pitchFamily="34" charset="-120"/>
              </a:rPr>
              <a:t>In this toy, yes. Real models like GCAM share the market by relative cost (week 7).</a:t>
            </a:r>
            <a:endParaRPr lang="en-US" sz="2100" dirty="0"/>
          </a:p>
        </p:txBody>
      </p:sp>
      <p:sp>
        <p:nvSpPr>
          <p:cNvPr id="23" name="wrong card"/>
          <p:cNvSpPr/>
          <p:nvPr/>
        </p:nvSpPr>
        <p:spPr>
          <a:xfrm>
            <a:off x="548640" y="4876800"/>
            <a:ext cx="5410048" cy="1249680"/>
          </a:xfrm>
          <a:prstGeom prst="roundRect">
            <a:avLst>
              <a:gd name="adj" fmla="val 8780"/>
            </a:avLst>
          </a:prstGeom>
          <a:solidFill>
            <a:srgbClr val="FDECEC"/>
          </a:solidFill>
          <a:ln w="12700">
            <a:solidFill>
              <a:srgbClr val="FDECEC"/>
            </a:solidFill>
            <a:prstDash val="solid"/>
          </a:ln>
        </p:spPr>
      </p:sp>
      <p:sp>
        <p:nvSpPr>
          <p:cNvPr id="24" name="right card"/>
          <p:cNvSpPr/>
          <p:nvPr/>
        </p:nvSpPr>
        <p:spPr>
          <a:xfrm>
            <a:off x="6233008" y="4876800"/>
            <a:ext cx="5410048" cy="1249680"/>
          </a:xfrm>
          <a:prstGeom prst="roundRect">
            <a:avLst>
              <a:gd name="adj" fmla="val 8780"/>
            </a:avLst>
          </a:prstGeom>
          <a:solidFill>
            <a:srgbClr val="E7F5EC"/>
          </a:solidFill>
          <a:ln w="12700">
            <a:solidFill>
              <a:srgbClr val="E7F5EC"/>
            </a:solidFill>
            <a:prstDash val="solid"/>
          </a:ln>
        </p:spPr>
      </p:sp>
      <p:sp>
        <p:nvSpPr>
          <p:cNvPr id="25" name="icon circle"/>
          <p:cNvSpPr/>
          <p:nvPr/>
        </p:nvSpPr>
        <p:spPr>
          <a:xfrm>
            <a:off x="685800" y="5295900"/>
            <a:ext cx="411480" cy="411480"/>
          </a:xfrm>
          <a:prstGeom prst="ellipse">
            <a:avLst/>
          </a:prstGeom>
          <a:solidFill>
            <a:srgbClr val="B91C1C"/>
          </a:solidFill>
          <a:ln w="12700">
            <a:solidFill>
              <a:srgbClr val="B91C1C"/>
            </a:solidFill>
            <a:prstDash val="solid"/>
          </a:ln>
        </p:spPr>
      </p:sp>
      <p:pic>
        <p:nvPicPr>
          <p:cNvPr id="26" name="icon" descr="preencoded.png">    </p:cNvPr>
          <p:cNvPicPr>
            <a:picLocks noChangeAspect="1"/>
          </p:cNvPicPr>
          <p:nvPr/>
        </p:nvPicPr>
        <p:blipFill>
          <a:blip r:embed="rId5"/>
          <a:stretch>
            <a:fillRect/>
          </a:stretch>
        </p:blipFill>
        <p:spPr>
          <a:xfrm>
            <a:off x="792785" y="5402885"/>
            <a:ext cx="197510" cy="197510"/>
          </a:xfrm>
          <a:prstGeom prst="rect">
            <a:avLst/>
          </a:prstGeom>
        </p:spPr>
      </p:pic>
      <p:sp>
        <p:nvSpPr>
          <p:cNvPr id="27" name="icon circle"/>
          <p:cNvSpPr/>
          <p:nvPr/>
        </p:nvSpPr>
        <p:spPr>
          <a:xfrm>
            <a:off x="6370168" y="5295900"/>
            <a:ext cx="411480" cy="411480"/>
          </a:xfrm>
          <a:prstGeom prst="ellipse">
            <a:avLst/>
          </a:prstGeom>
          <a:solidFill>
            <a:srgbClr val="15803D"/>
          </a:solidFill>
          <a:ln w="12700">
            <a:solidFill>
              <a:srgbClr val="15803D"/>
            </a:solidFill>
            <a:prstDash val="solid"/>
          </a:ln>
        </p:spPr>
      </p:sp>
      <p:pic>
        <p:nvPicPr>
          <p:cNvPr id="28" name="icon" descr="preencoded.png">    </p:cNvPr>
          <p:cNvPicPr>
            <a:picLocks noChangeAspect="1"/>
          </p:cNvPicPr>
          <p:nvPr/>
        </p:nvPicPr>
        <p:blipFill>
          <a:blip r:embed="rId6"/>
          <a:stretch>
            <a:fillRect/>
          </a:stretch>
        </p:blipFill>
        <p:spPr>
          <a:xfrm>
            <a:off x="6477152" y="5402885"/>
            <a:ext cx="197510" cy="197510"/>
          </a:xfrm>
          <a:prstGeom prst="rect">
            <a:avLst/>
          </a:prstGeom>
        </p:spPr>
      </p:pic>
      <p:sp>
        <p:nvSpPr>
          <p:cNvPr id="29" name="Text 20"/>
          <p:cNvSpPr txBox="1"/>
          <p:nvPr/>
        </p:nvSpPr>
        <p:spPr>
          <a:xfrm>
            <a:off x="1234440" y="4876800"/>
            <a:ext cx="4541368" cy="1249680"/>
          </a:xfrm>
          <a:prstGeom prst="rect">
            <a:avLst/>
          </a:prstGeom>
          <a:noFill/>
          <a:ln/>
        </p:spPr>
        <p:txBody>
          <a:bodyPr wrap="square" lIns="0" tIns="0" rIns="0" bIns="0" rtlCol="0" anchor="ctr"/>
          <a:lstStyle/>
          <a:p>
            <a:pPr indent="0" marL="0">
              <a:buNone/>
            </a:pPr>
            <a:r>
              <a:rPr lang="en-US" sz="2100" dirty="0">
                <a:solidFill>
                  <a:srgbClr val="1F2933"/>
                </a:solidFill>
                <a:latin typeface="Calibri" pitchFamily="34" charset="0"/>
                <a:ea typeface="Calibri" pitchFamily="34" charset="-122"/>
                <a:cs typeface="Calibri" pitchFamily="34" charset="-120"/>
              </a:rPr>
              <a:t>A high discount rate means we care more about the future</a:t>
            </a:r>
            <a:endParaRPr lang="en-US" sz="2100" dirty="0"/>
          </a:p>
        </p:txBody>
      </p:sp>
      <p:sp>
        <p:nvSpPr>
          <p:cNvPr id="30" name="Text 21"/>
          <p:cNvSpPr txBox="1"/>
          <p:nvPr/>
        </p:nvSpPr>
        <p:spPr>
          <a:xfrm>
            <a:off x="6918808" y="4876800"/>
            <a:ext cx="4541368" cy="1249680"/>
          </a:xfrm>
          <a:prstGeom prst="rect">
            <a:avLst/>
          </a:prstGeom>
          <a:noFill/>
          <a:ln/>
        </p:spPr>
        <p:txBody>
          <a:bodyPr wrap="square" lIns="0" tIns="0" rIns="0" bIns="0" rtlCol="0" anchor="ctr"/>
          <a:lstStyle/>
          <a:p>
            <a:pPr indent="0" marL="0">
              <a:buNone/>
            </a:pPr>
            <a:r>
              <a:rPr lang="en-US" sz="2100" dirty="0">
                <a:solidFill>
                  <a:srgbClr val="1F2933"/>
                </a:solidFill>
                <a:latin typeface="Calibri" pitchFamily="34" charset="0"/>
                <a:ea typeface="Calibri" pitchFamily="34" charset="-122"/>
                <a:cs typeface="Calibri" pitchFamily="34" charset="-120"/>
              </a:rPr>
              <a:t>The opposite: a high rate shrinks future values, so the future counts less.</a:t>
            </a:r>
            <a:endParaRPr lang="en-US" sz="2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NEW WORDS THIS WEEK</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Words to add to the class glossary</a:t>
            </a:r>
            <a:endParaRPr lang="en-US" sz="3200" dirty="0"/>
          </a:p>
        </p:txBody>
      </p:sp>
      <p:sp>
        <p:nvSpPr>
          <p:cNvPr id="5" name="term card"/>
          <p:cNvSpPr/>
          <p:nvPr/>
        </p:nvSpPr>
        <p:spPr>
          <a:xfrm>
            <a:off x="548640" y="1554480"/>
            <a:ext cx="5410048" cy="1386840"/>
          </a:xfrm>
          <a:prstGeom prst="roundRect">
            <a:avLst>
              <a:gd name="adj" fmla="val 7912"/>
            </a:avLst>
          </a:prstGeom>
          <a:solidFill>
            <a:srgbClr val="E6F2F0"/>
          </a:solidFill>
          <a:ln w="12700">
            <a:solidFill>
              <a:srgbClr val="E6F2F0"/>
            </a:solidFill>
            <a:prstDash val="solid"/>
          </a:ln>
        </p:spPr>
      </p:sp>
      <p:sp>
        <p:nvSpPr>
          <p:cNvPr id="6" name="Text 3"/>
          <p:cNvSpPr txBox="1"/>
          <p:nvPr/>
        </p:nvSpPr>
        <p:spPr>
          <a:xfrm>
            <a:off x="822960" y="1554480"/>
            <a:ext cx="4952848" cy="1386840"/>
          </a:xfrm>
          <a:prstGeom prst="rect">
            <a:avLst/>
          </a:prstGeom>
          <a:noFill/>
          <a:ln/>
        </p:spPr>
        <p:txBody>
          <a:bodyPr wrap="square" lIns="0" tIns="0" rIns="0" bIns="0" rtlCol="0" anchor="ctr"/>
          <a:lstStyle/>
          <a:p>
            <a:pPr indent="0" marL="0">
              <a:buNone/>
            </a:pPr>
            <a:r>
              <a:rPr lang="en-US" sz="2000" b="1" dirty="0">
                <a:solidFill>
                  <a:srgbClr val="0B5550"/>
                </a:solidFill>
                <a:latin typeface="Cambria" pitchFamily="34" charset="0"/>
                <a:ea typeface="Cambria" pitchFamily="34" charset="-122"/>
                <a:cs typeface="Cambria" pitchFamily="34" charset="-120"/>
              </a:rPr>
              <a:t>Equilibrium   </a:t>
            </a:r>
            <a:pPr indent="0" marL="0">
              <a:buNone/>
            </a:pPr>
            <a:r>
              <a:rPr lang="en-US" sz="2000" dirty="0">
                <a:solidFill>
                  <a:srgbClr val="1F2933"/>
                </a:solidFill>
                <a:latin typeface="Calibri" pitchFamily="34" charset="0"/>
                <a:ea typeface="Calibri" pitchFamily="34" charset="-122"/>
                <a:cs typeface="Calibri" pitchFamily="34" charset="-120"/>
              </a:rPr>
              <a:t>The price at which the amount people want to buy equals the amount producers want to sell.</a:t>
            </a:r>
            <a:endParaRPr lang="en-US" sz="2000" dirty="0"/>
          </a:p>
        </p:txBody>
      </p:sp>
      <p:sp>
        <p:nvSpPr>
          <p:cNvPr id="7" name="term card"/>
          <p:cNvSpPr/>
          <p:nvPr/>
        </p:nvSpPr>
        <p:spPr>
          <a:xfrm>
            <a:off x="6233008" y="1554480"/>
            <a:ext cx="5410048" cy="1386840"/>
          </a:xfrm>
          <a:prstGeom prst="roundRect">
            <a:avLst>
              <a:gd name="adj" fmla="val 7912"/>
            </a:avLst>
          </a:prstGeom>
          <a:solidFill>
            <a:srgbClr val="F7FAF9"/>
          </a:solidFill>
          <a:ln w="12700">
            <a:solidFill>
              <a:srgbClr val="F7FAF9"/>
            </a:solidFill>
            <a:prstDash val="solid"/>
          </a:ln>
        </p:spPr>
      </p:sp>
      <p:sp>
        <p:nvSpPr>
          <p:cNvPr id="8" name="Text 5"/>
          <p:cNvSpPr txBox="1"/>
          <p:nvPr/>
        </p:nvSpPr>
        <p:spPr>
          <a:xfrm>
            <a:off x="6507328" y="1554480"/>
            <a:ext cx="4952848" cy="1386840"/>
          </a:xfrm>
          <a:prstGeom prst="rect">
            <a:avLst/>
          </a:prstGeom>
          <a:noFill/>
          <a:ln/>
        </p:spPr>
        <p:txBody>
          <a:bodyPr wrap="square" lIns="0" tIns="0" rIns="0" bIns="0" rtlCol="0" anchor="ctr"/>
          <a:lstStyle/>
          <a:p>
            <a:pPr indent="0" marL="0">
              <a:buNone/>
            </a:pPr>
            <a:r>
              <a:rPr lang="en-US" sz="2000" b="1" dirty="0">
                <a:solidFill>
                  <a:srgbClr val="0B5550"/>
                </a:solidFill>
                <a:latin typeface="Cambria" pitchFamily="34" charset="0"/>
                <a:ea typeface="Cambria" pitchFamily="34" charset="-122"/>
                <a:cs typeface="Cambria" pitchFamily="34" charset="-120"/>
              </a:rPr>
              <a:t>Carbon price   </a:t>
            </a:r>
            <a:pPr indent="0" marL="0">
              <a:buNone/>
            </a:pPr>
            <a:r>
              <a:rPr lang="en-US" sz="2000" dirty="0">
                <a:solidFill>
                  <a:srgbClr val="1F2933"/>
                </a:solidFill>
                <a:latin typeface="Calibri" pitchFamily="34" charset="0"/>
                <a:ea typeface="Calibri" pitchFamily="34" charset="-122"/>
                <a:cs typeface="Calibri" pitchFamily="34" charset="-120"/>
              </a:rPr>
              <a:t>A charge per tonne of CO2 emitted. It makes high-emitting options more expensive in proportion to their emissions.</a:t>
            </a:r>
            <a:endParaRPr lang="en-US" sz="2000" dirty="0"/>
          </a:p>
        </p:txBody>
      </p:sp>
      <p:sp>
        <p:nvSpPr>
          <p:cNvPr id="9" name="term card"/>
          <p:cNvSpPr/>
          <p:nvPr/>
        </p:nvSpPr>
        <p:spPr>
          <a:xfrm>
            <a:off x="548640" y="3169920"/>
            <a:ext cx="5410048" cy="1386840"/>
          </a:xfrm>
          <a:prstGeom prst="roundRect">
            <a:avLst>
              <a:gd name="adj" fmla="val 7912"/>
            </a:avLst>
          </a:prstGeom>
          <a:solidFill>
            <a:srgbClr val="E6F2F0"/>
          </a:solidFill>
          <a:ln w="12700">
            <a:solidFill>
              <a:srgbClr val="E6F2F0"/>
            </a:solidFill>
            <a:prstDash val="solid"/>
          </a:ln>
        </p:spPr>
      </p:sp>
      <p:sp>
        <p:nvSpPr>
          <p:cNvPr id="10" name="Text 7"/>
          <p:cNvSpPr txBox="1"/>
          <p:nvPr/>
        </p:nvSpPr>
        <p:spPr>
          <a:xfrm>
            <a:off x="822960" y="3169920"/>
            <a:ext cx="4952848" cy="1386840"/>
          </a:xfrm>
          <a:prstGeom prst="rect">
            <a:avLst/>
          </a:prstGeom>
          <a:noFill/>
          <a:ln/>
        </p:spPr>
        <p:txBody>
          <a:bodyPr wrap="square" lIns="0" tIns="0" rIns="0" bIns="0" rtlCol="0" anchor="ctr"/>
          <a:lstStyle/>
          <a:p>
            <a:pPr indent="0" marL="0">
              <a:buNone/>
            </a:pPr>
            <a:r>
              <a:rPr lang="en-US" sz="2000" b="1" dirty="0">
                <a:solidFill>
                  <a:srgbClr val="0B5550"/>
                </a:solidFill>
                <a:latin typeface="Cambria" pitchFamily="34" charset="0"/>
                <a:ea typeface="Cambria" pitchFamily="34" charset="-122"/>
                <a:cs typeface="Cambria" pitchFamily="34" charset="-120"/>
              </a:rPr>
              <a:t>Emission factor   </a:t>
            </a:r>
            <a:pPr indent="0" marL="0">
              <a:buNone/>
            </a:pPr>
            <a:r>
              <a:rPr lang="en-US" sz="2000" dirty="0">
                <a:solidFill>
                  <a:srgbClr val="1F2933"/>
                </a:solidFill>
                <a:latin typeface="Calibri" pitchFamily="34" charset="0"/>
                <a:ea typeface="Calibri" pitchFamily="34" charset="-122"/>
                <a:cs typeface="Calibri" pitchFamily="34" charset="-120"/>
              </a:rPr>
              <a:t>Tonnes of CO2 released per unit of output, for example 0.9 tCO2 per MWh from a coal plant.</a:t>
            </a:r>
            <a:endParaRPr lang="en-US" sz="2000" dirty="0"/>
          </a:p>
        </p:txBody>
      </p:sp>
      <p:sp>
        <p:nvSpPr>
          <p:cNvPr id="11" name="term card"/>
          <p:cNvSpPr/>
          <p:nvPr/>
        </p:nvSpPr>
        <p:spPr>
          <a:xfrm>
            <a:off x="6233008" y="3169920"/>
            <a:ext cx="5410048" cy="1386840"/>
          </a:xfrm>
          <a:prstGeom prst="roundRect">
            <a:avLst>
              <a:gd name="adj" fmla="val 7912"/>
            </a:avLst>
          </a:prstGeom>
          <a:solidFill>
            <a:srgbClr val="F7FAF9"/>
          </a:solidFill>
          <a:ln w="12700">
            <a:solidFill>
              <a:srgbClr val="F7FAF9"/>
            </a:solidFill>
            <a:prstDash val="solid"/>
          </a:ln>
        </p:spPr>
      </p:sp>
      <p:sp>
        <p:nvSpPr>
          <p:cNvPr id="12" name="Text 9"/>
          <p:cNvSpPr txBox="1"/>
          <p:nvPr/>
        </p:nvSpPr>
        <p:spPr>
          <a:xfrm>
            <a:off x="6507328" y="3169920"/>
            <a:ext cx="4952848" cy="1386840"/>
          </a:xfrm>
          <a:prstGeom prst="rect">
            <a:avLst/>
          </a:prstGeom>
          <a:noFill/>
          <a:ln/>
        </p:spPr>
        <p:txBody>
          <a:bodyPr wrap="square" lIns="0" tIns="0" rIns="0" bIns="0" rtlCol="0" anchor="ctr"/>
          <a:lstStyle/>
          <a:p>
            <a:pPr indent="0" marL="0">
              <a:buNone/>
            </a:pPr>
            <a:r>
              <a:rPr lang="en-US" sz="2000" b="1" dirty="0">
                <a:solidFill>
                  <a:srgbClr val="0B5550"/>
                </a:solidFill>
                <a:latin typeface="Cambria" pitchFamily="34" charset="0"/>
                <a:ea typeface="Cambria" pitchFamily="34" charset="-122"/>
                <a:cs typeface="Cambria" pitchFamily="34" charset="-120"/>
              </a:rPr>
              <a:t>Discount rate   </a:t>
            </a:r>
            <a:pPr indent="0" marL="0">
              <a:buNone/>
            </a:pPr>
            <a:r>
              <a:rPr lang="en-US" sz="2000" dirty="0">
                <a:solidFill>
                  <a:srgbClr val="1F2933"/>
                </a:solidFill>
                <a:latin typeface="Calibri" pitchFamily="34" charset="0"/>
                <a:ea typeface="Calibri" pitchFamily="34" charset="-122"/>
                <a:cs typeface="Calibri" pitchFamily="34" charset="-120"/>
              </a:rPr>
              <a:t>The yearly rate used to convert future money into today's value. A higher rate makes the future count less.</a:t>
            </a:r>
            <a:endParaRPr lang="en-US" sz="2000" dirty="0"/>
          </a:p>
        </p:txBody>
      </p:sp>
      <p:sp>
        <p:nvSpPr>
          <p:cNvPr id="13" name="term card"/>
          <p:cNvSpPr/>
          <p:nvPr/>
        </p:nvSpPr>
        <p:spPr>
          <a:xfrm>
            <a:off x="548640" y="4785360"/>
            <a:ext cx="11094415" cy="1386840"/>
          </a:xfrm>
          <a:prstGeom prst="roundRect">
            <a:avLst>
              <a:gd name="adj" fmla="val 7912"/>
            </a:avLst>
          </a:prstGeom>
          <a:solidFill>
            <a:srgbClr val="E6F2F0"/>
          </a:solidFill>
          <a:ln w="12700">
            <a:solidFill>
              <a:srgbClr val="E6F2F0"/>
            </a:solidFill>
            <a:prstDash val="solid"/>
          </a:ln>
        </p:spPr>
      </p:sp>
      <p:sp>
        <p:nvSpPr>
          <p:cNvPr id="14" name="Text 11"/>
          <p:cNvSpPr txBox="1"/>
          <p:nvPr/>
        </p:nvSpPr>
        <p:spPr>
          <a:xfrm>
            <a:off x="822960" y="4785360"/>
            <a:ext cx="10637215" cy="1386840"/>
          </a:xfrm>
          <a:prstGeom prst="rect">
            <a:avLst/>
          </a:prstGeom>
          <a:noFill/>
          <a:ln/>
        </p:spPr>
        <p:txBody>
          <a:bodyPr wrap="square" lIns="0" tIns="0" rIns="0" bIns="0" rtlCol="0" anchor="ctr"/>
          <a:lstStyle/>
          <a:p>
            <a:pPr indent="0" marL="0">
              <a:buNone/>
            </a:pPr>
            <a:r>
              <a:rPr lang="en-US" sz="2000" b="1" dirty="0">
                <a:solidFill>
                  <a:srgbClr val="0B5550"/>
                </a:solidFill>
                <a:latin typeface="Cambria" pitchFamily="34" charset="0"/>
                <a:ea typeface="Cambria" pitchFamily="34" charset="-122"/>
                <a:cs typeface="Cambria" pitchFamily="34" charset="-120"/>
              </a:rPr>
              <a:t>Present value   </a:t>
            </a:r>
            <a:pPr indent="0" marL="0">
              <a:buNone/>
            </a:pPr>
            <a:r>
              <a:rPr lang="en-US" sz="2000" dirty="0">
                <a:solidFill>
                  <a:srgbClr val="1F2933"/>
                </a:solidFill>
                <a:latin typeface="Calibri" pitchFamily="34" charset="0"/>
                <a:ea typeface="Calibri" pitchFamily="34" charset="-122"/>
                <a:cs typeface="Calibri" pitchFamily="34" charset="-120"/>
              </a:rPr>
              <a:t>What a future amount is worth today: the future amount divided by (1 + r) to the power of the number of years.</a:t>
            </a:r>
            <a:endParaRPr lang="en-US" sz="2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4415" cy="1005840"/>
          </a:xfrm>
          <a:prstGeom prst="rect">
            <a:avLst/>
          </a:prstGeom>
          <a:noFill/>
          <a:ln/>
        </p:spPr>
        <p:txBody>
          <a:bodyPr wrap="square" lIns="0" tIns="0" rIns="0" bIns="0" rtlCol="0" anchor="t"/>
          <a:lstStyle/>
          <a:p>
            <a:pPr algn="l" indent="0" marL="0">
              <a:buNone/>
            </a:pPr>
            <a:r>
              <a:rPr lang="en-US" sz="4400" b="1" dirty="0">
                <a:solidFill>
                  <a:srgbClr val="FFFFFF"/>
                </a:solidFill>
                <a:latin typeface="Cambria" pitchFamily="34" charset="0"/>
                <a:ea typeface="Cambria" pitchFamily="34" charset="-122"/>
                <a:cs typeface="Cambria" pitchFamily="34" charset="-120"/>
              </a:rPr>
              <a:t>Lab 4: a toy energy market in R</a:t>
            </a:r>
            <a:endParaRPr lang="en-US" sz="4400" dirty="0"/>
          </a:p>
        </p:txBody>
      </p:sp>
      <p:sp>
        <p:nvSpPr>
          <p:cNvPr id="3" name="Text 1"/>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F59E6B"/>
                </a:solidFill>
                <a:latin typeface="Calibri" pitchFamily="34" charset="0"/>
                <a:ea typeface="Calibri" pitchFamily="34" charset="-122"/>
                <a:cs typeface="Calibri" pitchFamily="34" charset="-120"/>
              </a:rPr>
              <a:t>HANDS-ON LAB</a:t>
            </a:r>
            <a:endParaRPr lang="en-US" sz="1200" dirty="0"/>
          </a:p>
        </p:txBody>
      </p:sp>
      <p:sp>
        <p:nvSpPr>
          <p:cNvPr id="4" name="Text 2"/>
          <p:cNvSpPr txBox="1"/>
          <p:nvPr/>
        </p:nvSpPr>
        <p:spPr>
          <a:xfrm>
            <a:off x="548640" y="3291840"/>
            <a:ext cx="10058400" cy="1188720"/>
          </a:xfrm>
          <a:prstGeom prst="rect">
            <a:avLst/>
          </a:prstGeom>
          <a:noFill/>
          <a:ln/>
        </p:spPr>
        <p:txBody>
          <a:bodyPr wrap="square" lIns="0" tIns="0" rIns="0" bIns="0" rtlCol="0" anchor="t"/>
          <a:lstStyle/>
          <a:p>
            <a:pPr indent="0" marL="0">
              <a:buNone/>
            </a:pPr>
            <a:r>
              <a:rPr lang="en-US" sz="2400" dirty="0">
                <a:solidFill>
                  <a:srgbClr val="C9D6DF"/>
                </a:solidFill>
                <a:latin typeface="Calibri" pitchFamily="34" charset="0"/>
                <a:ea typeface="Calibri" pitchFamily="34" charset="-122"/>
                <a:cs typeface="Calibri" pitchFamily="34" charset="-120"/>
              </a:rPr>
              <a:t>Write a cost function, loop over carbon prices to find the cheapest technology, then find the market price with and without a tax.</a:t>
            </a:r>
            <a:endParaRPr lang="en-US" sz="2400" dirty="0"/>
          </a:p>
        </p:txBody>
      </p:sp>
      <p:sp>
        <p:nvSpPr>
          <p:cNvPr id="5" name="lab meta"/>
          <p:cNvSpPr/>
          <p:nvPr/>
        </p:nvSpPr>
        <p:spPr>
          <a:xfrm>
            <a:off x="548640" y="4846320"/>
            <a:ext cx="3520440" cy="731520"/>
          </a:xfrm>
          <a:prstGeom prst="roundRect">
            <a:avLst>
              <a:gd name="adj" fmla="val 15000"/>
            </a:avLst>
          </a:prstGeom>
          <a:solidFill>
            <a:srgbClr val="1D3A52"/>
          </a:solidFill>
          <a:ln w="12700">
            <a:solidFill>
              <a:srgbClr val="1D3A52"/>
            </a:solidFill>
            <a:prstDash val="solid"/>
          </a:ln>
        </p:spPr>
      </p:sp>
      <p:sp>
        <p:nvSpPr>
          <p:cNvPr id="6" name="Text 4"/>
          <p:cNvSpPr txBox="1"/>
          <p:nvPr/>
        </p:nvSpPr>
        <p:spPr>
          <a:xfrm>
            <a:off x="731520" y="4846320"/>
            <a:ext cx="3200400" cy="73152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Script: labs/lab4.R</a:t>
            </a:r>
            <a:endParaRPr lang="en-US" sz="1500" dirty="0"/>
          </a:p>
        </p:txBody>
      </p:sp>
      <p:sp>
        <p:nvSpPr>
          <p:cNvPr id="7" name="lab meta"/>
          <p:cNvSpPr/>
          <p:nvPr/>
        </p:nvSpPr>
        <p:spPr>
          <a:xfrm>
            <a:off x="4297680" y="4846320"/>
            <a:ext cx="3520440" cy="731520"/>
          </a:xfrm>
          <a:prstGeom prst="roundRect">
            <a:avLst>
              <a:gd name="adj" fmla="val 15000"/>
            </a:avLst>
          </a:prstGeom>
          <a:solidFill>
            <a:srgbClr val="1D3A52"/>
          </a:solidFill>
          <a:ln w="12700">
            <a:solidFill>
              <a:srgbClr val="1D3A52"/>
            </a:solidFill>
            <a:prstDash val="solid"/>
          </a:ln>
        </p:spPr>
      </p:sp>
      <p:sp>
        <p:nvSpPr>
          <p:cNvPr id="8" name="Text 6"/>
          <p:cNvSpPr txBox="1"/>
          <p:nvPr/>
        </p:nvSpPr>
        <p:spPr>
          <a:xfrm>
            <a:off x="4480560" y="4846320"/>
            <a:ext cx="3200400" cy="73152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4 steps</a:t>
            </a:r>
            <a:endParaRPr lang="en-US" sz="1500" dirty="0"/>
          </a:p>
        </p:txBody>
      </p:sp>
      <p:sp>
        <p:nvSpPr>
          <p:cNvPr id="9" name="lab meta"/>
          <p:cNvSpPr/>
          <p:nvPr/>
        </p:nvSpPr>
        <p:spPr>
          <a:xfrm>
            <a:off x="8046720" y="4846320"/>
            <a:ext cx="3520440" cy="731520"/>
          </a:xfrm>
          <a:prstGeom prst="roundRect">
            <a:avLst>
              <a:gd name="adj" fmla="val 15000"/>
            </a:avLst>
          </a:prstGeom>
          <a:solidFill>
            <a:srgbClr val="1D3A52"/>
          </a:solidFill>
          <a:ln w="12700">
            <a:solidFill>
              <a:srgbClr val="1D3A52"/>
            </a:solidFill>
            <a:prstDash val="solid"/>
          </a:ln>
        </p:spPr>
      </p:sp>
      <p:sp>
        <p:nvSpPr>
          <p:cNvPr id="10" name="Text 8"/>
          <p:cNvSpPr txBox="1"/>
          <p:nvPr/>
        </p:nvSpPr>
        <p:spPr>
          <a:xfrm>
            <a:off x="8229600" y="4846320"/>
            <a:ext cx="3200400" cy="73152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Stuck? Read the error aloud, check the slide, then ask</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C2410C"/>
                </a:solidFill>
                <a:latin typeface="Calibri" pitchFamily="34" charset="0"/>
                <a:ea typeface="Calibri" pitchFamily="34" charset="-122"/>
                <a:cs typeface="Calibri" pitchFamily="34" charset="-120"/>
              </a:rPr>
              <a:t>LAB · STEP 1 OF 4</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Write a cost function</a:t>
            </a:r>
            <a:endParaRPr lang="en-US" sz="3200" dirty="0"/>
          </a:p>
        </p:txBody>
      </p:sp>
      <p:sp>
        <p:nvSpPr>
          <p:cNvPr id="5" name="explain card"/>
          <p:cNvSpPr/>
          <p:nvPr/>
        </p:nvSpPr>
        <p:spPr>
          <a:xfrm>
            <a:off x="548640" y="1508760"/>
            <a:ext cx="11094415" cy="1046480"/>
          </a:xfrm>
          <a:prstGeom prst="roundRect">
            <a:avLst>
              <a:gd name="adj" fmla="val 10485"/>
            </a:avLst>
          </a:prstGeom>
          <a:solidFill>
            <a:srgbClr val="E6F2F0"/>
          </a:solidFill>
          <a:ln w="12700">
            <a:solidFill>
              <a:srgbClr val="E6F2F0"/>
            </a:solidFill>
            <a:prstDash val="solid"/>
          </a:ln>
        </p:spPr>
      </p:sp>
      <p:sp>
        <p:nvSpPr>
          <p:cNvPr id="6" name="Text 3"/>
          <p:cNvSpPr txBox="1"/>
          <p:nvPr/>
        </p:nvSpPr>
        <p:spPr>
          <a:xfrm>
            <a:off x="777240" y="1600200"/>
            <a:ext cx="10637215" cy="863600"/>
          </a:xfrm>
          <a:prstGeom prst="rect">
            <a:avLst/>
          </a:prstGeom>
          <a:noFill/>
          <a:ln/>
        </p:spPr>
        <p:txBody>
          <a:bodyPr wrap="square" lIns="0" tIns="0" rIns="0" bIns="0" rtlCol="0" anchor="ctr"/>
          <a:lstStyle/>
          <a:p>
            <a:pPr indent="0" marL="0">
              <a:spcAft>
                <a:spcPts val="800"/>
              </a:spcAft>
              <a:buNone/>
            </a:pPr>
            <a:r>
              <a:rPr lang="en-US" sz="2000" dirty="0">
                <a:solidFill>
                  <a:srgbClr val="1F2933"/>
                </a:solidFill>
                <a:latin typeface="Calibri" pitchFamily="34" charset="0"/>
                <a:ea typeface="Calibri" pitchFamily="34" charset="-122"/>
                <a:cs typeface="Calibri" pitchFamily="34" charset="-120"/>
              </a:rPr>
              <a:t>A function has a name, inputs in brackets and a body in braces. The last line is what it gives back.</a:t>
            </a:r>
            <a:endParaRPr lang="en-US" sz="2000" dirty="0"/>
          </a:p>
        </p:txBody>
      </p:sp>
      <p:sp>
        <p:nvSpPr>
          <p:cNvPr id="7" name="code panel"/>
          <p:cNvSpPr/>
          <p:nvPr/>
        </p:nvSpPr>
        <p:spPr>
          <a:xfrm>
            <a:off x="548640" y="2738120"/>
            <a:ext cx="11094415" cy="2423160"/>
          </a:xfrm>
          <a:prstGeom prst="roundRect">
            <a:avLst>
              <a:gd name="adj" fmla="val 4528"/>
            </a:avLst>
          </a:prstGeom>
          <a:solidFill>
            <a:srgbClr val="1E2A36"/>
          </a:solidFill>
          <a:ln w="12700">
            <a:solidFill>
              <a:srgbClr val="1E2A36"/>
            </a:solidFill>
            <a:prstDash val="solid"/>
          </a:ln>
        </p:spPr>
      </p:sp>
      <p:sp>
        <p:nvSpPr>
          <p:cNvPr id="8" name="Text 5"/>
          <p:cNvSpPr txBox="1"/>
          <p:nvPr/>
        </p:nvSpPr>
        <p:spPr>
          <a:xfrm>
            <a:off x="868680" y="3012440"/>
            <a:ext cx="10545775" cy="2011680"/>
          </a:xfrm>
          <a:prstGeom prst="rect">
            <a:avLst/>
          </a:prstGeom>
          <a:noFill/>
          <a:ln/>
        </p:spPr>
        <p:txBody>
          <a:bodyPr wrap="square" lIns="0" tIns="0" rIns="0" bIns="0" rtlCol="0" anchor="t"/>
          <a:lstStyle/>
          <a:p>
            <a:pPr indent="0" marL="0">
              <a:lnSpc>
                <a:spcPct val="100000"/>
              </a:lnSpc>
              <a:buNone/>
            </a:pPr>
            <a:r>
              <a:rPr lang="en-US" sz="2400" dirty="0">
                <a:solidFill>
                  <a:srgbClr val="E8EEF2"/>
                </a:solidFill>
                <a:latin typeface="Courier New" pitchFamily="34" charset="0"/>
                <a:ea typeface="Courier New" pitchFamily="34" charset="-122"/>
                <a:cs typeface="Courier New" pitchFamily="34" charset="-120"/>
              </a:rPr>
              <a:t>cost &lt;- function(base, ef, tax) {</a:t>
            </a:r>
            <a:endParaRPr lang="en-US" sz="2400" dirty="0"/>
          </a:p>
          <a:p>
            <a:pPr indent="0" marL="0">
              <a:lnSpc>
                <a:spcPct val="100000"/>
              </a:lnSpc>
              <a:buNone/>
            </a:pPr>
            <a:r>
              <a:rPr lang="en-US" sz="2400" dirty="0">
                <a:solidFill>
                  <a:srgbClr val="E8EEF2"/>
                </a:solidFill>
                <a:latin typeface="Courier New" pitchFamily="34" charset="0"/>
                <a:ea typeface="Courier New" pitchFamily="34" charset="-122"/>
                <a:cs typeface="Courier New" pitchFamily="34" charset="-120"/>
              </a:rPr>
              <a:t>  if (tax &lt; 0) stop("tax is negative")</a:t>
            </a:r>
            <a:endParaRPr lang="en-US" sz="2400" dirty="0"/>
          </a:p>
          <a:p>
            <a:pPr indent="0" marL="0">
              <a:lnSpc>
                <a:spcPct val="100000"/>
              </a:lnSpc>
              <a:buNone/>
            </a:pPr>
            <a:r>
              <a:rPr lang="en-US" sz="2400" dirty="0">
                <a:solidFill>
                  <a:srgbClr val="E8EEF2"/>
                </a:solidFill>
                <a:latin typeface="Courier New" pitchFamily="34" charset="0"/>
                <a:ea typeface="Courier New" pitchFamily="34" charset="-122"/>
                <a:cs typeface="Courier New" pitchFamily="34" charset="-120"/>
              </a:rPr>
              <a:t>  base + ef * tax</a:t>
            </a:r>
            <a:endParaRPr lang="en-US" sz="2400" dirty="0"/>
          </a:p>
          <a:p>
            <a:pPr indent="0" marL="0">
              <a:lnSpc>
                <a:spcPct val="100000"/>
              </a:lnSpc>
              <a:buNone/>
            </a:pPr>
            <a:r>
              <a:rPr lang="en-US" sz="2400" dirty="0">
                <a:solidFill>
                  <a:srgbClr val="E8EEF2"/>
                </a:solidFill>
                <a:latin typeface="Courier New" pitchFamily="34" charset="0"/>
                <a:ea typeface="Courier New" pitchFamily="34" charset="-122"/>
                <a:cs typeface="Courier New" pitchFamily="34" charset="-120"/>
              </a:rPr>
              <a:t>}</a:t>
            </a:r>
            <a:endParaRPr lang="en-US" sz="2400" dirty="0"/>
          </a:p>
          <a:p>
            <a:pPr indent="0" marL="0">
              <a:lnSpc>
                <a:spcPct val="100000"/>
              </a:lnSpc>
              <a:buNone/>
            </a:pPr>
            <a:r>
              <a:rPr lang="en-US" sz="2400" dirty="0">
                <a:solidFill>
                  <a:srgbClr val="E8EEF2"/>
                </a:solidFill>
                <a:latin typeface="Courier New" pitchFamily="34" charset="0"/>
                <a:ea typeface="Courier New" pitchFamily="34" charset="-122"/>
                <a:cs typeface="Courier New" pitchFamily="34" charset="-120"/>
              </a:rPr>
              <a:t>cost(60, 0.9, 50)   # coal at a tax of 50: expect 105</a:t>
            </a:r>
            <a:endParaRPr lang="en-US" sz="2400" dirty="0"/>
          </a:p>
        </p:txBody>
      </p:sp>
      <p:pic>
        <p:nvPicPr>
          <p:cNvPr id="9" name="tip icon" descr="preencoded.png">    </p:cNvPr>
          <p:cNvPicPr>
            <a:picLocks noChangeAspect="1"/>
          </p:cNvPicPr>
          <p:nvPr/>
        </p:nvPicPr>
        <p:blipFill>
          <a:blip r:embed="rId1"/>
          <a:stretch>
            <a:fillRect/>
          </a:stretch>
        </p:blipFill>
        <p:spPr>
          <a:xfrm>
            <a:off x="548640" y="5408168"/>
            <a:ext cx="329184" cy="329184"/>
          </a:xfrm>
          <a:prstGeom prst="rect">
            <a:avLst/>
          </a:prstGeom>
        </p:spPr>
      </p:pic>
      <p:sp>
        <p:nvSpPr>
          <p:cNvPr id="10" name="Text 6"/>
          <p:cNvSpPr txBox="1"/>
          <p:nvPr/>
        </p:nvSpPr>
        <p:spPr>
          <a:xfrm>
            <a:off x="1005840" y="5389880"/>
            <a:ext cx="10545775" cy="365760"/>
          </a:xfrm>
          <a:prstGeom prst="rect">
            <a:avLst/>
          </a:prstGeom>
          <a:noFill/>
          <a:ln/>
        </p:spPr>
        <p:txBody>
          <a:bodyPr wrap="square" lIns="0" tIns="0" rIns="0" bIns="0" rtlCol="0" anchor="ctr"/>
          <a:lstStyle/>
          <a:p>
            <a:pPr indent="0" marL="0">
              <a:buNone/>
            </a:pPr>
            <a:r>
              <a:rPr lang="en-US" sz="1400" i="1" dirty="0">
                <a:solidFill>
                  <a:srgbClr val="5B6875"/>
                </a:solidFill>
                <a:latin typeface="Calibri" pitchFamily="34" charset="0"/>
                <a:ea typeface="Calibri" pitchFamily="34" charset="-122"/>
                <a:cs typeface="Calibri" pitchFamily="34" charset="-120"/>
              </a:rPr>
              <a:t>Type it rather than paste it, run one line at a time (Ctrl+Enter), and check the output before the next line.</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C2410C"/>
                </a:solidFill>
                <a:latin typeface="Calibri" pitchFamily="34" charset="0"/>
                <a:ea typeface="Calibri" pitchFamily="34" charset="-122"/>
                <a:cs typeface="Calibri" pitchFamily="34" charset="-120"/>
              </a:rPr>
              <a:t>LAB · STEP 2 OF 4</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Loop over four carbon prices</a:t>
            </a:r>
            <a:endParaRPr lang="en-US" sz="3200" dirty="0"/>
          </a:p>
        </p:txBody>
      </p:sp>
      <p:sp>
        <p:nvSpPr>
          <p:cNvPr id="5" name="explain card"/>
          <p:cNvSpPr/>
          <p:nvPr/>
        </p:nvSpPr>
        <p:spPr>
          <a:xfrm>
            <a:off x="548640" y="1508760"/>
            <a:ext cx="11094415" cy="728980"/>
          </a:xfrm>
          <a:prstGeom prst="roundRect">
            <a:avLst>
              <a:gd name="adj" fmla="val 15052"/>
            </a:avLst>
          </a:prstGeom>
          <a:solidFill>
            <a:srgbClr val="E6F2F0"/>
          </a:solidFill>
          <a:ln w="12700">
            <a:solidFill>
              <a:srgbClr val="E6F2F0"/>
            </a:solidFill>
            <a:prstDash val="solid"/>
          </a:ln>
        </p:spPr>
      </p:sp>
      <p:sp>
        <p:nvSpPr>
          <p:cNvPr id="6" name="Text 3"/>
          <p:cNvSpPr txBox="1"/>
          <p:nvPr/>
        </p:nvSpPr>
        <p:spPr>
          <a:xfrm>
            <a:off x="777240" y="1600200"/>
            <a:ext cx="10637215" cy="546100"/>
          </a:xfrm>
          <a:prstGeom prst="rect">
            <a:avLst/>
          </a:prstGeom>
          <a:noFill/>
          <a:ln/>
        </p:spPr>
        <p:txBody>
          <a:bodyPr wrap="square" lIns="0" tIns="0" rIns="0" bIns="0" rtlCol="0" anchor="ctr"/>
          <a:lstStyle/>
          <a:p>
            <a:pPr indent="0" marL="0">
              <a:spcAft>
                <a:spcPts val="800"/>
              </a:spcAft>
              <a:buNone/>
            </a:pPr>
            <a:r>
              <a:rPr lang="en-US" sz="2000" dirty="0">
                <a:solidFill>
                  <a:srgbClr val="1F2933"/>
                </a:solidFill>
                <a:latin typeface="Calibri" pitchFamily="34" charset="0"/>
                <a:ea typeface="Calibri" pitchFamily="34" charset="-122"/>
                <a:cs typeface="Calibri" pitchFamily="34" charset="-120"/>
              </a:rPr>
              <a:t>A for loop runs its body once for each value. which.min picks the cheapest option.</a:t>
            </a:r>
            <a:endParaRPr lang="en-US" sz="2000" dirty="0"/>
          </a:p>
        </p:txBody>
      </p:sp>
      <p:sp>
        <p:nvSpPr>
          <p:cNvPr id="7" name="code panel"/>
          <p:cNvSpPr/>
          <p:nvPr/>
        </p:nvSpPr>
        <p:spPr>
          <a:xfrm>
            <a:off x="548640" y="2420620"/>
            <a:ext cx="11094415" cy="3154680"/>
          </a:xfrm>
          <a:prstGeom prst="roundRect">
            <a:avLst>
              <a:gd name="adj" fmla="val 3478"/>
            </a:avLst>
          </a:prstGeom>
          <a:solidFill>
            <a:srgbClr val="1E2A36"/>
          </a:solidFill>
          <a:ln w="12700">
            <a:solidFill>
              <a:srgbClr val="1E2A36"/>
            </a:solidFill>
            <a:prstDash val="solid"/>
          </a:ln>
        </p:spPr>
      </p:sp>
      <p:sp>
        <p:nvSpPr>
          <p:cNvPr id="8" name="Text 5"/>
          <p:cNvSpPr txBox="1"/>
          <p:nvPr/>
        </p:nvSpPr>
        <p:spPr>
          <a:xfrm>
            <a:off x="868680" y="2694940"/>
            <a:ext cx="10545775" cy="2743200"/>
          </a:xfrm>
          <a:prstGeom prst="rect">
            <a:avLst/>
          </a:prstGeom>
          <a:noFill/>
          <a:ln/>
        </p:spPr>
        <p:txBody>
          <a:bodyPr wrap="square" lIns="0" tIns="0" rIns="0" bIns="0" rtlCol="0" anchor="t"/>
          <a:lstStyle/>
          <a:p>
            <a:pPr indent="0" marL="0">
              <a:lnSpc>
                <a:spcPct val="100000"/>
              </a:lnSpc>
              <a:buNone/>
            </a:pPr>
            <a:r>
              <a:rPr lang="en-US" sz="2400" dirty="0">
                <a:solidFill>
                  <a:srgbClr val="E8EEF2"/>
                </a:solidFill>
                <a:latin typeface="Courier New" pitchFamily="34" charset="0"/>
                <a:ea typeface="Courier New" pitchFamily="34" charset="-122"/>
                <a:cs typeface="Courier New" pitchFamily="34" charset="-120"/>
              </a:rPr>
              <a:t>for (tax in c(0, 22, 30, 50)) {</a:t>
            </a:r>
            <a:endParaRPr lang="en-US" sz="2400" dirty="0"/>
          </a:p>
          <a:p>
            <a:pPr indent="0" marL="0">
              <a:lnSpc>
                <a:spcPct val="100000"/>
              </a:lnSpc>
              <a:buNone/>
            </a:pPr>
            <a:r>
              <a:rPr lang="en-US" sz="2400" dirty="0">
                <a:solidFill>
                  <a:srgbClr val="E8EEF2"/>
                </a:solidFill>
                <a:latin typeface="Courier New" pitchFamily="34" charset="0"/>
                <a:ea typeface="Courier New" pitchFamily="34" charset="-122"/>
                <a:cs typeface="Courier New" pitchFamily="34" charset="-120"/>
              </a:rPr>
              <a:t>  costs &lt;- c(coal  = cost(60, 0.9, tax),</a:t>
            </a:r>
            <a:endParaRPr lang="en-US" sz="2400" dirty="0"/>
          </a:p>
          <a:p>
            <a:pPr indent="0" marL="0">
              <a:lnSpc>
                <a:spcPct val="100000"/>
              </a:lnSpc>
              <a:buNone/>
            </a:pPr>
            <a:r>
              <a:rPr lang="en-US" sz="2400" dirty="0">
                <a:solidFill>
                  <a:srgbClr val="E8EEF2"/>
                </a:solidFill>
                <a:latin typeface="Courier New" pitchFamily="34" charset="0"/>
                <a:ea typeface="Courier New" pitchFamily="34" charset="-122"/>
                <a:cs typeface="Courier New" pitchFamily="34" charset="-120"/>
              </a:rPr>
              <a:t>             gas   = cost(70, 0.4, tax),</a:t>
            </a:r>
            <a:endParaRPr lang="en-US" sz="2400" dirty="0"/>
          </a:p>
          <a:p>
            <a:pPr indent="0" marL="0">
              <a:lnSpc>
                <a:spcPct val="100000"/>
              </a:lnSpc>
              <a:buNone/>
            </a:pPr>
            <a:r>
              <a:rPr lang="en-US" sz="2400" dirty="0">
                <a:solidFill>
                  <a:srgbClr val="E8EEF2"/>
                </a:solidFill>
                <a:latin typeface="Courier New" pitchFamily="34" charset="0"/>
                <a:ea typeface="Courier New" pitchFamily="34" charset="-122"/>
                <a:cs typeface="Courier New" pitchFamily="34" charset="-120"/>
              </a:rPr>
              <a:t>             solar = cost(80, 0, tax))</a:t>
            </a:r>
            <a:endParaRPr lang="en-US" sz="2400" dirty="0"/>
          </a:p>
          <a:p>
            <a:pPr indent="0" marL="0">
              <a:lnSpc>
                <a:spcPct val="100000"/>
              </a:lnSpc>
              <a:buNone/>
            </a:pPr>
            <a:r>
              <a:rPr lang="en-US" sz="2400" dirty="0">
                <a:solidFill>
                  <a:srgbClr val="E8EEF2"/>
                </a:solidFill>
                <a:latin typeface="Courier New" pitchFamily="34" charset="0"/>
                <a:ea typeface="Courier New" pitchFamily="34" charset="-122"/>
                <a:cs typeface="Courier New" pitchFamily="34" charset="-120"/>
              </a:rPr>
              <a:t>  print(names(which.min(costs)))</a:t>
            </a:r>
            <a:endParaRPr lang="en-US" sz="2400" dirty="0"/>
          </a:p>
          <a:p>
            <a:pPr indent="0" marL="0">
              <a:lnSpc>
                <a:spcPct val="100000"/>
              </a:lnSpc>
              <a:buNone/>
            </a:pPr>
            <a:r>
              <a:rPr lang="en-US" sz="2400" dirty="0">
                <a:solidFill>
                  <a:srgbClr val="E8EEF2"/>
                </a:solidFill>
                <a:latin typeface="Courier New" pitchFamily="34" charset="0"/>
                <a:ea typeface="Courier New" pitchFamily="34" charset="-122"/>
                <a:cs typeface="Courier New" pitchFamily="34" charset="-120"/>
              </a:rPr>
              <a:t>}</a:t>
            </a:r>
            <a:endParaRPr lang="en-US" sz="2400" dirty="0"/>
          </a:p>
          <a:p>
            <a:pPr indent="0" marL="0">
              <a:lnSpc>
                <a:spcPct val="100000"/>
              </a:lnSpc>
              <a:buNone/>
            </a:pPr>
            <a:r>
              <a:rPr lang="en-US" sz="2400" dirty="0">
                <a:solidFill>
                  <a:srgbClr val="E8EEF2"/>
                </a:solidFill>
                <a:latin typeface="Courier New" pitchFamily="34" charset="0"/>
                <a:ea typeface="Courier New" pitchFamily="34" charset="-122"/>
                <a:cs typeface="Courier New" pitchFamily="34" charset="-120"/>
              </a:rPr>
              <a:t># expect: coal, gas, solar, solar</a:t>
            </a:r>
            <a:endParaRPr lang="en-US" sz="2400" dirty="0"/>
          </a:p>
        </p:txBody>
      </p:sp>
      <p:pic>
        <p:nvPicPr>
          <p:cNvPr id="9" name="tip icon" descr="preencoded.png">    </p:cNvPr>
          <p:cNvPicPr>
            <a:picLocks noChangeAspect="1"/>
          </p:cNvPicPr>
          <p:nvPr/>
        </p:nvPicPr>
        <p:blipFill>
          <a:blip r:embed="rId1"/>
          <a:stretch>
            <a:fillRect/>
          </a:stretch>
        </p:blipFill>
        <p:spPr>
          <a:xfrm>
            <a:off x="548640" y="5822188"/>
            <a:ext cx="329184" cy="329184"/>
          </a:xfrm>
          <a:prstGeom prst="rect">
            <a:avLst/>
          </a:prstGeom>
        </p:spPr>
      </p:pic>
      <p:sp>
        <p:nvSpPr>
          <p:cNvPr id="10" name="Text 6"/>
          <p:cNvSpPr txBox="1"/>
          <p:nvPr/>
        </p:nvSpPr>
        <p:spPr>
          <a:xfrm>
            <a:off x="1005840" y="5803900"/>
            <a:ext cx="10545775" cy="365760"/>
          </a:xfrm>
          <a:prstGeom prst="rect">
            <a:avLst/>
          </a:prstGeom>
          <a:noFill/>
          <a:ln/>
        </p:spPr>
        <p:txBody>
          <a:bodyPr wrap="square" lIns="0" tIns="0" rIns="0" bIns="0" rtlCol="0" anchor="ctr"/>
          <a:lstStyle/>
          <a:p>
            <a:pPr indent="0" marL="0">
              <a:buNone/>
            </a:pPr>
            <a:r>
              <a:rPr lang="en-US" sz="1400" i="1" dirty="0">
                <a:solidFill>
                  <a:srgbClr val="5B6875"/>
                </a:solidFill>
                <a:latin typeface="Calibri" pitchFamily="34" charset="0"/>
                <a:ea typeface="Calibri" pitchFamily="34" charset="-122"/>
                <a:cs typeface="Calibri" pitchFamily="34" charset="-120"/>
              </a:rPr>
              <a:t>Type it rather than paste it, run one line at a time (Ctrl+Enter), and check the output before the next line.</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C2410C"/>
                </a:solidFill>
                <a:latin typeface="Calibri" pitchFamily="34" charset="0"/>
                <a:ea typeface="Calibri" pitchFamily="34" charset="-122"/>
                <a:cs typeface="Calibri" pitchFamily="34" charset="-120"/>
              </a:rPr>
              <a:t>LAB · STEP 3 OF 4</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Describe the market</a:t>
            </a:r>
            <a:endParaRPr lang="en-US" sz="3200" dirty="0"/>
          </a:p>
        </p:txBody>
      </p:sp>
      <p:sp>
        <p:nvSpPr>
          <p:cNvPr id="5" name="explain card"/>
          <p:cNvSpPr/>
          <p:nvPr/>
        </p:nvSpPr>
        <p:spPr>
          <a:xfrm>
            <a:off x="548640" y="1508760"/>
            <a:ext cx="11094415" cy="1046480"/>
          </a:xfrm>
          <a:prstGeom prst="roundRect">
            <a:avLst>
              <a:gd name="adj" fmla="val 10485"/>
            </a:avLst>
          </a:prstGeom>
          <a:solidFill>
            <a:srgbClr val="E6F2F0"/>
          </a:solidFill>
          <a:ln w="12700">
            <a:solidFill>
              <a:srgbClr val="E6F2F0"/>
            </a:solidFill>
            <a:prstDash val="solid"/>
          </a:ln>
        </p:spPr>
      </p:sp>
      <p:sp>
        <p:nvSpPr>
          <p:cNvPr id="6" name="Text 3"/>
          <p:cNvSpPr txBox="1"/>
          <p:nvPr/>
        </p:nvSpPr>
        <p:spPr>
          <a:xfrm>
            <a:off x="777240" y="1600200"/>
            <a:ext cx="10637215" cy="863600"/>
          </a:xfrm>
          <a:prstGeom prst="rect">
            <a:avLst/>
          </a:prstGeom>
          <a:noFill/>
          <a:ln/>
        </p:spPr>
        <p:txBody>
          <a:bodyPr wrap="square" lIns="0" tIns="0" rIns="0" bIns="0" rtlCol="0" anchor="ctr"/>
          <a:lstStyle/>
          <a:p>
            <a:pPr indent="0" marL="0">
              <a:spcAft>
                <a:spcPts val="800"/>
              </a:spcAft>
              <a:buNone/>
            </a:pPr>
            <a:r>
              <a:rPr lang="en-US" sz="2000" dirty="0">
                <a:solidFill>
                  <a:srgbClr val="1F2933"/>
                </a:solidFill>
                <a:latin typeface="Calibri" pitchFamily="34" charset="0"/>
                <a:ea typeface="Calibri" pitchFamily="34" charset="-122"/>
                <a:cs typeface="Calibri" pitchFamily="34" charset="-120"/>
              </a:rPr>
              <a:t>Demand falls as price rises; supply rises with price but the tax is taken off what sellers keep. gap is demand minus supply.</a:t>
            </a:r>
            <a:endParaRPr lang="en-US" sz="2000" dirty="0"/>
          </a:p>
        </p:txBody>
      </p:sp>
      <p:sp>
        <p:nvSpPr>
          <p:cNvPr id="7" name="code panel"/>
          <p:cNvSpPr/>
          <p:nvPr/>
        </p:nvSpPr>
        <p:spPr>
          <a:xfrm>
            <a:off x="548640" y="2738120"/>
            <a:ext cx="11094415" cy="1691640"/>
          </a:xfrm>
          <a:prstGeom prst="roundRect">
            <a:avLst>
              <a:gd name="adj" fmla="val 6486"/>
            </a:avLst>
          </a:prstGeom>
          <a:solidFill>
            <a:srgbClr val="1E2A36"/>
          </a:solidFill>
          <a:ln w="12700">
            <a:solidFill>
              <a:srgbClr val="1E2A36"/>
            </a:solidFill>
            <a:prstDash val="solid"/>
          </a:ln>
        </p:spPr>
      </p:sp>
      <p:sp>
        <p:nvSpPr>
          <p:cNvPr id="8" name="Text 5"/>
          <p:cNvSpPr txBox="1"/>
          <p:nvPr/>
        </p:nvSpPr>
        <p:spPr>
          <a:xfrm>
            <a:off x="868680" y="3012440"/>
            <a:ext cx="10545775" cy="1280160"/>
          </a:xfrm>
          <a:prstGeom prst="rect">
            <a:avLst/>
          </a:prstGeom>
          <a:noFill/>
          <a:ln/>
        </p:spPr>
        <p:txBody>
          <a:bodyPr wrap="square" lIns="0" tIns="0" rIns="0" bIns="0" rtlCol="0" anchor="t"/>
          <a:lstStyle/>
          <a:p>
            <a:pPr indent="0" marL="0">
              <a:lnSpc>
                <a:spcPct val="100000"/>
              </a:lnSpc>
              <a:buNone/>
            </a:pPr>
            <a:r>
              <a:rPr lang="en-US" sz="2400" dirty="0">
                <a:solidFill>
                  <a:srgbClr val="E8EEF2"/>
                </a:solidFill>
                <a:latin typeface="Courier New" pitchFamily="34" charset="0"/>
                <a:ea typeface="Courier New" pitchFamily="34" charset="-122"/>
                <a:cs typeface="Courier New" pitchFamily="34" charset="-120"/>
              </a:rPr>
              <a:t>demand &lt;- function(p) 1000 - 4 * p</a:t>
            </a:r>
            <a:endParaRPr lang="en-US" sz="2400" dirty="0"/>
          </a:p>
          <a:p>
            <a:pPr indent="0" marL="0">
              <a:lnSpc>
                <a:spcPct val="100000"/>
              </a:lnSpc>
              <a:buNone/>
            </a:pPr>
            <a:r>
              <a:rPr lang="en-US" sz="2400" dirty="0">
                <a:solidFill>
                  <a:srgbClr val="E8EEF2"/>
                </a:solidFill>
                <a:latin typeface="Courier New" pitchFamily="34" charset="0"/>
                <a:ea typeface="Courier New" pitchFamily="34" charset="-122"/>
                <a:cs typeface="Courier New" pitchFamily="34" charset="-120"/>
              </a:rPr>
              <a:t>supply &lt;- function(p, tax) 6 * (p - 0.9 * tax)</a:t>
            </a:r>
            <a:endParaRPr lang="en-US" sz="2400" dirty="0"/>
          </a:p>
          <a:p>
            <a:pPr indent="0" marL="0">
              <a:lnSpc>
                <a:spcPct val="100000"/>
              </a:lnSpc>
              <a:buNone/>
            </a:pPr>
            <a:r>
              <a:rPr lang="en-US" sz="2400" dirty="0">
                <a:solidFill>
                  <a:srgbClr val="E8EEF2"/>
                </a:solidFill>
                <a:latin typeface="Courier New" pitchFamily="34" charset="0"/>
                <a:ea typeface="Courier New" pitchFamily="34" charset="-122"/>
                <a:cs typeface="Courier New" pitchFamily="34" charset="-120"/>
              </a:rPr>
              <a:t>gap    &lt;- function(p, tax) demand(p) - supply(p, tax)</a:t>
            </a:r>
            <a:endParaRPr lang="en-US" sz="2400" dirty="0"/>
          </a:p>
        </p:txBody>
      </p:sp>
      <p:pic>
        <p:nvPicPr>
          <p:cNvPr id="9" name="tip icon" descr="preencoded.png">    </p:cNvPr>
          <p:cNvPicPr>
            <a:picLocks noChangeAspect="1"/>
          </p:cNvPicPr>
          <p:nvPr/>
        </p:nvPicPr>
        <p:blipFill>
          <a:blip r:embed="rId1"/>
          <a:stretch>
            <a:fillRect/>
          </a:stretch>
        </p:blipFill>
        <p:spPr>
          <a:xfrm>
            <a:off x="548640" y="4676648"/>
            <a:ext cx="329184" cy="329184"/>
          </a:xfrm>
          <a:prstGeom prst="rect">
            <a:avLst/>
          </a:prstGeom>
        </p:spPr>
      </p:pic>
      <p:sp>
        <p:nvSpPr>
          <p:cNvPr id="10" name="Text 6"/>
          <p:cNvSpPr txBox="1"/>
          <p:nvPr/>
        </p:nvSpPr>
        <p:spPr>
          <a:xfrm>
            <a:off x="1005840" y="4658360"/>
            <a:ext cx="10545775" cy="365760"/>
          </a:xfrm>
          <a:prstGeom prst="rect">
            <a:avLst/>
          </a:prstGeom>
          <a:noFill/>
          <a:ln/>
        </p:spPr>
        <p:txBody>
          <a:bodyPr wrap="square" lIns="0" tIns="0" rIns="0" bIns="0" rtlCol="0" anchor="ctr"/>
          <a:lstStyle/>
          <a:p>
            <a:pPr indent="0" marL="0">
              <a:buNone/>
            </a:pPr>
            <a:r>
              <a:rPr lang="en-US" sz="1400" i="1" dirty="0">
                <a:solidFill>
                  <a:srgbClr val="5B6875"/>
                </a:solidFill>
                <a:latin typeface="Calibri" pitchFamily="34" charset="0"/>
                <a:ea typeface="Calibri" pitchFamily="34" charset="-122"/>
                <a:cs typeface="Calibri" pitchFamily="34" charset="-120"/>
              </a:rPr>
              <a:t>Type it rather than paste it, run one line at a time (Ctrl+Enter), and check the output before the next line.</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C2410C"/>
                </a:solidFill>
                <a:latin typeface="Calibri" pitchFamily="34" charset="0"/>
                <a:ea typeface="Calibri" pitchFamily="34" charset="-122"/>
                <a:cs typeface="Calibri" pitchFamily="34" charset="-120"/>
              </a:rPr>
              <a:t>LAB · STEP 4 OF 4</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Let R find the equilibrium</a:t>
            </a:r>
            <a:endParaRPr lang="en-US" sz="3200" dirty="0"/>
          </a:p>
        </p:txBody>
      </p:sp>
      <p:sp>
        <p:nvSpPr>
          <p:cNvPr id="5" name="explain card"/>
          <p:cNvSpPr/>
          <p:nvPr/>
        </p:nvSpPr>
        <p:spPr>
          <a:xfrm>
            <a:off x="548640" y="1508760"/>
            <a:ext cx="11094415" cy="1046480"/>
          </a:xfrm>
          <a:prstGeom prst="roundRect">
            <a:avLst>
              <a:gd name="adj" fmla="val 10485"/>
            </a:avLst>
          </a:prstGeom>
          <a:solidFill>
            <a:srgbClr val="E6F2F0"/>
          </a:solidFill>
          <a:ln w="12700">
            <a:solidFill>
              <a:srgbClr val="E6F2F0"/>
            </a:solidFill>
            <a:prstDash val="solid"/>
          </a:ln>
        </p:spPr>
      </p:sp>
      <p:sp>
        <p:nvSpPr>
          <p:cNvPr id="6" name="Text 3"/>
          <p:cNvSpPr txBox="1"/>
          <p:nvPr/>
        </p:nvSpPr>
        <p:spPr>
          <a:xfrm>
            <a:off x="777240" y="1600200"/>
            <a:ext cx="10637215" cy="863600"/>
          </a:xfrm>
          <a:prstGeom prst="rect">
            <a:avLst/>
          </a:prstGeom>
          <a:noFill/>
          <a:ln/>
        </p:spPr>
        <p:txBody>
          <a:bodyPr wrap="square" lIns="0" tIns="0" rIns="0" bIns="0" rtlCol="0" anchor="ctr"/>
          <a:lstStyle/>
          <a:p>
            <a:pPr indent="0" marL="0">
              <a:spcAft>
                <a:spcPts val="800"/>
              </a:spcAft>
              <a:buNone/>
            </a:pPr>
            <a:r>
              <a:rPr lang="en-US" sz="2000" dirty="0">
                <a:solidFill>
                  <a:srgbClr val="1F2933"/>
                </a:solidFill>
                <a:latin typeface="Calibri" pitchFamily="34" charset="0"/>
                <a:ea typeface="Calibri" pitchFamily="34" charset="-122"/>
                <a:cs typeface="Calibri" pitchFamily="34" charset="-120"/>
              </a:rPr>
              <a:t>uniroot searches between 0 and 500 for the price where gap is zero, the same search a market model does.</a:t>
            </a:r>
            <a:endParaRPr lang="en-US" sz="2000" dirty="0"/>
          </a:p>
        </p:txBody>
      </p:sp>
      <p:sp>
        <p:nvSpPr>
          <p:cNvPr id="7" name="code panel"/>
          <p:cNvSpPr/>
          <p:nvPr/>
        </p:nvSpPr>
        <p:spPr>
          <a:xfrm>
            <a:off x="548640" y="2738120"/>
            <a:ext cx="11094415" cy="1645920"/>
          </a:xfrm>
          <a:prstGeom prst="roundRect">
            <a:avLst>
              <a:gd name="adj" fmla="val 6667"/>
            </a:avLst>
          </a:prstGeom>
          <a:solidFill>
            <a:srgbClr val="1E2A36"/>
          </a:solidFill>
          <a:ln w="12700">
            <a:solidFill>
              <a:srgbClr val="1E2A36"/>
            </a:solidFill>
            <a:prstDash val="solid"/>
          </a:ln>
        </p:spPr>
      </p:sp>
      <p:sp>
        <p:nvSpPr>
          <p:cNvPr id="8" name="Text 5"/>
          <p:cNvSpPr txBox="1"/>
          <p:nvPr/>
        </p:nvSpPr>
        <p:spPr>
          <a:xfrm>
            <a:off x="868680" y="3012440"/>
            <a:ext cx="10545775" cy="1234440"/>
          </a:xfrm>
          <a:prstGeom prst="rect">
            <a:avLst/>
          </a:prstGeom>
          <a:noFill/>
          <a:ln/>
        </p:spPr>
        <p:txBody>
          <a:bodyPr wrap="square" lIns="0" tIns="0" rIns="0" bIns="0" rtlCol="0" anchor="t"/>
          <a:lstStyle/>
          <a:p>
            <a:pPr indent="0" marL="0">
              <a:lnSpc>
                <a:spcPct val="100000"/>
              </a:lnSpc>
              <a:buNone/>
            </a:pPr>
            <a:r>
              <a:rPr lang="en-US" sz="2300" dirty="0">
                <a:solidFill>
                  <a:srgbClr val="E8EEF2"/>
                </a:solidFill>
                <a:latin typeface="Courier New" pitchFamily="34" charset="0"/>
                <a:ea typeface="Courier New" pitchFamily="34" charset="-122"/>
                <a:cs typeface="Courier New" pitchFamily="34" charset="-120"/>
              </a:rPr>
              <a:t>p0  &lt;- uniroot(gap, c(0, 500), tax = 0)$root   # ~100</a:t>
            </a:r>
            <a:endParaRPr lang="en-US" sz="2300" dirty="0"/>
          </a:p>
          <a:p>
            <a:pPr indent="0" marL="0">
              <a:lnSpc>
                <a:spcPct val="100000"/>
              </a:lnSpc>
              <a:buNone/>
            </a:pPr>
            <a:r>
              <a:rPr lang="en-US" sz="2300" dirty="0">
                <a:solidFill>
                  <a:srgbClr val="E8EEF2"/>
                </a:solidFill>
                <a:latin typeface="Courier New" pitchFamily="34" charset="0"/>
                <a:ea typeface="Courier New" pitchFamily="34" charset="-122"/>
                <a:cs typeface="Courier New" pitchFamily="34" charset="-120"/>
              </a:rPr>
              <a:t>p50 &lt;- uniroot(gap, c(0, 500), tax = 50)$root  # ~127</a:t>
            </a:r>
            <a:endParaRPr lang="en-US" sz="2300" dirty="0"/>
          </a:p>
          <a:p>
            <a:pPr indent="0" marL="0">
              <a:lnSpc>
                <a:spcPct val="100000"/>
              </a:lnSpc>
              <a:buNone/>
            </a:pPr>
            <a:r>
              <a:rPr lang="en-US" sz="2300" dirty="0">
                <a:solidFill>
                  <a:srgbClr val="E8EEF2"/>
                </a:solidFill>
                <a:latin typeface="Courier New" pitchFamily="34" charset="0"/>
                <a:ea typeface="Courier New" pitchFamily="34" charset="-122"/>
                <a:cs typeface="Courier New" pitchFamily="34" charset="-120"/>
              </a:rPr>
              <a:t>demand(c(p0, p50))                             # ~600, ~492</a:t>
            </a:r>
            <a:endParaRPr lang="en-US" sz="2300" dirty="0"/>
          </a:p>
        </p:txBody>
      </p:sp>
      <p:pic>
        <p:nvPicPr>
          <p:cNvPr id="9" name="tip icon" descr="preencoded.png">    </p:cNvPr>
          <p:cNvPicPr>
            <a:picLocks noChangeAspect="1"/>
          </p:cNvPicPr>
          <p:nvPr/>
        </p:nvPicPr>
        <p:blipFill>
          <a:blip r:embed="rId1"/>
          <a:stretch>
            <a:fillRect/>
          </a:stretch>
        </p:blipFill>
        <p:spPr>
          <a:xfrm>
            <a:off x="548640" y="4630928"/>
            <a:ext cx="329184" cy="329184"/>
          </a:xfrm>
          <a:prstGeom prst="rect">
            <a:avLst/>
          </a:prstGeom>
        </p:spPr>
      </p:pic>
      <p:sp>
        <p:nvSpPr>
          <p:cNvPr id="10" name="Text 6"/>
          <p:cNvSpPr txBox="1"/>
          <p:nvPr/>
        </p:nvSpPr>
        <p:spPr>
          <a:xfrm>
            <a:off x="1005840" y="4612640"/>
            <a:ext cx="10545775" cy="365760"/>
          </a:xfrm>
          <a:prstGeom prst="rect">
            <a:avLst/>
          </a:prstGeom>
          <a:noFill/>
          <a:ln/>
        </p:spPr>
        <p:txBody>
          <a:bodyPr wrap="square" lIns="0" tIns="0" rIns="0" bIns="0" rtlCol="0" anchor="ctr"/>
          <a:lstStyle/>
          <a:p>
            <a:pPr indent="0" marL="0">
              <a:buNone/>
            </a:pPr>
            <a:r>
              <a:rPr lang="en-US" sz="1400" i="1" dirty="0">
                <a:solidFill>
                  <a:srgbClr val="5B6875"/>
                </a:solidFill>
                <a:latin typeface="Calibri" pitchFamily="34" charset="0"/>
                <a:ea typeface="Calibri" pitchFamily="34" charset="-122"/>
                <a:cs typeface="Calibri" pitchFamily="34" charset="-120"/>
              </a:rPr>
              <a:t>Type it rather than paste it, run one line at a time (Ctrl+Enter), and check the output before the next line.</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C2410C"/>
                </a:solidFill>
                <a:latin typeface="Calibri" pitchFamily="34" charset="0"/>
                <a:ea typeface="Calibri" pitchFamily="34" charset="-122"/>
                <a:cs typeface="Calibri" pitchFamily="34" charset="-120"/>
              </a:rPr>
              <a:t>LAB · CHECK YOUR WORK</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Did it work?</a:t>
            </a:r>
            <a:endParaRPr lang="en-US" sz="3200" dirty="0"/>
          </a:p>
        </p:txBody>
      </p:sp>
      <p:sp>
        <p:nvSpPr>
          <p:cNvPr id="5" name="check card"/>
          <p:cNvSpPr/>
          <p:nvPr/>
        </p:nvSpPr>
        <p:spPr>
          <a:xfrm>
            <a:off x="548640" y="1554480"/>
            <a:ext cx="5410048" cy="4617720"/>
          </a:xfrm>
          <a:prstGeom prst="roundRect">
            <a:avLst>
              <a:gd name="adj" fmla="val 2376"/>
            </a:avLst>
          </a:prstGeom>
          <a:solidFill>
            <a:srgbClr val="E7F5EC"/>
          </a:solidFill>
          <a:ln w="12700">
            <a:solidFill>
              <a:srgbClr val="E7F5EC"/>
            </a:solidFill>
            <a:prstDash val="solid"/>
          </a:ln>
        </p:spPr>
      </p:sp>
      <p:sp>
        <p:nvSpPr>
          <p:cNvPr id="6" name="Text 3"/>
          <p:cNvSpPr txBox="1"/>
          <p:nvPr/>
        </p:nvSpPr>
        <p:spPr>
          <a:xfrm>
            <a:off x="822960" y="1737360"/>
            <a:ext cx="4861408" cy="457200"/>
          </a:xfrm>
          <a:prstGeom prst="rect">
            <a:avLst/>
          </a:prstGeom>
          <a:noFill/>
          <a:ln/>
        </p:spPr>
        <p:txBody>
          <a:bodyPr wrap="square" lIns="0" tIns="0" rIns="0" bIns="0" rtlCol="0" anchor="t"/>
          <a:lstStyle/>
          <a:p>
            <a:pPr indent="0" marL="0">
              <a:buNone/>
            </a:pPr>
            <a:r>
              <a:rPr lang="en-US" sz="2000" b="1" dirty="0">
                <a:solidFill>
                  <a:srgbClr val="15803D"/>
                </a:solidFill>
                <a:latin typeface="Cambria" pitchFamily="34" charset="0"/>
                <a:ea typeface="Cambria" pitchFamily="34" charset="-122"/>
                <a:cs typeface="Cambria" pitchFamily="34" charset="-120"/>
              </a:rPr>
              <a:t>You should see</a:t>
            </a:r>
            <a:endParaRPr lang="en-US" sz="2000" dirty="0"/>
          </a:p>
        </p:txBody>
      </p:sp>
      <p:sp>
        <p:nvSpPr>
          <p:cNvPr id="7" name="icon circle"/>
          <p:cNvSpPr/>
          <p:nvPr/>
        </p:nvSpPr>
        <p:spPr>
          <a:xfrm>
            <a:off x="822960" y="2377440"/>
            <a:ext cx="384048" cy="384048"/>
          </a:xfrm>
          <a:prstGeom prst="ellipse">
            <a:avLst/>
          </a:prstGeom>
          <a:solidFill>
            <a:srgbClr val="15803D"/>
          </a:solidFill>
          <a:ln w="12700">
            <a:solidFill>
              <a:srgbClr val="15803D"/>
            </a:solidFill>
            <a:prstDash val="solid"/>
          </a:ln>
        </p:spPr>
      </p:sp>
      <p:pic>
        <p:nvPicPr>
          <p:cNvPr id="8" name="icon" descr="preencoded.png">    </p:cNvPr>
          <p:cNvPicPr>
            <a:picLocks noChangeAspect="1"/>
          </p:cNvPicPr>
          <p:nvPr/>
        </p:nvPicPr>
        <p:blipFill>
          <a:blip r:embed="rId1"/>
          <a:stretch>
            <a:fillRect/>
          </a:stretch>
        </p:blipFill>
        <p:spPr>
          <a:xfrm>
            <a:off x="922812" y="2477292"/>
            <a:ext cx="184343" cy="184343"/>
          </a:xfrm>
          <a:prstGeom prst="rect">
            <a:avLst/>
          </a:prstGeom>
        </p:spPr>
      </p:pic>
      <p:sp>
        <p:nvSpPr>
          <p:cNvPr id="9" name="Text 5"/>
          <p:cNvSpPr txBox="1"/>
          <p:nvPr/>
        </p:nvSpPr>
        <p:spPr>
          <a:xfrm>
            <a:off x="1371600" y="2331720"/>
            <a:ext cx="4312768" cy="1143000"/>
          </a:xfrm>
          <a:prstGeom prst="rect">
            <a:avLst/>
          </a:prstGeom>
          <a:noFill/>
          <a:ln/>
        </p:spPr>
        <p:txBody>
          <a:bodyPr wrap="square" lIns="0" tIns="0" rIns="0" bIns="0" rtlCol="0" anchor="t"/>
          <a:lstStyle/>
          <a:p>
            <a:pPr indent="0" marL="0">
              <a:buNone/>
            </a:pPr>
            <a:r>
              <a:rPr lang="en-US" sz="2000" dirty="0">
                <a:solidFill>
                  <a:srgbClr val="1F2933"/>
                </a:solidFill>
                <a:latin typeface="Calibri" pitchFamily="34" charset="0"/>
                <a:ea typeface="Calibri" pitchFamily="34" charset="-122"/>
                <a:cs typeface="Calibri" pitchFamily="34" charset="-120"/>
              </a:rPr>
              <a:t>The loop prints coal, gas, solar, solar</a:t>
            </a:r>
            <a:endParaRPr lang="en-US" sz="2000" dirty="0"/>
          </a:p>
        </p:txBody>
      </p:sp>
      <p:sp>
        <p:nvSpPr>
          <p:cNvPr id="10" name="icon circle"/>
          <p:cNvSpPr/>
          <p:nvPr/>
        </p:nvSpPr>
        <p:spPr>
          <a:xfrm>
            <a:off x="822960" y="3611880"/>
            <a:ext cx="384048" cy="384048"/>
          </a:xfrm>
          <a:prstGeom prst="ellipse">
            <a:avLst/>
          </a:prstGeom>
          <a:solidFill>
            <a:srgbClr val="15803D"/>
          </a:solidFill>
          <a:ln w="12700">
            <a:solidFill>
              <a:srgbClr val="15803D"/>
            </a:solidFill>
            <a:prstDash val="solid"/>
          </a:ln>
        </p:spPr>
      </p:sp>
      <p:pic>
        <p:nvPicPr>
          <p:cNvPr id="11" name="icon" descr="preencoded.png">    </p:cNvPr>
          <p:cNvPicPr>
            <a:picLocks noChangeAspect="1"/>
          </p:cNvPicPr>
          <p:nvPr/>
        </p:nvPicPr>
        <p:blipFill>
          <a:blip r:embed="rId2"/>
          <a:stretch>
            <a:fillRect/>
          </a:stretch>
        </p:blipFill>
        <p:spPr>
          <a:xfrm>
            <a:off x="922812" y="3711732"/>
            <a:ext cx="184343" cy="184343"/>
          </a:xfrm>
          <a:prstGeom prst="rect">
            <a:avLst/>
          </a:prstGeom>
        </p:spPr>
      </p:pic>
      <p:sp>
        <p:nvSpPr>
          <p:cNvPr id="12" name="Text 7"/>
          <p:cNvSpPr txBox="1"/>
          <p:nvPr/>
        </p:nvSpPr>
        <p:spPr>
          <a:xfrm>
            <a:off x="1371600" y="3566160"/>
            <a:ext cx="4312768" cy="1143000"/>
          </a:xfrm>
          <a:prstGeom prst="rect">
            <a:avLst/>
          </a:prstGeom>
          <a:noFill/>
          <a:ln/>
        </p:spPr>
        <p:txBody>
          <a:bodyPr wrap="square" lIns="0" tIns="0" rIns="0" bIns="0" rtlCol="0" anchor="t"/>
          <a:lstStyle/>
          <a:p>
            <a:pPr indent="0" marL="0">
              <a:buNone/>
            </a:pPr>
            <a:r>
              <a:rPr lang="en-US" sz="2000" dirty="0">
                <a:solidFill>
                  <a:srgbClr val="1F2933"/>
                </a:solidFill>
                <a:latin typeface="Calibri" pitchFamily="34" charset="0"/>
                <a:ea typeface="Calibri" pitchFamily="34" charset="-122"/>
                <a:cs typeface="Calibri" pitchFamily="34" charset="-120"/>
              </a:rPr>
              <a:t>p0 is about 100 and p50 about 127</a:t>
            </a:r>
            <a:endParaRPr lang="en-US" sz="2000" dirty="0"/>
          </a:p>
        </p:txBody>
      </p:sp>
      <p:sp>
        <p:nvSpPr>
          <p:cNvPr id="13" name="icon circle"/>
          <p:cNvSpPr/>
          <p:nvPr/>
        </p:nvSpPr>
        <p:spPr>
          <a:xfrm>
            <a:off x="822960" y="4846320"/>
            <a:ext cx="384048" cy="384048"/>
          </a:xfrm>
          <a:prstGeom prst="ellipse">
            <a:avLst/>
          </a:prstGeom>
          <a:solidFill>
            <a:srgbClr val="15803D"/>
          </a:solidFill>
          <a:ln w="12700">
            <a:solidFill>
              <a:srgbClr val="15803D"/>
            </a:solidFill>
            <a:prstDash val="solid"/>
          </a:ln>
        </p:spPr>
      </p:sp>
      <p:pic>
        <p:nvPicPr>
          <p:cNvPr id="14" name="icon" descr="preencoded.png">    </p:cNvPr>
          <p:cNvPicPr>
            <a:picLocks noChangeAspect="1"/>
          </p:cNvPicPr>
          <p:nvPr/>
        </p:nvPicPr>
        <p:blipFill>
          <a:blip r:embed="rId3"/>
          <a:stretch>
            <a:fillRect/>
          </a:stretch>
        </p:blipFill>
        <p:spPr>
          <a:xfrm>
            <a:off x="922812" y="4946172"/>
            <a:ext cx="184343" cy="184343"/>
          </a:xfrm>
          <a:prstGeom prst="rect">
            <a:avLst/>
          </a:prstGeom>
        </p:spPr>
      </p:pic>
      <p:sp>
        <p:nvSpPr>
          <p:cNvPr id="15" name="Text 9"/>
          <p:cNvSpPr txBox="1"/>
          <p:nvPr/>
        </p:nvSpPr>
        <p:spPr>
          <a:xfrm>
            <a:off x="1371600" y="4800600"/>
            <a:ext cx="4312768" cy="1143000"/>
          </a:xfrm>
          <a:prstGeom prst="rect">
            <a:avLst/>
          </a:prstGeom>
          <a:noFill/>
          <a:ln/>
        </p:spPr>
        <p:txBody>
          <a:bodyPr wrap="square" lIns="0" tIns="0" rIns="0" bIns="0" rtlCol="0" anchor="t"/>
          <a:lstStyle/>
          <a:p>
            <a:pPr indent="0" marL="0">
              <a:buNone/>
            </a:pPr>
            <a:r>
              <a:rPr lang="en-US" sz="2000" dirty="0">
                <a:solidFill>
                  <a:srgbClr val="1F2933"/>
                </a:solidFill>
                <a:latin typeface="Calibri" pitchFamily="34" charset="0"/>
                <a:ea typeface="Calibri" pitchFamily="34" charset="-122"/>
                <a:cs typeface="Calibri" pitchFamily="34" charset="-120"/>
              </a:rPr>
              <a:t>Quantity falls from 600 to about 492</a:t>
            </a:r>
            <a:endParaRPr lang="en-US" sz="2000" dirty="0"/>
          </a:p>
        </p:txBody>
      </p:sp>
      <p:sp>
        <p:nvSpPr>
          <p:cNvPr id="16" name="worksheet card"/>
          <p:cNvSpPr/>
          <p:nvPr/>
        </p:nvSpPr>
        <p:spPr>
          <a:xfrm>
            <a:off x="6233008" y="1554480"/>
            <a:ext cx="5410048" cy="4617720"/>
          </a:xfrm>
          <a:prstGeom prst="roundRect">
            <a:avLst>
              <a:gd name="adj" fmla="val 2376"/>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7" name="Text 11"/>
          <p:cNvSpPr txBox="1"/>
          <p:nvPr/>
        </p:nvSpPr>
        <p:spPr>
          <a:xfrm>
            <a:off x="6507328" y="1737360"/>
            <a:ext cx="4861408" cy="457200"/>
          </a:xfrm>
          <a:prstGeom prst="rect">
            <a:avLst/>
          </a:prstGeom>
          <a:noFill/>
          <a:ln/>
        </p:spPr>
        <p:txBody>
          <a:bodyPr wrap="square" lIns="0" tIns="0" rIns="0" bIns="0" rtlCol="0" anchor="t"/>
          <a:lstStyle/>
          <a:p>
            <a:pPr indent="0" marL="0">
              <a:buNone/>
            </a:pPr>
            <a:r>
              <a:rPr lang="en-US" sz="2000" b="1" dirty="0">
                <a:solidFill>
                  <a:srgbClr val="12263A"/>
                </a:solidFill>
                <a:latin typeface="Cambria" pitchFamily="34" charset="0"/>
                <a:ea typeface="Cambria" pitchFamily="34" charset="-122"/>
                <a:cs typeface="Cambria" pitchFamily="34" charset="-120"/>
              </a:rPr>
              <a:t>Worksheet questions</a:t>
            </a:r>
            <a:endParaRPr lang="en-US" sz="2000" dirty="0"/>
          </a:p>
        </p:txBody>
      </p:sp>
      <p:sp>
        <p:nvSpPr>
          <p:cNvPr id="18" name="number badge"/>
          <p:cNvSpPr txBox="1"/>
          <p:nvPr/>
        </p:nvSpPr>
        <p:spPr>
          <a:xfrm>
            <a:off x="6507328" y="2377440"/>
            <a:ext cx="384048" cy="384048"/>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19" name="Text 13"/>
          <p:cNvSpPr txBox="1"/>
          <p:nvPr/>
        </p:nvSpPr>
        <p:spPr>
          <a:xfrm>
            <a:off x="7055968" y="2331720"/>
            <a:ext cx="4312768" cy="1143000"/>
          </a:xfrm>
          <a:prstGeom prst="rect">
            <a:avLst/>
          </a:prstGeom>
          <a:noFill/>
          <a:ln/>
        </p:spPr>
        <p:txBody>
          <a:bodyPr wrap="square" lIns="0" tIns="0" rIns="0" bIns="0" rtlCol="0" anchor="t"/>
          <a:lstStyle/>
          <a:p>
            <a:pPr indent="0" marL="0">
              <a:buNone/>
            </a:pPr>
            <a:r>
              <a:rPr lang="en-US" sz="2000" dirty="0">
                <a:solidFill>
                  <a:srgbClr val="1F2933"/>
                </a:solidFill>
                <a:latin typeface="Calibri" pitchFamily="34" charset="0"/>
                <a:ea typeface="Calibri" pitchFamily="34" charset="-122"/>
                <a:cs typeface="Calibri" pitchFamily="34" charset="-120"/>
              </a:rPr>
              <a:t>Of the 45 $/MWh tax, how much do buyers pay and how much do sellers absorb?</a:t>
            </a:r>
            <a:endParaRPr lang="en-US" sz="2000" dirty="0"/>
          </a:p>
        </p:txBody>
      </p:sp>
      <p:sp>
        <p:nvSpPr>
          <p:cNvPr id="20" name="number badge"/>
          <p:cNvSpPr txBox="1"/>
          <p:nvPr/>
        </p:nvSpPr>
        <p:spPr>
          <a:xfrm>
            <a:off x="6507328" y="3611880"/>
            <a:ext cx="384048" cy="384048"/>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21" name="Text 15"/>
          <p:cNvSpPr txBox="1"/>
          <p:nvPr/>
        </p:nvSpPr>
        <p:spPr>
          <a:xfrm>
            <a:off x="7055968" y="3566160"/>
            <a:ext cx="4312768" cy="1143000"/>
          </a:xfrm>
          <a:prstGeom prst="rect">
            <a:avLst/>
          </a:prstGeom>
          <a:noFill/>
          <a:ln/>
        </p:spPr>
        <p:txBody>
          <a:bodyPr wrap="square" lIns="0" tIns="0" rIns="0" bIns="0" rtlCol="0" anchor="t"/>
          <a:lstStyle/>
          <a:p>
            <a:pPr indent="0" marL="0">
              <a:buNone/>
            </a:pPr>
            <a:r>
              <a:rPr lang="en-US" sz="2000" dirty="0">
                <a:solidFill>
                  <a:srgbClr val="1F2933"/>
                </a:solidFill>
                <a:latin typeface="Calibri" pitchFamily="34" charset="0"/>
                <a:ea typeface="Calibri" pitchFamily="34" charset="-122"/>
                <a:cs typeface="Calibri" pitchFamily="34" charset="-120"/>
              </a:rPr>
              <a:t>At what carbon price does solar beat gas? Show the algebra.</a:t>
            </a:r>
            <a:endParaRPr lang="en-US" sz="2000" dirty="0"/>
          </a:p>
        </p:txBody>
      </p:sp>
      <p:sp>
        <p:nvSpPr>
          <p:cNvPr id="22" name="number badge"/>
          <p:cNvSpPr txBox="1"/>
          <p:nvPr/>
        </p:nvSpPr>
        <p:spPr>
          <a:xfrm>
            <a:off x="6507328" y="4846320"/>
            <a:ext cx="384048" cy="384048"/>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23" name="Text 17"/>
          <p:cNvSpPr txBox="1"/>
          <p:nvPr/>
        </p:nvSpPr>
        <p:spPr>
          <a:xfrm>
            <a:off x="7055968" y="4800600"/>
            <a:ext cx="4312768" cy="1143000"/>
          </a:xfrm>
          <a:prstGeom prst="rect">
            <a:avLst/>
          </a:prstGeom>
          <a:noFill/>
          <a:ln/>
        </p:spPr>
        <p:txBody>
          <a:bodyPr wrap="square" lIns="0" tIns="0" rIns="0" bIns="0" rtlCol="0" anchor="t"/>
          <a:lstStyle/>
          <a:p>
            <a:pPr indent="0" marL="0">
              <a:buNone/>
            </a:pPr>
            <a:r>
              <a:rPr lang="en-US" sz="2000" dirty="0">
                <a:solidFill>
                  <a:srgbClr val="1F2933"/>
                </a:solidFill>
                <a:latin typeface="Calibri" pitchFamily="34" charset="0"/>
                <a:ea typeface="Calibri" pitchFamily="34" charset="-122"/>
                <a:cs typeface="Calibri" pitchFamily="34" charset="-120"/>
              </a:rPr>
              <a:t>Change demand to 1000 − 2p. What happens to the price rise, and who now carries more of the tax?</a:t>
            </a:r>
            <a:endParaRPr lang="en-US" sz="2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6FD3C7"/>
                </a:solidFill>
                <a:latin typeface="Calibri" pitchFamily="34" charset="0"/>
                <a:ea typeface="Calibri" pitchFamily="34" charset="-122"/>
                <a:cs typeface="Calibri" pitchFamily="34" charset="-120"/>
              </a:rPr>
              <a:t>RECAP</a:t>
            </a:r>
            <a:endParaRPr lang="en-US" sz="1200" dirty="0"/>
          </a:p>
        </p:txBody>
      </p:sp>
      <p:sp>
        <p:nvSpPr>
          <p:cNvPr id="3" name="Text 0"/>
          <p:cNvSpPr/>
          <p:nvPr>
            <p:ph idx="100" type="title" hasCustomPrompt="1"/>
          </p:nvPr>
        </p:nvSpPr>
        <p:spPr>
          <a:xfrm>
            <a:off x="548640" y="685800"/>
            <a:ext cx="11094415" cy="822960"/>
          </a:xfrm>
          <a:prstGeom prst="rect">
            <a:avLst/>
          </a:prstGeom>
          <a:noFill/>
          <a:ln/>
        </p:spPr>
        <p:txBody>
          <a:bodyPr wrap="square" lIns="0" tIns="0" rIns="0" bIns="0" rtlCol="0" anchor="t"/>
          <a:lstStyle/>
          <a:p>
            <a:pPr algn="l" indent="0" marL="0">
              <a:buNone/>
            </a:pPr>
            <a:r>
              <a:rPr lang="en-US" sz="4000" b="1" dirty="0">
                <a:solidFill>
                  <a:srgbClr val="FFFFFF"/>
                </a:solidFill>
                <a:latin typeface="Cambria" pitchFamily="34" charset="0"/>
                <a:ea typeface="Cambria" pitchFamily="34" charset="-122"/>
                <a:cs typeface="Cambria" pitchFamily="34" charset="-120"/>
              </a:rPr>
              <a:t>Take-home messages</a:t>
            </a:r>
            <a:endParaRPr lang="en-US" sz="4000" dirty="0"/>
          </a:p>
        </p:txBody>
      </p:sp>
      <p:sp>
        <p:nvSpPr>
          <p:cNvPr id="4" name="number badge"/>
          <p:cNvSpPr txBox="1"/>
          <p:nvPr/>
        </p:nvSpPr>
        <p:spPr>
          <a:xfrm>
            <a:off x="548640" y="1931670"/>
            <a:ext cx="457200" cy="45720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5" name="Text 3"/>
          <p:cNvSpPr txBox="1"/>
          <p:nvPr/>
        </p:nvSpPr>
        <p:spPr>
          <a:xfrm>
            <a:off x="1234440" y="1691640"/>
            <a:ext cx="6949440" cy="891540"/>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Prices move until supply equals demand; that crossing is the equilibrium</a:t>
            </a:r>
            <a:endParaRPr lang="en-US" sz="2000" dirty="0"/>
          </a:p>
        </p:txBody>
      </p:sp>
      <p:sp>
        <p:nvSpPr>
          <p:cNvPr id="6" name="number badge"/>
          <p:cNvSpPr txBox="1"/>
          <p:nvPr/>
        </p:nvSpPr>
        <p:spPr>
          <a:xfrm>
            <a:off x="548640" y="2868930"/>
            <a:ext cx="457200" cy="45720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7" name="Text 5"/>
          <p:cNvSpPr txBox="1"/>
          <p:nvPr/>
        </p:nvSpPr>
        <p:spPr>
          <a:xfrm>
            <a:off x="1234440" y="2628900"/>
            <a:ext cx="6949440" cy="891540"/>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A carbon price adds emission factor × price to each option's cost, so clean options gain</a:t>
            </a:r>
            <a:endParaRPr lang="en-US" sz="2000" dirty="0"/>
          </a:p>
        </p:txBody>
      </p:sp>
      <p:sp>
        <p:nvSpPr>
          <p:cNvPr id="8" name="number badge"/>
          <p:cNvSpPr txBox="1"/>
          <p:nvPr/>
        </p:nvSpPr>
        <p:spPr>
          <a:xfrm>
            <a:off x="548640" y="3806190"/>
            <a:ext cx="457200" cy="45720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9" name="Text 7"/>
          <p:cNvSpPr txBox="1"/>
          <p:nvPr/>
        </p:nvSpPr>
        <p:spPr>
          <a:xfrm>
            <a:off x="1234440" y="3566160"/>
            <a:ext cx="6949440" cy="891540"/>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Gas beats coal above $20/t and solar beats gas above $25/t in our toy numbers</a:t>
            </a:r>
            <a:endParaRPr lang="en-US" sz="2000" dirty="0"/>
          </a:p>
        </p:txBody>
      </p:sp>
      <p:sp>
        <p:nvSpPr>
          <p:cNvPr id="10" name="number badge"/>
          <p:cNvSpPr txBox="1"/>
          <p:nvPr/>
        </p:nvSpPr>
        <p:spPr>
          <a:xfrm>
            <a:off x="548640" y="4743450"/>
            <a:ext cx="457200" cy="45720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11" name="Text 9"/>
          <p:cNvSpPr txBox="1"/>
          <p:nvPr/>
        </p:nvSpPr>
        <p:spPr>
          <a:xfrm>
            <a:off x="1234440" y="4503420"/>
            <a:ext cx="6949440" cy="891540"/>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Discounting divides future values by (1 + r)^years, so the rate decides how much the future counts</a:t>
            </a:r>
            <a:endParaRPr lang="en-US" sz="2000" dirty="0"/>
          </a:p>
        </p:txBody>
      </p:sp>
      <p:sp>
        <p:nvSpPr>
          <p:cNvPr id="12" name="next week"/>
          <p:cNvSpPr/>
          <p:nvPr/>
        </p:nvSpPr>
        <p:spPr>
          <a:xfrm>
            <a:off x="8503920" y="1737360"/>
            <a:ext cx="3139135" cy="2057400"/>
          </a:xfrm>
          <a:prstGeom prst="roundRect">
            <a:avLst>
              <a:gd name="adj" fmla="val 5333"/>
            </a:avLst>
          </a:prstGeom>
          <a:solidFill>
            <a:srgbClr val="1D3A52"/>
          </a:solidFill>
          <a:ln w="12700">
            <a:solidFill>
              <a:srgbClr val="1D3A52"/>
            </a:solidFill>
            <a:prstDash val="solid"/>
          </a:ln>
        </p:spPr>
      </p:sp>
      <p:sp>
        <p:nvSpPr>
          <p:cNvPr id="13" name="Text 11"/>
          <p:cNvSpPr txBox="1"/>
          <p:nvPr/>
        </p:nvSpPr>
        <p:spPr>
          <a:xfrm>
            <a:off x="8778240" y="1874520"/>
            <a:ext cx="2590495" cy="411480"/>
          </a:xfrm>
          <a:prstGeom prst="rect">
            <a:avLst/>
          </a:prstGeom>
          <a:noFill/>
          <a:ln/>
        </p:spPr>
        <p:txBody>
          <a:bodyPr wrap="square" lIns="0" tIns="0" rIns="0" bIns="0" rtlCol="0" anchor="t"/>
          <a:lstStyle/>
          <a:p>
            <a:pPr indent="0" marL="0">
              <a:buNone/>
            </a:pPr>
            <a:r>
              <a:rPr lang="en-US" sz="1600" b="1" dirty="0">
                <a:solidFill>
                  <a:srgbClr val="F59E6B"/>
                </a:solidFill>
                <a:latin typeface="Calibri" pitchFamily="34" charset="0"/>
                <a:ea typeface="Calibri" pitchFamily="34" charset="-122"/>
                <a:cs typeface="Calibri" pitchFamily="34" charset="-120"/>
              </a:rPr>
              <a:t>Next: week 5</a:t>
            </a:r>
            <a:endParaRPr lang="en-US" sz="1600" dirty="0"/>
          </a:p>
        </p:txBody>
      </p:sp>
      <p:sp>
        <p:nvSpPr>
          <p:cNvPr id="14" name="Text 12"/>
          <p:cNvSpPr txBox="1"/>
          <p:nvPr/>
        </p:nvSpPr>
        <p:spPr>
          <a:xfrm>
            <a:off x="8778240" y="2286000"/>
            <a:ext cx="2590495" cy="141732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Week 5 joins the climate chain, the economy and discounting into one small model: DICE.</a:t>
            </a:r>
            <a:endParaRPr lang="en-US" sz="1600" dirty="0"/>
          </a:p>
        </p:txBody>
      </p:sp>
      <p:sp>
        <p:nvSpPr>
          <p:cNvPr id="15" name="practise"/>
          <p:cNvSpPr/>
          <p:nvPr/>
        </p:nvSpPr>
        <p:spPr>
          <a:xfrm>
            <a:off x="8503920" y="4023360"/>
            <a:ext cx="3139135" cy="1371600"/>
          </a:xfrm>
          <a:prstGeom prst="roundRect">
            <a:avLst>
              <a:gd name="adj" fmla="val 8000"/>
            </a:avLst>
          </a:prstGeom>
          <a:solidFill>
            <a:srgbClr val="1D3A52"/>
          </a:solidFill>
          <a:ln w="12700">
            <a:solidFill>
              <a:srgbClr val="1D3A52"/>
            </a:solidFill>
            <a:prstDash val="solid"/>
          </a:ln>
        </p:spPr>
      </p:sp>
      <p:sp>
        <p:nvSpPr>
          <p:cNvPr id="16" name="Text 14"/>
          <p:cNvSpPr txBox="1"/>
          <p:nvPr/>
        </p:nvSpPr>
        <p:spPr>
          <a:xfrm>
            <a:off x="8778240" y="4114800"/>
            <a:ext cx="2590495" cy="411480"/>
          </a:xfrm>
          <a:prstGeom prst="rect">
            <a:avLst/>
          </a:prstGeom>
          <a:noFill/>
          <a:ln/>
        </p:spPr>
        <p:txBody>
          <a:bodyPr wrap="square" lIns="0" tIns="0" rIns="0" bIns="0" rtlCol="0" anchor="t"/>
          <a:lstStyle/>
          <a:p>
            <a:pPr indent="0" marL="0">
              <a:buNone/>
            </a:pPr>
            <a:r>
              <a:rPr lang="en-US" sz="1600" b="1" dirty="0">
                <a:solidFill>
                  <a:srgbClr val="6FD3C7"/>
                </a:solidFill>
                <a:latin typeface="Calibri" pitchFamily="34" charset="0"/>
                <a:ea typeface="Calibri" pitchFamily="34" charset="-122"/>
                <a:cs typeface="Calibri" pitchFamily="34" charset="-120"/>
              </a:rPr>
              <a:t>Practise</a:t>
            </a:r>
            <a:endParaRPr lang="en-US" sz="1600" dirty="0"/>
          </a:p>
        </p:txBody>
      </p:sp>
      <p:sp>
        <p:nvSpPr>
          <p:cNvPr id="17" name="Text 15"/>
          <p:cNvSpPr txBox="1"/>
          <p:nvPr/>
        </p:nvSpPr>
        <p:spPr>
          <a:xfrm>
            <a:off x="8778240" y="4498848"/>
            <a:ext cx="2590495" cy="82296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Interactive course, week 4: try the market explorer and the 5-question quiz.</a:t>
            </a:r>
            <a:endParaRPr lang="en-US" sz="1400" dirty="0"/>
          </a:p>
        </p:txBody>
      </p:sp>
      <p:sp>
        <p:nvSpPr>
          <p:cNvPr id="18" name="Text 16"/>
          <p:cNvSpPr txBox="1"/>
          <p:nvPr/>
        </p:nvSpPr>
        <p:spPr>
          <a:xfrm>
            <a:off x="548640" y="5577840"/>
            <a:ext cx="10180015" cy="640080"/>
          </a:xfrm>
          <a:prstGeom prst="rect">
            <a:avLst/>
          </a:prstGeom>
          <a:noFill/>
          <a:ln/>
        </p:spPr>
        <p:txBody>
          <a:bodyPr wrap="square" lIns="0" tIns="0" rIns="0" bIns="0" rtlCol="0" anchor="t"/>
          <a:lstStyle/>
          <a:p>
            <a:pPr indent="0" marL="0">
              <a:buNone/>
            </a:pPr>
            <a:r>
              <a:rPr lang="en-US" sz="1300" dirty="0">
                <a:solidFill>
                  <a:srgbClr val="C9D6DF"/>
                </a:solidFill>
                <a:latin typeface="Calibri" pitchFamily="34" charset="0"/>
                <a:ea typeface="Calibri" pitchFamily="34" charset="-122"/>
                <a:cs typeface="Calibri" pitchFamily="34" charset="-120"/>
              </a:rPr>
              <a:t>Readings: Instructor's notes on markets, discounting and carbon pricing; R for Data Science: functions and iteration chapters</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theme/theme1.xml><?xml version="1.0" encoding="utf-8"?>
<a:theme xmlns:a="http://schemas.openxmlformats.org/drawingml/2006/main" name="IAM Course">
  <a:themeElements>
    <a:clrScheme name="IAM Course">
      <a:dk1>
        <a:srgbClr val="1F2933"/>
      </a:dk1>
      <a:lt1>
        <a:srgbClr val="FFFFFF"/>
      </a:lt1>
      <a:dk2>
        <a:srgbClr val="12263A"/>
      </a:dk2>
      <a:lt2>
        <a:srgbClr val="E6F2F0"/>
      </a:lt2>
      <a:accent1>
        <a:srgbClr val="0F766E"/>
      </a:accent1>
      <a:accent2>
        <a:srgbClr val="C2410C"/>
      </a:accent2>
      <a:accent3>
        <a:srgbClr val="D97706"/>
      </a:accent3>
      <a:accent4>
        <a:srgbClr val="5B6875"/>
      </a:accent4>
      <a:accent5>
        <a:srgbClr val="15803D"/>
      </a:accent5>
      <a:accent6>
        <a:srgbClr val="B91C1C"/>
      </a:accent6>
      <a:hlink>
        <a:srgbClr val="0F766E"/>
      </a:hlink>
      <a:folHlink>
        <a:srgbClr val="6B21A8"/>
      </a:folHlink>
    </a:clrScheme>
    <a:fontScheme name="IAM Cours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IAM course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4: Economics primer</dc:title>
  <dc:subject>Modelling Climate and Energy Futures</dc:subject>
  <dc:creator>IAM course team</dc:creator>
  <cp:lastModifiedBy>IAM course team</cp:lastModifiedBy>
  <cp:revision>1</cp:revision>
  <dcterms:created xsi:type="dcterms:W3CDTF">2026-10-22T18:53:46Z</dcterms:created>
  <dcterms:modified xsi:type="dcterms:W3CDTF">2026-10-22T18:53:46Z</dcterms:modified>
</cp:coreProperties>
</file>