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11ff68c-16f3-09a9-abae-cabced1b7ae8}">
          <p14:sldIdLst>
            <p14:sldId id="256"/>
            <p14:sldId id="257"/>
            <p14:sldId id="258"/>
          </p14:sldIdLst>
        </p14:section>
        <p14:section name="Lecture" id="{7c402784-915f-1151-eb75-f4954910aa61}">
          <p14:sldIdLst>
            <p14:sldId id="259"/>
            <p14:sldId id="260"/>
            <p14:sldId id="261"/>
            <p14:sldId id="262"/>
            <p14:sldId id="263"/>
            <p14:sldId id="264"/>
            <p14:sldId id="265"/>
            <p14:sldId id="266"/>
            <p14:sldId id="267"/>
            <p14:sldId id="268"/>
            <p14:sldId id="269"/>
            <p14:sldId id="270"/>
            <p14:sldId id="271"/>
          </p14:sldIdLst>
        </p14:section>
        <p14:section name="Lab" id="{092df54d-16dc-3db9-fe64-f9976d74e71b}">
          <p14:sldIdLst>
            <p14:sldId id="272"/>
            <p14:sldId id="273"/>
            <p14:sldId id="274"/>
            <p14:sldId id="275"/>
            <p14:sldId id="276"/>
            <p14:sldId id="277"/>
          </p14:sldIdLst>
        </p14:section>
        <p14:section name="Recap" id="{192e2a0b-e8b6-2562-5ca6-aa51725b21b5}">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Least total cost ($ million)</c:v>
                </c:pt>
              </c:strCache>
            </c:strRef>
          </c:tx>
          <c:spPr>
            <a:solidFill>
              <a:srgbClr val="0F766E"/>
            </a:solidFill>
            <a:ln w="3810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F766E"/>
              </a:solidFill>
              <a:ln w="9525" cap="flat">
                <a:solidFill>
                  <a:srgbClr val="0F766E"/>
                </a:solidFill>
                <a:prstDash val="solid"/>
                <a:round/>
              </a:ln>
              <a:effectLst/>
            </c:spPr>
          </c:marker>
          <c:cat>
            <c:multiLvlStrRef>
              <c:f>Sheet1!$A$2:$A$8</c:f>
              <c:multiLvlStrCache>
                <c:ptCount val="7"/>
                <c:lvl>
                  <c:pt idx="0">
                    <c:v>70</c:v>
                  </c:pt>
                  <c:pt idx="1">
                    <c:v>65</c:v>
                  </c:pt>
                  <c:pt idx="2">
                    <c:v>60</c:v>
                  </c:pt>
                  <c:pt idx="3">
                    <c:v>55</c:v>
                  </c:pt>
                  <c:pt idx="4">
                    <c:v>50</c:v>
                  </c:pt>
                  <c:pt idx="5">
                    <c:v>45</c:v>
                  </c:pt>
                  <c:pt idx="6">
                    <c:v>40</c:v>
                  </c:pt>
                </c:lvl>
              </c:multiLvlStrCache>
            </c:multiLvlStrRef>
          </c:cat>
          <c:val>
            <c:numRef>
              <c:f>Sheet1!$B$2:$B$8</c:f>
              <c:numCache>
                <c:formatCode>General</c:formatCode>
                <c:ptCount val="7"/>
                <c:pt idx="0">
                  <c:v>6400</c:v>
                </c:pt>
                <c:pt idx="1">
                  <c:v>6500</c:v>
                </c:pt>
                <c:pt idx="2">
                  <c:v>6611.1</c:v>
                </c:pt>
                <c:pt idx="3">
                  <c:v>6722.2</c:v>
                </c:pt>
                <c:pt idx="4">
                  <c:v>6833.3</c:v>
                </c:pt>
                <c:pt idx="5">
                  <c:v>6944.4</c:v>
                </c:pt>
                <c:pt idx="6">
                  <c:v>7055.6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875"/>
                    </a:solidFill>
                    <a:latin typeface="+mn-lt"/>
                  </a:defRPr>
                </a:pPr>
                <a:r>
                  <a:rPr sz="1200" b="0" i="0" u="none" strike="noStrike">
                    <a:solidFill>
                      <a:srgbClr val="5B6875"/>
                    </a:solidFill>
                    <a:latin typeface="+mn-lt"/>
                  </a:rPr>
                  <a:t>Emissions cap (MtCO2)</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7"/>
              </a:solidFill>
              <a:prstDash val="solid"/>
              <a:round/>
            </a:ln>
          </c:spPr>
        </c:majorGridlines>
        <c:title>
          <c:tx>
            <c:rich>
              <a:bodyPr/>
              <a:lstStyle/>
              <a:p>
                <a:pPr>
                  <a:defRPr sz="1200" b="0" i="0" u="none" strike="noStrike">
                    <a:solidFill>
                      <a:srgbClr val="5B6875"/>
                    </a:solidFill>
                    <a:latin typeface="+mn-lt"/>
                  </a:defRPr>
                </a:pPr>
                <a:r>
                  <a:rPr sz="1200" b="0" i="0" u="none" strike="noStrike">
                    <a:solidFill>
                      <a:srgbClr val="5B6875"/>
                    </a:solidFill>
                    <a:latin typeface="+mn-lt"/>
                  </a:rPr>
                  <a:t>$ million</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11: Optimisation models. One goal, many limits: how planners' models choose. Today has two halves: a lecture that builds the idea step by step with everyday examples, then a guided lab where we try it in R. Nobody is expected to know the material already. New R skill this week: lpSolve: objective, constraints, reading shadow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week 11 of 15. The course climbs in three stages: foundations (weeks 1 to 6), GCAM in depth (weeks 7 to 10) and advanced methods (weeks 11 to 15). Point out what came just before this week and what it prepares for, so students see each week as one step on a path rather than an isolated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and ask students to keep them in mind. We come back to them on the recap slide at the end. Big question for today: If one planner could choose the whole power mix with perfect knowledge, what would they build, and what would a climate cap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pairs try for two minutes with the table on the next slide. Most will fill solar to its limit of 30. The surprise of the lecture is that the cheapest plan uses only 27.8 TWh of solar. Keep the guesses on the board and return to them after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words objective and constraint only after the picture. Stress that the answer is one plan. That is very different from GCAM, which spreads market shares across options by cost, as students saw in week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costs and emission factors are the week 4 numbers, so students already know that a carbon price of 20 makes gas beat coal and 25 makes solar beat gas. The limits are new: each plant can only produce so much. Write the objective on the board: 60 times coal plus 70 times gas plus 80 times solar. It is only a weighted sum, which is what makes it linear.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Filling the cheapest plant first is called the merit order. Units: dollars per MWh times TWh gives million dollars, and tonnes per MWh times TWh gives million tonnes. In the lab, lpSolve should return exactly these numbers for part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is the cost per tonne avoided. Gas is the cheaper way to cut a tonne, so it is used to its limit first. Only then does solar replace coal. The exact values are 200/9, 50 and 250/9 TWh, and the cost is 7,055.6 million dollars, confirmed with a 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Loosen the cap by one tonne and 1 divided by 0.9 = 1.11 MWh of coal can replace solar, saving 20 x 1.11 = 22.2 dollars. Check against week 4: with a carbon price of 22.2, coal costs 60 + 0.9 x 22.2 = 80, the same as solar. So a cap and a carbon price are two views of the same result. Below 38 Mt no mix works: even solar 30, gas 50 and coal 20 emits 38 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chart from left to right: each step tightens the cap by 5 Mt. The first step costs 100 million dollars, which is 20 dollars per tonne; every later step costs 111 million, which is 22.2 per tonne. The slope changes where the cheapest swap changes. Ask: what happens just below 38 Mt? The line simply stops, because no mix is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to think and vote with fingers (1 to 4) before showing the next slide. Answer: the cleanest mix the limits allow is solar 30, gas 50 and coal 20, which emits 0.4 x 50 + 0.9 x 20 = 38 Mt. Nothing below that exists. Teach students to read status before anything else: an infeasible problem still prints numbers, and they are meaningless.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cleanest mix the limits allow is solar 30, gas 50 and coal 20, which emits 0.4 x 50 + 0.9 x 20 = 38 Mt. Nothing below that exists. Teach students to read status before anything else: an infeasible problem still prints numbers, and they are meaningless.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left column to weeks 7 and 8, where students saw logit shares and period-by-period solving. MESSAGEix can also run in a myopic mode, so foresight is a setting, not a law. Ask: if a model knows a strict cap arrives in 2050, what does it do in 2030? It stops building coal early, which GCAM would not. Check the model descriptions against each model's documentation before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is recognition, so students know what CGE means in a paper. Tell the ripple story: a carbon price raises the cost of steel, so cars cost more, households buy fewer cars and spend elsewhere, and steel wages change. A partial equilibrium model sees only the first step. AR6 Annex III labels GCAM a partial equilibrium model; check the wording against the source before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 of the dual depends on the solver and on how the constraint is written, which is why the lab checks it by loosening the cap by 1 Mt and solving again. The third point matters for intuition: linear programs are fast because the best answer always sits at a corner of the allowed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new terms this week. Ask two students to read them aloud and add them to the shared class glossary. If any definition is unclear, rewrite it together in plainer words; that rewriting is part of learning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time. Write the toy power system for lpSolve, find the cheapest mix with and without a 40 Mt cap, and read the shadow prices. Then watch a MESSAGEix Westeros demonstration. Open the course project in RStudio first so file paths work. Rule for getting stuck: read the error message aloud to a neighbour, check the "you should see" slide, then raise a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100. lpSolve assumes every variable is zero or more, so no extra rows are needed. Ask students to predict the answer from the merit order before 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coal 60, gas 40, solar 0, total 6,400. This matches the first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coal 22.2, gas 50, solar 27.8 and a cost of 7,055.6. Students expect solar at 30; let them find from the output why it stops at 27.8. The complete version is solutions/lab11_solution.R, released after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duals with the cap are 80, 0, -1.11, 0, -22.22, then 0, 0, 0. The demand dual of 80 says the next TWh must come from solar. For the last twenty minutes, run the MESSAGEix Westeros notebook as an instructor-led demonstration; students install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the last twenty minutes. Students compare their output with the left column, then start the worksheet questions on the right. Anyone whose results differ should compare their code with a neighbour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goals from the start: Write a small energy problem as an objective and constraints; Solve a three-technology power system by hand and with lpSolve; Read a shadow price and explain why it acts like a carbon price; Contrast GCAM's simulation with optimisation and CGE models. Ask students to rate themselves on each. Then point to next week: Week 12 asks why different models give different answers to the same question, and places your GCAM run among other models'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34">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28">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5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32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11 · Optimisation models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26">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26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11 · Optimisation models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cap">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8229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7.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6.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6.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6.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7.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6.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6.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6.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6.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6.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6.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6.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6.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5400" b="1" dirty="0">
                <a:solidFill>
                  <a:srgbClr val="FFFFFF"/>
                </a:solidFill>
                <a:latin typeface="Cambria" pitchFamily="34" charset="0"/>
                <a:ea typeface="Cambria" pitchFamily="34" charset="-122"/>
                <a:cs typeface="Cambria" pitchFamily="34" charset="-120"/>
              </a:rPr>
              <a:t>Optimisation models</a:t>
            </a:r>
            <a:endParaRPr lang="en-US" sz="5400" dirty="0"/>
          </a:p>
        </p:txBody>
      </p:sp>
      <p:sp>
        <p:nvSpPr>
          <p:cNvPr id="3" name="Text 1"/>
          <p:cNvSpPr txBox="1"/>
          <p:nvPr/>
        </p:nvSpPr>
        <p:spPr>
          <a:xfrm>
            <a:off x="548640" y="822960"/>
            <a:ext cx="11094415" cy="365760"/>
          </a:xfrm>
          <a:prstGeom prst="rect">
            <a:avLst/>
          </a:prstGeom>
          <a:noFill/>
          <a:ln/>
        </p:spPr>
        <p:txBody>
          <a:bodyPr wrap="square" lIns="0" tIns="0" rIns="0" bIns="0" rtlCol="0" anchor="t"/>
          <a:lstStyle/>
          <a:p>
            <a:pPr indent="0" marL="0">
              <a:buNone/>
            </a:pPr>
            <a:r>
              <a:rPr lang="en-US" sz="1600" b="1" spc="300" kern="0" dirty="0">
                <a:solidFill>
                  <a:srgbClr val="6FD3C7"/>
                </a:solidFill>
                <a:latin typeface="Calibri" pitchFamily="34" charset="0"/>
                <a:ea typeface="Calibri" pitchFamily="34" charset="-122"/>
                <a:cs typeface="Calibri" pitchFamily="34" charset="-120"/>
              </a:rPr>
              <a:t>WEEK 11 OF 15  ·  STAGE 3: ADVANCED METHODS</a:t>
            </a:r>
            <a:endParaRPr lang="en-US" sz="1600" dirty="0"/>
          </a:p>
        </p:txBody>
      </p:sp>
      <p:sp>
        <p:nvSpPr>
          <p:cNvPr id="4" name="Text 2"/>
          <p:cNvSpPr txBox="1"/>
          <p:nvPr/>
        </p:nvSpPr>
        <p:spPr>
          <a:xfrm>
            <a:off x="548640" y="3246120"/>
            <a:ext cx="9601200" cy="822960"/>
          </a:xfrm>
          <a:prstGeom prst="rect">
            <a:avLst/>
          </a:prstGeom>
          <a:noFill/>
          <a:ln/>
        </p:spPr>
        <p:txBody>
          <a:bodyPr wrap="square" lIns="0" tIns="0" rIns="0" bIns="0" rtlCol="0" anchor="t"/>
          <a:lstStyle/>
          <a:p>
            <a:pPr indent="0" marL="0">
              <a:buNone/>
            </a:pPr>
            <a:r>
              <a:rPr lang="en-US" sz="2800" dirty="0">
                <a:solidFill>
                  <a:srgbClr val="C9D6DF"/>
                </a:solidFill>
                <a:latin typeface="Calibri" pitchFamily="34" charset="0"/>
                <a:ea typeface="Calibri" pitchFamily="34" charset="-122"/>
                <a:cs typeface="Calibri" pitchFamily="34" charset="-120"/>
              </a:rPr>
              <a:t>One goal, many limits: how planners' models choose</a:t>
            </a:r>
            <a:endParaRPr lang="en-US" sz="2800" dirty="0"/>
          </a:p>
        </p:txBody>
      </p:sp>
      <p:sp>
        <p:nvSpPr>
          <p:cNvPr id="5" name="R skill pill"/>
          <p:cNvSpPr/>
          <p:nvPr/>
        </p:nvSpPr>
        <p:spPr>
          <a:xfrm>
            <a:off x="548640" y="4434840"/>
            <a:ext cx="7863840" cy="777240"/>
          </a:xfrm>
          <a:prstGeom prst="roundRect">
            <a:avLst>
              <a:gd name="adj" fmla="val 14118"/>
            </a:avLst>
          </a:prstGeom>
          <a:solidFill>
            <a:srgbClr val="1D3A52"/>
          </a:solidFill>
          <a:ln w="12700">
            <a:solidFill>
              <a:srgbClr val="1D3A52"/>
            </a:solidFill>
            <a:prstDash val="solid"/>
          </a:ln>
        </p:spPr>
      </p:sp>
      <p:sp>
        <p:nvSpPr>
          <p:cNvPr id="6" name="icon circle"/>
          <p:cNvSpPr/>
          <p:nvPr/>
        </p:nvSpPr>
        <p:spPr>
          <a:xfrm>
            <a:off x="713232" y="4562856"/>
            <a:ext cx="521208" cy="521208"/>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48746" y="4698370"/>
            <a:ext cx="250180" cy="250180"/>
          </a:xfrm>
          <a:prstGeom prst="rect">
            <a:avLst/>
          </a:prstGeom>
        </p:spPr>
      </p:pic>
      <p:sp>
        <p:nvSpPr>
          <p:cNvPr id="8" name="Text 5"/>
          <p:cNvSpPr txBox="1"/>
          <p:nvPr/>
        </p:nvSpPr>
        <p:spPr>
          <a:xfrm>
            <a:off x="1417320" y="4480560"/>
            <a:ext cx="6858000" cy="685800"/>
          </a:xfrm>
          <a:prstGeom prst="rect">
            <a:avLst/>
          </a:prstGeom>
          <a:noFill/>
          <a:ln/>
        </p:spPr>
        <p:txBody>
          <a:bodyPr wrap="square" lIns="0" tIns="0" rIns="0" bIns="0" rtlCol="0" anchor="ctr"/>
          <a:lstStyle/>
          <a:p>
            <a:pPr indent="0" marL="0">
              <a:buNone/>
            </a:pPr>
            <a:r>
              <a:rPr lang="en-US" sz="1600" b="1" dirty="0">
                <a:solidFill>
                  <a:srgbClr val="6FD3C7"/>
                </a:solidFill>
                <a:latin typeface="Calibri" pitchFamily="34" charset="0"/>
                <a:ea typeface="Calibri" pitchFamily="34" charset="-122"/>
                <a:cs typeface="Calibri" pitchFamily="34" charset="-120"/>
              </a:rPr>
              <a:t>New R skill  </a:t>
            </a:r>
            <a:pPr indent="0" marL="0">
              <a:buNone/>
            </a:pPr>
            <a:r>
              <a:rPr lang="en-US" sz="1600" dirty="0">
                <a:solidFill>
                  <a:srgbClr val="FFFFFF"/>
                </a:solidFill>
                <a:latin typeface="Calibri" pitchFamily="34" charset="0"/>
                <a:ea typeface="Calibri" pitchFamily="34" charset="-122"/>
                <a:cs typeface="Calibri" pitchFamily="34" charset="-120"/>
              </a:rPr>
              <a:t>lpSolve: objective, constraints, reading shadow prices</a:t>
            </a:r>
            <a:endParaRPr lang="en-US" sz="1600" dirty="0"/>
          </a:p>
        </p:txBody>
      </p:sp>
      <p:sp>
        <p:nvSpPr>
          <p:cNvPr id="9" name="Text 6"/>
          <p:cNvSpPr txBox="1"/>
          <p:nvPr/>
        </p:nvSpPr>
        <p:spPr>
          <a:xfrm>
            <a:off x="548640" y="5989320"/>
            <a:ext cx="9144000" cy="32004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Modelling Climate and Energy Futures  ·  beginner-friendly lecture and lab slides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COURSE MAP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Where we are in the course</a:t>
            </a:r>
            <a:endParaRPr lang="en-US" sz="3200" dirty="0"/>
          </a:p>
        </p:txBody>
      </p:sp>
      <p:sp>
        <p:nvSpPr>
          <p:cNvPr id="5" name="Text 2"/>
          <p:cNvSpPr txBox="1"/>
          <p:nvPr/>
        </p:nvSpPr>
        <p:spPr>
          <a:xfrm>
            <a:off x="548640" y="167335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1</a:t>
            </a:r>
            <a:endParaRPr lang="en-US" sz="1400" dirty="0"/>
          </a:p>
        </p:txBody>
      </p:sp>
      <p:sp>
        <p:nvSpPr>
          <p:cNvPr id="6" name="Text 3"/>
          <p:cNvSpPr txBox="1"/>
          <p:nvPr/>
        </p:nvSpPr>
        <p:spPr>
          <a:xfrm>
            <a:off x="548640" y="198424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Foundations</a:t>
            </a:r>
            <a:endParaRPr lang="en-US" sz="1600" dirty="0"/>
          </a:p>
        </p:txBody>
      </p:sp>
      <p:sp>
        <p:nvSpPr>
          <p:cNvPr id="7" name="week tile"/>
          <p:cNvSpPr/>
          <p:nvPr/>
        </p:nvSpPr>
        <p:spPr>
          <a:xfrm>
            <a:off x="2468880" y="1600200"/>
            <a:ext cx="1414729" cy="1188720"/>
          </a:xfrm>
          <a:prstGeom prst="roundRect">
            <a:avLst>
              <a:gd name="adj" fmla="val 9231"/>
            </a:avLst>
          </a:prstGeom>
          <a:solidFill>
            <a:srgbClr val="C9E4DF"/>
          </a:solidFill>
          <a:ln w="12700">
            <a:solidFill>
              <a:srgbClr val="C9E4DF"/>
            </a:solidFill>
            <a:prstDash val="solid"/>
          </a:ln>
        </p:spPr>
      </p:sp>
      <p:sp>
        <p:nvSpPr>
          <p:cNvPr id="8" name="Text 5"/>
          <p:cNvSpPr txBox="1"/>
          <p:nvPr/>
        </p:nvSpPr>
        <p:spPr>
          <a:xfrm>
            <a:off x="2578608"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a:t>
            </a:r>
            <a:endParaRPr lang="en-US" sz="1200" dirty="0"/>
          </a:p>
        </p:txBody>
      </p:sp>
      <p:sp>
        <p:nvSpPr>
          <p:cNvPr id="9" name="Text 6"/>
          <p:cNvSpPr txBox="1"/>
          <p:nvPr/>
        </p:nvSpPr>
        <p:spPr>
          <a:xfrm>
            <a:off x="2578608"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 the future?</a:t>
            </a:r>
            <a:endParaRPr lang="en-US" sz="1400" dirty="0"/>
          </a:p>
        </p:txBody>
      </p:sp>
      <p:sp>
        <p:nvSpPr>
          <p:cNvPr id="10" name="week tile"/>
          <p:cNvSpPr/>
          <p:nvPr/>
        </p:nvSpPr>
        <p:spPr>
          <a:xfrm>
            <a:off x="4020769" y="1600200"/>
            <a:ext cx="1414729" cy="1188720"/>
          </a:xfrm>
          <a:prstGeom prst="roundRect">
            <a:avLst>
              <a:gd name="adj" fmla="val 9231"/>
            </a:avLst>
          </a:prstGeom>
          <a:solidFill>
            <a:srgbClr val="C9E4DF"/>
          </a:solidFill>
          <a:ln w="12700">
            <a:solidFill>
              <a:srgbClr val="C9E4DF"/>
            </a:solidFill>
            <a:prstDash val="solid"/>
          </a:ln>
        </p:spPr>
      </p:sp>
      <p:sp>
        <p:nvSpPr>
          <p:cNvPr id="11" name="Text 8"/>
          <p:cNvSpPr txBox="1"/>
          <p:nvPr/>
        </p:nvSpPr>
        <p:spPr>
          <a:xfrm>
            <a:off x="4130497"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2</a:t>
            </a:r>
            <a:endParaRPr lang="en-US" sz="1200" dirty="0"/>
          </a:p>
        </p:txBody>
      </p:sp>
      <p:sp>
        <p:nvSpPr>
          <p:cNvPr id="12" name="Text 9"/>
          <p:cNvSpPr txBox="1"/>
          <p:nvPr/>
        </p:nvSpPr>
        <p:spPr>
          <a:xfrm>
            <a:off x="4130497"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Climate primer</a:t>
            </a:r>
            <a:endParaRPr lang="en-US" sz="1400" dirty="0"/>
          </a:p>
        </p:txBody>
      </p:sp>
      <p:sp>
        <p:nvSpPr>
          <p:cNvPr id="13" name="week tile"/>
          <p:cNvSpPr/>
          <p:nvPr/>
        </p:nvSpPr>
        <p:spPr>
          <a:xfrm>
            <a:off x="5572658" y="1600200"/>
            <a:ext cx="1414729" cy="1188720"/>
          </a:xfrm>
          <a:prstGeom prst="roundRect">
            <a:avLst>
              <a:gd name="adj" fmla="val 9231"/>
            </a:avLst>
          </a:prstGeom>
          <a:solidFill>
            <a:srgbClr val="C9E4DF"/>
          </a:solidFill>
          <a:ln w="12700">
            <a:solidFill>
              <a:srgbClr val="C9E4DF"/>
            </a:solidFill>
            <a:prstDash val="solid"/>
          </a:ln>
        </p:spPr>
      </p:sp>
      <p:sp>
        <p:nvSpPr>
          <p:cNvPr id="14" name="Text 11"/>
          <p:cNvSpPr txBox="1"/>
          <p:nvPr/>
        </p:nvSpPr>
        <p:spPr>
          <a:xfrm>
            <a:off x="568238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3</a:t>
            </a:r>
            <a:endParaRPr lang="en-US" sz="1200" dirty="0"/>
          </a:p>
        </p:txBody>
      </p:sp>
      <p:sp>
        <p:nvSpPr>
          <p:cNvPr id="15" name="Text 12"/>
          <p:cNvSpPr txBox="1"/>
          <p:nvPr/>
        </p:nvSpPr>
        <p:spPr>
          <a:xfrm>
            <a:off x="568238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primer</a:t>
            </a:r>
            <a:endParaRPr lang="en-US" sz="1400" dirty="0"/>
          </a:p>
        </p:txBody>
      </p:sp>
      <p:sp>
        <p:nvSpPr>
          <p:cNvPr id="16" name="week tile"/>
          <p:cNvSpPr/>
          <p:nvPr/>
        </p:nvSpPr>
        <p:spPr>
          <a:xfrm>
            <a:off x="7124548" y="1600200"/>
            <a:ext cx="1414729" cy="1188720"/>
          </a:xfrm>
          <a:prstGeom prst="roundRect">
            <a:avLst>
              <a:gd name="adj" fmla="val 9231"/>
            </a:avLst>
          </a:prstGeom>
          <a:solidFill>
            <a:srgbClr val="C9E4DF"/>
          </a:solidFill>
          <a:ln w="12700">
            <a:solidFill>
              <a:srgbClr val="C9E4DF"/>
            </a:solidFill>
            <a:prstDash val="solid"/>
          </a:ln>
        </p:spPr>
      </p:sp>
      <p:sp>
        <p:nvSpPr>
          <p:cNvPr id="17" name="Text 14"/>
          <p:cNvSpPr txBox="1"/>
          <p:nvPr/>
        </p:nvSpPr>
        <p:spPr>
          <a:xfrm>
            <a:off x="723427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4</a:t>
            </a:r>
            <a:endParaRPr lang="en-US" sz="1200" dirty="0"/>
          </a:p>
        </p:txBody>
      </p:sp>
      <p:sp>
        <p:nvSpPr>
          <p:cNvPr id="18" name="Text 15"/>
          <p:cNvSpPr txBox="1"/>
          <p:nvPr/>
        </p:nvSpPr>
        <p:spPr>
          <a:xfrm>
            <a:off x="723427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Economics primer</a:t>
            </a:r>
            <a:endParaRPr lang="en-US" sz="1400" dirty="0"/>
          </a:p>
        </p:txBody>
      </p:sp>
      <p:sp>
        <p:nvSpPr>
          <p:cNvPr id="19" name="week tile"/>
          <p:cNvSpPr/>
          <p:nvPr/>
        </p:nvSpPr>
        <p:spPr>
          <a:xfrm>
            <a:off x="8676437" y="1600200"/>
            <a:ext cx="1414729" cy="1188720"/>
          </a:xfrm>
          <a:prstGeom prst="roundRect">
            <a:avLst>
              <a:gd name="adj" fmla="val 9231"/>
            </a:avLst>
          </a:prstGeom>
          <a:solidFill>
            <a:srgbClr val="C9E4DF"/>
          </a:solidFill>
          <a:ln w="12700">
            <a:solidFill>
              <a:srgbClr val="C9E4DF"/>
            </a:solidFill>
            <a:prstDash val="solid"/>
          </a:ln>
        </p:spPr>
      </p:sp>
      <p:sp>
        <p:nvSpPr>
          <p:cNvPr id="20" name="Text 17"/>
          <p:cNvSpPr txBox="1"/>
          <p:nvPr/>
        </p:nvSpPr>
        <p:spPr>
          <a:xfrm>
            <a:off x="8786165"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5</a:t>
            </a:r>
            <a:endParaRPr lang="en-US" sz="1200" dirty="0"/>
          </a:p>
        </p:txBody>
      </p:sp>
      <p:sp>
        <p:nvSpPr>
          <p:cNvPr id="21" name="Text 18"/>
          <p:cNvSpPr txBox="1"/>
          <p:nvPr/>
        </p:nvSpPr>
        <p:spPr>
          <a:xfrm>
            <a:off x="8786165"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Cost-benefit IAMs: DICE</a:t>
            </a:r>
            <a:endParaRPr lang="en-US" sz="1400" dirty="0"/>
          </a:p>
        </p:txBody>
      </p:sp>
      <p:sp>
        <p:nvSpPr>
          <p:cNvPr id="22" name="week tile"/>
          <p:cNvSpPr/>
          <p:nvPr/>
        </p:nvSpPr>
        <p:spPr>
          <a:xfrm>
            <a:off x="10228326" y="1600200"/>
            <a:ext cx="1414729" cy="1188720"/>
          </a:xfrm>
          <a:prstGeom prst="roundRect">
            <a:avLst>
              <a:gd name="adj" fmla="val 9231"/>
            </a:avLst>
          </a:prstGeom>
          <a:solidFill>
            <a:srgbClr val="C9E4DF"/>
          </a:solidFill>
          <a:ln w="12700">
            <a:solidFill>
              <a:srgbClr val="C9E4DF"/>
            </a:solidFill>
            <a:prstDash val="solid"/>
          </a:ln>
        </p:spPr>
      </p:sp>
      <p:sp>
        <p:nvSpPr>
          <p:cNvPr id="23" name="Text 20"/>
          <p:cNvSpPr txBox="1"/>
          <p:nvPr/>
        </p:nvSpPr>
        <p:spPr>
          <a:xfrm>
            <a:off x="10338054"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6</a:t>
            </a:r>
            <a:endParaRPr lang="en-US" sz="1200" dirty="0"/>
          </a:p>
        </p:txBody>
      </p:sp>
      <p:sp>
        <p:nvSpPr>
          <p:cNvPr id="24" name="Text 21"/>
          <p:cNvSpPr txBox="1"/>
          <p:nvPr/>
        </p:nvSpPr>
        <p:spPr>
          <a:xfrm>
            <a:off x="10338054"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scenario framework</a:t>
            </a:r>
            <a:endParaRPr lang="en-US" sz="1400" dirty="0"/>
          </a:p>
        </p:txBody>
      </p:sp>
      <p:sp>
        <p:nvSpPr>
          <p:cNvPr id="25" name="Text 22"/>
          <p:cNvSpPr txBox="1"/>
          <p:nvPr/>
        </p:nvSpPr>
        <p:spPr>
          <a:xfrm>
            <a:off x="548640" y="318211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2</a:t>
            </a:r>
            <a:endParaRPr lang="en-US" sz="1400" dirty="0"/>
          </a:p>
        </p:txBody>
      </p:sp>
      <p:sp>
        <p:nvSpPr>
          <p:cNvPr id="26" name="Text 23"/>
          <p:cNvSpPr txBox="1"/>
          <p:nvPr/>
        </p:nvSpPr>
        <p:spPr>
          <a:xfrm>
            <a:off x="548640" y="349300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GCAM in depth</a:t>
            </a:r>
            <a:endParaRPr lang="en-US" sz="1600" dirty="0"/>
          </a:p>
        </p:txBody>
      </p:sp>
      <p:sp>
        <p:nvSpPr>
          <p:cNvPr id="27" name="week tile"/>
          <p:cNvSpPr/>
          <p:nvPr/>
        </p:nvSpPr>
        <p:spPr>
          <a:xfrm>
            <a:off x="2468880" y="3108960"/>
            <a:ext cx="1414729" cy="1188720"/>
          </a:xfrm>
          <a:prstGeom prst="roundRect">
            <a:avLst>
              <a:gd name="adj" fmla="val 9231"/>
            </a:avLst>
          </a:prstGeom>
          <a:solidFill>
            <a:srgbClr val="C9E4DF"/>
          </a:solidFill>
          <a:ln w="12700">
            <a:solidFill>
              <a:srgbClr val="C9E4DF"/>
            </a:solidFill>
            <a:prstDash val="solid"/>
          </a:ln>
        </p:spPr>
      </p:sp>
      <p:sp>
        <p:nvSpPr>
          <p:cNvPr id="28" name="Text 25"/>
          <p:cNvSpPr txBox="1"/>
          <p:nvPr/>
        </p:nvSpPr>
        <p:spPr>
          <a:xfrm>
            <a:off x="2578608"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7</a:t>
            </a:r>
            <a:endParaRPr lang="en-US" sz="1200" dirty="0"/>
          </a:p>
        </p:txBody>
      </p:sp>
      <p:sp>
        <p:nvSpPr>
          <p:cNvPr id="29" name="Text 26"/>
          <p:cNvSpPr txBox="1"/>
          <p:nvPr/>
        </p:nvSpPr>
        <p:spPr>
          <a:xfrm>
            <a:off x="2578608"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Inside GCAM</a:t>
            </a:r>
            <a:endParaRPr lang="en-US" sz="1400" dirty="0"/>
          </a:p>
        </p:txBody>
      </p:sp>
      <p:sp>
        <p:nvSpPr>
          <p:cNvPr id="30" name="week tile"/>
          <p:cNvSpPr/>
          <p:nvPr/>
        </p:nvSpPr>
        <p:spPr>
          <a:xfrm>
            <a:off x="4020769" y="3108960"/>
            <a:ext cx="1414729" cy="1188720"/>
          </a:xfrm>
          <a:prstGeom prst="roundRect">
            <a:avLst>
              <a:gd name="adj" fmla="val 9231"/>
            </a:avLst>
          </a:prstGeom>
          <a:solidFill>
            <a:srgbClr val="C9E4DF"/>
          </a:solidFill>
          <a:ln w="12700">
            <a:solidFill>
              <a:srgbClr val="C9E4DF"/>
            </a:solidFill>
            <a:prstDash val="solid"/>
          </a:ln>
        </p:spPr>
      </p:sp>
      <p:sp>
        <p:nvSpPr>
          <p:cNvPr id="31" name="Text 28"/>
          <p:cNvSpPr txBox="1"/>
          <p:nvPr/>
        </p:nvSpPr>
        <p:spPr>
          <a:xfrm>
            <a:off x="4130497"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8</a:t>
            </a:r>
            <a:endParaRPr lang="en-US" sz="1200" dirty="0"/>
          </a:p>
        </p:txBody>
      </p:sp>
      <p:sp>
        <p:nvSpPr>
          <p:cNvPr id="32" name="Text 29"/>
          <p:cNvSpPr txBox="1"/>
          <p:nvPr/>
        </p:nvSpPr>
        <p:spPr>
          <a:xfrm>
            <a:off x="4130497"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in GCAM</a:t>
            </a:r>
            <a:endParaRPr lang="en-US" sz="1400" dirty="0"/>
          </a:p>
        </p:txBody>
      </p:sp>
      <p:sp>
        <p:nvSpPr>
          <p:cNvPr id="33" name="week tile"/>
          <p:cNvSpPr/>
          <p:nvPr/>
        </p:nvSpPr>
        <p:spPr>
          <a:xfrm>
            <a:off x="5572658" y="3108960"/>
            <a:ext cx="1414729" cy="1188720"/>
          </a:xfrm>
          <a:prstGeom prst="roundRect">
            <a:avLst>
              <a:gd name="adj" fmla="val 9231"/>
            </a:avLst>
          </a:prstGeom>
          <a:solidFill>
            <a:srgbClr val="C9E4DF"/>
          </a:solidFill>
          <a:ln w="12700">
            <a:solidFill>
              <a:srgbClr val="C9E4DF"/>
            </a:solidFill>
            <a:prstDash val="solid"/>
          </a:ln>
        </p:spPr>
      </p:sp>
      <p:sp>
        <p:nvSpPr>
          <p:cNvPr id="34" name="Text 31"/>
          <p:cNvSpPr txBox="1"/>
          <p:nvPr/>
        </p:nvSpPr>
        <p:spPr>
          <a:xfrm>
            <a:off x="568238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9</a:t>
            </a:r>
            <a:endParaRPr lang="en-US" sz="1200" dirty="0"/>
          </a:p>
        </p:txBody>
      </p:sp>
      <p:sp>
        <p:nvSpPr>
          <p:cNvPr id="35" name="Text 32"/>
          <p:cNvSpPr txBox="1"/>
          <p:nvPr/>
        </p:nvSpPr>
        <p:spPr>
          <a:xfrm>
            <a:off x="568238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Land, water and bioenergy</a:t>
            </a:r>
            <a:endParaRPr lang="en-US" sz="1400" dirty="0"/>
          </a:p>
        </p:txBody>
      </p:sp>
      <p:sp>
        <p:nvSpPr>
          <p:cNvPr id="36" name="week tile"/>
          <p:cNvSpPr/>
          <p:nvPr/>
        </p:nvSpPr>
        <p:spPr>
          <a:xfrm>
            <a:off x="7124548" y="3108960"/>
            <a:ext cx="1414729" cy="1188720"/>
          </a:xfrm>
          <a:prstGeom prst="roundRect">
            <a:avLst>
              <a:gd name="adj" fmla="val 9231"/>
            </a:avLst>
          </a:prstGeom>
          <a:solidFill>
            <a:srgbClr val="C9E4DF"/>
          </a:solidFill>
          <a:ln w="12700">
            <a:solidFill>
              <a:srgbClr val="C9E4DF"/>
            </a:solidFill>
            <a:prstDash val="solid"/>
          </a:ln>
        </p:spPr>
      </p:sp>
      <p:sp>
        <p:nvSpPr>
          <p:cNvPr id="37" name="Text 34"/>
          <p:cNvSpPr txBox="1"/>
          <p:nvPr/>
        </p:nvSpPr>
        <p:spPr>
          <a:xfrm>
            <a:off x="723427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10</a:t>
            </a:r>
            <a:endParaRPr lang="en-US" sz="1200" dirty="0"/>
          </a:p>
        </p:txBody>
      </p:sp>
      <p:sp>
        <p:nvSpPr>
          <p:cNvPr id="38" name="Text 35"/>
          <p:cNvSpPr txBox="1"/>
          <p:nvPr/>
        </p:nvSpPr>
        <p:spPr>
          <a:xfrm>
            <a:off x="723427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Emissions and policy</a:t>
            </a:r>
            <a:endParaRPr lang="en-US" sz="1400" dirty="0"/>
          </a:p>
        </p:txBody>
      </p:sp>
      <p:sp>
        <p:nvSpPr>
          <p:cNvPr id="39" name="Text 36"/>
          <p:cNvSpPr txBox="1"/>
          <p:nvPr/>
        </p:nvSpPr>
        <p:spPr>
          <a:xfrm>
            <a:off x="548640" y="469087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3</a:t>
            </a:r>
            <a:endParaRPr lang="en-US" sz="1400" dirty="0"/>
          </a:p>
        </p:txBody>
      </p:sp>
      <p:sp>
        <p:nvSpPr>
          <p:cNvPr id="40" name="Text 37"/>
          <p:cNvSpPr txBox="1"/>
          <p:nvPr/>
        </p:nvSpPr>
        <p:spPr>
          <a:xfrm>
            <a:off x="548640" y="500176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Advanced methods</a:t>
            </a:r>
            <a:endParaRPr lang="en-US" sz="1600" dirty="0"/>
          </a:p>
        </p:txBody>
      </p:sp>
      <p:sp>
        <p:nvSpPr>
          <p:cNvPr id="41" name="week tile"/>
          <p:cNvSpPr/>
          <p:nvPr/>
        </p:nvSpPr>
        <p:spPr>
          <a:xfrm>
            <a:off x="2468880" y="4617720"/>
            <a:ext cx="1414729" cy="1188720"/>
          </a:xfrm>
          <a:prstGeom prst="roundRect">
            <a:avLst>
              <a:gd name="adj" fmla="val 9231"/>
            </a:avLst>
          </a:prstGeom>
          <a:solidFill>
            <a:srgbClr val="C2410C"/>
          </a:solidFill>
          <a:ln w="12700">
            <a:solidFill>
              <a:srgbClr val="C2410C"/>
            </a:solidFill>
            <a:prstDash val="solid"/>
          </a:ln>
        </p:spPr>
      </p:sp>
      <p:sp>
        <p:nvSpPr>
          <p:cNvPr id="42" name="Text 39"/>
          <p:cNvSpPr txBox="1"/>
          <p:nvPr/>
        </p:nvSpPr>
        <p:spPr>
          <a:xfrm>
            <a:off x="2578608" y="4709160"/>
            <a:ext cx="1231849"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Week 11</a:t>
            </a:r>
            <a:endParaRPr lang="en-US" sz="1200" dirty="0"/>
          </a:p>
        </p:txBody>
      </p:sp>
      <p:sp>
        <p:nvSpPr>
          <p:cNvPr id="43" name="Text 40"/>
          <p:cNvSpPr txBox="1"/>
          <p:nvPr/>
        </p:nvSpPr>
        <p:spPr>
          <a:xfrm>
            <a:off x="2578608" y="5001768"/>
            <a:ext cx="1231849" cy="731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Optimisation IAMs</a:t>
            </a:r>
            <a:endParaRPr lang="en-US" sz="1400" dirty="0"/>
          </a:p>
        </p:txBody>
      </p:sp>
      <p:sp>
        <p:nvSpPr>
          <p:cNvPr id="44" name="week tile"/>
          <p:cNvSpPr/>
          <p:nvPr/>
        </p:nvSpPr>
        <p:spPr>
          <a:xfrm>
            <a:off x="4020769" y="4617720"/>
            <a:ext cx="1414729" cy="1188720"/>
          </a:xfrm>
          <a:prstGeom prst="roundRect">
            <a:avLst>
              <a:gd name="adj" fmla="val 9231"/>
            </a:avLst>
          </a:prstGeom>
          <a:solidFill>
            <a:srgbClr val="F7FAF9"/>
          </a:solidFill>
          <a:ln w="12700">
            <a:solidFill>
              <a:srgbClr val="F7FAF9"/>
            </a:solidFill>
            <a:prstDash val="solid"/>
          </a:ln>
        </p:spPr>
      </p:sp>
      <p:sp>
        <p:nvSpPr>
          <p:cNvPr id="45" name="Shape 42"/>
          <p:cNvSpPr/>
          <p:nvPr/>
        </p:nvSpPr>
        <p:spPr>
          <a:xfrm>
            <a:off x="4020769" y="4617720"/>
            <a:ext cx="1414729" cy="1188720"/>
          </a:xfrm>
          <a:prstGeom prst="roundRect">
            <a:avLst>
              <a:gd name="adj" fmla="val 9231"/>
            </a:avLst>
          </a:prstGeom>
          <a:solidFill>
            <a:srgbClr val="F7FAF9"/>
          </a:solidFill>
          <a:ln w="12700">
            <a:solidFill>
              <a:srgbClr val="D5DDDB"/>
            </a:solidFill>
            <a:prstDash val="solid"/>
          </a:ln>
        </p:spPr>
      </p:sp>
      <p:sp>
        <p:nvSpPr>
          <p:cNvPr id="46" name="Text 43"/>
          <p:cNvSpPr txBox="1"/>
          <p:nvPr/>
        </p:nvSpPr>
        <p:spPr>
          <a:xfrm>
            <a:off x="4130497"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12</a:t>
            </a:r>
            <a:endParaRPr lang="en-US" sz="1200" dirty="0"/>
          </a:p>
        </p:txBody>
      </p:sp>
      <p:sp>
        <p:nvSpPr>
          <p:cNvPr id="47" name="Text 44"/>
          <p:cNvSpPr txBox="1"/>
          <p:nvPr/>
        </p:nvSpPr>
        <p:spPr>
          <a:xfrm>
            <a:off x="4130497"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models disagree</a:t>
            </a:r>
            <a:endParaRPr lang="en-US" sz="1400" dirty="0"/>
          </a:p>
        </p:txBody>
      </p:sp>
      <p:sp>
        <p:nvSpPr>
          <p:cNvPr id="48" name="week tile"/>
          <p:cNvSpPr/>
          <p:nvPr/>
        </p:nvSpPr>
        <p:spPr>
          <a:xfrm>
            <a:off x="5572658" y="4617720"/>
            <a:ext cx="1414729" cy="1188720"/>
          </a:xfrm>
          <a:prstGeom prst="roundRect">
            <a:avLst>
              <a:gd name="adj" fmla="val 9231"/>
            </a:avLst>
          </a:prstGeom>
          <a:solidFill>
            <a:srgbClr val="F7FAF9"/>
          </a:solidFill>
          <a:ln w="12700">
            <a:solidFill>
              <a:srgbClr val="F7FAF9"/>
            </a:solidFill>
            <a:prstDash val="solid"/>
          </a:ln>
        </p:spPr>
      </p:sp>
      <p:sp>
        <p:nvSpPr>
          <p:cNvPr id="49" name="Shape 46"/>
          <p:cNvSpPr/>
          <p:nvPr/>
        </p:nvSpPr>
        <p:spPr>
          <a:xfrm>
            <a:off x="5572658" y="4617720"/>
            <a:ext cx="1414729" cy="1188720"/>
          </a:xfrm>
          <a:prstGeom prst="roundRect">
            <a:avLst>
              <a:gd name="adj" fmla="val 9231"/>
            </a:avLst>
          </a:prstGeom>
          <a:solidFill>
            <a:srgbClr val="F7FAF9"/>
          </a:solidFill>
          <a:ln w="12700">
            <a:solidFill>
              <a:srgbClr val="D5DDDB"/>
            </a:solidFill>
            <a:prstDash val="solid"/>
          </a:ln>
        </p:spPr>
      </p:sp>
      <p:sp>
        <p:nvSpPr>
          <p:cNvPr id="50" name="Text 47"/>
          <p:cNvSpPr txBox="1"/>
          <p:nvPr/>
        </p:nvSpPr>
        <p:spPr>
          <a:xfrm>
            <a:off x="568238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13</a:t>
            </a:r>
            <a:endParaRPr lang="en-US" sz="1200" dirty="0"/>
          </a:p>
        </p:txBody>
      </p:sp>
      <p:sp>
        <p:nvSpPr>
          <p:cNvPr id="51" name="Text 48"/>
          <p:cNvSpPr txBox="1"/>
          <p:nvPr/>
        </p:nvSpPr>
        <p:spPr>
          <a:xfrm>
            <a:off x="568238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Uncertainty</a:t>
            </a:r>
            <a:endParaRPr lang="en-US" sz="1400" dirty="0"/>
          </a:p>
        </p:txBody>
      </p:sp>
      <p:sp>
        <p:nvSpPr>
          <p:cNvPr id="52" name="week tile"/>
          <p:cNvSpPr/>
          <p:nvPr/>
        </p:nvSpPr>
        <p:spPr>
          <a:xfrm>
            <a:off x="7124548" y="4617720"/>
            <a:ext cx="1414729" cy="1188720"/>
          </a:xfrm>
          <a:prstGeom prst="roundRect">
            <a:avLst>
              <a:gd name="adj" fmla="val 9231"/>
            </a:avLst>
          </a:prstGeom>
          <a:solidFill>
            <a:srgbClr val="F7FAF9"/>
          </a:solidFill>
          <a:ln w="12700">
            <a:solidFill>
              <a:srgbClr val="F7FAF9"/>
            </a:solidFill>
            <a:prstDash val="solid"/>
          </a:ln>
        </p:spPr>
      </p:sp>
      <p:sp>
        <p:nvSpPr>
          <p:cNvPr id="53" name="Shape 50"/>
          <p:cNvSpPr/>
          <p:nvPr/>
        </p:nvSpPr>
        <p:spPr>
          <a:xfrm>
            <a:off x="7124548" y="4617720"/>
            <a:ext cx="1414729" cy="1188720"/>
          </a:xfrm>
          <a:prstGeom prst="roundRect">
            <a:avLst>
              <a:gd name="adj" fmla="val 9231"/>
            </a:avLst>
          </a:prstGeom>
          <a:solidFill>
            <a:srgbClr val="F7FAF9"/>
          </a:solidFill>
          <a:ln w="12700">
            <a:solidFill>
              <a:srgbClr val="D5DDDB"/>
            </a:solidFill>
            <a:prstDash val="solid"/>
          </a:ln>
        </p:spPr>
      </p:sp>
      <p:sp>
        <p:nvSpPr>
          <p:cNvPr id="54" name="Text 51"/>
          <p:cNvSpPr txBox="1"/>
          <p:nvPr/>
        </p:nvSpPr>
        <p:spPr>
          <a:xfrm>
            <a:off x="723427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14</a:t>
            </a:r>
            <a:endParaRPr lang="en-US" sz="1200" dirty="0"/>
          </a:p>
        </p:txBody>
      </p:sp>
      <p:sp>
        <p:nvSpPr>
          <p:cNvPr id="55" name="Text 52"/>
          <p:cNvSpPr txBox="1"/>
          <p:nvPr/>
        </p:nvSpPr>
        <p:spPr>
          <a:xfrm>
            <a:off x="723427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Frontiers and limits</a:t>
            </a:r>
            <a:endParaRPr lang="en-US" sz="1400" dirty="0"/>
          </a:p>
        </p:txBody>
      </p:sp>
      <p:sp>
        <p:nvSpPr>
          <p:cNvPr id="56" name="week tile"/>
          <p:cNvSpPr/>
          <p:nvPr/>
        </p:nvSpPr>
        <p:spPr>
          <a:xfrm>
            <a:off x="8676437" y="4617720"/>
            <a:ext cx="1414729" cy="1188720"/>
          </a:xfrm>
          <a:prstGeom prst="roundRect">
            <a:avLst>
              <a:gd name="adj" fmla="val 9231"/>
            </a:avLst>
          </a:prstGeom>
          <a:solidFill>
            <a:srgbClr val="F7FAF9"/>
          </a:solidFill>
          <a:ln w="12700">
            <a:solidFill>
              <a:srgbClr val="F7FAF9"/>
            </a:solidFill>
            <a:prstDash val="solid"/>
          </a:ln>
        </p:spPr>
      </p:sp>
      <p:sp>
        <p:nvSpPr>
          <p:cNvPr id="57" name="Shape 54"/>
          <p:cNvSpPr/>
          <p:nvPr/>
        </p:nvSpPr>
        <p:spPr>
          <a:xfrm>
            <a:off x="8676437" y="4617720"/>
            <a:ext cx="1414729" cy="1188720"/>
          </a:xfrm>
          <a:prstGeom prst="roundRect">
            <a:avLst>
              <a:gd name="adj" fmla="val 9231"/>
            </a:avLst>
          </a:prstGeom>
          <a:solidFill>
            <a:srgbClr val="F7FAF9"/>
          </a:solidFill>
          <a:ln w="12700">
            <a:solidFill>
              <a:srgbClr val="D5DDDB"/>
            </a:solidFill>
            <a:prstDash val="solid"/>
          </a:ln>
        </p:spPr>
      </p:sp>
      <p:sp>
        <p:nvSpPr>
          <p:cNvPr id="58" name="Text 55"/>
          <p:cNvSpPr txBox="1"/>
          <p:nvPr/>
        </p:nvSpPr>
        <p:spPr>
          <a:xfrm>
            <a:off x="8786165"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15</a:t>
            </a:r>
            <a:endParaRPr lang="en-US" sz="1200" dirty="0"/>
          </a:p>
        </p:txBody>
      </p:sp>
      <p:sp>
        <p:nvSpPr>
          <p:cNvPr id="59" name="Text 56"/>
          <p:cNvSpPr txBox="1"/>
          <p:nvPr/>
        </p:nvSpPr>
        <p:spPr>
          <a:xfrm>
            <a:off x="8786165"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Projects and review</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TODAY'S GOALS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By the end of today you can</a:t>
            </a:r>
            <a:endParaRPr lang="en-US" sz="3200" dirty="0"/>
          </a:p>
        </p:txBody>
      </p:sp>
      <p:sp>
        <p:nvSpPr>
          <p:cNvPr id="5" name="goal card"/>
          <p:cNvSpPr/>
          <p:nvPr/>
        </p:nvSpPr>
        <p:spPr>
          <a:xfrm>
            <a:off x="548640"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4"/>
          <p:cNvSpPr txBox="1"/>
          <p:nvPr/>
        </p:nvSpPr>
        <p:spPr>
          <a:xfrm>
            <a:off x="822960" y="2560320"/>
            <a:ext cx="2064944" cy="20574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Write a small energy problem as an objective and constraints</a:t>
            </a:r>
            <a:endParaRPr lang="en-US" sz="1600" dirty="0"/>
          </a:p>
        </p:txBody>
      </p:sp>
      <p:sp>
        <p:nvSpPr>
          <p:cNvPr id="8" name="goal card"/>
          <p:cNvSpPr/>
          <p:nvPr/>
        </p:nvSpPr>
        <p:spPr>
          <a:xfrm>
            <a:off x="3390824"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9" name="number badge"/>
          <p:cNvSpPr txBox="1"/>
          <p:nvPr/>
        </p:nvSpPr>
        <p:spPr>
          <a:xfrm>
            <a:off x="3665144"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7"/>
          <p:cNvSpPr txBox="1"/>
          <p:nvPr/>
        </p:nvSpPr>
        <p:spPr>
          <a:xfrm>
            <a:off x="3665144" y="2560320"/>
            <a:ext cx="2064944" cy="20574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Solve a three-technology power system by hand and with lpSolve</a:t>
            </a:r>
            <a:endParaRPr lang="en-US" sz="1600" dirty="0"/>
          </a:p>
        </p:txBody>
      </p:sp>
      <p:sp>
        <p:nvSpPr>
          <p:cNvPr id="11" name="goal card"/>
          <p:cNvSpPr/>
          <p:nvPr/>
        </p:nvSpPr>
        <p:spPr>
          <a:xfrm>
            <a:off x="6233008"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2" name="number badge"/>
          <p:cNvSpPr txBox="1"/>
          <p:nvPr/>
        </p:nvSpPr>
        <p:spPr>
          <a:xfrm>
            <a:off x="6507328"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0"/>
          <p:cNvSpPr txBox="1"/>
          <p:nvPr/>
        </p:nvSpPr>
        <p:spPr>
          <a:xfrm>
            <a:off x="6507328" y="2560320"/>
            <a:ext cx="2064944" cy="20574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Read a shadow price and explain why it acts like a carbon price</a:t>
            </a:r>
            <a:endParaRPr lang="en-US" sz="1600" dirty="0"/>
          </a:p>
        </p:txBody>
      </p:sp>
      <p:sp>
        <p:nvSpPr>
          <p:cNvPr id="14" name="goal card"/>
          <p:cNvSpPr/>
          <p:nvPr/>
        </p:nvSpPr>
        <p:spPr>
          <a:xfrm>
            <a:off x="9075191"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9349511"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3"/>
          <p:cNvSpPr txBox="1"/>
          <p:nvPr/>
        </p:nvSpPr>
        <p:spPr>
          <a:xfrm>
            <a:off x="9349511" y="2560320"/>
            <a:ext cx="2064944" cy="20574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Contrast GCAM's simulation with optimisation and CGE models</a:t>
            </a:r>
            <a:endParaRPr lang="en-US" sz="1600" dirty="0"/>
          </a:p>
        </p:txBody>
      </p:sp>
      <p:sp>
        <p:nvSpPr>
          <p:cNvPr id="17" name="big question"/>
          <p:cNvSpPr/>
          <p:nvPr/>
        </p:nvSpPr>
        <p:spPr>
          <a:xfrm>
            <a:off x="548640" y="5074920"/>
            <a:ext cx="11094415" cy="960120"/>
          </a:xfrm>
          <a:prstGeom prst="roundRect">
            <a:avLst>
              <a:gd name="adj" fmla="val 11429"/>
            </a:avLst>
          </a:prstGeom>
          <a:solidFill>
            <a:srgbClr val="E6F2F0"/>
          </a:solidFill>
          <a:ln w="12700">
            <a:solidFill>
              <a:srgbClr val="E6F2F0"/>
            </a:solidFill>
            <a:prstDash val="solid"/>
          </a:ln>
        </p:spPr>
      </p:sp>
      <p:sp>
        <p:nvSpPr>
          <p:cNvPr id="18" name="icon circle"/>
          <p:cNvSpPr/>
          <p:nvPr/>
        </p:nvSpPr>
        <p:spPr>
          <a:xfrm>
            <a:off x="777240" y="5212080"/>
            <a:ext cx="685800" cy="685800"/>
          </a:xfrm>
          <a:prstGeom prst="ellipse">
            <a:avLst/>
          </a:prstGeom>
          <a:solidFill>
            <a:srgbClr val="12263A"/>
          </a:solidFill>
          <a:ln w="12700">
            <a:solidFill>
              <a:srgbClr val="12263A"/>
            </a:solidFill>
            <a:prstDash val="solid"/>
          </a:ln>
        </p:spPr>
      </p:sp>
      <p:pic>
        <p:nvPicPr>
          <p:cNvPr id="19" name="icon" descr="preencoded.png">    </p:cNvPr>
          <p:cNvPicPr>
            <a:picLocks noChangeAspect="1"/>
          </p:cNvPicPr>
          <p:nvPr/>
        </p:nvPicPr>
        <p:blipFill>
          <a:blip r:embed="rId1"/>
          <a:stretch>
            <a:fillRect/>
          </a:stretch>
        </p:blipFill>
        <p:spPr>
          <a:xfrm>
            <a:off x="955548" y="5390388"/>
            <a:ext cx="329184" cy="329184"/>
          </a:xfrm>
          <a:prstGeom prst="rect">
            <a:avLst/>
          </a:prstGeom>
        </p:spPr>
      </p:pic>
      <p:sp>
        <p:nvSpPr>
          <p:cNvPr id="20" name="Text 16"/>
          <p:cNvSpPr txBox="1"/>
          <p:nvPr/>
        </p:nvSpPr>
        <p:spPr>
          <a:xfrm>
            <a:off x="1645920" y="5120640"/>
            <a:ext cx="9814255" cy="86868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Big question  </a:t>
            </a:r>
            <a:pPr indent="0" marL="0">
              <a:buNone/>
            </a:pPr>
            <a:r>
              <a:rPr lang="en-US" sz="2000" dirty="0">
                <a:solidFill>
                  <a:srgbClr val="1F2933"/>
                </a:solidFill>
                <a:latin typeface="Calibri" pitchFamily="34" charset="0"/>
                <a:ea typeface="Calibri" pitchFamily="34" charset="-122"/>
                <a:cs typeface="Calibri" pitchFamily="34" charset="-120"/>
              </a:rPr>
              <a:t>If one planner could choose the whole power mix with perfect knowledge, what would they build, and what would a climate cap cost?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You are the planner</a:t>
            </a:r>
            <a:endParaRPr lang="en-US" sz="4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LET'S START WITH A QUESTION</a:t>
            </a:r>
            <a:endParaRPr lang="en-US" sz="1200" dirty="0"/>
          </a:p>
        </p:txBody>
      </p:sp>
      <p:sp>
        <p:nvSpPr>
          <p:cNvPr id="5" name="Text 2"/>
          <p:cNvSpPr txBox="1"/>
          <p:nvPr/>
        </p:nvSpPr>
        <p:spPr>
          <a:xfrm>
            <a:off x="548640" y="3108960"/>
            <a:ext cx="10241280" cy="1188720"/>
          </a:xfrm>
          <a:prstGeom prst="rect">
            <a:avLst/>
          </a:prstGeom>
          <a:noFill/>
          <a:ln/>
        </p:spPr>
        <p:txBody>
          <a:bodyPr wrap="square" lIns="0" tIns="0" rIns="0" bIns="0" rtlCol="0" anchor="t"/>
          <a:lstStyle/>
          <a:p>
            <a:pPr indent="0" marL="0">
              <a:buNone/>
            </a:pPr>
            <a:r>
              <a:rPr lang="en-US" sz="2600" dirty="0">
                <a:solidFill>
                  <a:srgbClr val="C9D6DF"/>
                </a:solidFill>
                <a:latin typeface="Calibri" pitchFamily="34" charset="0"/>
                <a:ea typeface="Calibri" pitchFamily="34" charset="-122"/>
                <a:cs typeface="Calibri" pitchFamily="34" charset="-120"/>
              </a:rPr>
              <a:t>Supply 100 TWh of electricity at the lowest cost, using coal, gas and solar, while emitting no more than 40 Mt of CO2.</a:t>
            </a:r>
            <a:endParaRPr lang="en-US" sz="2600" dirty="0"/>
          </a:p>
        </p:txBody>
      </p:sp>
      <p:sp>
        <p:nvSpPr>
          <p:cNvPr id="6" name="question box"/>
          <p:cNvSpPr/>
          <p:nvPr/>
        </p:nvSpPr>
        <p:spPr>
          <a:xfrm>
            <a:off x="548640" y="4526280"/>
            <a:ext cx="11094415" cy="1143000"/>
          </a:xfrm>
          <a:prstGeom prst="roundRect">
            <a:avLst>
              <a:gd name="adj" fmla="val 9600"/>
            </a:avLst>
          </a:prstGeom>
          <a:solidFill>
            <a:srgbClr val="1D3A52"/>
          </a:solidFill>
          <a:ln w="12700">
            <a:solidFill>
              <a:srgbClr val="1D3A52"/>
            </a:solidFill>
            <a:prstDash val="solid"/>
          </a:ln>
        </p:spPr>
      </p:sp>
      <p:sp>
        <p:nvSpPr>
          <p:cNvPr id="7" name="icon circle"/>
          <p:cNvSpPr/>
          <p:nvPr/>
        </p:nvSpPr>
        <p:spPr>
          <a:xfrm>
            <a:off x="777240" y="4709160"/>
            <a:ext cx="777240" cy="777240"/>
          </a:xfrm>
          <a:prstGeom prst="ellipse">
            <a:avLst/>
          </a:prstGeom>
          <a:solidFill>
            <a:srgbClr val="C2410C"/>
          </a:solidFill>
          <a:ln w="12700">
            <a:solidFill>
              <a:srgbClr val="C2410C"/>
            </a:solidFill>
            <a:prstDash val="solid"/>
          </a:ln>
        </p:spPr>
      </p:sp>
      <p:pic>
        <p:nvPicPr>
          <p:cNvPr id="8" name="icon" descr="preencoded.png">    </p:cNvPr>
          <p:cNvPicPr>
            <a:picLocks noChangeAspect="1"/>
          </p:cNvPicPr>
          <p:nvPr/>
        </p:nvPicPr>
        <p:blipFill>
          <a:blip r:embed="rId1"/>
          <a:stretch>
            <a:fillRect/>
          </a:stretch>
        </p:blipFill>
        <p:spPr>
          <a:xfrm>
            <a:off x="979322" y="4911242"/>
            <a:ext cx="373075" cy="373075"/>
          </a:xfrm>
          <a:prstGeom prst="rect">
            <a:avLst/>
          </a:prstGeom>
        </p:spPr>
      </p:pic>
      <p:sp>
        <p:nvSpPr>
          <p:cNvPr id="9" name="Text 5"/>
          <p:cNvSpPr txBox="1"/>
          <p:nvPr/>
        </p:nvSpPr>
        <p:spPr>
          <a:xfrm>
            <a:off x="1783080" y="4572000"/>
            <a:ext cx="9631375" cy="10515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Would you use all the solar you are allowed?</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AN EVERYDAY PICTURE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2600" b="1" dirty="0">
                <a:solidFill>
                  <a:srgbClr val="12263A"/>
                </a:solidFill>
                <a:latin typeface="Cambria" pitchFamily="34" charset="0"/>
                <a:ea typeface="Cambria" pitchFamily="34" charset="-122"/>
                <a:cs typeface="Cambria" pitchFamily="34" charset="-120"/>
              </a:rPr>
              <a:t>An optimisation model is a sat-nav for an energy system</a:t>
            </a:r>
            <a:endParaRPr lang="en-US" sz="2600" dirty="0"/>
          </a:p>
        </p:txBody>
      </p:sp>
      <p:sp>
        <p:nvSpPr>
          <p:cNvPr id="5" name="analogy card"/>
          <p:cNvSpPr/>
          <p:nvPr/>
        </p:nvSpPr>
        <p:spPr>
          <a:xfrm>
            <a:off x="548640" y="1600200"/>
            <a:ext cx="6675120" cy="4434840"/>
          </a:xfrm>
          <a:prstGeom prst="roundRect">
            <a:avLst>
              <a:gd name="adj" fmla="val 2474"/>
            </a:avLst>
          </a:prstGeom>
          <a:solidFill>
            <a:srgbClr val="E6F2F0"/>
          </a:solidFill>
          <a:ln w="12700">
            <a:solidFill>
              <a:srgbClr val="E6F2F0"/>
            </a:solidFill>
            <a:prstDash val="solid"/>
          </a:ln>
        </p:spPr>
      </p:sp>
      <p:sp>
        <p:nvSpPr>
          <p:cNvPr id="6" name="icon circle"/>
          <p:cNvSpPr/>
          <p:nvPr/>
        </p:nvSpPr>
        <p:spPr>
          <a:xfrm>
            <a:off x="868680" y="1874520"/>
            <a:ext cx="777240" cy="77724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1070762" y="2076602"/>
            <a:ext cx="373075" cy="373075"/>
          </a:xfrm>
          <a:prstGeom prst="rect">
            <a:avLst/>
          </a:prstGeom>
        </p:spPr>
      </p:pic>
      <p:sp>
        <p:nvSpPr>
          <p:cNvPr id="8" name="Text 4"/>
          <p:cNvSpPr txBox="1"/>
          <p:nvPr/>
        </p:nvSpPr>
        <p:spPr>
          <a:xfrm>
            <a:off x="868680" y="2834640"/>
            <a:ext cx="6035040" cy="3063240"/>
          </a:xfrm>
          <a:prstGeom prst="rect">
            <a:avLst/>
          </a:prstGeom>
          <a:noFill/>
          <a:ln/>
        </p:spPr>
        <p:txBody>
          <a:bodyPr wrap="square" lIns="0" tIns="0" rIns="0" bIns="0" rtlCol="0" anchor="t"/>
          <a:lstStyle/>
          <a:p>
            <a:pPr indent="0" marL="0">
              <a:buNone/>
            </a:pPr>
            <a:r>
              <a:rPr lang="en-US" sz="2400" i="1" dirty="0">
                <a:solidFill>
                  <a:srgbClr val="12263A"/>
                </a:solidFill>
                <a:latin typeface="Cambria" pitchFamily="34" charset="0"/>
                <a:ea typeface="Cambria" pitchFamily="34" charset="-122"/>
                <a:cs typeface="Cambria" pitchFamily="34" charset="-120"/>
              </a:rPr>
              <a:t>You give a sat-nav one goal, the fastest route, and the limits: roads, one-way streets, a closed bridge. It searches and returns the single best route. An optimisation model does the same with cost as the goal and demand, plant sizes and emission caps as the limits.</a:t>
            </a:r>
            <a:endParaRPr lang="en-US" sz="2400" dirty="0"/>
          </a:p>
        </p:txBody>
      </p:sp>
      <p:sp>
        <p:nvSpPr>
          <p:cNvPr id="9" name="Text 5"/>
          <p:cNvSpPr txBox="1"/>
          <p:nvPr/>
        </p:nvSpPr>
        <p:spPr>
          <a:xfrm>
            <a:off x="7635240" y="1737360"/>
            <a:ext cx="4007815" cy="365760"/>
          </a:xfrm>
          <a:prstGeom prst="rect">
            <a:avLst/>
          </a:prstGeom>
          <a:noFill/>
          <a:ln/>
        </p:spPr>
        <p:txBody>
          <a:bodyPr wrap="square" lIns="0" tIns="0" rIns="0" bIns="0" rtlCol="0" anchor="t"/>
          <a:lstStyle/>
          <a:p>
            <a:pPr indent="0" marL="0">
              <a:buNone/>
            </a:pPr>
            <a:r>
              <a:rPr lang="en-US" sz="1600" b="1" dirty="0">
                <a:solidFill>
                  <a:srgbClr val="5B6875"/>
                </a:solidFill>
                <a:latin typeface="Calibri" pitchFamily="34" charset="0"/>
                <a:ea typeface="Calibri" pitchFamily="34" charset="-122"/>
                <a:cs typeface="Calibri" pitchFamily="34" charset="-120"/>
              </a:rPr>
              <a:t>What it means for models</a:t>
            </a:r>
            <a:endParaRPr lang="en-US" sz="1600" dirty="0"/>
          </a:p>
        </p:txBody>
      </p:sp>
      <p:sp>
        <p:nvSpPr>
          <p:cNvPr id="10" name="number badge"/>
          <p:cNvSpPr txBox="1"/>
          <p:nvPr/>
        </p:nvSpPr>
        <p:spPr>
          <a:xfrm>
            <a:off x="7635240" y="228600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7"/>
          <p:cNvSpPr txBox="1"/>
          <p:nvPr/>
        </p:nvSpPr>
        <p:spPr>
          <a:xfrm>
            <a:off x="8275320" y="226771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Goal = objective (lowest total cost)</a:t>
            </a:r>
            <a:endParaRPr lang="en-US" sz="2200" dirty="0"/>
          </a:p>
        </p:txBody>
      </p:sp>
      <p:sp>
        <p:nvSpPr>
          <p:cNvPr id="12" name="number badge"/>
          <p:cNvSpPr txBox="1"/>
          <p:nvPr/>
        </p:nvSpPr>
        <p:spPr>
          <a:xfrm>
            <a:off x="7635240" y="362712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9"/>
          <p:cNvSpPr txBox="1"/>
          <p:nvPr/>
        </p:nvSpPr>
        <p:spPr>
          <a:xfrm>
            <a:off x="8275320" y="360883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Limits = constraints (demand, capacity, cap)</a:t>
            </a:r>
            <a:endParaRPr lang="en-US" sz="2200" dirty="0"/>
          </a:p>
        </p:txBody>
      </p:sp>
      <p:sp>
        <p:nvSpPr>
          <p:cNvPr id="14" name="number badge"/>
          <p:cNvSpPr txBox="1"/>
          <p:nvPr/>
        </p:nvSpPr>
        <p:spPr>
          <a:xfrm>
            <a:off x="7635240" y="496824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1"/>
          <p:cNvSpPr txBox="1"/>
          <p:nvPr/>
        </p:nvSpPr>
        <p:spPr>
          <a:xfrm>
            <a:off x="8275320" y="494995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Answer = one best plan, not a range</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SIDE BY SIDE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The toy power system from lab 11</a:t>
            </a:r>
            <a:endParaRPr lang="en-US" sz="32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773604"/>
                <a:gridCol w="2773604"/>
                <a:gridCol w="2773604"/>
                <a:gridCol w="2773604"/>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Technology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Cost $/MWh</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tCO2 per MWh</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Limit TWh</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Coal</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60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0.9</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60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Gas</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70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0.4</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50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Solar</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80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30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Demand</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100 in total</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bl>
          </a:graphicData>
        </a:graphic>
      </p:graphicFrame>
      <p:sp>
        <p:nvSpPr>
          <p:cNvPr id="6" name="caption pill"/>
          <p:cNvSpPr/>
          <p:nvPr/>
        </p:nvSpPr>
        <p:spPr>
          <a:xfrm>
            <a:off x="548640" y="4160520"/>
            <a:ext cx="11094415" cy="640080"/>
          </a:xfrm>
          <a:prstGeom prst="roundRect">
            <a:avLst>
              <a:gd name="adj" fmla="val 17143"/>
            </a:avLst>
          </a:prstGeom>
          <a:solidFill>
            <a:srgbClr val="E6F2F0"/>
          </a:solidFill>
          <a:ln w="12700">
            <a:solidFill>
              <a:srgbClr val="E6F2F0"/>
            </a:solidFill>
            <a:prstDash val="solid"/>
          </a:ln>
        </p:spPr>
      </p:sp>
      <p:sp>
        <p:nvSpPr>
          <p:cNvPr id="7" name="icon circle"/>
          <p:cNvSpPr/>
          <p:nvPr/>
        </p:nvSpPr>
        <p:spPr>
          <a:xfrm>
            <a:off x="685800" y="4270248"/>
            <a:ext cx="420624" cy="420624"/>
          </a:xfrm>
          <a:prstGeom prst="ellipse">
            <a:avLst/>
          </a:prstGeom>
          <a:solidFill>
            <a:srgbClr val="0F766E"/>
          </a:solidFill>
          <a:ln w="12700">
            <a:solidFill>
              <a:srgbClr val="0F766E"/>
            </a:solidFill>
            <a:prstDash val="solid"/>
          </a:ln>
        </p:spPr>
      </p:sp>
      <p:pic>
        <p:nvPicPr>
          <p:cNvPr id="8" name="icon" descr="preencoded.png">    </p:cNvPr>
          <p:cNvPicPr>
            <a:picLocks noChangeAspect="1"/>
          </p:cNvPicPr>
          <p:nvPr/>
        </p:nvPicPr>
        <p:blipFill>
          <a:blip r:embed="rId1"/>
          <a:stretch>
            <a:fillRect/>
          </a:stretch>
        </p:blipFill>
        <p:spPr>
          <a:xfrm>
            <a:off x="795162" y="4379610"/>
            <a:ext cx="201900" cy="201900"/>
          </a:xfrm>
          <a:prstGeom prst="rect">
            <a:avLst/>
          </a:prstGeom>
        </p:spPr>
      </p:pic>
      <p:sp>
        <p:nvSpPr>
          <p:cNvPr id="9" name="Text 4"/>
          <p:cNvSpPr txBox="1"/>
          <p:nvPr/>
        </p:nvSpPr>
        <p:spPr>
          <a:xfrm>
            <a:off x="1280160" y="4160520"/>
            <a:ext cx="10180015" cy="640080"/>
          </a:xfrm>
          <a:prstGeom prst="rect">
            <a:avLst/>
          </a:prstGeom>
          <a:noFill/>
          <a:ln/>
        </p:spPr>
        <p:txBody>
          <a:bodyPr wrap="square" lIns="0" tIns="0" rIns="0" bIns="0" rtlCol="0" anchor="ctr"/>
          <a:lstStyle/>
          <a:p>
            <a:pPr indent="0" marL="0">
              <a:buNone/>
            </a:pPr>
            <a:r>
              <a:rPr lang="en-US" sz="1600" dirty="0">
                <a:solidFill>
                  <a:srgbClr val="0B5550"/>
                </a:solidFill>
                <a:latin typeface="Calibri" pitchFamily="34" charset="0"/>
                <a:ea typeface="Calibri" pitchFamily="34" charset="-122"/>
                <a:cs typeface="Calibri" pitchFamily="34" charset="-120"/>
              </a:rPr>
              <a:t>Same costs and emission factors as the week 4 market. Illustrative numbers, not a real country.</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no cap, fill the cheapest first</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Meet 100 TWh at the lowest cost with no emissions cap.</a:t>
            </a:r>
            <a:endParaRPr lang="en-US" sz="2000" dirty="0"/>
          </a:p>
        </p:txBody>
      </p:sp>
      <p:sp>
        <p:nvSpPr>
          <p:cNvPr id="9" name="number badge"/>
          <p:cNvSpPr txBox="1"/>
          <p:nvPr/>
        </p:nvSpPr>
        <p:spPr>
          <a:xfrm>
            <a:off x="548640" y="283464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1188720" y="265176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Coal is cheapest: use its full limit, 60 TWh</a:t>
            </a:r>
            <a:endParaRPr lang="en-US" sz="2100" dirty="0"/>
          </a:p>
        </p:txBody>
      </p:sp>
      <p:sp>
        <p:nvSpPr>
          <p:cNvPr id="11" name="number badge"/>
          <p:cNvSpPr txBox="1"/>
          <p:nvPr/>
        </p:nvSpPr>
        <p:spPr>
          <a:xfrm>
            <a:off x="548640" y="361188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1188720" y="342900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Still need 100 − 60 = 40 TWh: take it from gas, the next cheapest</a:t>
            </a:r>
            <a:endParaRPr lang="en-US" sz="2100" dirty="0"/>
          </a:p>
        </p:txBody>
      </p:sp>
      <p:sp>
        <p:nvSpPr>
          <p:cNvPr id="13" name="number badge"/>
          <p:cNvSpPr txBox="1"/>
          <p:nvPr/>
        </p:nvSpPr>
        <p:spPr>
          <a:xfrm>
            <a:off x="548640" y="438912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1188720" y="420624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Cost = 60 × 60 + 40 × 70 = 3,600 + 2,800 = $6,400 million</a:t>
            </a:r>
            <a:endParaRPr lang="en-US" sz="2100" dirty="0"/>
          </a:p>
        </p:txBody>
      </p:sp>
      <p:sp>
        <p:nvSpPr>
          <p:cNvPr id="15" name="number badge"/>
          <p:cNvSpPr txBox="1"/>
          <p:nvPr/>
        </p:nvSpPr>
        <p:spPr>
          <a:xfrm>
            <a:off x="548640" y="516636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2"/>
          <p:cNvSpPr txBox="1"/>
          <p:nvPr/>
        </p:nvSpPr>
        <p:spPr>
          <a:xfrm>
            <a:off x="1188720" y="498348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Emissions = 0.9 × 60 + 0.4 × 40 = 54 + 16 = 70 Mt</a:t>
            </a:r>
            <a:endParaRPr lang="en-US" sz="2100" dirty="0"/>
          </a:p>
        </p:txBody>
      </p:sp>
      <p:sp>
        <p:nvSpPr>
          <p:cNvPr id="17" name="answer card"/>
          <p:cNvSpPr/>
          <p:nvPr/>
        </p:nvSpPr>
        <p:spPr>
          <a:xfrm>
            <a:off x="8686800" y="2651760"/>
            <a:ext cx="2956255" cy="3520440"/>
          </a:xfrm>
          <a:prstGeom prst="roundRect">
            <a:avLst>
              <a:gd name="adj" fmla="val 3712"/>
            </a:avLst>
          </a:prstGeom>
          <a:solidFill>
            <a:srgbClr val="FCEDE5"/>
          </a:solidFill>
          <a:ln w="12700">
            <a:solidFill>
              <a:srgbClr val="FCEDE5"/>
            </a:solidFill>
            <a:prstDash val="solid"/>
          </a:ln>
        </p:spPr>
      </p:sp>
      <p:sp>
        <p:nvSpPr>
          <p:cNvPr id="18" name="icon circle"/>
          <p:cNvSpPr/>
          <p:nvPr/>
        </p:nvSpPr>
        <p:spPr>
          <a:xfrm>
            <a:off x="8961120" y="2926080"/>
            <a:ext cx="548640" cy="548640"/>
          </a:xfrm>
          <a:prstGeom prst="ellipse">
            <a:avLst/>
          </a:prstGeom>
          <a:solidFill>
            <a:srgbClr val="C2410C"/>
          </a:solidFill>
          <a:ln w="12700">
            <a:solidFill>
              <a:srgbClr val="C2410C"/>
            </a:solidFill>
            <a:prstDash val="solid"/>
          </a:ln>
        </p:spPr>
      </p:sp>
      <p:pic>
        <p:nvPicPr>
          <p:cNvPr id="19" name="icon" descr="preencoded.png">    </p:cNvPr>
          <p:cNvPicPr>
            <a:picLocks noChangeAspect="1"/>
          </p:cNvPicPr>
          <p:nvPr/>
        </p:nvPicPr>
        <p:blipFill>
          <a:blip r:embed="rId2"/>
          <a:stretch>
            <a:fillRect/>
          </a:stretch>
        </p:blipFill>
        <p:spPr>
          <a:xfrm>
            <a:off x="9103766" y="3068726"/>
            <a:ext cx="263347" cy="263347"/>
          </a:xfrm>
          <a:prstGeom prst="rect">
            <a:avLst/>
          </a:prstGeom>
        </p:spPr>
      </p:pic>
      <p:sp>
        <p:nvSpPr>
          <p:cNvPr id="20" name="Text 15"/>
          <p:cNvSpPr txBox="1"/>
          <p:nvPr/>
        </p:nvSpPr>
        <p:spPr>
          <a:xfrm>
            <a:off x="9646920" y="2971800"/>
            <a:ext cx="1858975" cy="45720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Answer</a:t>
            </a:r>
            <a:endParaRPr lang="en-US" sz="1800" dirty="0"/>
          </a:p>
        </p:txBody>
      </p:sp>
      <p:sp>
        <p:nvSpPr>
          <p:cNvPr id="21" name="Text 16"/>
          <p:cNvSpPr txBox="1"/>
          <p:nvPr/>
        </p:nvSpPr>
        <p:spPr>
          <a:xfrm>
            <a:off x="8961120" y="3703320"/>
            <a:ext cx="2407615" cy="2286000"/>
          </a:xfrm>
          <a:prstGeom prst="rect">
            <a:avLst/>
          </a:prstGeom>
          <a:noFill/>
          <a:ln/>
        </p:spPr>
        <p:txBody>
          <a:bodyPr wrap="square" lIns="0" tIns="0" rIns="0" bIns="0" rtlCol="0" anchor="t"/>
          <a:lstStyle/>
          <a:p>
            <a:pPr indent="0" marL="0">
              <a:buNone/>
            </a:pPr>
            <a:r>
              <a:rPr lang="en-US" sz="2600" b="1" dirty="0">
                <a:solidFill>
                  <a:srgbClr val="12263A"/>
                </a:solidFill>
                <a:latin typeface="Cambria" pitchFamily="34" charset="0"/>
                <a:ea typeface="Cambria" pitchFamily="34" charset="-122"/>
                <a:cs typeface="Cambria" pitchFamily="34" charset="-120"/>
              </a:rPr>
              <a:t>Coal 60, gas 40, solar 0 TWh; $6,400 million; 70 Mt CO2</a:t>
            </a:r>
            <a:endParaRPr lang="en-US" sz="2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add a 40 Mt cap</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Same system, but emissions must be 40 Mt or less. Find the cheapest mix.</a:t>
            </a:r>
            <a:endParaRPr lang="en-US" sz="2000" dirty="0"/>
          </a:p>
        </p:txBody>
      </p:sp>
      <p:sp>
        <p:nvSpPr>
          <p:cNvPr id="9" name="number badge"/>
          <p:cNvSpPr txBox="1"/>
          <p:nvPr/>
        </p:nvSpPr>
        <p:spPr>
          <a:xfrm>
            <a:off x="548640" y="2676906"/>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6"/>
          <p:cNvSpPr txBox="1"/>
          <p:nvPr/>
        </p:nvSpPr>
        <p:spPr>
          <a:xfrm>
            <a:off x="1143000" y="2651760"/>
            <a:ext cx="10454335" cy="434340"/>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Swapping coal for gas costs 10 $/MWh and saves 0.5 t: $20 per tonne</a:t>
            </a:r>
            <a:endParaRPr lang="en-US" sz="1900" dirty="0"/>
          </a:p>
        </p:txBody>
      </p:sp>
      <p:sp>
        <p:nvSpPr>
          <p:cNvPr id="11" name="number badge"/>
          <p:cNvSpPr txBox="1"/>
          <p:nvPr/>
        </p:nvSpPr>
        <p:spPr>
          <a:xfrm>
            <a:off x="548640" y="3111246"/>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8"/>
          <p:cNvSpPr txBox="1"/>
          <p:nvPr/>
        </p:nvSpPr>
        <p:spPr>
          <a:xfrm>
            <a:off x="1143000" y="3086100"/>
            <a:ext cx="10454335" cy="434340"/>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Swapping coal for solar costs 20 $/MWh and saves 0.9 t: $22.2 per tonne</a:t>
            </a:r>
            <a:endParaRPr lang="en-US" sz="1900" dirty="0"/>
          </a:p>
        </p:txBody>
      </p:sp>
      <p:sp>
        <p:nvSpPr>
          <p:cNvPr id="13" name="number badge"/>
          <p:cNvSpPr txBox="1"/>
          <p:nvPr/>
        </p:nvSpPr>
        <p:spPr>
          <a:xfrm>
            <a:off x="548640" y="3545586"/>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4" name="Text 10"/>
          <p:cNvSpPr txBox="1"/>
          <p:nvPr/>
        </p:nvSpPr>
        <p:spPr>
          <a:xfrm>
            <a:off x="1143000" y="3520440"/>
            <a:ext cx="10454335" cy="434340"/>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Do the cheaper swap first: gas to its limit, 50 TWh, using 0.4 × 50 = 20 Mt</a:t>
            </a:r>
            <a:endParaRPr lang="en-US" sz="1900" dirty="0"/>
          </a:p>
        </p:txBody>
      </p:sp>
      <p:sp>
        <p:nvSpPr>
          <p:cNvPr id="15" name="number badge"/>
          <p:cNvSpPr txBox="1"/>
          <p:nvPr/>
        </p:nvSpPr>
        <p:spPr>
          <a:xfrm>
            <a:off x="548640" y="3979926"/>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2"/>
          <p:cNvSpPr txBox="1"/>
          <p:nvPr/>
        </p:nvSpPr>
        <p:spPr>
          <a:xfrm>
            <a:off x="1143000" y="3954780"/>
            <a:ext cx="10454335" cy="434340"/>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That leaves 40 − 20 = 20 Mt for coal: 20 ÷ 0.9 = 22.2 TWh</a:t>
            </a:r>
            <a:endParaRPr lang="en-US" sz="1900" dirty="0"/>
          </a:p>
        </p:txBody>
      </p:sp>
      <p:sp>
        <p:nvSpPr>
          <p:cNvPr id="17" name="number badge"/>
          <p:cNvSpPr txBox="1"/>
          <p:nvPr/>
        </p:nvSpPr>
        <p:spPr>
          <a:xfrm>
            <a:off x="548640" y="4414266"/>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8" name="Text 14"/>
          <p:cNvSpPr txBox="1"/>
          <p:nvPr/>
        </p:nvSpPr>
        <p:spPr>
          <a:xfrm>
            <a:off x="1143000" y="4389120"/>
            <a:ext cx="10454335" cy="434340"/>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Solar fills the rest: 100 − 50 − 22.2 = 27.8 TWh</a:t>
            </a:r>
            <a:endParaRPr lang="en-US" sz="1900" dirty="0"/>
          </a:p>
        </p:txBody>
      </p:sp>
      <p:sp>
        <p:nvSpPr>
          <p:cNvPr id="19" name="number badge"/>
          <p:cNvSpPr txBox="1"/>
          <p:nvPr/>
        </p:nvSpPr>
        <p:spPr>
          <a:xfrm>
            <a:off x="548640" y="4848606"/>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20" name="Text 16"/>
          <p:cNvSpPr txBox="1"/>
          <p:nvPr/>
        </p:nvSpPr>
        <p:spPr>
          <a:xfrm>
            <a:off x="1143000" y="4823460"/>
            <a:ext cx="10454335" cy="434340"/>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Cost = 22.2 × 60 + 50 × 70 + 27.8 × 80 ≈ $7,056 million</a:t>
            </a:r>
            <a:endParaRPr lang="en-US" sz="1900" dirty="0"/>
          </a:p>
        </p:txBody>
      </p:sp>
      <p:sp>
        <p:nvSpPr>
          <p:cNvPr id="21" name="answer bar"/>
          <p:cNvSpPr/>
          <p:nvPr/>
        </p:nvSpPr>
        <p:spPr>
          <a:xfrm>
            <a:off x="548640" y="5440680"/>
            <a:ext cx="11094415" cy="731520"/>
          </a:xfrm>
          <a:prstGeom prst="roundRect">
            <a:avLst>
              <a:gd name="adj" fmla="val 15000"/>
            </a:avLst>
          </a:prstGeom>
          <a:solidFill>
            <a:srgbClr val="FCEDE5"/>
          </a:solidFill>
          <a:ln w="12700">
            <a:solidFill>
              <a:srgbClr val="FCEDE5"/>
            </a:solidFill>
            <a:prstDash val="solid"/>
          </a:ln>
        </p:spPr>
      </p:sp>
      <p:sp>
        <p:nvSpPr>
          <p:cNvPr id="22" name="icon circle"/>
          <p:cNvSpPr/>
          <p:nvPr/>
        </p:nvSpPr>
        <p:spPr>
          <a:xfrm>
            <a:off x="685800" y="5568696"/>
            <a:ext cx="475488" cy="475488"/>
          </a:xfrm>
          <a:prstGeom prst="ellipse">
            <a:avLst/>
          </a:prstGeom>
          <a:solidFill>
            <a:srgbClr val="C2410C"/>
          </a:solidFill>
          <a:ln w="12700">
            <a:solidFill>
              <a:srgbClr val="C2410C"/>
            </a:solidFill>
            <a:prstDash val="solid"/>
          </a:ln>
        </p:spPr>
      </p:sp>
      <p:pic>
        <p:nvPicPr>
          <p:cNvPr id="23" name="icon" descr="preencoded.png">    </p:cNvPr>
          <p:cNvPicPr>
            <a:picLocks noChangeAspect="1"/>
          </p:cNvPicPr>
          <p:nvPr/>
        </p:nvPicPr>
        <p:blipFill>
          <a:blip r:embed="rId2"/>
          <a:stretch>
            <a:fillRect/>
          </a:stretch>
        </p:blipFill>
        <p:spPr>
          <a:xfrm>
            <a:off x="809427" y="5692323"/>
            <a:ext cx="228234" cy="228234"/>
          </a:xfrm>
          <a:prstGeom prst="rect">
            <a:avLst/>
          </a:prstGeom>
        </p:spPr>
      </p:pic>
      <p:sp>
        <p:nvSpPr>
          <p:cNvPr id="24" name="Text 19"/>
          <p:cNvSpPr txBox="1"/>
          <p:nvPr/>
        </p:nvSpPr>
        <p:spPr>
          <a:xfrm>
            <a:off x="1325880" y="5440680"/>
            <a:ext cx="10180015" cy="731520"/>
          </a:xfrm>
          <a:prstGeom prst="rect">
            <a:avLst/>
          </a:prstGeom>
          <a:noFill/>
          <a:ln/>
        </p:spPr>
        <p:txBody>
          <a:bodyPr wrap="square" lIns="0" tIns="0" rIns="0" bIns="0" rtlCol="0" anchor="ctr"/>
          <a:lstStyle/>
          <a:p>
            <a:pPr indent="0" marL="0">
              <a:buNone/>
            </a:pPr>
            <a:r>
              <a:rPr lang="en-US" sz="2000" b="1" dirty="0">
                <a:solidFill>
                  <a:srgbClr val="C2410C"/>
                </a:solidFill>
                <a:latin typeface="Calibri" pitchFamily="34" charset="0"/>
                <a:ea typeface="Calibri" pitchFamily="34" charset="-122"/>
                <a:cs typeface="Calibri" pitchFamily="34" charset="-120"/>
              </a:rPr>
              <a:t>Answer  </a:t>
            </a:r>
            <a:pPr indent="0" marL="0">
              <a:buNone/>
            </a:pPr>
            <a:r>
              <a:rPr lang="en-US" sz="2000" b="1" dirty="0">
                <a:solidFill>
                  <a:srgbClr val="12263A"/>
                </a:solidFill>
                <a:latin typeface="Calibri" pitchFamily="34" charset="0"/>
                <a:ea typeface="Calibri" pitchFamily="34" charset="-122"/>
                <a:cs typeface="Calibri" pitchFamily="34" charset="-120"/>
              </a:rPr>
              <a:t>Coal 22.2, gas 50, solar 27.8 TWh; about $7,056 million</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NUMBERS TO REMEMBER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The solver gives you a carbon price for free</a:t>
            </a:r>
            <a:endParaRPr lang="en-US" sz="3200" dirty="0"/>
          </a:p>
        </p:txBody>
      </p:sp>
      <p:sp>
        <p:nvSpPr>
          <p:cNvPr id="5" name="stat card"/>
          <p:cNvSpPr/>
          <p:nvPr/>
        </p:nvSpPr>
        <p:spPr>
          <a:xfrm>
            <a:off x="548640" y="1554480"/>
            <a:ext cx="3515258" cy="3566160"/>
          </a:xfrm>
          <a:prstGeom prst="roundRect">
            <a:avLst>
              <a:gd name="adj" fmla="val 3121"/>
            </a:avLst>
          </a:prstGeom>
          <a:solidFill>
            <a:srgbClr val="E6F2F0"/>
          </a:solidFill>
          <a:ln w="12700">
            <a:solidFill>
              <a:srgbClr val="E6F2F0"/>
            </a:solidFill>
            <a:prstDash val="solid"/>
          </a:ln>
        </p:spPr>
      </p:sp>
      <p:sp>
        <p:nvSpPr>
          <p:cNvPr id="6" name="Text 3"/>
          <p:cNvSpPr txBox="1"/>
          <p:nvPr/>
        </p:nvSpPr>
        <p:spPr>
          <a:xfrm>
            <a:off x="822960" y="1920240"/>
            <a:ext cx="2966618" cy="1371600"/>
          </a:xfrm>
          <a:prstGeom prst="rect">
            <a:avLst/>
          </a:prstGeom>
          <a:noFill/>
          <a:ln/>
        </p:spPr>
        <p:txBody>
          <a:bodyPr wrap="square" lIns="0" tIns="0" rIns="0" bIns="0" rtlCol="0" anchor="t"/>
          <a:lstStyle/>
          <a:p>
            <a:pPr indent="0" marL="0">
              <a:buNone/>
            </a:pPr>
            <a:r>
              <a:rPr lang="en-US" sz="6000" b="1" dirty="0">
                <a:solidFill>
                  <a:srgbClr val="0F766E"/>
                </a:solidFill>
                <a:latin typeface="Cambria" pitchFamily="34" charset="0"/>
                <a:ea typeface="Cambria" pitchFamily="34" charset="-122"/>
                <a:cs typeface="Cambria" pitchFamily="34" charset="-120"/>
              </a:rPr>
              <a:t>$22.2</a:t>
            </a:r>
            <a:endParaRPr lang="en-US" sz="6000" dirty="0"/>
          </a:p>
        </p:txBody>
      </p:sp>
      <p:sp>
        <p:nvSpPr>
          <p:cNvPr id="7" name="Text 4"/>
          <p:cNvSpPr txBox="1"/>
          <p:nvPr/>
        </p:nvSpPr>
        <p:spPr>
          <a:xfrm>
            <a:off x="822960" y="3383280"/>
            <a:ext cx="2966618" cy="155448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per tonne: the shadow price of the 40 Mt cap</a:t>
            </a:r>
            <a:endParaRPr lang="en-US" sz="2000" dirty="0"/>
          </a:p>
        </p:txBody>
      </p:sp>
      <p:sp>
        <p:nvSpPr>
          <p:cNvPr id="8" name="stat card"/>
          <p:cNvSpPr/>
          <p:nvPr/>
        </p:nvSpPr>
        <p:spPr>
          <a:xfrm>
            <a:off x="4338218" y="1554480"/>
            <a:ext cx="3515258" cy="3566160"/>
          </a:xfrm>
          <a:prstGeom prst="roundRect">
            <a:avLst>
              <a:gd name="adj" fmla="val 3121"/>
            </a:avLst>
          </a:prstGeom>
          <a:solidFill>
            <a:srgbClr val="F7FAF9"/>
          </a:solidFill>
          <a:ln w="12700">
            <a:solidFill>
              <a:srgbClr val="F7FAF9"/>
            </a:solidFill>
            <a:prstDash val="solid"/>
          </a:ln>
        </p:spPr>
      </p:sp>
      <p:sp>
        <p:nvSpPr>
          <p:cNvPr id="9" name="Text 6"/>
          <p:cNvSpPr txBox="1"/>
          <p:nvPr/>
        </p:nvSpPr>
        <p:spPr>
          <a:xfrm>
            <a:off x="4612538" y="1920240"/>
            <a:ext cx="2966618" cy="1371600"/>
          </a:xfrm>
          <a:prstGeom prst="rect">
            <a:avLst/>
          </a:prstGeom>
          <a:noFill/>
          <a:ln/>
        </p:spPr>
        <p:txBody>
          <a:bodyPr wrap="square" lIns="0" tIns="0" rIns="0" bIns="0" rtlCol="0" anchor="t"/>
          <a:lstStyle/>
          <a:p>
            <a:pPr indent="0" marL="0">
              <a:buNone/>
            </a:pPr>
            <a:r>
              <a:rPr lang="en-US" sz="6000" b="1" dirty="0">
                <a:solidFill>
                  <a:srgbClr val="12263A"/>
                </a:solidFill>
                <a:latin typeface="Cambria" pitchFamily="34" charset="0"/>
                <a:ea typeface="Cambria" pitchFamily="34" charset="-122"/>
                <a:cs typeface="Cambria" pitchFamily="34" charset="-120"/>
              </a:rPr>
              <a:t>+$656m</a:t>
            </a:r>
            <a:endParaRPr lang="en-US" sz="6000" dirty="0"/>
          </a:p>
        </p:txBody>
      </p:sp>
      <p:sp>
        <p:nvSpPr>
          <p:cNvPr id="10" name="Text 7"/>
          <p:cNvSpPr txBox="1"/>
          <p:nvPr/>
        </p:nvSpPr>
        <p:spPr>
          <a:xfrm>
            <a:off x="4612538" y="3383280"/>
            <a:ext cx="2966618" cy="155448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extra cost of the cap: 7,056 − 6,400</a:t>
            </a:r>
            <a:endParaRPr lang="en-US" sz="2000" dirty="0"/>
          </a:p>
        </p:txBody>
      </p:sp>
      <p:sp>
        <p:nvSpPr>
          <p:cNvPr id="11" name="stat card"/>
          <p:cNvSpPr/>
          <p:nvPr/>
        </p:nvSpPr>
        <p:spPr>
          <a:xfrm>
            <a:off x="8127797" y="1554480"/>
            <a:ext cx="3515258" cy="3566160"/>
          </a:xfrm>
          <a:prstGeom prst="roundRect">
            <a:avLst>
              <a:gd name="adj" fmla="val 3121"/>
            </a:avLst>
          </a:prstGeom>
          <a:solidFill>
            <a:srgbClr val="F7FAF9"/>
          </a:solidFill>
          <a:ln w="12700">
            <a:solidFill>
              <a:srgbClr val="F7FAF9"/>
            </a:solidFill>
            <a:prstDash val="solid"/>
          </a:ln>
        </p:spPr>
      </p:sp>
      <p:sp>
        <p:nvSpPr>
          <p:cNvPr id="12" name="Text 9"/>
          <p:cNvSpPr txBox="1"/>
          <p:nvPr/>
        </p:nvSpPr>
        <p:spPr>
          <a:xfrm>
            <a:off x="8402117" y="1920240"/>
            <a:ext cx="2966618" cy="1371600"/>
          </a:xfrm>
          <a:prstGeom prst="rect">
            <a:avLst/>
          </a:prstGeom>
          <a:noFill/>
          <a:ln/>
        </p:spPr>
        <p:txBody>
          <a:bodyPr wrap="square" lIns="0" tIns="0" rIns="0" bIns="0" rtlCol="0" anchor="t"/>
          <a:lstStyle/>
          <a:p>
            <a:pPr indent="0" marL="0">
              <a:buNone/>
            </a:pPr>
            <a:r>
              <a:rPr lang="en-US" sz="6000" b="1" dirty="0">
                <a:solidFill>
                  <a:srgbClr val="12263A"/>
                </a:solidFill>
                <a:latin typeface="Cambria" pitchFamily="34" charset="0"/>
                <a:ea typeface="Cambria" pitchFamily="34" charset="-122"/>
                <a:cs typeface="Cambria" pitchFamily="34" charset="-120"/>
              </a:rPr>
              <a:t>38 Mt</a:t>
            </a:r>
            <a:endParaRPr lang="en-US" sz="6000" dirty="0"/>
          </a:p>
        </p:txBody>
      </p:sp>
      <p:sp>
        <p:nvSpPr>
          <p:cNvPr id="13" name="Text 10"/>
          <p:cNvSpPr txBox="1"/>
          <p:nvPr/>
        </p:nvSpPr>
        <p:spPr>
          <a:xfrm>
            <a:off x="8402117" y="3383280"/>
            <a:ext cx="2966618" cy="155448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lowest cap with any solution at all</a:t>
            </a:r>
            <a:endParaRPr lang="en-US" sz="2000" dirty="0"/>
          </a:p>
        </p:txBody>
      </p:sp>
      <p:sp>
        <p:nvSpPr>
          <p:cNvPr id="14" name="Text 11"/>
          <p:cNvSpPr txBox="1"/>
          <p:nvPr/>
        </p:nvSpPr>
        <p:spPr>
          <a:xfrm>
            <a:off x="548640" y="5349240"/>
            <a:ext cx="11094415" cy="640080"/>
          </a:xfrm>
          <a:prstGeom prst="rect">
            <a:avLst/>
          </a:prstGeom>
          <a:noFill/>
          <a:ln/>
        </p:spPr>
        <p:txBody>
          <a:bodyPr wrap="square" lIns="0" tIns="0" rIns="0" bIns="0" rtlCol="0" anchor="t"/>
          <a:lstStyle/>
          <a:p>
            <a:pPr indent="0" marL="0">
              <a:buNone/>
            </a:pPr>
            <a:r>
              <a:rPr lang="en-US" sz="1600" i="1" dirty="0">
                <a:solidFill>
                  <a:srgbClr val="5B6875"/>
                </a:solidFill>
                <a:latin typeface="Calibri" pitchFamily="34" charset="0"/>
                <a:ea typeface="Calibri" pitchFamily="34" charset="-122"/>
                <a:cs typeface="Calibri" pitchFamily="34" charset="-120"/>
              </a:rPr>
              <a:t>Shadow price = (80 − 60) ÷ 0.9: the cost gap between solar and coal per tonne saved. Illustrative.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PICTURE THE NUMBERS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2600" b="1" dirty="0">
                <a:solidFill>
                  <a:srgbClr val="12263A"/>
                </a:solidFill>
                <a:latin typeface="Cambria" pitchFamily="34" charset="0"/>
                <a:ea typeface="Cambria" pitchFamily="34" charset="-122"/>
                <a:cs typeface="Cambria" pitchFamily="34" charset="-120"/>
              </a:rPr>
              <a:t>Tighter caps cost more, at a rising price per tonne</a:t>
            </a:r>
            <a:endParaRPr lang="en-US" sz="2600" dirty="0"/>
          </a:p>
        </p:txBody>
      </p:sp>
      <p:graphicFrame>
        <p:nvGraphicFramePr>
          <p:cNvPr id="5" name="chart" descr=""/>
          <p:cNvGraphicFramePr/>
          <p:nvPr/>
        </p:nvGraphicFramePr>
        <p:xfrm>
          <a:off x="548640" y="1554480"/>
          <a:ext cx="7223760" cy="41605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06440"/>
            <a:ext cx="7223760" cy="365760"/>
          </a:xfrm>
          <a:prstGeom prst="rect">
            <a:avLst/>
          </a:prstGeom>
          <a:noFill/>
          <a:ln/>
        </p:spPr>
        <p:txBody>
          <a:bodyPr wrap="square" lIns="0" tIns="0" rIns="0" bIns="0" rtlCol="0" anchor="t"/>
          <a:lstStyle/>
          <a:p>
            <a:pPr indent="0" marL="0">
              <a:buNone/>
            </a:pPr>
            <a:r>
              <a:rPr lang="en-US" sz="1100" i="1" dirty="0">
                <a:solidFill>
                  <a:srgbClr val="5B6875"/>
                </a:solidFill>
                <a:latin typeface="Calibri" pitchFamily="34" charset="0"/>
                <a:ea typeface="Calibri" pitchFamily="34" charset="-122"/>
                <a:cs typeface="Calibri" pitchFamily="34" charset="-120"/>
              </a:rPr>
              <a:t>Computed by solving the lab 11 system at each cap. Illustrative numbers.</a:t>
            </a:r>
            <a:endParaRPr lang="en-US" sz="1100" dirty="0"/>
          </a:p>
        </p:txBody>
      </p:sp>
      <p:sp>
        <p:nvSpPr>
          <p:cNvPr id="7" name="takeaways card"/>
          <p:cNvSpPr/>
          <p:nvPr/>
        </p:nvSpPr>
        <p:spPr>
          <a:xfrm>
            <a:off x="8138160" y="1554480"/>
            <a:ext cx="3504895" cy="4526280"/>
          </a:xfrm>
          <a:prstGeom prst="roundRect">
            <a:avLst>
              <a:gd name="adj" fmla="val 3131"/>
            </a:avLst>
          </a:prstGeom>
          <a:solidFill>
            <a:srgbClr val="E6F2F0"/>
          </a:solidFill>
          <a:ln w="12700">
            <a:solidFill>
              <a:srgbClr val="E6F2F0"/>
            </a:solidFill>
            <a:prstDash val="solid"/>
          </a:ln>
        </p:spPr>
      </p:sp>
      <p:sp>
        <p:nvSpPr>
          <p:cNvPr id="8" name="Text 4"/>
          <p:cNvSpPr txBox="1"/>
          <p:nvPr/>
        </p:nvSpPr>
        <p:spPr>
          <a:xfrm>
            <a:off x="8412480" y="1783080"/>
            <a:ext cx="3047695" cy="365760"/>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Read it like this</a:t>
            </a:r>
            <a:endParaRPr lang="en-US" sz="1600" dirty="0"/>
          </a:p>
        </p:txBody>
      </p:sp>
      <p:sp>
        <p:nvSpPr>
          <p:cNvPr id="9" name="number badge"/>
          <p:cNvSpPr txBox="1"/>
          <p:nvPr/>
        </p:nvSpPr>
        <p:spPr>
          <a:xfrm>
            <a:off x="8412480" y="23317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8961120" y="23042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70 to 65 Mt: coal swaps for gas at $20 per tonne</a:t>
            </a:r>
            <a:endParaRPr lang="en-US" sz="2000" dirty="0"/>
          </a:p>
        </p:txBody>
      </p:sp>
      <p:sp>
        <p:nvSpPr>
          <p:cNvPr id="11" name="number badge"/>
          <p:cNvSpPr txBox="1"/>
          <p:nvPr/>
        </p:nvSpPr>
        <p:spPr>
          <a:xfrm>
            <a:off x="8412480" y="35509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8961120" y="35234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Below 65 Mt: coal swaps for solar at $22.2 per tonne</a:t>
            </a:r>
            <a:endParaRPr lang="en-US" sz="2000" dirty="0"/>
          </a:p>
        </p:txBody>
      </p:sp>
      <p:sp>
        <p:nvSpPr>
          <p:cNvPr id="13" name="number badge"/>
          <p:cNvSpPr txBox="1"/>
          <p:nvPr/>
        </p:nvSpPr>
        <p:spPr>
          <a:xfrm>
            <a:off x="8412480" y="47701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8961120" y="47426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The slope of this line is the shadow price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QUICK CHECK · THINK, THEN VOTE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Why does a 37 Mt cap make lpSolve report status 2, no solution?</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The solver ran out of time</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Even the cleanest mix allowed emits 38 Mt</a:t>
            </a:r>
            <a:endParaRPr lang="en-US" sz="2000" dirty="0"/>
          </a:p>
        </p:txBody>
      </p:sp>
      <p:sp>
        <p:nvSpPr>
          <p:cNvPr id="12"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3" name="number badge"/>
          <p:cNvSpPr txBox="1"/>
          <p:nvPr/>
        </p:nvSpPr>
        <p:spPr>
          <a:xfrm>
            <a:off x="822960"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Solar is too expensive</a:t>
            </a:r>
            <a:endParaRPr lang="en-US" sz="2000" dirty="0"/>
          </a:p>
        </p:txBody>
      </p:sp>
      <p:sp>
        <p:nvSpPr>
          <p:cNvPr id="15"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507328"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7" name="Text 14"/>
          <p:cNvSpPr txBox="1"/>
          <p:nvPr/>
        </p:nvSpPr>
        <p:spPr>
          <a:xfrm>
            <a:off x="7238848"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Demand is not a constraint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15803D"/>
                </a:solidFill>
                <a:latin typeface="Calibri" pitchFamily="34" charset="0"/>
                <a:ea typeface="Calibri" pitchFamily="34" charset="-122"/>
                <a:cs typeface="Calibri" pitchFamily="34" charset="-120"/>
              </a:rPr>
              <a:t>QUICK CHECK · ANSWER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 answer</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Why does a 37 Mt cap make lpSolve report status 2, no solution?</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The solver ran out of time</a:t>
            </a:r>
            <a:endParaRPr lang="en-US" sz="2000" dirty="0"/>
          </a:p>
        </p:txBody>
      </p:sp>
      <p:sp>
        <p:nvSpPr>
          <p:cNvPr id="9" name="option"/>
          <p:cNvSpPr/>
          <p:nvPr/>
        </p:nvSpPr>
        <p:spPr>
          <a:xfrm>
            <a:off x="6233008" y="2697480"/>
            <a:ext cx="5410048" cy="1325880"/>
          </a:xfrm>
          <a:prstGeom prst="roundRect">
            <a:avLst>
              <a:gd name="adj" fmla="val 8276"/>
            </a:avLst>
          </a:prstGeom>
          <a:solidFill>
            <a:srgbClr val="E7F5EC"/>
          </a:solidFill>
          <a:ln w="12700">
            <a:solidFill>
              <a:srgbClr val="E7F5EC"/>
            </a:solidFill>
            <a:prstDash val="solid"/>
          </a:ln>
        </p:spPr>
      </p:sp>
      <p:sp>
        <p:nvSpPr>
          <p:cNvPr id="10" name="number badge"/>
          <p:cNvSpPr txBox="1"/>
          <p:nvPr/>
        </p:nvSpPr>
        <p:spPr>
          <a:xfrm>
            <a:off x="6507328" y="3086100"/>
            <a:ext cx="548640" cy="548640"/>
          </a:xfrm>
          <a:prstGeom prst="ellipse">
            <a:avLst/>
          </a:prstGeom>
          <a:solidFill>
            <a:srgbClr val="15803D"/>
          </a:solidFill>
          <a:ln>
            <a:solidFill>
              <a:srgbClr val="15803D"/>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3626968" cy="1325880"/>
          </a:xfrm>
          <a:prstGeom prst="rect">
            <a:avLst/>
          </a:prstGeom>
          <a:noFill/>
          <a:ln/>
        </p:spPr>
        <p:txBody>
          <a:bodyPr wrap="square" lIns="0" tIns="0" rIns="0" bIns="0" rtlCol="0" anchor="ctr"/>
          <a:lstStyle/>
          <a:p>
            <a:pPr indent="0" marL="0">
              <a:buNone/>
            </a:pPr>
            <a:r>
              <a:rPr lang="en-US" sz="2000" b="1" dirty="0">
                <a:solidFill>
                  <a:srgbClr val="1F2933"/>
                </a:solidFill>
                <a:latin typeface="Calibri" pitchFamily="34" charset="0"/>
                <a:ea typeface="Calibri" pitchFamily="34" charset="-122"/>
                <a:cs typeface="Calibri" pitchFamily="34" charset="-120"/>
              </a:rPr>
              <a:t>Even the cleanest mix allowed emits 38 Mt</a:t>
            </a:r>
            <a:endParaRPr lang="en-US" sz="2000" dirty="0"/>
          </a:p>
        </p:txBody>
      </p:sp>
      <p:sp>
        <p:nvSpPr>
          <p:cNvPr id="12" name="icon circle"/>
          <p:cNvSpPr/>
          <p:nvPr/>
        </p:nvSpPr>
        <p:spPr>
          <a:xfrm>
            <a:off x="11048695" y="2834640"/>
            <a:ext cx="411480" cy="411480"/>
          </a:xfrm>
          <a:prstGeom prst="ellipse">
            <a:avLst/>
          </a:prstGeom>
          <a:solidFill>
            <a:srgbClr val="15803D"/>
          </a:solidFill>
          <a:ln w="12700">
            <a:solidFill>
              <a:srgbClr val="15803D"/>
            </a:solidFill>
            <a:prstDash val="solid"/>
          </a:ln>
        </p:spPr>
      </p:sp>
      <p:pic>
        <p:nvPicPr>
          <p:cNvPr id="13" name="icon" descr="preencoded.png">    </p:cNvPr>
          <p:cNvPicPr>
            <a:picLocks noChangeAspect="1"/>
          </p:cNvPicPr>
          <p:nvPr/>
        </p:nvPicPr>
        <p:blipFill>
          <a:blip r:embed="rId1"/>
          <a:stretch>
            <a:fillRect/>
          </a:stretch>
        </p:blipFill>
        <p:spPr>
          <a:xfrm>
            <a:off x="11155680" y="2941625"/>
            <a:ext cx="197510" cy="197510"/>
          </a:xfrm>
          <a:prstGeom prst="rect">
            <a:avLst/>
          </a:prstGeom>
        </p:spPr>
      </p:pic>
      <p:sp>
        <p:nvSpPr>
          <p:cNvPr id="14"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822960"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6" name="Text 12"/>
          <p:cNvSpPr txBox="1"/>
          <p:nvPr/>
        </p:nvSpPr>
        <p:spPr>
          <a:xfrm>
            <a:off x="1554480"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Solar is too expensive</a:t>
            </a:r>
            <a:endParaRPr lang="en-US" sz="2000" dirty="0"/>
          </a:p>
        </p:txBody>
      </p:sp>
      <p:sp>
        <p:nvSpPr>
          <p:cNvPr id="17"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6507328"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9" name="Text 15"/>
          <p:cNvSpPr txBox="1"/>
          <p:nvPr/>
        </p:nvSpPr>
        <p:spPr>
          <a:xfrm>
            <a:off x="7238848"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Demand is not a constraint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COMPARE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GCAM simulates; optimisation models plan</a:t>
            </a:r>
            <a:endParaRPr lang="en-US" sz="3200" dirty="0"/>
          </a:p>
        </p:txBody>
      </p:sp>
      <p:sp>
        <p:nvSpPr>
          <p:cNvPr id="5" name="compare card"/>
          <p:cNvSpPr/>
          <p:nvPr/>
        </p:nvSpPr>
        <p:spPr>
          <a:xfrm>
            <a:off x="548640" y="1554480"/>
            <a:ext cx="5135728" cy="4526280"/>
          </a:xfrm>
          <a:prstGeom prst="roundRect">
            <a:avLst>
              <a:gd name="adj" fmla="val 2424"/>
            </a:avLst>
          </a:prstGeom>
          <a:solidFill>
            <a:srgbClr val="F7FAF9"/>
          </a:solidFill>
          <a:ln w="12700">
            <a:solidFill>
              <a:srgbClr val="F7FAF9"/>
            </a:solidFill>
            <a:prstDash val="solid"/>
          </a:ln>
        </p:spPr>
      </p:sp>
      <p:sp>
        <p:nvSpPr>
          <p:cNvPr id="6" name="Text 3"/>
          <p:cNvSpPr txBox="1"/>
          <p:nvPr/>
        </p:nvSpPr>
        <p:spPr>
          <a:xfrm>
            <a:off x="868680" y="1783080"/>
            <a:ext cx="4587088" cy="548640"/>
          </a:xfrm>
          <a:prstGeom prst="rect">
            <a:avLst/>
          </a:prstGeom>
          <a:noFill/>
          <a:ln/>
        </p:spPr>
        <p:txBody>
          <a:bodyPr wrap="square" lIns="0" tIns="0" rIns="0" bIns="0" rtlCol="0" anchor="t"/>
          <a:lstStyle/>
          <a:p>
            <a:pPr indent="0" marL="0">
              <a:buNone/>
            </a:pPr>
            <a:r>
              <a:rPr lang="en-US" sz="2200" b="1" dirty="0">
                <a:solidFill>
                  <a:srgbClr val="5B6875"/>
                </a:solidFill>
                <a:latin typeface="Cambria" pitchFamily="34" charset="0"/>
                <a:ea typeface="Cambria" pitchFamily="34" charset="-122"/>
                <a:cs typeface="Cambria" pitchFamily="34" charset="-120"/>
              </a:rPr>
              <a:t>Simulation: GCAM</a:t>
            </a:r>
            <a:endParaRPr lang="en-US" sz="2200" dirty="0"/>
          </a:p>
        </p:txBody>
      </p:sp>
      <p:sp>
        <p:nvSpPr>
          <p:cNvPr id="7" name="Text 4"/>
          <p:cNvSpPr txBox="1"/>
          <p:nvPr/>
        </p:nvSpPr>
        <p:spPr>
          <a:xfrm>
            <a:off x="868680" y="2468880"/>
            <a:ext cx="4495648" cy="3429000"/>
          </a:xfrm>
          <a:prstGeom prst="rect">
            <a:avLst/>
          </a:prstGeom>
          <a:noFill/>
          <a:ln/>
        </p:spPr>
        <p:txBody>
          <a:bodyPr wrap="square" lIns="0" tIns="0" rIns="0" bIns="0" rtlCol="0" anchor="t"/>
          <a:lstStyle/>
          <a:p>
            <a:pPr marL="228600" indent="-228600">
              <a:spcAft>
                <a:spcPts val="1000"/>
              </a:spcAft>
              <a:buSzPct val="100000"/>
              <a:buChar char="•"/>
            </a:pPr>
            <a:r>
              <a:rPr lang="en-US" sz="2300" dirty="0">
                <a:solidFill>
                  <a:srgbClr val="1F2933"/>
                </a:solidFill>
                <a:latin typeface="Calibri" pitchFamily="34" charset="0"/>
                <a:ea typeface="Calibri" pitchFamily="34" charset="-122"/>
                <a:cs typeface="Calibri" pitchFamily="34" charset="-120"/>
              </a:rPr>
              <a:t>Shares the market across options by relative cost (logit)</a:t>
            </a:r>
            <a:endParaRPr lang="en-US" sz="2300" dirty="0"/>
          </a:p>
          <a:p>
            <a:pPr marL="228600" indent="-228600">
              <a:spcAft>
                <a:spcPts val="1000"/>
              </a:spcAft>
              <a:buSzPct val="100000"/>
              <a:buChar char="•"/>
            </a:pPr>
            <a:r>
              <a:rPr lang="en-US" sz="2300" dirty="0">
                <a:solidFill>
                  <a:srgbClr val="1F2933"/>
                </a:solidFill>
                <a:latin typeface="Calibri" pitchFamily="34" charset="0"/>
                <a:ea typeface="Calibri" pitchFamily="34" charset="-122"/>
                <a:cs typeface="Calibri" pitchFamily="34" charset="-120"/>
              </a:rPr>
              <a:t>Decides one period at a time with no view ahead (myopic)</a:t>
            </a:r>
            <a:endParaRPr lang="en-US" sz="2300" dirty="0"/>
          </a:p>
          <a:p>
            <a:pPr marL="228600" indent="-228600">
              <a:spcAft>
                <a:spcPts val="1000"/>
              </a:spcAft>
              <a:buSzPct val="100000"/>
              <a:buChar char="•"/>
            </a:pPr>
            <a:r>
              <a:rPr lang="en-US" sz="2300" dirty="0">
                <a:solidFill>
                  <a:srgbClr val="1F2933"/>
                </a:solidFill>
                <a:latin typeface="Calibri" pitchFamily="34" charset="0"/>
                <a:ea typeface="Calibri" pitchFamily="34" charset="-122"/>
                <a:cs typeface="Calibri" pitchFamily="34" charset="-120"/>
              </a:rPr>
              <a:t>Asks: what might happen if a cost or policy changes?</a:t>
            </a:r>
            <a:endParaRPr lang="en-US" sz="2300" dirty="0"/>
          </a:p>
        </p:txBody>
      </p:sp>
      <p:sp>
        <p:nvSpPr>
          <p:cNvPr id="8" name="compare card"/>
          <p:cNvSpPr/>
          <p:nvPr/>
        </p:nvSpPr>
        <p:spPr>
          <a:xfrm>
            <a:off x="6507328" y="1554480"/>
            <a:ext cx="5135728" cy="4526280"/>
          </a:xfrm>
          <a:prstGeom prst="roundRect">
            <a:avLst>
              <a:gd name="adj" fmla="val 2424"/>
            </a:avLst>
          </a:prstGeom>
          <a:solidFill>
            <a:srgbClr val="E6F2F0"/>
          </a:solidFill>
          <a:ln w="12700">
            <a:solidFill>
              <a:srgbClr val="E6F2F0"/>
            </a:solidFill>
            <a:prstDash val="solid"/>
          </a:ln>
        </p:spPr>
      </p:sp>
      <p:sp>
        <p:nvSpPr>
          <p:cNvPr id="9" name="Text 6"/>
          <p:cNvSpPr txBox="1"/>
          <p:nvPr/>
        </p:nvSpPr>
        <p:spPr>
          <a:xfrm>
            <a:off x="6827368" y="1783080"/>
            <a:ext cx="4587088" cy="548640"/>
          </a:xfrm>
          <a:prstGeom prst="rect">
            <a:avLst/>
          </a:prstGeom>
          <a:noFill/>
          <a:ln/>
        </p:spPr>
        <p:txBody>
          <a:bodyPr wrap="square" lIns="0" tIns="0" rIns="0" bIns="0" rtlCol="0" anchor="t"/>
          <a:lstStyle/>
          <a:p>
            <a:pPr indent="0" marL="0">
              <a:buNone/>
            </a:pPr>
            <a:r>
              <a:rPr lang="en-US" sz="2200" b="1" dirty="0">
                <a:solidFill>
                  <a:srgbClr val="0B5550"/>
                </a:solidFill>
                <a:latin typeface="Cambria" pitchFamily="34" charset="0"/>
                <a:ea typeface="Cambria" pitchFamily="34" charset="-122"/>
                <a:cs typeface="Cambria" pitchFamily="34" charset="-120"/>
              </a:rPr>
              <a:t>Optimisation: MESSAGEix, REMIND, TIMES</a:t>
            </a:r>
            <a:endParaRPr lang="en-US" sz="2200" dirty="0"/>
          </a:p>
        </p:txBody>
      </p:sp>
      <p:sp>
        <p:nvSpPr>
          <p:cNvPr id="10" name="Text 7"/>
          <p:cNvSpPr txBox="1"/>
          <p:nvPr/>
        </p:nvSpPr>
        <p:spPr>
          <a:xfrm>
            <a:off x="6827368" y="2468880"/>
            <a:ext cx="4495648" cy="3429000"/>
          </a:xfrm>
          <a:prstGeom prst="rect">
            <a:avLst/>
          </a:prstGeom>
          <a:noFill/>
          <a:ln/>
        </p:spPr>
        <p:txBody>
          <a:bodyPr wrap="square" lIns="0" tIns="0" rIns="0" bIns="0" rtlCol="0" anchor="t"/>
          <a:lstStyle/>
          <a:p>
            <a:pPr marL="228600" indent="-228600">
              <a:spcAft>
                <a:spcPts val="1000"/>
              </a:spcAft>
              <a:buSzPct val="100000"/>
              <a:buChar char="•"/>
            </a:pPr>
            <a:r>
              <a:rPr lang="en-US" sz="2300" dirty="0">
                <a:solidFill>
                  <a:srgbClr val="1F2933"/>
                </a:solidFill>
                <a:latin typeface="Calibri" pitchFamily="34" charset="0"/>
                <a:ea typeface="Calibri" pitchFamily="34" charset="-122"/>
                <a:cs typeface="Calibri" pitchFamily="34" charset="-120"/>
              </a:rPr>
              <a:t>Picks the single least-cost plan</a:t>
            </a:r>
            <a:endParaRPr lang="en-US" sz="2300" dirty="0"/>
          </a:p>
          <a:p>
            <a:pPr marL="228600" indent="-228600">
              <a:spcAft>
                <a:spcPts val="1000"/>
              </a:spcAft>
              <a:buSzPct val="100000"/>
              <a:buChar char="•"/>
            </a:pPr>
            <a:r>
              <a:rPr lang="en-US" sz="2300" dirty="0">
                <a:solidFill>
                  <a:srgbClr val="1F2933"/>
                </a:solidFill>
                <a:latin typeface="Calibri" pitchFamily="34" charset="0"/>
                <a:ea typeface="Calibri" pitchFamily="34" charset="-122"/>
                <a:cs typeface="Calibri" pitchFamily="34" charset="-120"/>
              </a:rPr>
              <a:t>Usually sees every period at once (perfect foresight)</a:t>
            </a:r>
            <a:endParaRPr lang="en-US" sz="2300" dirty="0"/>
          </a:p>
          <a:p>
            <a:pPr marL="228600" indent="-228600">
              <a:spcAft>
                <a:spcPts val="1000"/>
              </a:spcAft>
              <a:buSzPct val="100000"/>
              <a:buChar char="•"/>
            </a:pPr>
            <a:r>
              <a:rPr lang="en-US" sz="2300" dirty="0">
                <a:solidFill>
                  <a:srgbClr val="1F2933"/>
                </a:solidFill>
                <a:latin typeface="Calibri" pitchFamily="34" charset="0"/>
                <a:ea typeface="Calibri" pitchFamily="34" charset="-122"/>
                <a:cs typeface="Calibri" pitchFamily="34" charset="-120"/>
              </a:rPr>
              <a:t>Asks: what is the best plan, and what does a target cost?</a:t>
            </a:r>
            <a:endParaRPr lang="en-US" sz="2300" dirty="0"/>
          </a:p>
        </p:txBody>
      </p:sp>
      <p:sp>
        <p:nvSpPr>
          <p:cNvPr id="11" name="icon circle"/>
          <p:cNvSpPr/>
          <p:nvPr/>
        </p:nvSpPr>
        <p:spPr>
          <a:xfrm>
            <a:off x="5794096" y="3515868"/>
            <a:ext cx="603504" cy="603504"/>
          </a:xfrm>
          <a:prstGeom prst="ellipse">
            <a:avLst/>
          </a:prstGeom>
          <a:solidFill>
            <a:srgbClr val="C2410C"/>
          </a:solidFill>
          <a:ln w="12700">
            <a:solidFill>
              <a:srgbClr val="C2410C"/>
            </a:solidFill>
            <a:prstDash val="solid"/>
          </a:ln>
        </p:spPr>
      </p:sp>
      <p:pic>
        <p:nvPicPr>
          <p:cNvPr id="12" name="icon" descr="preencoded.png">    </p:cNvPr>
          <p:cNvPicPr>
            <a:picLocks noChangeAspect="1"/>
          </p:cNvPicPr>
          <p:nvPr/>
        </p:nvPicPr>
        <p:blipFill>
          <a:blip r:embed="rId1"/>
          <a:stretch>
            <a:fillRect/>
          </a:stretch>
        </p:blipFill>
        <p:spPr>
          <a:xfrm>
            <a:off x="5951007" y="3672779"/>
            <a:ext cx="289682" cy="28968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KEY IDEA</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How far does the model look across the economy?</a:t>
            </a:r>
            <a:endParaRPr lang="en-US" sz="3200" dirty="0"/>
          </a:p>
        </p:txBody>
      </p:sp>
      <p:sp>
        <p:nvSpPr>
          <p:cNvPr id="5" name="idea card"/>
          <p:cNvSpPr/>
          <p:nvPr/>
        </p:nvSpPr>
        <p:spPr>
          <a:xfrm>
            <a:off x="548640" y="1554480"/>
            <a:ext cx="3515258" cy="4526280"/>
          </a:xfrm>
          <a:prstGeom prst="roundRect">
            <a:avLst>
              <a:gd name="adj" fmla="val 312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2880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822960" y="2560320"/>
            <a:ext cx="2966618"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Partial equilibrium</a:t>
            </a:r>
            <a:endParaRPr lang="en-US" sz="2100" dirty="0"/>
          </a:p>
        </p:txBody>
      </p:sp>
      <p:sp>
        <p:nvSpPr>
          <p:cNvPr id="8" name="Text 5"/>
          <p:cNvSpPr txBox="1"/>
          <p:nvPr/>
        </p:nvSpPr>
        <p:spPr>
          <a:xfrm>
            <a:off x="822960" y="3429000"/>
            <a:ext cx="2966618"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Balances some markets only. GCAM balances energy, land and water markets and stops at the energy bill.</a:t>
            </a:r>
            <a:endParaRPr lang="en-US" sz="2000" dirty="0"/>
          </a:p>
        </p:txBody>
      </p:sp>
      <p:sp>
        <p:nvSpPr>
          <p:cNvPr id="9" name="idea card"/>
          <p:cNvSpPr/>
          <p:nvPr/>
        </p:nvSpPr>
        <p:spPr>
          <a:xfrm>
            <a:off x="4338218" y="1554480"/>
            <a:ext cx="3515258" cy="4526280"/>
          </a:xfrm>
          <a:prstGeom prst="roundRect">
            <a:avLst>
              <a:gd name="adj" fmla="val 312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4612538" y="18288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8"/>
          <p:cNvSpPr txBox="1"/>
          <p:nvPr/>
        </p:nvSpPr>
        <p:spPr>
          <a:xfrm>
            <a:off x="4612538" y="2560320"/>
            <a:ext cx="2966618"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General equilibrium (CGE)</a:t>
            </a:r>
            <a:endParaRPr lang="en-US" sz="2100" dirty="0"/>
          </a:p>
        </p:txBody>
      </p:sp>
      <p:sp>
        <p:nvSpPr>
          <p:cNvPr id="12" name="Text 9"/>
          <p:cNvSpPr txBox="1"/>
          <p:nvPr/>
        </p:nvSpPr>
        <p:spPr>
          <a:xfrm>
            <a:off x="4612538" y="3429000"/>
            <a:ext cx="2966618"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A computable general equilibrium model follows every sector, wages, incomes and trade, so it can ask who gains and who loses.</a:t>
            </a:r>
            <a:endParaRPr lang="en-US" sz="2000" dirty="0"/>
          </a:p>
        </p:txBody>
      </p:sp>
      <p:sp>
        <p:nvSpPr>
          <p:cNvPr id="13" name="idea card"/>
          <p:cNvSpPr/>
          <p:nvPr/>
        </p:nvSpPr>
        <p:spPr>
          <a:xfrm>
            <a:off x="8127797" y="1554480"/>
            <a:ext cx="3515258" cy="4526280"/>
          </a:xfrm>
          <a:prstGeom prst="roundRect">
            <a:avLst>
              <a:gd name="adj" fmla="val 312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4" name="number badge"/>
          <p:cNvSpPr txBox="1"/>
          <p:nvPr/>
        </p:nvSpPr>
        <p:spPr>
          <a:xfrm>
            <a:off x="8402117" y="182880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2"/>
          <p:cNvSpPr txBox="1"/>
          <p:nvPr/>
        </p:nvSpPr>
        <p:spPr>
          <a:xfrm>
            <a:off x="8402117" y="2560320"/>
            <a:ext cx="2966618"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The trade-off</a:t>
            </a:r>
            <a:endParaRPr lang="en-US" sz="2100" dirty="0"/>
          </a:p>
        </p:txBody>
      </p:sp>
      <p:sp>
        <p:nvSpPr>
          <p:cNvPr id="16" name="Text 13"/>
          <p:cNvSpPr txBox="1"/>
          <p:nvPr/>
        </p:nvSpPr>
        <p:spPr>
          <a:xfrm>
            <a:off x="8402117" y="3429000"/>
            <a:ext cx="2966618"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A CGE model sees the whole economy but with little technology detail: power may be one sector with a few options.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B91C1C"/>
                </a:solidFill>
                <a:latin typeface="Calibri" pitchFamily="34" charset="0"/>
                <a:ea typeface="Calibri" pitchFamily="34" charset="-122"/>
                <a:cs typeface="Calibri" pitchFamily="34" charset="-120"/>
              </a:rPr>
              <a:t>WATCH OUT</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Common mix-ups</a:t>
            </a:r>
            <a:endParaRPr lang="en-US" sz="3200" dirty="0"/>
          </a:p>
        </p:txBody>
      </p:sp>
      <p:sp>
        <p:nvSpPr>
          <p:cNvPr id="5" name="Text 2"/>
          <p:cNvSpPr txBox="1"/>
          <p:nvPr/>
        </p:nvSpPr>
        <p:spPr>
          <a:xfrm>
            <a:off x="1143000" y="1508760"/>
            <a:ext cx="2743200" cy="320040"/>
          </a:xfrm>
          <a:prstGeom prst="rect">
            <a:avLst/>
          </a:prstGeom>
          <a:noFill/>
          <a:ln/>
        </p:spPr>
        <p:txBody>
          <a:bodyPr wrap="square" lIns="0" tIns="0" rIns="0" bIns="0" rtlCol="0" anchor="t"/>
          <a:lstStyle/>
          <a:p>
            <a:pPr indent="0" marL="0">
              <a:buNone/>
            </a:pPr>
            <a:r>
              <a:rPr lang="en-US" sz="1400" b="1" dirty="0">
                <a:solidFill>
                  <a:srgbClr val="B91C1C"/>
                </a:solidFill>
                <a:latin typeface="Calibri" pitchFamily="34" charset="0"/>
                <a:ea typeface="Calibri" pitchFamily="34" charset="-122"/>
                <a:cs typeface="Calibri" pitchFamily="34" charset="-120"/>
              </a:rPr>
              <a:t>Not quite</a:t>
            </a:r>
            <a:endParaRPr lang="en-US" sz="1400" dirty="0"/>
          </a:p>
        </p:txBody>
      </p:sp>
      <p:sp>
        <p:nvSpPr>
          <p:cNvPr id="6" name="Text 3"/>
          <p:cNvSpPr txBox="1"/>
          <p:nvPr/>
        </p:nvSpPr>
        <p:spPr>
          <a:xfrm>
            <a:off x="6827368" y="1508760"/>
            <a:ext cx="2743200" cy="320040"/>
          </a:xfrm>
          <a:prstGeom prst="rect">
            <a:avLst/>
          </a:prstGeom>
          <a:noFill/>
          <a:ln/>
        </p:spPr>
        <p:txBody>
          <a:bodyPr wrap="square" lIns="0" tIns="0" rIns="0" bIns="0" rtlCol="0" anchor="t"/>
          <a:lstStyle/>
          <a:p>
            <a:pPr indent="0" marL="0">
              <a:buNone/>
            </a:pPr>
            <a:r>
              <a:rPr lang="en-US" sz="1400" b="1" dirty="0">
                <a:solidFill>
                  <a:srgbClr val="15803D"/>
                </a:solidFill>
                <a:latin typeface="Calibri" pitchFamily="34" charset="0"/>
                <a:ea typeface="Calibri" pitchFamily="34" charset="-122"/>
                <a:cs typeface="Calibri" pitchFamily="34" charset="-120"/>
              </a:rPr>
              <a:t>Better</a:t>
            </a:r>
            <a:endParaRPr lang="en-US" sz="1400" dirty="0"/>
          </a:p>
        </p:txBody>
      </p:sp>
      <p:sp>
        <p:nvSpPr>
          <p:cNvPr id="7" name="wrong card"/>
          <p:cNvSpPr/>
          <p:nvPr/>
        </p:nvSpPr>
        <p:spPr>
          <a:xfrm>
            <a:off x="548640" y="1920240"/>
            <a:ext cx="5410048" cy="1249680"/>
          </a:xfrm>
          <a:prstGeom prst="roundRect">
            <a:avLst>
              <a:gd name="adj" fmla="val 8780"/>
            </a:avLst>
          </a:prstGeom>
          <a:solidFill>
            <a:srgbClr val="FDECEC"/>
          </a:solidFill>
          <a:ln w="12700">
            <a:solidFill>
              <a:srgbClr val="FDECEC"/>
            </a:solidFill>
            <a:prstDash val="solid"/>
          </a:ln>
        </p:spPr>
      </p:sp>
      <p:sp>
        <p:nvSpPr>
          <p:cNvPr id="8" name="right card"/>
          <p:cNvSpPr/>
          <p:nvPr/>
        </p:nvSpPr>
        <p:spPr>
          <a:xfrm>
            <a:off x="6233008" y="1920240"/>
            <a:ext cx="5410048" cy="1249680"/>
          </a:xfrm>
          <a:prstGeom prst="roundRect">
            <a:avLst>
              <a:gd name="adj" fmla="val 8780"/>
            </a:avLst>
          </a:prstGeom>
          <a:solidFill>
            <a:srgbClr val="E7F5EC"/>
          </a:solidFill>
          <a:ln w="12700">
            <a:solidFill>
              <a:srgbClr val="E7F5EC"/>
            </a:solidFill>
            <a:prstDash val="solid"/>
          </a:ln>
        </p:spPr>
      </p:sp>
      <p:sp>
        <p:nvSpPr>
          <p:cNvPr id="9" name="icon circle"/>
          <p:cNvSpPr/>
          <p:nvPr/>
        </p:nvSpPr>
        <p:spPr>
          <a:xfrm>
            <a:off x="685800" y="2339340"/>
            <a:ext cx="411480" cy="411480"/>
          </a:xfrm>
          <a:prstGeom prst="ellipse">
            <a:avLst/>
          </a:prstGeom>
          <a:solidFill>
            <a:srgbClr val="B91C1C"/>
          </a:solidFill>
          <a:ln w="12700">
            <a:solidFill>
              <a:srgbClr val="B91C1C"/>
            </a:solidFill>
            <a:prstDash val="solid"/>
          </a:ln>
        </p:spPr>
      </p:sp>
      <p:pic>
        <p:nvPicPr>
          <p:cNvPr id="10" name="icon" descr="preencoded.png">    </p:cNvPr>
          <p:cNvPicPr>
            <a:picLocks noChangeAspect="1"/>
          </p:cNvPicPr>
          <p:nvPr/>
        </p:nvPicPr>
        <p:blipFill>
          <a:blip r:embed="rId1"/>
          <a:stretch>
            <a:fillRect/>
          </a:stretch>
        </p:blipFill>
        <p:spPr>
          <a:xfrm>
            <a:off x="792785" y="2446325"/>
            <a:ext cx="197510" cy="197510"/>
          </a:xfrm>
          <a:prstGeom prst="rect">
            <a:avLst/>
          </a:prstGeom>
        </p:spPr>
      </p:pic>
      <p:sp>
        <p:nvSpPr>
          <p:cNvPr id="11" name="icon circle"/>
          <p:cNvSpPr/>
          <p:nvPr/>
        </p:nvSpPr>
        <p:spPr>
          <a:xfrm>
            <a:off x="6370168" y="2339340"/>
            <a:ext cx="411480" cy="411480"/>
          </a:xfrm>
          <a:prstGeom prst="ellipse">
            <a:avLst/>
          </a:prstGeom>
          <a:solidFill>
            <a:srgbClr val="15803D"/>
          </a:solidFill>
          <a:ln w="12700">
            <a:solidFill>
              <a:srgbClr val="15803D"/>
            </a:solidFill>
            <a:prstDash val="solid"/>
          </a:ln>
        </p:spPr>
      </p:sp>
      <p:pic>
        <p:nvPicPr>
          <p:cNvPr id="12" name="icon" descr="preencoded.png">    </p:cNvPr>
          <p:cNvPicPr>
            <a:picLocks noChangeAspect="1"/>
          </p:cNvPicPr>
          <p:nvPr/>
        </p:nvPicPr>
        <p:blipFill>
          <a:blip r:embed="rId2"/>
          <a:stretch>
            <a:fillRect/>
          </a:stretch>
        </p:blipFill>
        <p:spPr>
          <a:xfrm>
            <a:off x="6477152" y="2446325"/>
            <a:ext cx="197510" cy="197510"/>
          </a:xfrm>
          <a:prstGeom prst="rect">
            <a:avLst/>
          </a:prstGeom>
        </p:spPr>
      </p:pic>
      <p:sp>
        <p:nvSpPr>
          <p:cNvPr id="13" name="Text 8"/>
          <p:cNvSpPr txBox="1"/>
          <p:nvPr/>
        </p:nvSpPr>
        <p:spPr>
          <a:xfrm>
            <a:off x="1234440"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Optimisation models show what will happen</a:t>
            </a:r>
            <a:endParaRPr lang="en-US" sz="2100" dirty="0"/>
          </a:p>
        </p:txBody>
      </p:sp>
      <p:sp>
        <p:nvSpPr>
          <p:cNvPr id="14" name="Text 9"/>
          <p:cNvSpPr txBox="1"/>
          <p:nvPr/>
        </p:nvSpPr>
        <p:spPr>
          <a:xfrm>
            <a:off x="6918808"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They show the cheapest plan for a planner who knows the future perfectly. Nobody does.</a:t>
            </a:r>
            <a:endParaRPr lang="en-US" sz="2100" dirty="0"/>
          </a:p>
        </p:txBody>
      </p:sp>
      <p:sp>
        <p:nvSpPr>
          <p:cNvPr id="15" name="wrong card"/>
          <p:cNvSpPr/>
          <p:nvPr/>
        </p:nvSpPr>
        <p:spPr>
          <a:xfrm>
            <a:off x="548640" y="3398520"/>
            <a:ext cx="5410048" cy="1249680"/>
          </a:xfrm>
          <a:prstGeom prst="roundRect">
            <a:avLst>
              <a:gd name="adj" fmla="val 8780"/>
            </a:avLst>
          </a:prstGeom>
          <a:solidFill>
            <a:srgbClr val="FDECEC"/>
          </a:solidFill>
          <a:ln w="12700">
            <a:solidFill>
              <a:srgbClr val="FDECEC"/>
            </a:solidFill>
            <a:prstDash val="solid"/>
          </a:ln>
        </p:spPr>
      </p:sp>
      <p:sp>
        <p:nvSpPr>
          <p:cNvPr id="16" name="right card"/>
          <p:cNvSpPr/>
          <p:nvPr/>
        </p:nvSpPr>
        <p:spPr>
          <a:xfrm>
            <a:off x="6233008" y="3398520"/>
            <a:ext cx="5410048" cy="1249680"/>
          </a:xfrm>
          <a:prstGeom prst="roundRect">
            <a:avLst>
              <a:gd name="adj" fmla="val 8780"/>
            </a:avLst>
          </a:prstGeom>
          <a:solidFill>
            <a:srgbClr val="E7F5EC"/>
          </a:solidFill>
          <a:ln w="12700">
            <a:solidFill>
              <a:srgbClr val="E7F5EC"/>
            </a:solidFill>
            <a:prstDash val="solid"/>
          </a:ln>
        </p:spPr>
      </p:sp>
      <p:sp>
        <p:nvSpPr>
          <p:cNvPr id="17" name="icon circle"/>
          <p:cNvSpPr/>
          <p:nvPr/>
        </p:nvSpPr>
        <p:spPr>
          <a:xfrm>
            <a:off x="685800" y="3817620"/>
            <a:ext cx="411480" cy="411480"/>
          </a:xfrm>
          <a:prstGeom prst="ellipse">
            <a:avLst/>
          </a:prstGeom>
          <a:solidFill>
            <a:srgbClr val="B91C1C"/>
          </a:solidFill>
          <a:ln w="12700">
            <a:solidFill>
              <a:srgbClr val="B91C1C"/>
            </a:solidFill>
            <a:prstDash val="solid"/>
          </a:ln>
        </p:spPr>
      </p:sp>
      <p:pic>
        <p:nvPicPr>
          <p:cNvPr id="18" name="icon" descr="preencoded.png">    </p:cNvPr>
          <p:cNvPicPr>
            <a:picLocks noChangeAspect="1"/>
          </p:cNvPicPr>
          <p:nvPr/>
        </p:nvPicPr>
        <p:blipFill>
          <a:blip r:embed="rId3"/>
          <a:stretch>
            <a:fillRect/>
          </a:stretch>
        </p:blipFill>
        <p:spPr>
          <a:xfrm>
            <a:off x="792785" y="3924605"/>
            <a:ext cx="197510" cy="197510"/>
          </a:xfrm>
          <a:prstGeom prst="rect">
            <a:avLst/>
          </a:prstGeom>
        </p:spPr>
      </p:pic>
      <p:sp>
        <p:nvSpPr>
          <p:cNvPr id="19" name="icon circle"/>
          <p:cNvSpPr/>
          <p:nvPr/>
        </p:nvSpPr>
        <p:spPr>
          <a:xfrm>
            <a:off x="6370168" y="3817620"/>
            <a:ext cx="411480" cy="411480"/>
          </a:xfrm>
          <a:prstGeom prst="ellipse">
            <a:avLst/>
          </a:prstGeom>
          <a:solidFill>
            <a:srgbClr val="15803D"/>
          </a:solidFill>
          <a:ln w="12700">
            <a:solidFill>
              <a:srgbClr val="15803D"/>
            </a:solidFill>
            <a:prstDash val="solid"/>
          </a:ln>
        </p:spPr>
      </p:sp>
      <p:pic>
        <p:nvPicPr>
          <p:cNvPr id="20" name="icon" descr="preencoded.png">    </p:cNvPr>
          <p:cNvPicPr>
            <a:picLocks noChangeAspect="1"/>
          </p:cNvPicPr>
          <p:nvPr/>
        </p:nvPicPr>
        <p:blipFill>
          <a:blip r:embed="rId4"/>
          <a:stretch>
            <a:fillRect/>
          </a:stretch>
        </p:blipFill>
        <p:spPr>
          <a:xfrm>
            <a:off x="6477152" y="3924605"/>
            <a:ext cx="197510" cy="197510"/>
          </a:xfrm>
          <a:prstGeom prst="rect">
            <a:avLst/>
          </a:prstGeom>
        </p:spPr>
      </p:pic>
      <p:sp>
        <p:nvSpPr>
          <p:cNvPr id="21" name="Text 14"/>
          <p:cNvSpPr txBox="1"/>
          <p:nvPr/>
        </p:nvSpPr>
        <p:spPr>
          <a:xfrm>
            <a:off x="1234440"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The shadow price is −22.2, so the cap makes money</a:t>
            </a:r>
            <a:endParaRPr lang="en-US" sz="2100" dirty="0"/>
          </a:p>
        </p:txBody>
      </p:sp>
      <p:sp>
        <p:nvSpPr>
          <p:cNvPr id="22" name="Text 15"/>
          <p:cNvSpPr txBox="1"/>
          <p:nvPr/>
        </p:nvSpPr>
        <p:spPr>
          <a:xfrm>
            <a:off x="6918808"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The minus sign only says a tighter cap raises cost. Read the size, 22.2, as the carbon price.</a:t>
            </a:r>
            <a:endParaRPr lang="en-US" sz="2100" dirty="0"/>
          </a:p>
        </p:txBody>
      </p:sp>
      <p:sp>
        <p:nvSpPr>
          <p:cNvPr id="23" name="wrong card"/>
          <p:cNvSpPr/>
          <p:nvPr/>
        </p:nvSpPr>
        <p:spPr>
          <a:xfrm>
            <a:off x="548640" y="4876800"/>
            <a:ext cx="5410048" cy="1249680"/>
          </a:xfrm>
          <a:prstGeom prst="roundRect">
            <a:avLst>
              <a:gd name="adj" fmla="val 8780"/>
            </a:avLst>
          </a:prstGeom>
          <a:solidFill>
            <a:srgbClr val="FDECEC"/>
          </a:solidFill>
          <a:ln w="12700">
            <a:solidFill>
              <a:srgbClr val="FDECEC"/>
            </a:solidFill>
            <a:prstDash val="solid"/>
          </a:ln>
        </p:spPr>
      </p:sp>
      <p:sp>
        <p:nvSpPr>
          <p:cNvPr id="24" name="right card"/>
          <p:cNvSpPr/>
          <p:nvPr/>
        </p:nvSpPr>
        <p:spPr>
          <a:xfrm>
            <a:off x="6233008" y="4876800"/>
            <a:ext cx="5410048" cy="1249680"/>
          </a:xfrm>
          <a:prstGeom prst="roundRect">
            <a:avLst>
              <a:gd name="adj" fmla="val 8780"/>
            </a:avLst>
          </a:prstGeom>
          <a:solidFill>
            <a:srgbClr val="E7F5EC"/>
          </a:solidFill>
          <a:ln w="12700">
            <a:solidFill>
              <a:srgbClr val="E7F5EC"/>
            </a:solidFill>
            <a:prstDash val="solid"/>
          </a:ln>
        </p:spPr>
      </p:sp>
      <p:sp>
        <p:nvSpPr>
          <p:cNvPr id="25" name="icon circle"/>
          <p:cNvSpPr/>
          <p:nvPr/>
        </p:nvSpPr>
        <p:spPr>
          <a:xfrm>
            <a:off x="685800" y="5295900"/>
            <a:ext cx="411480" cy="411480"/>
          </a:xfrm>
          <a:prstGeom prst="ellipse">
            <a:avLst/>
          </a:prstGeom>
          <a:solidFill>
            <a:srgbClr val="B91C1C"/>
          </a:solidFill>
          <a:ln w="12700">
            <a:solidFill>
              <a:srgbClr val="B91C1C"/>
            </a:solidFill>
            <a:prstDash val="solid"/>
          </a:ln>
        </p:spPr>
      </p:sp>
      <p:pic>
        <p:nvPicPr>
          <p:cNvPr id="26" name="icon" descr="preencoded.png">    </p:cNvPr>
          <p:cNvPicPr>
            <a:picLocks noChangeAspect="1"/>
          </p:cNvPicPr>
          <p:nvPr/>
        </p:nvPicPr>
        <p:blipFill>
          <a:blip r:embed="rId5"/>
          <a:stretch>
            <a:fillRect/>
          </a:stretch>
        </p:blipFill>
        <p:spPr>
          <a:xfrm>
            <a:off x="792785" y="5402885"/>
            <a:ext cx="197510" cy="197510"/>
          </a:xfrm>
          <a:prstGeom prst="rect">
            <a:avLst/>
          </a:prstGeom>
        </p:spPr>
      </p:pic>
      <p:sp>
        <p:nvSpPr>
          <p:cNvPr id="27" name="icon circle"/>
          <p:cNvSpPr/>
          <p:nvPr/>
        </p:nvSpPr>
        <p:spPr>
          <a:xfrm>
            <a:off x="6370168" y="5295900"/>
            <a:ext cx="411480" cy="411480"/>
          </a:xfrm>
          <a:prstGeom prst="ellipse">
            <a:avLst/>
          </a:prstGeom>
          <a:solidFill>
            <a:srgbClr val="15803D"/>
          </a:solidFill>
          <a:ln w="12700">
            <a:solidFill>
              <a:srgbClr val="15803D"/>
            </a:solidFill>
            <a:prstDash val="solid"/>
          </a:ln>
        </p:spPr>
      </p:sp>
      <p:pic>
        <p:nvPicPr>
          <p:cNvPr id="28" name="icon" descr="preencoded.png">    </p:cNvPr>
          <p:cNvPicPr>
            <a:picLocks noChangeAspect="1"/>
          </p:cNvPicPr>
          <p:nvPr/>
        </p:nvPicPr>
        <p:blipFill>
          <a:blip r:embed="rId6"/>
          <a:stretch>
            <a:fillRect/>
          </a:stretch>
        </p:blipFill>
        <p:spPr>
          <a:xfrm>
            <a:off x="6477152" y="5402885"/>
            <a:ext cx="197510" cy="197510"/>
          </a:xfrm>
          <a:prstGeom prst="rect">
            <a:avLst/>
          </a:prstGeom>
        </p:spPr>
      </p:pic>
      <p:sp>
        <p:nvSpPr>
          <p:cNvPr id="29" name="Text 20"/>
          <p:cNvSpPr txBox="1"/>
          <p:nvPr/>
        </p:nvSpPr>
        <p:spPr>
          <a:xfrm>
            <a:off x="1234440"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The solver tries every possible mix</a:t>
            </a:r>
            <a:endParaRPr lang="en-US" sz="2100" dirty="0"/>
          </a:p>
        </p:txBody>
      </p:sp>
      <p:sp>
        <p:nvSpPr>
          <p:cNvPr id="30" name="Text 21"/>
          <p:cNvSpPr txBox="1"/>
          <p:nvPr/>
        </p:nvSpPr>
        <p:spPr>
          <a:xfrm>
            <a:off x="6918808"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It moves along the corners of the allowed region and stops when no neighbour is cheaper.</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NEW WORDS THIS WEEK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Words to add to the class glossary</a:t>
            </a:r>
            <a:endParaRPr lang="en-US" sz="3200" dirty="0"/>
          </a:p>
        </p:txBody>
      </p:sp>
      <p:sp>
        <p:nvSpPr>
          <p:cNvPr id="5" name="term card"/>
          <p:cNvSpPr/>
          <p:nvPr/>
        </p:nvSpPr>
        <p:spPr>
          <a:xfrm>
            <a:off x="548640" y="1554480"/>
            <a:ext cx="5410048" cy="1386840"/>
          </a:xfrm>
          <a:prstGeom prst="roundRect">
            <a:avLst>
              <a:gd name="adj" fmla="val 7912"/>
            </a:avLst>
          </a:prstGeom>
          <a:solidFill>
            <a:srgbClr val="E6F2F0"/>
          </a:solidFill>
          <a:ln w="12700">
            <a:solidFill>
              <a:srgbClr val="E6F2F0"/>
            </a:solidFill>
            <a:prstDash val="solid"/>
          </a:ln>
        </p:spPr>
      </p:sp>
      <p:sp>
        <p:nvSpPr>
          <p:cNvPr id="6" name="Text 3"/>
          <p:cNvSpPr txBox="1"/>
          <p:nvPr/>
        </p:nvSpPr>
        <p:spPr>
          <a:xfrm>
            <a:off x="822960"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Linear program   </a:t>
            </a:r>
            <a:pPr indent="0" marL="0">
              <a:buNone/>
            </a:pPr>
            <a:r>
              <a:rPr lang="en-US" sz="2000" dirty="0">
                <a:solidFill>
                  <a:srgbClr val="1F2933"/>
                </a:solidFill>
                <a:latin typeface="Calibri" pitchFamily="34" charset="0"/>
                <a:ea typeface="Calibri" pitchFamily="34" charset="-122"/>
                <a:cs typeface="Calibri" pitchFamily="34" charset="-120"/>
              </a:rPr>
              <a:t>A problem with one goal to make as small (or large) as possible and limits written as simple sums, solved by a computer.</a:t>
            </a:r>
            <a:endParaRPr lang="en-US" sz="2000" dirty="0"/>
          </a:p>
        </p:txBody>
      </p:sp>
      <p:sp>
        <p:nvSpPr>
          <p:cNvPr id="7" name="term card"/>
          <p:cNvSpPr/>
          <p:nvPr/>
        </p:nvSpPr>
        <p:spPr>
          <a:xfrm>
            <a:off x="6233008" y="1554480"/>
            <a:ext cx="5410048" cy="1386840"/>
          </a:xfrm>
          <a:prstGeom prst="roundRect">
            <a:avLst>
              <a:gd name="adj" fmla="val 7912"/>
            </a:avLst>
          </a:prstGeom>
          <a:solidFill>
            <a:srgbClr val="F7FAF9"/>
          </a:solidFill>
          <a:ln w="12700">
            <a:solidFill>
              <a:srgbClr val="F7FAF9"/>
            </a:solidFill>
            <a:prstDash val="solid"/>
          </a:ln>
        </p:spPr>
      </p:sp>
      <p:sp>
        <p:nvSpPr>
          <p:cNvPr id="8" name="Text 5"/>
          <p:cNvSpPr txBox="1"/>
          <p:nvPr/>
        </p:nvSpPr>
        <p:spPr>
          <a:xfrm>
            <a:off x="6507328"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Objective   </a:t>
            </a:r>
            <a:pPr indent="0" marL="0">
              <a:buNone/>
            </a:pPr>
            <a:r>
              <a:rPr lang="en-US" sz="2000" dirty="0">
                <a:solidFill>
                  <a:srgbClr val="1F2933"/>
                </a:solidFill>
                <a:latin typeface="Calibri" pitchFamily="34" charset="0"/>
                <a:ea typeface="Calibri" pitchFamily="34" charset="-122"/>
                <a:cs typeface="Calibri" pitchFamily="34" charset="-120"/>
              </a:rPr>
              <a:t>The single number the model tries to make as small as possible, here the total cost of electricity.</a:t>
            </a:r>
            <a:endParaRPr lang="en-US" sz="2000" dirty="0"/>
          </a:p>
        </p:txBody>
      </p:sp>
      <p:sp>
        <p:nvSpPr>
          <p:cNvPr id="9" name="term card"/>
          <p:cNvSpPr/>
          <p:nvPr/>
        </p:nvSpPr>
        <p:spPr>
          <a:xfrm>
            <a:off x="548640" y="3169920"/>
            <a:ext cx="5410048" cy="1386840"/>
          </a:xfrm>
          <a:prstGeom prst="roundRect">
            <a:avLst>
              <a:gd name="adj" fmla="val 7912"/>
            </a:avLst>
          </a:prstGeom>
          <a:solidFill>
            <a:srgbClr val="E6F2F0"/>
          </a:solidFill>
          <a:ln w="12700">
            <a:solidFill>
              <a:srgbClr val="E6F2F0"/>
            </a:solidFill>
            <a:prstDash val="solid"/>
          </a:ln>
        </p:spPr>
      </p:sp>
      <p:sp>
        <p:nvSpPr>
          <p:cNvPr id="10" name="Text 7"/>
          <p:cNvSpPr txBox="1"/>
          <p:nvPr/>
        </p:nvSpPr>
        <p:spPr>
          <a:xfrm>
            <a:off x="822960"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Constraint   </a:t>
            </a:r>
            <a:pPr indent="0" marL="0">
              <a:buNone/>
            </a:pPr>
            <a:r>
              <a:rPr lang="en-US" sz="2000" dirty="0">
                <a:solidFill>
                  <a:srgbClr val="1F2933"/>
                </a:solidFill>
                <a:latin typeface="Calibri" pitchFamily="34" charset="0"/>
                <a:ea typeface="Calibri" pitchFamily="34" charset="-122"/>
                <a:cs typeface="Calibri" pitchFamily="34" charset="-120"/>
              </a:rPr>
              <a:t>A rule the answer must obey, such as meeting demand, staying under a plant's limit, or staying under an emissions cap.</a:t>
            </a:r>
            <a:endParaRPr lang="en-US" sz="2000" dirty="0"/>
          </a:p>
        </p:txBody>
      </p:sp>
      <p:sp>
        <p:nvSpPr>
          <p:cNvPr id="11" name="term card"/>
          <p:cNvSpPr/>
          <p:nvPr/>
        </p:nvSpPr>
        <p:spPr>
          <a:xfrm>
            <a:off x="6233008" y="3169920"/>
            <a:ext cx="5410048" cy="1386840"/>
          </a:xfrm>
          <a:prstGeom prst="roundRect">
            <a:avLst>
              <a:gd name="adj" fmla="val 7912"/>
            </a:avLst>
          </a:prstGeom>
          <a:solidFill>
            <a:srgbClr val="F7FAF9"/>
          </a:solidFill>
          <a:ln w="12700">
            <a:solidFill>
              <a:srgbClr val="F7FAF9"/>
            </a:solidFill>
            <a:prstDash val="solid"/>
          </a:ln>
        </p:spPr>
      </p:sp>
      <p:sp>
        <p:nvSpPr>
          <p:cNvPr id="12" name="Text 9"/>
          <p:cNvSpPr txBox="1"/>
          <p:nvPr/>
        </p:nvSpPr>
        <p:spPr>
          <a:xfrm>
            <a:off x="6507328"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Shadow price   </a:t>
            </a:r>
            <a:pPr indent="0" marL="0">
              <a:buNone/>
            </a:pPr>
            <a:r>
              <a:rPr lang="en-US" sz="2000" dirty="0">
                <a:solidFill>
                  <a:srgbClr val="1F2933"/>
                </a:solidFill>
                <a:latin typeface="Calibri" pitchFamily="34" charset="0"/>
                <a:ea typeface="Calibri" pitchFamily="34" charset="-122"/>
                <a:cs typeface="Calibri" pitchFamily="34" charset="-120"/>
              </a:rPr>
              <a:t>How much the objective would change if one constraint were loosened by one unit. For an emissions cap it is a carbon price.</a:t>
            </a:r>
            <a:endParaRPr lang="en-US" sz="2000" dirty="0"/>
          </a:p>
        </p:txBody>
      </p:sp>
      <p:sp>
        <p:nvSpPr>
          <p:cNvPr id="13" name="term card"/>
          <p:cNvSpPr/>
          <p:nvPr/>
        </p:nvSpPr>
        <p:spPr>
          <a:xfrm>
            <a:off x="548640" y="4785360"/>
            <a:ext cx="11094415" cy="1386840"/>
          </a:xfrm>
          <a:prstGeom prst="roundRect">
            <a:avLst>
              <a:gd name="adj" fmla="val 7912"/>
            </a:avLst>
          </a:prstGeom>
          <a:solidFill>
            <a:srgbClr val="E6F2F0"/>
          </a:solidFill>
          <a:ln w="12700">
            <a:solidFill>
              <a:srgbClr val="E6F2F0"/>
            </a:solidFill>
            <a:prstDash val="solid"/>
          </a:ln>
        </p:spPr>
      </p:sp>
      <p:sp>
        <p:nvSpPr>
          <p:cNvPr id="14" name="Text 11"/>
          <p:cNvSpPr txBox="1"/>
          <p:nvPr/>
        </p:nvSpPr>
        <p:spPr>
          <a:xfrm>
            <a:off x="822960" y="4785360"/>
            <a:ext cx="10637215"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Perfect foresight   </a:t>
            </a:r>
            <a:pPr indent="0" marL="0">
              <a:buNone/>
            </a:pPr>
            <a:r>
              <a:rPr lang="en-US" sz="2000" dirty="0">
                <a:solidFill>
                  <a:srgbClr val="1F2933"/>
                </a:solidFill>
                <a:latin typeface="Calibri" pitchFamily="34" charset="0"/>
                <a:ea typeface="Calibri" pitchFamily="34" charset="-122"/>
                <a:cs typeface="Calibri" pitchFamily="34" charset="-120"/>
              </a:rPr>
              <a:t>The model knows every future period when it decides today. GCAM does not; it is myopic, deciding one period at a time.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Lab 11: a power system as a linear program</a:t>
            </a:r>
            <a:endParaRPr lang="en-US" sz="3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F59E6B"/>
                </a:solidFill>
                <a:latin typeface="Calibri" pitchFamily="34" charset="0"/>
                <a:ea typeface="Calibri" pitchFamily="34" charset="-122"/>
                <a:cs typeface="Calibri" pitchFamily="34" charset="-120"/>
              </a:rPr>
              <a:t>HANDS-ON LAB</a:t>
            </a:r>
            <a:endParaRPr lang="en-US" sz="1200" dirty="0"/>
          </a:p>
        </p:txBody>
      </p:sp>
      <p:sp>
        <p:nvSpPr>
          <p:cNvPr id="4" name="Text 2"/>
          <p:cNvSpPr txBox="1"/>
          <p:nvPr/>
        </p:nvSpPr>
        <p:spPr>
          <a:xfrm>
            <a:off x="548640" y="3291840"/>
            <a:ext cx="10058400" cy="1188720"/>
          </a:xfrm>
          <a:prstGeom prst="rect">
            <a:avLst/>
          </a:prstGeom>
          <a:noFill/>
          <a:ln/>
        </p:spPr>
        <p:txBody>
          <a:bodyPr wrap="square" lIns="0" tIns="0" rIns="0" bIns="0" rtlCol="0" anchor="t"/>
          <a:lstStyle/>
          <a:p>
            <a:pPr indent="0" marL="0">
              <a:buNone/>
            </a:pPr>
            <a:r>
              <a:rPr lang="en-US" sz="2300" dirty="0">
                <a:solidFill>
                  <a:srgbClr val="C9D6DF"/>
                </a:solidFill>
                <a:latin typeface="Calibri" pitchFamily="34" charset="0"/>
                <a:ea typeface="Calibri" pitchFamily="34" charset="-122"/>
                <a:cs typeface="Calibri" pitchFamily="34" charset="-120"/>
              </a:rPr>
              <a:t>Write the toy power system for lpSolve, find the cheapest mix with and without a 40 Mt cap, and read the shadow prices. Then watch a MESSAGEix Westeros demonstration.</a:t>
            </a:r>
            <a:endParaRPr lang="en-US" sz="2300" dirty="0"/>
          </a:p>
        </p:txBody>
      </p:sp>
      <p:sp>
        <p:nvSpPr>
          <p:cNvPr id="5" name="lab meta"/>
          <p:cNvSpPr/>
          <p:nvPr/>
        </p:nvSpPr>
        <p:spPr>
          <a:xfrm>
            <a:off x="548640" y="4846320"/>
            <a:ext cx="3520440" cy="731520"/>
          </a:xfrm>
          <a:prstGeom prst="roundRect">
            <a:avLst>
              <a:gd name="adj" fmla="val 15000"/>
            </a:avLst>
          </a:prstGeom>
          <a:solidFill>
            <a:srgbClr val="1D3A52"/>
          </a:solidFill>
          <a:ln w="12700">
            <a:solidFill>
              <a:srgbClr val="1D3A52"/>
            </a:solidFill>
            <a:prstDash val="solid"/>
          </a:ln>
        </p:spPr>
      </p:sp>
      <p:sp>
        <p:nvSpPr>
          <p:cNvPr id="6" name="Text 4"/>
          <p:cNvSpPr txBox="1"/>
          <p:nvPr/>
        </p:nvSpPr>
        <p:spPr>
          <a:xfrm>
            <a:off x="73152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Script: labs/lab11.R</a:t>
            </a:r>
            <a:endParaRPr lang="en-US" sz="1500" dirty="0"/>
          </a:p>
        </p:txBody>
      </p:sp>
      <p:sp>
        <p:nvSpPr>
          <p:cNvPr id="7" name="lab meta"/>
          <p:cNvSpPr/>
          <p:nvPr/>
        </p:nvSpPr>
        <p:spPr>
          <a:xfrm>
            <a:off x="4297680" y="4846320"/>
            <a:ext cx="3520440" cy="731520"/>
          </a:xfrm>
          <a:prstGeom prst="roundRect">
            <a:avLst>
              <a:gd name="adj" fmla="val 15000"/>
            </a:avLst>
          </a:prstGeom>
          <a:solidFill>
            <a:srgbClr val="1D3A52"/>
          </a:solidFill>
          <a:ln w="12700">
            <a:solidFill>
              <a:srgbClr val="1D3A52"/>
            </a:solidFill>
            <a:prstDash val="solid"/>
          </a:ln>
        </p:spPr>
      </p:sp>
      <p:sp>
        <p:nvSpPr>
          <p:cNvPr id="8" name="Text 6"/>
          <p:cNvSpPr txBox="1"/>
          <p:nvPr/>
        </p:nvSpPr>
        <p:spPr>
          <a:xfrm>
            <a:off x="448056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 steps</a:t>
            </a:r>
            <a:endParaRPr lang="en-US" sz="1500" dirty="0"/>
          </a:p>
        </p:txBody>
      </p:sp>
      <p:sp>
        <p:nvSpPr>
          <p:cNvPr id="9" name="lab meta"/>
          <p:cNvSpPr/>
          <p:nvPr/>
        </p:nvSpPr>
        <p:spPr>
          <a:xfrm>
            <a:off x="8046720" y="4846320"/>
            <a:ext cx="3520440" cy="731520"/>
          </a:xfrm>
          <a:prstGeom prst="roundRect">
            <a:avLst>
              <a:gd name="adj" fmla="val 15000"/>
            </a:avLst>
          </a:prstGeom>
          <a:solidFill>
            <a:srgbClr val="1D3A52"/>
          </a:solidFill>
          <a:ln w="12700">
            <a:solidFill>
              <a:srgbClr val="1D3A52"/>
            </a:solidFill>
            <a:prstDash val="solid"/>
          </a:ln>
        </p:spPr>
      </p:sp>
      <p:sp>
        <p:nvSpPr>
          <p:cNvPr id="10" name="Text 8"/>
          <p:cNvSpPr txBox="1"/>
          <p:nvPr/>
        </p:nvSpPr>
        <p:spPr>
          <a:xfrm>
            <a:off x="822960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Stuck? Read the error aloud, check the slide, then ask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1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Write the objective and constraints</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One cost per technology, then one row per constraint and one column per technology. Fill GAP 1 with demand.</a:t>
            </a:r>
            <a:endParaRPr lang="en-US" sz="2000" dirty="0"/>
          </a:p>
        </p:txBody>
      </p:sp>
      <p:sp>
        <p:nvSpPr>
          <p:cNvPr id="7" name="code panel"/>
          <p:cNvSpPr/>
          <p:nvPr/>
        </p:nvSpPr>
        <p:spPr>
          <a:xfrm>
            <a:off x="548640" y="2738120"/>
            <a:ext cx="11094415" cy="2931160"/>
          </a:xfrm>
          <a:prstGeom prst="roundRect">
            <a:avLst>
              <a:gd name="adj" fmla="val 3744"/>
            </a:avLst>
          </a:prstGeom>
          <a:solidFill>
            <a:srgbClr val="1E2A36"/>
          </a:solidFill>
          <a:ln w="12700">
            <a:solidFill>
              <a:srgbClr val="1E2A36"/>
            </a:solidFill>
            <a:prstDash val="solid"/>
          </a:ln>
        </p:spPr>
      </p:sp>
      <p:sp>
        <p:nvSpPr>
          <p:cNvPr id="8" name="Text 5"/>
          <p:cNvSpPr txBox="1"/>
          <p:nvPr/>
        </p:nvSpPr>
        <p:spPr>
          <a:xfrm>
            <a:off x="868680" y="3012440"/>
            <a:ext cx="10545775" cy="2519680"/>
          </a:xfrm>
          <a:prstGeom prst="rect">
            <a:avLst/>
          </a:prstGeom>
          <a:noFill/>
          <a:ln/>
        </p:spPr>
        <p:txBody>
          <a:bodyPr wrap="square" lIns="0" tIns="0" rIns="0" bIns="0" rtlCol="0" anchor="t"/>
          <a:lstStyle/>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library(lpSolve)</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cost &lt;- c(60, 70, 80)           # coal, gas, solar</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A &lt;- rbind(demand = c(1, 1, 1),</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           coal   = c(1, 0, 0),</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           gas    = c(0, 1, 0),</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           solar  = c(0, 0, 1))</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dir &lt;- c("=", "&lt;=", "&lt;=", "&lt;=")</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rhs &lt;- c(___, 60, 50, 30)       # GAP 1: demand in TWh</a:t>
            </a:r>
            <a:endParaRPr lang="en-US" sz="2000" dirty="0"/>
          </a:p>
        </p:txBody>
      </p:sp>
      <p:pic>
        <p:nvPicPr>
          <p:cNvPr id="9" name="tip icon" descr="preencoded.png">    </p:cNvPr>
          <p:cNvPicPr>
            <a:picLocks noChangeAspect="1"/>
          </p:cNvPicPr>
          <p:nvPr/>
        </p:nvPicPr>
        <p:blipFill>
          <a:blip r:embed="rId1"/>
          <a:stretch>
            <a:fillRect/>
          </a:stretch>
        </p:blipFill>
        <p:spPr>
          <a:xfrm>
            <a:off x="548640" y="5916168"/>
            <a:ext cx="329184" cy="329184"/>
          </a:xfrm>
          <a:prstGeom prst="rect">
            <a:avLst/>
          </a:prstGeom>
        </p:spPr>
      </p:pic>
      <p:sp>
        <p:nvSpPr>
          <p:cNvPr id="10" name="Text 6"/>
          <p:cNvSpPr txBox="1"/>
          <p:nvPr/>
        </p:nvSpPr>
        <p:spPr>
          <a:xfrm>
            <a:off x="1005840" y="58978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Fill each ___ gap before running that line. Stuck? The solution file has the complete version.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2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Solve without a cap</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compute.​sens = TRUE asks for the shadow prices. Read status first: 0 means success.</a:t>
            </a:r>
            <a:endParaRPr lang="en-US" sz="2000" dirty="0"/>
          </a:p>
        </p:txBody>
      </p:sp>
      <p:sp>
        <p:nvSpPr>
          <p:cNvPr id="7" name="code panel"/>
          <p:cNvSpPr/>
          <p:nvPr/>
        </p:nvSpPr>
        <p:spPr>
          <a:xfrm>
            <a:off x="548640" y="2738120"/>
            <a:ext cx="11094415" cy="2423160"/>
          </a:xfrm>
          <a:prstGeom prst="roundRect">
            <a:avLst>
              <a:gd name="adj" fmla="val 4528"/>
            </a:avLst>
          </a:prstGeom>
          <a:solidFill>
            <a:srgbClr val="1E2A36"/>
          </a:solidFill>
          <a:ln w="12700">
            <a:solidFill>
              <a:srgbClr val="1E2A36"/>
            </a:solidFill>
            <a:prstDash val="solid"/>
          </a:ln>
        </p:spPr>
      </p:sp>
      <p:sp>
        <p:nvSpPr>
          <p:cNvPr id="8" name="Text 5"/>
          <p:cNvSpPr txBox="1"/>
          <p:nvPr/>
        </p:nvSpPr>
        <p:spPr>
          <a:xfrm>
            <a:off x="868680" y="3012440"/>
            <a:ext cx="10545775" cy="201168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base &lt;- lp("min", cost, A, dir, rhs,</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compute.sens = TRUE)</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base$status     # 0 = success, 2 = no solution</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base$solution   # TWh of coal, gas, solar</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base$objval     # total cost, million $</a:t>
            </a:r>
            <a:endParaRPr lang="en-US" sz="2400" dirty="0"/>
          </a:p>
        </p:txBody>
      </p:sp>
      <p:pic>
        <p:nvPicPr>
          <p:cNvPr id="9" name="tip icon" descr="preencoded.png">    </p:cNvPr>
          <p:cNvPicPr>
            <a:picLocks noChangeAspect="1"/>
          </p:cNvPicPr>
          <p:nvPr/>
        </p:nvPicPr>
        <p:blipFill>
          <a:blip r:embed="rId1"/>
          <a:stretch>
            <a:fillRect/>
          </a:stretch>
        </p:blipFill>
        <p:spPr>
          <a:xfrm>
            <a:off x="548640" y="5408168"/>
            <a:ext cx="329184" cy="329184"/>
          </a:xfrm>
          <a:prstGeom prst="rect">
            <a:avLst/>
          </a:prstGeom>
        </p:spPr>
      </p:pic>
      <p:sp>
        <p:nvSpPr>
          <p:cNvPr id="10" name="Text 6"/>
          <p:cNvSpPr txBox="1"/>
          <p:nvPr/>
        </p:nvSpPr>
        <p:spPr>
          <a:xfrm>
            <a:off x="1005840" y="53898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3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Add the 40 Mt cap</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The cap is one more row: the emission factors. Fill GAP 2 with emis and GAP 3 with 40.</a:t>
            </a:r>
            <a:endParaRPr lang="en-US" sz="2000" dirty="0"/>
          </a:p>
        </p:txBody>
      </p:sp>
      <p:sp>
        <p:nvSpPr>
          <p:cNvPr id="7" name="code panel"/>
          <p:cNvSpPr/>
          <p:nvPr/>
        </p:nvSpPr>
        <p:spPr>
          <a:xfrm>
            <a:off x="548640" y="2738120"/>
            <a:ext cx="11094415" cy="2931160"/>
          </a:xfrm>
          <a:prstGeom prst="roundRect">
            <a:avLst>
              <a:gd name="adj" fmla="val 3744"/>
            </a:avLst>
          </a:prstGeom>
          <a:solidFill>
            <a:srgbClr val="1E2A36"/>
          </a:solidFill>
          <a:ln w="12700">
            <a:solidFill>
              <a:srgbClr val="1E2A36"/>
            </a:solidFill>
            <a:prstDash val="solid"/>
          </a:ln>
        </p:spPr>
      </p:sp>
      <p:sp>
        <p:nvSpPr>
          <p:cNvPr id="8" name="Text 5"/>
          <p:cNvSpPr txBox="1"/>
          <p:nvPr/>
        </p:nvSpPr>
        <p:spPr>
          <a:xfrm>
            <a:off x="868680" y="3012440"/>
            <a:ext cx="10545775" cy="2519680"/>
          </a:xfrm>
          <a:prstGeom prst="rect">
            <a:avLst/>
          </a:prstGeom>
          <a:noFill/>
          <a:ln/>
        </p:spPr>
        <p:txBody>
          <a:bodyPr wrap="square" lIns="0" tIns="0" rIns="0" bIns="0" rtlCol="0" anchor="t"/>
          <a:lstStyle/>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emis &lt;- c(0.9, 0.4, 0)          # tCO2 per MWh</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A2   &lt;- rbind(A, co2 = ___)     # GAP 2</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dir2 &lt;- c(dir, "&lt;=")</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rhs2 &lt;- c(rhs, ___)             # GAP 3: the cap</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capped &lt;- lp("min", cost, A2, dir2, rhs2,</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             compute.sens = TRUE)</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capped$solution</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sum(emis * capped$solution)     # equals the cap</a:t>
            </a:r>
            <a:endParaRPr lang="en-US" sz="2000" dirty="0"/>
          </a:p>
        </p:txBody>
      </p:sp>
      <p:pic>
        <p:nvPicPr>
          <p:cNvPr id="9" name="tip icon" descr="preencoded.png">    </p:cNvPr>
          <p:cNvPicPr>
            <a:picLocks noChangeAspect="1"/>
          </p:cNvPicPr>
          <p:nvPr/>
        </p:nvPicPr>
        <p:blipFill>
          <a:blip r:embed="rId1"/>
          <a:stretch>
            <a:fillRect/>
          </a:stretch>
        </p:blipFill>
        <p:spPr>
          <a:xfrm>
            <a:off x="548640" y="5916168"/>
            <a:ext cx="329184" cy="329184"/>
          </a:xfrm>
          <a:prstGeom prst="rect">
            <a:avLst/>
          </a:prstGeom>
        </p:spPr>
      </p:pic>
      <p:sp>
        <p:nvSpPr>
          <p:cNvPr id="10" name="Text 6"/>
          <p:cNvSpPr txBox="1"/>
          <p:nvPr/>
        </p:nvSpPr>
        <p:spPr>
          <a:xfrm>
            <a:off x="1005840" y="58978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Fill each ___ gap before running that line. Stuck? The solution file has the complete version.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4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Read and check the shadow prices</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duals lists one number per constraint, then one per technology. Loosen the cap by 1 Mt to check the sign.</a:t>
            </a:r>
            <a:endParaRPr lang="en-US" sz="2000" dirty="0"/>
          </a:p>
        </p:txBody>
      </p:sp>
      <p:sp>
        <p:nvSpPr>
          <p:cNvPr id="7" name="code panel"/>
          <p:cNvSpPr/>
          <p:nvPr/>
        </p:nvSpPr>
        <p:spPr>
          <a:xfrm>
            <a:off x="548640" y="2738120"/>
            <a:ext cx="11094415" cy="2423160"/>
          </a:xfrm>
          <a:prstGeom prst="roundRect">
            <a:avLst>
              <a:gd name="adj" fmla="val 4528"/>
            </a:avLst>
          </a:prstGeom>
          <a:solidFill>
            <a:srgbClr val="1E2A36"/>
          </a:solidFill>
          <a:ln w="12700">
            <a:solidFill>
              <a:srgbClr val="1E2A36"/>
            </a:solidFill>
            <a:prstDash val="solid"/>
          </a:ln>
        </p:spPr>
      </p:sp>
      <p:sp>
        <p:nvSpPr>
          <p:cNvPr id="8" name="Text 5"/>
          <p:cNvSpPr txBox="1"/>
          <p:nvPr/>
        </p:nvSpPr>
        <p:spPr>
          <a:xfrm>
            <a:off x="868680" y="3012440"/>
            <a:ext cx="10545775" cy="201168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capped$duals    # 5 constraints, then 3 technologies</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rhs3 &lt;- rhs2</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rhs3[5] &lt;- rhs2[5] + 1</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looser &lt;- lp("min", cost, A2, dir2, rhs3)</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looser$objval - capped$objval   # about -22.2</a:t>
            </a:r>
            <a:endParaRPr lang="en-US" sz="2400" dirty="0"/>
          </a:p>
        </p:txBody>
      </p:sp>
      <p:pic>
        <p:nvPicPr>
          <p:cNvPr id="9" name="tip icon" descr="preencoded.png">    </p:cNvPr>
          <p:cNvPicPr>
            <a:picLocks noChangeAspect="1"/>
          </p:cNvPicPr>
          <p:nvPr/>
        </p:nvPicPr>
        <p:blipFill>
          <a:blip r:embed="rId1"/>
          <a:stretch>
            <a:fillRect/>
          </a:stretch>
        </p:blipFill>
        <p:spPr>
          <a:xfrm>
            <a:off x="548640" y="5408168"/>
            <a:ext cx="329184" cy="329184"/>
          </a:xfrm>
          <a:prstGeom prst="rect">
            <a:avLst/>
          </a:prstGeom>
        </p:spPr>
      </p:pic>
      <p:sp>
        <p:nvSpPr>
          <p:cNvPr id="10" name="Text 6"/>
          <p:cNvSpPr txBox="1"/>
          <p:nvPr/>
        </p:nvSpPr>
        <p:spPr>
          <a:xfrm>
            <a:off x="1005840" y="53898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CHECK YOUR WORK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Did it work?</a:t>
            </a:r>
            <a:endParaRPr lang="en-US" sz="3200" dirty="0"/>
          </a:p>
        </p:txBody>
      </p:sp>
      <p:sp>
        <p:nvSpPr>
          <p:cNvPr id="5" name="check card"/>
          <p:cNvSpPr/>
          <p:nvPr/>
        </p:nvSpPr>
        <p:spPr>
          <a:xfrm>
            <a:off x="548640" y="1554480"/>
            <a:ext cx="5410048" cy="4617720"/>
          </a:xfrm>
          <a:prstGeom prst="roundRect">
            <a:avLst>
              <a:gd name="adj" fmla="val 2376"/>
            </a:avLst>
          </a:prstGeom>
          <a:solidFill>
            <a:srgbClr val="E7F5EC"/>
          </a:solidFill>
          <a:ln w="12700">
            <a:solidFill>
              <a:srgbClr val="E7F5EC"/>
            </a:solidFill>
            <a:prstDash val="solid"/>
          </a:ln>
        </p:spPr>
      </p:sp>
      <p:sp>
        <p:nvSpPr>
          <p:cNvPr id="6" name="Text 3"/>
          <p:cNvSpPr txBox="1"/>
          <p:nvPr/>
        </p:nvSpPr>
        <p:spPr>
          <a:xfrm>
            <a:off x="822960" y="1737360"/>
            <a:ext cx="4861408" cy="457200"/>
          </a:xfrm>
          <a:prstGeom prst="rect">
            <a:avLst/>
          </a:prstGeom>
          <a:noFill/>
          <a:ln/>
        </p:spPr>
        <p:txBody>
          <a:bodyPr wrap="square" lIns="0" tIns="0" rIns="0" bIns="0" rtlCol="0" anchor="t"/>
          <a:lstStyle/>
          <a:p>
            <a:pPr indent="0" marL="0">
              <a:buNone/>
            </a:pPr>
            <a:r>
              <a:rPr lang="en-US" sz="2000" b="1" dirty="0">
                <a:solidFill>
                  <a:srgbClr val="15803D"/>
                </a:solidFill>
                <a:latin typeface="Cambria" pitchFamily="34" charset="0"/>
                <a:ea typeface="Cambria" pitchFamily="34" charset="-122"/>
                <a:cs typeface="Cambria" pitchFamily="34" charset="-120"/>
              </a:rPr>
              <a:t>You should see</a:t>
            </a:r>
            <a:endParaRPr lang="en-US" sz="2000" dirty="0"/>
          </a:p>
        </p:txBody>
      </p:sp>
      <p:sp>
        <p:nvSpPr>
          <p:cNvPr id="7" name="icon circle"/>
          <p:cNvSpPr/>
          <p:nvPr/>
        </p:nvSpPr>
        <p:spPr>
          <a:xfrm>
            <a:off x="822960" y="2377440"/>
            <a:ext cx="384048" cy="384048"/>
          </a:xfrm>
          <a:prstGeom prst="ellipse">
            <a:avLst/>
          </a:prstGeom>
          <a:solidFill>
            <a:srgbClr val="15803D"/>
          </a:solidFill>
          <a:ln w="12700">
            <a:solidFill>
              <a:srgbClr val="15803D"/>
            </a:solidFill>
            <a:prstDash val="solid"/>
          </a:ln>
        </p:spPr>
      </p:sp>
      <p:pic>
        <p:nvPicPr>
          <p:cNvPr id="8" name="icon" descr="preencoded.png">    </p:cNvPr>
          <p:cNvPicPr>
            <a:picLocks noChangeAspect="1"/>
          </p:cNvPicPr>
          <p:nvPr/>
        </p:nvPicPr>
        <p:blipFill>
          <a:blip r:embed="rId1"/>
          <a:stretch>
            <a:fillRect/>
          </a:stretch>
        </p:blipFill>
        <p:spPr>
          <a:xfrm>
            <a:off x="922812" y="2477292"/>
            <a:ext cx="184343" cy="184343"/>
          </a:xfrm>
          <a:prstGeom prst="rect">
            <a:avLst/>
          </a:prstGeom>
        </p:spPr>
      </p:pic>
      <p:sp>
        <p:nvSpPr>
          <p:cNvPr id="9" name="Text 5"/>
          <p:cNvSpPr txBox="1"/>
          <p:nvPr/>
        </p:nvSpPr>
        <p:spPr>
          <a:xfrm>
            <a:off x="1371600" y="2331720"/>
            <a:ext cx="4312768" cy="11430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Without a cap: coal 60, gas 40, solar 0; cost 6,400</a:t>
            </a:r>
            <a:endParaRPr lang="en-US" sz="1600" dirty="0"/>
          </a:p>
        </p:txBody>
      </p:sp>
      <p:sp>
        <p:nvSpPr>
          <p:cNvPr id="10" name="icon circle"/>
          <p:cNvSpPr/>
          <p:nvPr/>
        </p:nvSpPr>
        <p:spPr>
          <a:xfrm>
            <a:off x="822960" y="3611880"/>
            <a:ext cx="384048" cy="384048"/>
          </a:xfrm>
          <a:prstGeom prst="ellipse">
            <a:avLst/>
          </a:prstGeom>
          <a:solidFill>
            <a:srgbClr val="15803D"/>
          </a:solidFill>
          <a:ln w="12700">
            <a:solidFill>
              <a:srgbClr val="15803D"/>
            </a:solidFill>
            <a:prstDash val="solid"/>
          </a:ln>
        </p:spPr>
      </p:sp>
      <p:pic>
        <p:nvPicPr>
          <p:cNvPr id="11" name="icon" descr="preencoded.png">    </p:cNvPr>
          <p:cNvPicPr>
            <a:picLocks noChangeAspect="1"/>
          </p:cNvPicPr>
          <p:nvPr/>
        </p:nvPicPr>
        <p:blipFill>
          <a:blip r:embed="rId2"/>
          <a:stretch>
            <a:fillRect/>
          </a:stretch>
        </p:blipFill>
        <p:spPr>
          <a:xfrm>
            <a:off x="922812" y="3711732"/>
            <a:ext cx="184343" cy="184343"/>
          </a:xfrm>
          <a:prstGeom prst="rect">
            <a:avLst/>
          </a:prstGeom>
        </p:spPr>
      </p:pic>
      <p:sp>
        <p:nvSpPr>
          <p:cNvPr id="12" name="Text 7"/>
          <p:cNvSpPr txBox="1"/>
          <p:nvPr/>
        </p:nvSpPr>
        <p:spPr>
          <a:xfrm>
            <a:off x="1371600" y="3566160"/>
            <a:ext cx="4312768" cy="11430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With the 40 Mt cap: coal 22.2, gas 50, solar 27.8; cost about 7,056</a:t>
            </a:r>
            <a:endParaRPr lang="en-US" sz="1600" dirty="0"/>
          </a:p>
        </p:txBody>
      </p:sp>
      <p:sp>
        <p:nvSpPr>
          <p:cNvPr id="13" name="icon circle"/>
          <p:cNvSpPr/>
          <p:nvPr/>
        </p:nvSpPr>
        <p:spPr>
          <a:xfrm>
            <a:off x="822960" y="4846320"/>
            <a:ext cx="384048" cy="384048"/>
          </a:xfrm>
          <a:prstGeom prst="ellipse">
            <a:avLst/>
          </a:prstGeom>
          <a:solidFill>
            <a:srgbClr val="15803D"/>
          </a:solidFill>
          <a:ln w="12700">
            <a:solidFill>
              <a:srgbClr val="15803D"/>
            </a:solidFill>
            <a:prstDash val="solid"/>
          </a:ln>
        </p:spPr>
      </p:sp>
      <p:pic>
        <p:nvPicPr>
          <p:cNvPr id="14" name="icon" descr="preencoded.png">    </p:cNvPr>
          <p:cNvPicPr>
            <a:picLocks noChangeAspect="1"/>
          </p:cNvPicPr>
          <p:nvPr/>
        </p:nvPicPr>
        <p:blipFill>
          <a:blip r:embed="rId3"/>
          <a:stretch>
            <a:fillRect/>
          </a:stretch>
        </p:blipFill>
        <p:spPr>
          <a:xfrm>
            <a:off x="922812" y="4946172"/>
            <a:ext cx="184343" cy="184343"/>
          </a:xfrm>
          <a:prstGeom prst="rect">
            <a:avLst/>
          </a:prstGeom>
        </p:spPr>
      </p:pic>
      <p:sp>
        <p:nvSpPr>
          <p:cNvPr id="15" name="Text 9"/>
          <p:cNvSpPr txBox="1"/>
          <p:nvPr/>
        </p:nvSpPr>
        <p:spPr>
          <a:xfrm>
            <a:off x="1371600" y="4800600"/>
            <a:ext cx="4312768" cy="11430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capped$duals[5] is about −22.2, and loosening by 1 Mt saves about 22.2</a:t>
            </a:r>
            <a:endParaRPr lang="en-US" sz="1600" dirty="0"/>
          </a:p>
        </p:txBody>
      </p:sp>
      <p:sp>
        <p:nvSpPr>
          <p:cNvPr id="16" name="worksheet card"/>
          <p:cNvSpPr/>
          <p:nvPr/>
        </p:nvSpPr>
        <p:spPr>
          <a:xfrm>
            <a:off x="6233008" y="1554480"/>
            <a:ext cx="5410048" cy="4617720"/>
          </a:xfrm>
          <a:prstGeom prst="roundRect">
            <a:avLst>
              <a:gd name="adj" fmla="val 23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7" name="Text 11"/>
          <p:cNvSpPr txBox="1"/>
          <p:nvPr/>
        </p:nvSpPr>
        <p:spPr>
          <a:xfrm>
            <a:off x="6507328" y="1737360"/>
            <a:ext cx="4861408" cy="4572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Worksheet questions</a:t>
            </a:r>
            <a:endParaRPr lang="en-US" sz="2000" dirty="0"/>
          </a:p>
        </p:txBody>
      </p:sp>
      <p:sp>
        <p:nvSpPr>
          <p:cNvPr id="18" name="number badge"/>
          <p:cNvSpPr txBox="1"/>
          <p:nvPr/>
        </p:nvSpPr>
        <p:spPr>
          <a:xfrm>
            <a:off x="6507328" y="23774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9" name="Text 13"/>
          <p:cNvSpPr txBox="1"/>
          <p:nvPr/>
        </p:nvSpPr>
        <p:spPr>
          <a:xfrm>
            <a:off x="7055968" y="2331720"/>
            <a:ext cx="4312768" cy="11430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Use the shadow price to estimate how much total cost falls if the cap is loosened from 40 to 50 Mt. Then solve it and compare.</a:t>
            </a:r>
            <a:endParaRPr lang="en-US" sz="1600" dirty="0"/>
          </a:p>
        </p:txBody>
      </p:sp>
      <p:sp>
        <p:nvSpPr>
          <p:cNvPr id="20" name="number badge"/>
          <p:cNvSpPr txBox="1"/>
          <p:nvPr/>
        </p:nvSpPr>
        <p:spPr>
          <a:xfrm>
            <a:off x="6507328" y="361188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5"/>
          <p:cNvSpPr txBox="1"/>
          <p:nvPr/>
        </p:nvSpPr>
        <p:spPr>
          <a:xfrm>
            <a:off x="7055968" y="3566160"/>
            <a:ext cx="4312768" cy="11430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Try a cap of 37 Mt. What is the status, and why?</a:t>
            </a:r>
            <a:endParaRPr lang="en-US" sz="1600" dirty="0"/>
          </a:p>
        </p:txBody>
      </p:sp>
      <p:sp>
        <p:nvSpPr>
          <p:cNvPr id="22" name="number badge"/>
          <p:cNvSpPr txBox="1"/>
          <p:nvPr/>
        </p:nvSpPr>
        <p:spPr>
          <a:xfrm>
            <a:off x="6507328" y="484632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3" name="Text 17"/>
          <p:cNvSpPr txBox="1"/>
          <p:nvPr/>
        </p:nvSpPr>
        <p:spPr>
          <a:xfrm>
            <a:off x="7055968" y="4800600"/>
            <a:ext cx="4312768" cy="11430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Explain in two sentences why solar stops at 27.8 TWh instead of its limit of 30.</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RECAP</a:t>
            </a:r>
            <a:endParaRPr lang="en-US" sz="1200" dirty="0"/>
          </a:p>
        </p:txBody>
      </p:sp>
      <p:sp>
        <p:nvSpPr>
          <p:cNvPr id="3" name="Text 0"/>
          <p:cNvSpPr/>
          <p:nvPr>
            <p:ph idx="100" type="title" hasCustomPrompt="1"/>
          </p:nvPr>
        </p:nvSpPr>
        <p:spPr>
          <a:xfrm>
            <a:off x="548640" y="685800"/>
            <a:ext cx="11094415" cy="82296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Take-home messages</a:t>
            </a:r>
            <a:endParaRPr lang="en-US" sz="4000" dirty="0"/>
          </a:p>
        </p:txBody>
      </p:sp>
      <p:sp>
        <p:nvSpPr>
          <p:cNvPr id="4" name="number badge"/>
          <p:cNvSpPr txBox="1"/>
          <p:nvPr/>
        </p:nvSpPr>
        <p:spPr>
          <a:xfrm>
            <a:off x="548640" y="193167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234440" y="169164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An optimisation model minimises one objective subject to constraints and returns one best plan</a:t>
            </a:r>
            <a:endParaRPr lang="en-US" sz="2000" dirty="0"/>
          </a:p>
        </p:txBody>
      </p:sp>
      <p:sp>
        <p:nvSpPr>
          <p:cNvPr id="6" name="number badge"/>
          <p:cNvSpPr txBox="1"/>
          <p:nvPr/>
        </p:nvSpPr>
        <p:spPr>
          <a:xfrm>
            <a:off x="548640" y="286893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7" name="Text 5"/>
          <p:cNvSpPr txBox="1"/>
          <p:nvPr/>
        </p:nvSpPr>
        <p:spPr>
          <a:xfrm>
            <a:off x="1234440" y="262890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With a 40 Mt cap the cheapest mix is coal 22.2, gas 50, solar 27.8 TWh</a:t>
            </a:r>
            <a:endParaRPr lang="en-US" sz="2000" dirty="0"/>
          </a:p>
        </p:txBody>
      </p:sp>
      <p:sp>
        <p:nvSpPr>
          <p:cNvPr id="8" name="number badge"/>
          <p:cNvSpPr txBox="1"/>
          <p:nvPr/>
        </p:nvSpPr>
        <p:spPr>
          <a:xfrm>
            <a:off x="548640" y="380619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9" name="Text 7"/>
          <p:cNvSpPr txBox="1"/>
          <p:nvPr/>
        </p:nvSpPr>
        <p:spPr>
          <a:xfrm>
            <a:off x="1234440" y="356616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The shadow price of the cap, $22.2 per tonne, is the carbon price that gives the same mix</a:t>
            </a:r>
            <a:endParaRPr lang="en-US" sz="2000" dirty="0"/>
          </a:p>
        </p:txBody>
      </p:sp>
      <p:sp>
        <p:nvSpPr>
          <p:cNvPr id="10" name="number badge"/>
          <p:cNvSpPr txBox="1"/>
          <p:nvPr/>
        </p:nvSpPr>
        <p:spPr>
          <a:xfrm>
            <a:off x="548640" y="474345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1" name="Text 9"/>
          <p:cNvSpPr txBox="1"/>
          <p:nvPr/>
        </p:nvSpPr>
        <p:spPr>
          <a:xfrm>
            <a:off x="1234440" y="450342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GCAM simulates period by period; optimisers usually plan with foresight; CGE adds the whole economy</a:t>
            </a:r>
            <a:endParaRPr lang="en-US" sz="2000" dirty="0"/>
          </a:p>
        </p:txBody>
      </p:sp>
      <p:sp>
        <p:nvSpPr>
          <p:cNvPr id="12" name="next week"/>
          <p:cNvSpPr/>
          <p:nvPr/>
        </p:nvSpPr>
        <p:spPr>
          <a:xfrm>
            <a:off x="8503920" y="1737360"/>
            <a:ext cx="3139135" cy="2057400"/>
          </a:xfrm>
          <a:prstGeom prst="roundRect">
            <a:avLst>
              <a:gd name="adj" fmla="val 5333"/>
            </a:avLst>
          </a:prstGeom>
          <a:solidFill>
            <a:srgbClr val="1D3A52"/>
          </a:solidFill>
          <a:ln w="12700">
            <a:solidFill>
              <a:srgbClr val="1D3A52"/>
            </a:solidFill>
            <a:prstDash val="solid"/>
          </a:ln>
        </p:spPr>
      </p:sp>
      <p:sp>
        <p:nvSpPr>
          <p:cNvPr id="13" name="Text 11"/>
          <p:cNvSpPr txBox="1"/>
          <p:nvPr/>
        </p:nvSpPr>
        <p:spPr>
          <a:xfrm>
            <a:off x="8778240" y="1874520"/>
            <a:ext cx="2590495" cy="411480"/>
          </a:xfrm>
          <a:prstGeom prst="rect">
            <a:avLst/>
          </a:prstGeom>
          <a:noFill/>
          <a:ln/>
        </p:spPr>
        <p:txBody>
          <a:bodyPr wrap="square" lIns="0" tIns="0" rIns="0" bIns="0" rtlCol="0" anchor="t"/>
          <a:lstStyle/>
          <a:p>
            <a:pPr indent="0" marL="0">
              <a:buNone/>
            </a:pPr>
            <a:r>
              <a:rPr lang="en-US" sz="1600" b="1" dirty="0">
                <a:solidFill>
                  <a:srgbClr val="F59E6B"/>
                </a:solidFill>
                <a:latin typeface="Calibri" pitchFamily="34" charset="0"/>
                <a:ea typeface="Calibri" pitchFamily="34" charset="-122"/>
                <a:cs typeface="Calibri" pitchFamily="34" charset="-120"/>
              </a:rPr>
              <a:t>Next: week 12</a:t>
            </a:r>
            <a:endParaRPr lang="en-US" sz="1600" dirty="0"/>
          </a:p>
        </p:txBody>
      </p:sp>
      <p:sp>
        <p:nvSpPr>
          <p:cNvPr id="14" name="Text 12"/>
          <p:cNvSpPr txBox="1"/>
          <p:nvPr/>
        </p:nvSpPr>
        <p:spPr>
          <a:xfrm>
            <a:off x="8778240" y="2286000"/>
            <a:ext cx="2590495" cy="14173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Week 12 asks why different models give different answers to the same question, and places your GCAM run among other models' results.</a:t>
            </a:r>
            <a:endParaRPr lang="en-US" sz="1400" dirty="0"/>
          </a:p>
        </p:txBody>
      </p:sp>
      <p:sp>
        <p:nvSpPr>
          <p:cNvPr id="15" name="practise"/>
          <p:cNvSpPr/>
          <p:nvPr/>
        </p:nvSpPr>
        <p:spPr>
          <a:xfrm>
            <a:off x="8503920" y="4023360"/>
            <a:ext cx="3139135" cy="1371600"/>
          </a:xfrm>
          <a:prstGeom prst="roundRect">
            <a:avLst>
              <a:gd name="adj" fmla="val 8000"/>
            </a:avLst>
          </a:prstGeom>
          <a:solidFill>
            <a:srgbClr val="1D3A52"/>
          </a:solidFill>
          <a:ln w="12700">
            <a:solidFill>
              <a:srgbClr val="1D3A52"/>
            </a:solidFill>
            <a:prstDash val="solid"/>
          </a:ln>
        </p:spPr>
      </p:sp>
      <p:sp>
        <p:nvSpPr>
          <p:cNvPr id="16" name="Text 14"/>
          <p:cNvSpPr txBox="1"/>
          <p:nvPr/>
        </p:nvSpPr>
        <p:spPr>
          <a:xfrm>
            <a:off x="8778240" y="4114800"/>
            <a:ext cx="2590495" cy="411480"/>
          </a:xfrm>
          <a:prstGeom prst="rect">
            <a:avLst/>
          </a:prstGeom>
          <a:noFill/>
          <a:ln/>
        </p:spPr>
        <p:txBody>
          <a:bodyPr wrap="square" lIns="0" tIns="0" rIns="0" bIns="0" rtlCol="0" anchor="t"/>
          <a:lstStyle/>
          <a:p>
            <a:pPr indent="0" marL="0">
              <a:buNone/>
            </a:pPr>
            <a:r>
              <a:rPr lang="en-US" sz="1600" b="1" dirty="0">
                <a:solidFill>
                  <a:srgbClr val="6FD3C7"/>
                </a:solidFill>
                <a:latin typeface="Calibri" pitchFamily="34" charset="0"/>
                <a:ea typeface="Calibri" pitchFamily="34" charset="-122"/>
                <a:cs typeface="Calibri" pitchFamily="34" charset="-120"/>
              </a:rPr>
              <a:t>Practise</a:t>
            </a:r>
            <a:endParaRPr lang="en-US" sz="1600" dirty="0"/>
          </a:p>
        </p:txBody>
      </p:sp>
      <p:sp>
        <p:nvSpPr>
          <p:cNvPr id="17" name="Text 15"/>
          <p:cNvSpPr txBox="1"/>
          <p:nvPr/>
        </p:nvSpPr>
        <p:spPr>
          <a:xfrm>
            <a:off x="8778240" y="4498848"/>
            <a:ext cx="2590495"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Interactive course, week 11: try the lp explorer and the 5-question quiz.</a:t>
            </a:r>
            <a:endParaRPr lang="en-US" sz="1400" dirty="0"/>
          </a:p>
        </p:txBody>
      </p:sp>
      <p:sp>
        <p:nvSpPr>
          <p:cNvPr id="18" name="Text 16"/>
          <p:cNvSpPr txBox="1"/>
          <p:nvPr/>
        </p:nvSpPr>
        <p:spPr>
          <a:xfrm>
            <a:off x="548640" y="5577840"/>
            <a:ext cx="10180015" cy="640080"/>
          </a:xfrm>
          <a:prstGeom prst="rect">
            <a:avLst/>
          </a:prstGeom>
          <a:noFill/>
          <a:ln/>
        </p:spPr>
        <p:txBody>
          <a:bodyPr wrap="square" lIns="0" tIns="0" rIns="0" bIns="0" rtlCol="0" anchor="t"/>
          <a:lstStyle/>
          <a:p>
            <a:pPr indent="0" marL="0">
              <a:buNone/>
            </a:pPr>
            <a:r>
              <a:rPr lang="en-US" sz="1200" dirty="0">
                <a:solidFill>
                  <a:srgbClr val="C9D6DF"/>
                </a:solidFill>
                <a:latin typeface="Calibri" pitchFamily="34" charset="0"/>
                <a:ea typeface="Calibri" pitchFamily="34" charset="-122"/>
                <a:cs typeface="Calibri" pitchFamily="34" charset="-120"/>
              </a:rPr>
              <a:t>Readings: Huppmann et al. (2019), The MESSAGEix Integrated Assessment Model and the ix modeling platform, Environmental Modelling and Software; lpSolve package documentation; GCAM v8.2 documentation: Overview (dynamic recursive), Solution and Computation</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IAM Course">
  <a:themeElements>
    <a:clrScheme name="IAM Course">
      <a:dk1>
        <a:srgbClr val="1F2933"/>
      </a:dk1>
      <a:lt1>
        <a:srgbClr val="FFFFFF"/>
      </a:lt1>
      <a:dk2>
        <a:srgbClr val="12263A"/>
      </a:dk2>
      <a:lt2>
        <a:srgbClr val="E6F2F0"/>
      </a:lt2>
      <a:accent1>
        <a:srgbClr val="0F766E"/>
      </a:accent1>
      <a:accent2>
        <a:srgbClr val="C2410C"/>
      </a:accent2>
      <a:accent3>
        <a:srgbClr val="D97706"/>
      </a:accent3>
      <a:accent4>
        <a:srgbClr val="5B6875"/>
      </a:accent4>
      <a:accent5>
        <a:srgbClr val="15803D"/>
      </a:accent5>
      <a:accent6>
        <a:srgbClr val="B91C1C"/>
      </a:accent6>
      <a:hlink>
        <a:srgbClr val="0F766E"/>
      </a:hlink>
      <a:folHlink>
        <a:srgbClr val="6B21A8"/>
      </a:folHlink>
    </a:clrScheme>
    <a:fontScheme name="IAM Cou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IAM 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11: Optimisation models</dc:title>
  <dc:subject>Modelling Climate and Energy Futures</dc:subject>
  <dc:creator>IAM course team</dc:creator>
  <cp:lastModifiedBy>IAM course team</cp:lastModifiedBy>
  <cp:revision>1</cp:revision>
  <dcterms:created xsi:type="dcterms:W3CDTF">2026-10-22T18:53:47Z</dcterms:created>
  <dcterms:modified xsi:type="dcterms:W3CDTF">2026-10-22T18:53:47Z</dcterms:modified>
</cp:coreProperties>
</file>