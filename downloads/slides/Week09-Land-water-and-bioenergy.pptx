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0.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68daec-0cda-46e3-3998-d222b2de290a}">
          <p14:sldIdLst>
            <p14:sldId id="256"/>
            <p14:sldId id="257"/>
            <p14:sldId id="258"/>
          </p14:sldIdLst>
        </p14:section>
        <p14:section name="Lecture" id="{7e51f385-34bf-640e-9570-63dd40b9b2fd}">
          <p14:sldIdLst>
            <p14:sldId id="259"/>
            <p14:sldId id="260"/>
            <p14:sldId id="261"/>
            <p14:sldId id="262"/>
            <p14:sldId id="263"/>
            <p14:sldId id="264"/>
            <p14:sldId id="265"/>
            <p14:sldId id="266"/>
            <p14:sldId id="267"/>
            <p14:sldId id="268"/>
            <p14:sldId id="269"/>
            <p14:sldId id="270"/>
            <p14:sldId id="271"/>
          </p14:sldIdLst>
        </p14:section>
        <p14:section name="Lab" id="{a38ebc9e-1b8f-40fb-89de-45dc80e89c8a}">
          <p14:sldIdLst>
            <p14:sldId id="272"/>
            <p14:sldId id="273"/>
            <p14:sldId id="274"/>
            <p14:sldId id="275"/>
            <p14:sldId id="276"/>
            <p14:sldId id="277"/>
          </p14:sldIdLst>
        </p14:section>
        <p14:section name="Recap" id="{0c15d2e4-8003-6fa1-dabc-e6e86536d467}">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Wheat ($240/ha)</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Exponent 1</c:v>
                  </c:pt>
                  <c:pt idx="1">
                    <c:v>Exponent 3</c:v>
                  </c:pt>
                </c:lvl>
              </c:multiLvlStrCache>
            </c:multiLvlStrRef>
          </c:cat>
          <c:val>
            <c:numRef>
              <c:f>Sheet1!$B$2:$B$3</c:f>
              <c:numCache>
                <c:formatCode>General</c:formatCode>
                <c:ptCount val="2"/>
                <c:pt idx="0">
                  <c:v>44.4</c:v>
                </c:pt>
                <c:pt idx="1">
                  <c:v>33.9</c:v>
                </c:pt>
              </c:numCache>
            </c:numRef>
          </c:val>
        </c:ser>
        <c:ser>
          <c:idx val="1"/>
          <c:order val="1"/>
          <c:tx>
            <c:strRef>
              <c:f>Sheet1!$C$1</c:f>
              <c:strCache>
                <c:ptCount val="1"/>
                <c:pt idx="0">
                  <c:v>Energy grass ($300/ha)</c:v>
                </c:pt>
              </c:strCache>
            </c:strRef>
          </c:tx>
          <c:spPr>
            <a:solidFill>
              <a:srgbClr val="C2410C"/>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Sheet1!$A$2:$A$3</c:f>
              <c:multiLvlStrCache>
                <c:ptCount val="2"/>
                <c:lvl>
                  <c:pt idx="0">
                    <c:v>Exponent 1</c:v>
                  </c:pt>
                  <c:pt idx="1">
                    <c:v>Exponent 3</c:v>
                  </c:pt>
                </c:lvl>
              </c:multiLvlStrCache>
            </c:multiLvlStrRef>
          </c:cat>
          <c:val>
            <c:numRef>
              <c:f>Sheet1!$C$2:$C$3</c:f>
              <c:numCache>
                <c:formatCode>General</c:formatCode>
                <c:ptCount val="2"/>
                <c:pt idx="0">
                  <c:v>55.6</c:v>
                </c:pt>
                <c:pt idx="1">
                  <c:v>66.1</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Logit exponent on profit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Share of land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9: Land, water and bioenergy. Why a climate policy ends up on the farm. Today has two halves: a lecture that builds the idea step by step with everyday examples, then a guided lab where we try it in R. Nobody is expected to know the material already. New R skill this week: rmap for maps; first look inside gcamdata: how R turns source data into GCAM input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9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If we grow crops for energy, where does the land and water come from, and what gives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suggest the chain before you show it. Someone usually gets to bioenergy. The whole lecture is about following that chain: energy, land and water linked together, which is the energy-water-land nexus.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week 7 logit rule with profit in place of cost. More profit is better, so the exponent is positive. This image is stop three of the study guide memory route, the greenhouse.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illustrative, from the study guide. Note that grass wins on profit even though wheat earns more per tonne, because grass yields more tonnes per hectare. GCAM shares land with the relative-cost logit on profit, with a positive exponent, inside a nest of land types (Source: GCAM v8.2 documentation, Economic Choice and Land pages). Real exponents differ by nest; the simple rule here shows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as the week 7 chart: the exponent sets how sharply shares react to a profit gap. A carbon price raises the bioenergy price, which raises the grass profit and pulls still more land toward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about 52 percent. Maize profit = (180 - 100) x 4 = 320 per hectare. Share = 320 / (320 + 300) = 320 / 620 = 51.6 percent. This is the study guide's try-it question for week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about 52 percent. Maize profit = (180 - 100) x 4 = 320 per hectare. Share = 320 / (320 + 300) = 320 / 620 = 51.6 percent. This is the study guide's try-it question for week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sharing is nested, so crops compete with each other first and cropland then competes with forest and pasture. The irrigated and rainfed split, plus high and low fertiliser, is where water and inputs enter the land system (Source: GCAM v8.2 documentation, Land page). Dedicated energy crops are absent from historical data and enter in future periods; the documentation does not state this directly, so check it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yield and energy content. The lesson is that bioenergy land scales directly with ambition and inversely with yield. Large mitigation scenarios can ask for tens of exajoules, so land becomes a real constraint. The widget lets students try other yields and amounts.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is the third kind of market after energy and land, and it clears by basin: the basin's water price is adjusted until demand fits the available supply. Cheap renewable water comes first, then costlier groundwater and desalination, so a modest rise in demand can trigger a big price jump. Six kinds of demand draw on it: agriculture, livestock, electricity generation, primary energy, manufacturing and municipal (Source: GCAM v8.2 documentation, Water Supply and Water Demand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region can contain several basins and a basin can span several regions. That is why the lab maps water on the basin map and energy on the region map. The study guide's trap: a region total can look fine while one basin inside it is stressed.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why the model is called integrated: GCAM solves all three systems together. Walk the cards in order with one example region. In the lab, the maps show where these pressures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are the study guide's traps and come up on quiz 2. The third repeats the week 7 lesson for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Map cropland by region and water withdrawals by basin with rmap, then open gcamdata and find which file holds solar's capacity factor.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rmap::map in full every time, because purrr also has a map function. str_replace_all swaps the hyphen in EU-12 and EU-15 for an underscore so the names match. rmap warns if any region fails to match. From this week scripts have gaps; solutions/lab9_solution.R is for the instructor. Since GCAM 8.1 Ukraine is its own region in place of the old Europe_Eastern; if rmap's 32-region map predates that, Ukraine shows as unmatched, so check before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mapGCAMBasins; typing rmap::mapGCAM and pressing Tab shows the candidates. If the column is not called basin on your server, names() on the query result shows what it is called. Expected: a world map cut into river basins, most pale and a few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outputs_of for the tech scenarios chunk lists solar_adv.xml from week 8 beside matching wind and nuclear files. Each student needs a personal gcamdata copy. Nothing is edited today; that comes in lab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solar. Close by naming the chain aloud: a number in a CSV file, a chunk, an XML file, a GCAM run. Lab 10 changes the first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Calculate profit per hectare and land shares for competing uses; Estimate the land needed for a given amount of bioenergy; Explain why water is balanced by river basin, not by region; Draw maps of GCAM results with rmap and find where an input file comes from in gcamdata. Ask students to rate themselves on each. Then point to next week: Week 10 adds emissions and policy: carbon prices, net-zero limits and carbon removal, and your first change inside gcamdata.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9 · Land, water and bioenergy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9 · Land, water and bioenergy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6.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6.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Land, water and bioenergy</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9 OF 15  ·  STAGE 2: GCAM IN DEPTH</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Why a climate policy ends up on the farm</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rmap for maps; first look inside gcamdata: how R turns source data into GCAM input files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9E4DF"/>
          </a:solidFill>
          <a:ln w="12700">
            <a:solidFill>
              <a:srgbClr val="C9E4DF"/>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C9E4DF"/>
          </a:solidFill>
          <a:ln w="12700">
            <a:solidFill>
              <a:srgbClr val="C9E4DF"/>
            </a:solidFill>
            <a:prstDash val="solid"/>
          </a:ln>
        </p:spPr>
      </p:sp>
      <p:sp>
        <p:nvSpPr>
          <p:cNvPr id="23" name="Text 20"/>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4" name="Text 21"/>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5" name="Text 22"/>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6" name="Text 23"/>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7" name="week tile"/>
          <p:cNvSpPr/>
          <p:nvPr/>
        </p:nvSpPr>
        <p:spPr>
          <a:xfrm>
            <a:off x="2468880" y="3108960"/>
            <a:ext cx="1414729" cy="1188720"/>
          </a:xfrm>
          <a:prstGeom prst="roundRect">
            <a:avLst>
              <a:gd name="adj" fmla="val 9231"/>
            </a:avLst>
          </a:prstGeom>
          <a:solidFill>
            <a:srgbClr val="C9E4DF"/>
          </a:solidFill>
          <a:ln w="12700">
            <a:solidFill>
              <a:srgbClr val="C9E4DF"/>
            </a:solidFill>
            <a:prstDash val="solid"/>
          </a:ln>
        </p:spPr>
      </p:sp>
      <p:sp>
        <p:nvSpPr>
          <p:cNvPr id="28" name="Text 25"/>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29" name="Text 26"/>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0" name="week tile"/>
          <p:cNvSpPr/>
          <p:nvPr/>
        </p:nvSpPr>
        <p:spPr>
          <a:xfrm>
            <a:off x="4020769" y="3108960"/>
            <a:ext cx="1414729" cy="1188720"/>
          </a:xfrm>
          <a:prstGeom prst="roundRect">
            <a:avLst>
              <a:gd name="adj" fmla="val 9231"/>
            </a:avLst>
          </a:prstGeom>
          <a:solidFill>
            <a:srgbClr val="C9E4DF"/>
          </a:solidFill>
          <a:ln w="12700">
            <a:solidFill>
              <a:srgbClr val="C9E4DF"/>
            </a:solidFill>
            <a:prstDash val="solid"/>
          </a:ln>
        </p:spPr>
      </p:sp>
      <p:sp>
        <p:nvSpPr>
          <p:cNvPr id="31" name="Text 28"/>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2" name="Text 29"/>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3" name="week tile"/>
          <p:cNvSpPr/>
          <p:nvPr/>
        </p:nvSpPr>
        <p:spPr>
          <a:xfrm>
            <a:off x="5572658" y="3108960"/>
            <a:ext cx="1414729" cy="1188720"/>
          </a:xfrm>
          <a:prstGeom prst="roundRect">
            <a:avLst>
              <a:gd name="adj" fmla="val 9231"/>
            </a:avLst>
          </a:prstGeom>
          <a:solidFill>
            <a:srgbClr val="C2410C"/>
          </a:solidFill>
          <a:ln w="12700">
            <a:solidFill>
              <a:srgbClr val="C2410C"/>
            </a:solidFill>
            <a:prstDash val="solid"/>
          </a:ln>
        </p:spPr>
      </p:sp>
      <p:sp>
        <p:nvSpPr>
          <p:cNvPr id="34" name="Text 31"/>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9</a:t>
            </a:r>
            <a:endParaRPr lang="en-US" sz="1200" dirty="0"/>
          </a:p>
        </p:txBody>
      </p:sp>
      <p:sp>
        <p:nvSpPr>
          <p:cNvPr id="35" name="Text 32"/>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Land, water and bioenergy</a:t>
            </a:r>
            <a:endParaRPr lang="en-US" sz="1400" dirty="0"/>
          </a:p>
        </p:txBody>
      </p:sp>
      <p:sp>
        <p:nvSpPr>
          <p:cNvPr id="36"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37" name="Shape 34"/>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38" name="Text 35"/>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39" name="Text 36"/>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0" name="Text 37"/>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1" name="Text 38"/>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2"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3" name="Shape 40"/>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4" name="Text 41"/>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5" name="Text 42"/>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46"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47" name="Shape 44"/>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48" name="Text 45"/>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49" name="Text 46"/>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0"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1" name="Shape 48"/>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2" name="Text 49"/>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3" name="Text 50"/>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4"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5" name="Shape 52"/>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56" name="Text 53"/>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57" name="Text 54"/>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58"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59" name="Shape 56"/>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0" name="Text 57"/>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1" name="Text 58"/>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Calculate profit per hectare and land shares for competing uses</a:t>
            </a:r>
            <a:endParaRPr lang="en-US" sz="19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Estimate the land needed for a given amount of bioenergy</a:t>
            </a:r>
            <a:endParaRPr lang="en-US" sz="19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Explain why water is balanced by river basin, not by region</a:t>
            </a:r>
            <a:endParaRPr lang="en-US" sz="19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Draw maps of GCAM results with rmap and find where an input file comes from in gcamdata</a:t>
            </a:r>
            <a:endParaRPr lang="en-US" sz="19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If we grow crops for energy, where does the land and water come from, and what gives way?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A carbon price reaches the countryside</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600" dirty="0">
                <a:solidFill>
                  <a:srgbClr val="C9D6DF"/>
                </a:solidFill>
                <a:latin typeface="Calibri" pitchFamily="34" charset="0"/>
                <a:ea typeface="Calibri" pitchFamily="34" charset="-122"/>
                <a:cs typeface="Calibri" pitchFamily="34" charset="-120"/>
              </a:rPr>
              <a:t>Put a price on carbon for power plants. Soon farmland gets more valuable, forests may grow, and some rivers start to run short.</a:t>
            </a:r>
            <a:endParaRPr lang="en-US" sz="26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can a policy aimed at power stations change what farmers plant?</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Land is rented to the highest bidders</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Imagine every patch of land is a flat for rent. A wheat farmer, a forester and an energy-crop grower all bid. Each can pay up to what the land earns them. The best payers win more flats, but never all of them, because soils, climates and habits differ.</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The bid is profit per hectare</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Higher profit wins more land, gradually</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Protected land is not for rent</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wheat or energy grass?</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Profit per hectare = (price − cost) × yield. Wheat: $200/t, cost $120/t, 3 t/ha. Grass: $60/t, cost $30/t, 10 t/ha.</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Wheat: (200 − 120) × 3 = 80 × 3 = $240 per ha</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Grass: (60 − 30) × 10 = 30 × 10 = $300 per ha</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Share by profit, exponent 1: total = 240 + 300 = 540</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Wheat: 240 ÷ 540 = 44%; grass: 300 ÷ 540 = 56%</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600" b="1" dirty="0">
                <a:solidFill>
                  <a:srgbClr val="12263A"/>
                </a:solidFill>
                <a:latin typeface="Cambria" pitchFamily="34" charset="0"/>
                <a:ea typeface="Cambria" pitchFamily="34" charset="-122"/>
                <a:cs typeface="Cambria" pitchFamily="34" charset="-120"/>
              </a:rPr>
              <a:t>Wheat 44%, energy grass 56% of the contested land</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2600" b="1" dirty="0">
                <a:solidFill>
                  <a:srgbClr val="12263A"/>
                </a:solidFill>
                <a:latin typeface="Cambria" pitchFamily="34" charset="0"/>
                <a:ea typeface="Cambria" pitchFamily="34" charset="-122"/>
                <a:cs typeface="Cambria" pitchFamily="34" charset="-120"/>
              </a:rPr>
              <a:t>A stronger exponent moves more land to the winner</a:t>
            </a:r>
            <a:endParaRPr lang="en-US" sz="26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Illustrative, computed from the share rule</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Exponent 3: 240³ = 13.8 million, 300³ = 27.0 million</a:t>
            </a:r>
            <a:endParaRPr lang="en-US" sz="19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Shares 34% and 66%</a:t>
            </a:r>
            <a:endParaRPr lang="en-US" sz="19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A carbon price raises grass profit, so it gains more</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Maize: $180/t, cost $100/t, yield 4 t/ha. Grass earns $300/ha. With exponent 1, what share goes to maize?</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37%</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48%</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52%</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60%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Maize: $180/t, cost $100/t, yield 4 t/ha. Grass earns $300/ha. With exponent 1, what share goes to maize?</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37%</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48%</a:t>
            </a:r>
            <a:endParaRPr lang="en-US" sz="2000" dirty="0"/>
          </a:p>
        </p:txBody>
      </p:sp>
      <p:sp>
        <p:nvSpPr>
          <p:cNvPr id="12" name="option"/>
          <p:cNvSpPr/>
          <p:nvPr/>
        </p:nvSpPr>
        <p:spPr>
          <a:xfrm>
            <a:off x="548640" y="4297680"/>
            <a:ext cx="5410048" cy="1325880"/>
          </a:xfrm>
          <a:prstGeom prst="roundRect">
            <a:avLst>
              <a:gd name="adj" fmla="val 8276"/>
            </a:avLst>
          </a:prstGeom>
          <a:solidFill>
            <a:srgbClr val="E7F5EC"/>
          </a:solidFill>
          <a:ln w="12700">
            <a:solidFill>
              <a:srgbClr val="E7F5EC"/>
            </a:solidFill>
            <a:prstDash val="solid"/>
          </a:ln>
        </p:spPr>
      </p:sp>
      <p:sp>
        <p:nvSpPr>
          <p:cNvPr id="13" name="number badge"/>
          <p:cNvSpPr txBox="1"/>
          <p:nvPr/>
        </p:nvSpPr>
        <p:spPr>
          <a:xfrm>
            <a:off x="822960" y="46863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About 52%</a:t>
            </a:r>
            <a:endParaRPr lang="en-US" sz="2000" dirty="0"/>
          </a:p>
        </p:txBody>
      </p:sp>
      <p:sp>
        <p:nvSpPr>
          <p:cNvPr id="15" name="icon circle"/>
          <p:cNvSpPr/>
          <p:nvPr/>
        </p:nvSpPr>
        <p:spPr>
          <a:xfrm>
            <a:off x="5364328" y="4434840"/>
            <a:ext cx="411480" cy="411480"/>
          </a:xfrm>
          <a:prstGeom prst="ellipse">
            <a:avLst/>
          </a:prstGeom>
          <a:solidFill>
            <a:srgbClr val="15803D"/>
          </a:solidFill>
          <a:ln w="12700">
            <a:solidFill>
              <a:srgbClr val="15803D"/>
            </a:solidFill>
            <a:prstDash val="solid"/>
          </a:ln>
        </p:spPr>
      </p:sp>
      <p:pic>
        <p:nvPicPr>
          <p:cNvPr id="16" name="icon" descr="preencoded.png">    </p:cNvPr>
          <p:cNvPicPr>
            <a:picLocks noChangeAspect="1"/>
          </p:cNvPicPr>
          <p:nvPr/>
        </p:nvPicPr>
        <p:blipFill>
          <a:blip r:embed="rId1"/>
          <a:stretch>
            <a:fillRect/>
          </a:stretch>
        </p:blipFill>
        <p:spPr>
          <a:xfrm>
            <a:off x="5471312" y="4541825"/>
            <a:ext cx="197510" cy="197510"/>
          </a:xfrm>
          <a:prstGeom prst="rect">
            <a:avLst/>
          </a:prstGeom>
        </p:spPr>
      </p:pic>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60%</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Land is shared in nested rounds</a:t>
            </a:r>
            <a:endParaRPr lang="en-US" sz="3200" dirty="0"/>
          </a:p>
        </p:txBody>
      </p:sp>
      <p:sp>
        <p:nvSpPr>
          <p:cNvPr id="5" name="step card"/>
          <p:cNvSpPr/>
          <p:nvPr/>
        </p:nvSpPr>
        <p:spPr>
          <a:xfrm>
            <a:off x="548640"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All land</a:t>
            </a:r>
            <a:endParaRPr lang="en-US" sz="2000" dirty="0"/>
          </a:p>
        </p:txBody>
      </p:sp>
      <p:sp>
        <p:nvSpPr>
          <p:cNvPr id="8" name="Text 5"/>
          <p:cNvSpPr txBox="1"/>
          <p:nvPr/>
        </p:nvSpPr>
        <p:spPr>
          <a:xfrm>
            <a:off x="777240"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Protected land is set aside first and stays put</a:t>
            </a:r>
            <a:endParaRPr lang="en-US" sz="1900" dirty="0"/>
          </a:p>
        </p:txBody>
      </p:sp>
      <p:sp>
        <p:nvSpPr>
          <p:cNvPr id="9" name="arrow"/>
          <p:cNvSpPr/>
          <p:nvPr/>
        </p:nvSpPr>
        <p:spPr>
          <a:xfrm>
            <a:off x="2958770"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3479978"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708578"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708578"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Big uses</a:t>
            </a:r>
            <a:endParaRPr lang="en-US" sz="2000" dirty="0"/>
          </a:p>
        </p:txBody>
      </p:sp>
      <p:sp>
        <p:nvSpPr>
          <p:cNvPr id="13" name="Text 10"/>
          <p:cNvSpPr txBox="1"/>
          <p:nvPr/>
        </p:nvSpPr>
        <p:spPr>
          <a:xfrm>
            <a:off x="3708578"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Cropland, forest, pasture and shrubland compete</a:t>
            </a:r>
            <a:endParaRPr lang="en-US" sz="1900" dirty="0"/>
          </a:p>
        </p:txBody>
      </p:sp>
      <p:sp>
        <p:nvSpPr>
          <p:cNvPr id="14" name="arrow"/>
          <p:cNvSpPr/>
          <p:nvPr/>
        </p:nvSpPr>
        <p:spPr>
          <a:xfrm>
            <a:off x="5890108"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6411316"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639916"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6639916"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Crops</a:t>
            </a:r>
            <a:endParaRPr lang="en-US" sz="2000" dirty="0"/>
          </a:p>
        </p:txBody>
      </p:sp>
      <p:sp>
        <p:nvSpPr>
          <p:cNvPr id="18" name="Text 15"/>
          <p:cNvSpPr txBox="1"/>
          <p:nvPr/>
        </p:nvSpPr>
        <p:spPr>
          <a:xfrm>
            <a:off x="6639916"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Wheat, maize, rice, energy crops and more compete</a:t>
            </a:r>
            <a:endParaRPr lang="en-US" sz="1900" dirty="0"/>
          </a:p>
        </p:txBody>
      </p:sp>
      <p:sp>
        <p:nvSpPr>
          <p:cNvPr id="19" name="arrow"/>
          <p:cNvSpPr/>
          <p:nvPr/>
        </p:nvSpPr>
        <p:spPr>
          <a:xfrm>
            <a:off x="8821445"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9342653" y="1691640"/>
            <a:ext cx="2300402" cy="3063240"/>
          </a:xfrm>
          <a:prstGeom prst="roundRect">
            <a:avLst>
              <a:gd name="adj" fmla="val 4770"/>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9571253"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9571253" y="2560320"/>
            <a:ext cx="1934642" cy="6858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Water use</a:t>
            </a:r>
            <a:endParaRPr lang="en-US" sz="2000" dirty="0"/>
          </a:p>
        </p:txBody>
      </p:sp>
      <p:sp>
        <p:nvSpPr>
          <p:cNvPr id="23" name="Text 20"/>
          <p:cNvSpPr txBox="1"/>
          <p:nvPr/>
        </p:nvSpPr>
        <p:spPr>
          <a:xfrm>
            <a:off x="9571253" y="3246120"/>
            <a:ext cx="1934642" cy="141732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Each crop splits into irrigated and rainfed</a:t>
            </a:r>
            <a:endParaRPr lang="en-US" sz="1900" dirty="0"/>
          </a:p>
        </p:txBody>
      </p:sp>
      <p:sp>
        <p:nvSpPr>
          <p:cNvPr id="24"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25" name="Text 22"/>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100" b="1" dirty="0">
                <a:solidFill>
                  <a:srgbClr val="0B5550"/>
                </a:solidFill>
                <a:latin typeface="Calibri" pitchFamily="34" charset="0"/>
                <a:ea typeface="Calibri" pitchFamily="34" charset="-122"/>
                <a:cs typeface="Calibri" pitchFamily="34" charset="-120"/>
              </a:rPr>
              <a:t>Land is solved in more than 300 land subregions. Energy crops appear only in future periods.</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land for 10 EJ of bioenergy</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How much land does 10 EJ a year of energy grass need? Yield 10 t/ha; energy content 18 GJ per tonne.</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Energy per hectare: 10 t × 18 GJ = 180 GJ per ha</a:t>
            </a:r>
            <a:endParaRPr lang="en-US" sz="21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10 EJ = 10 × 10^9 GJ</a:t>
            </a:r>
            <a:endParaRPr lang="en-US" sz="21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Land = 10 × 10^9 ÷ 180 = 55.6 million ha</a:t>
            </a:r>
            <a:endParaRPr lang="en-US" sz="21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Halve the yield to 5 t/ha: land doubles to 111 million ha</a:t>
            </a:r>
            <a:endParaRPr lang="en-US" sz="21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300" b="1" dirty="0">
                <a:solidFill>
                  <a:srgbClr val="12263A"/>
                </a:solidFill>
                <a:latin typeface="Cambria" pitchFamily="34" charset="0"/>
                <a:ea typeface="Cambria" pitchFamily="34" charset="-122"/>
                <a:cs typeface="Cambria" pitchFamily="34" charset="-120"/>
              </a:rPr>
              <a:t>About 56 million hectares at 10 t/ha, twice that at 5 t/ha</a:t>
            </a:r>
            <a:endParaRPr lang="en-US" sz="2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SIDE BY SIDE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Each river basin has a staircase of water supply</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698138"/>
                <a:gridCol w="3698138"/>
                <a:gridCol w="3698138"/>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Cost ($ per m³)</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Available</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12263A"/>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Renewable water (runoff)</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0.05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first 100 units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Groundwater (finite stock)</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0.20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next 15 units</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FFFFF"/>
                    </a:solidFill>
                  </a:tcPr>
                </a:tc>
              </a:tr>
              <a:tr h="457200">
                <a:tc>
                  <a:txBody>
                    <a:bodyPr/>
                    <a:lstStyle/>
                    <a:p>
                      <a:pPr indent="0" marL="0">
                        <a:buNone/>
                      </a:pPr>
                      <a:r>
                        <a:rPr lang="en-US" sz="1800" b="1" dirty="0">
                          <a:solidFill>
                            <a:srgbClr val="1F2933"/>
                          </a:solidFill>
                          <a:latin typeface="Calibri" pitchFamily="34" charset="0"/>
                          <a:ea typeface="Calibri" pitchFamily="34" charset="-122"/>
                          <a:cs typeface="Calibri" pitchFamily="34" charset="-120"/>
                        </a:rPr>
                        <a:t>Desalination</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1.00</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c>
                  <a:txBody>
                    <a:bodyPr/>
                    <a:lstStyle/>
                    <a:p>
                      <a:pPr indent="0" marL="0">
                        <a:buNone/>
                      </a:pPr>
                      <a:r>
                        <a:rPr lang="en-US" sz="1800" dirty="0">
                          <a:solidFill>
                            <a:srgbClr val="1F2933"/>
                          </a:solidFill>
                          <a:latin typeface="Calibri" pitchFamily="34" charset="0"/>
                          <a:ea typeface="Calibri" pitchFamily="34" charset="-122"/>
                          <a:cs typeface="Calibri" pitchFamily="34" charset="-120"/>
                        </a:rPr>
                        <a:t>anything beyond 115</a:t>
                      </a:r>
                      <a:endParaRPr lang="en-US" sz="1800" dirty="0">
                        <a:latin typeface="Calibri" charset="0"/>
                        <a:ea typeface="Calibri" charset="0"/>
                        <a:cs typeface="Calibri" charset="0"/>
                      </a:endParaRPr>
                    </a:p>
                  </a:txBody>
                  <a:tcPr marL="101600" marR="101600" marT="50800" marB="50800" anchor="ctr">
                    <a:lnL w="9525" cap="flat" cmpd="sng" algn="ctr">
                      <a:solidFill>
                        <a:srgbClr val="D5DDDB"/>
                      </a:solidFill>
                      <a:prstDash val="solid"/>
                      <a:round/>
                      <a:headEnd type="none" w="med" len="med"/>
                      <a:tailEnd type="none" w="med" len="med"/>
                    </a:lnL>
                    <a:lnR w="9525" cap="flat" cmpd="sng" algn="ctr">
                      <a:solidFill>
                        <a:srgbClr val="D5DDDB"/>
                      </a:solidFill>
                      <a:prstDash val="solid"/>
                      <a:round/>
                      <a:headEnd type="none" w="med" len="med"/>
                      <a:tailEnd type="none" w="med" len="med"/>
                    </a:lnR>
                    <a:lnT w="9525" cap="flat" cmpd="sng" algn="ctr">
                      <a:solidFill>
                        <a:srgbClr val="D5DDDB"/>
                      </a:solidFill>
                      <a:prstDash val="solid"/>
                      <a:round/>
                      <a:headEnd type="none" w="med" len="med"/>
                      <a:tailEnd type="none" w="med" len="med"/>
                    </a:lnT>
                    <a:lnB w="9525" cap="flat" cmpd="sng" algn="ctr">
                      <a:solidFill>
                        <a:srgbClr val="D5DDDB"/>
                      </a:solidFill>
                      <a:prstDash val="solid"/>
                      <a:round/>
                      <a:headEnd type="none" w="med" len="med"/>
                      <a:tailEnd type="none" w="med" len="med"/>
                    </a:lnB>
                    <a:solidFill>
                      <a:srgbClr val="F7FAF9"/>
                    </a:solidFill>
                  </a:tcPr>
                </a:tc>
              </a:tr>
            </a:tbl>
          </a:graphicData>
        </a:graphic>
      </p:graphicFrame>
      <p:sp>
        <p:nvSpPr>
          <p:cNvPr id="6" name="caption pill"/>
          <p:cNvSpPr/>
          <p:nvPr/>
        </p:nvSpPr>
        <p:spPr>
          <a:xfrm>
            <a:off x="548640" y="3703320"/>
            <a:ext cx="11094415" cy="640080"/>
          </a:xfrm>
          <a:prstGeom prst="roundRect">
            <a:avLst>
              <a:gd name="adj" fmla="val 17143"/>
            </a:avLst>
          </a:prstGeom>
          <a:solidFill>
            <a:srgbClr val="E6F2F0"/>
          </a:solidFill>
          <a:ln w="12700">
            <a:solidFill>
              <a:srgbClr val="E6F2F0"/>
            </a:solidFill>
            <a:prstDash val="solid"/>
          </a:ln>
        </p:spPr>
      </p:sp>
      <p:sp>
        <p:nvSpPr>
          <p:cNvPr id="7" name="icon circle"/>
          <p:cNvSpPr/>
          <p:nvPr/>
        </p:nvSpPr>
        <p:spPr>
          <a:xfrm>
            <a:off x="685800" y="3813048"/>
            <a:ext cx="420624" cy="420624"/>
          </a:xfrm>
          <a:prstGeom prst="ellipse">
            <a:avLst/>
          </a:prstGeom>
          <a:solidFill>
            <a:srgbClr val="0F766E"/>
          </a:solidFill>
          <a:ln w="12700">
            <a:solidFill>
              <a:srgbClr val="0F766E"/>
            </a:solidFill>
            <a:prstDash val="solid"/>
          </a:ln>
        </p:spPr>
      </p:sp>
      <p:pic>
        <p:nvPicPr>
          <p:cNvPr id="8" name="icon" descr="preencoded.png">    </p:cNvPr>
          <p:cNvPicPr>
            <a:picLocks noChangeAspect="1"/>
          </p:cNvPicPr>
          <p:nvPr/>
        </p:nvPicPr>
        <p:blipFill>
          <a:blip r:embed="rId1"/>
          <a:stretch>
            <a:fillRect/>
          </a:stretch>
        </p:blipFill>
        <p:spPr>
          <a:xfrm>
            <a:off x="795162" y="3922410"/>
            <a:ext cx="201900" cy="201900"/>
          </a:xfrm>
          <a:prstGeom prst="rect">
            <a:avLst/>
          </a:prstGeom>
        </p:spPr>
      </p:pic>
      <p:sp>
        <p:nvSpPr>
          <p:cNvPr id="9" name="Text 4"/>
          <p:cNvSpPr txBox="1"/>
          <p:nvPr/>
        </p:nvSpPr>
        <p:spPr>
          <a:xfrm>
            <a:off x="1280160" y="3703320"/>
            <a:ext cx="10180015" cy="640080"/>
          </a:xfrm>
          <a:prstGeom prst="rect">
            <a:avLst/>
          </a:prstGeom>
          <a:noFill/>
          <a:ln/>
        </p:spPr>
        <p:txBody>
          <a:bodyPr wrap="square" lIns="0" tIns="0" rIns="0" bIns="0" rtlCol="0" anchor="ctr"/>
          <a:lstStyle/>
          <a:p>
            <a:pPr indent="0" marL="0">
              <a:buNone/>
            </a:pPr>
            <a:r>
              <a:rPr lang="en-US" sz="1600" dirty="0">
                <a:solidFill>
                  <a:srgbClr val="0B5550"/>
                </a:solidFill>
                <a:latin typeface="Calibri" pitchFamily="34" charset="0"/>
                <a:ea typeface="Calibri" pitchFamily="34" charset="-122"/>
                <a:cs typeface="Calibri" pitchFamily="34" charset="-120"/>
              </a:rPr>
              <a:t>Demand 110 → price $0.20. Demand 125 → price $1.00. Illustrative numbers.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COMPARE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Why the map matters for water</a:t>
            </a:r>
            <a:endParaRPr lang="en-US" sz="3200" dirty="0"/>
          </a:p>
        </p:txBody>
      </p:sp>
      <p:sp>
        <p:nvSpPr>
          <p:cNvPr id="5" name="compare card"/>
          <p:cNvSpPr/>
          <p:nvPr/>
        </p:nvSpPr>
        <p:spPr>
          <a:xfrm>
            <a:off x="548640" y="1554480"/>
            <a:ext cx="5135728" cy="4526280"/>
          </a:xfrm>
          <a:prstGeom prst="roundRect">
            <a:avLst>
              <a:gd name="adj" fmla="val 2424"/>
            </a:avLst>
          </a:prstGeom>
          <a:solidFill>
            <a:srgbClr val="F7FAF9"/>
          </a:solidFill>
          <a:ln w="12700">
            <a:solidFill>
              <a:srgbClr val="F7FAF9"/>
            </a:solidFill>
            <a:prstDash val="solid"/>
          </a:ln>
        </p:spPr>
      </p:sp>
      <p:sp>
        <p:nvSpPr>
          <p:cNvPr id="6" name="Text 3"/>
          <p:cNvSpPr txBox="1"/>
          <p:nvPr/>
        </p:nvSpPr>
        <p:spPr>
          <a:xfrm>
            <a:off x="868680" y="1783080"/>
            <a:ext cx="4587088" cy="548640"/>
          </a:xfrm>
          <a:prstGeom prst="rect">
            <a:avLst/>
          </a:prstGeom>
          <a:noFill/>
          <a:ln/>
        </p:spPr>
        <p:txBody>
          <a:bodyPr wrap="square" lIns="0" tIns="0" rIns="0" bIns="0" rtlCol="0" anchor="t"/>
          <a:lstStyle/>
          <a:p>
            <a:pPr indent="0" marL="0">
              <a:buNone/>
            </a:pPr>
            <a:r>
              <a:rPr lang="en-US" sz="2200" b="1" dirty="0">
                <a:solidFill>
                  <a:srgbClr val="5B6875"/>
                </a:solidFill>
                <a:latin typeface="Cambria" pitchFamily="34" charset="0"/>
                <a:ea typeface="Cambria" pitchFamily="34" charset="-122"/>
                <a:cs typeface="Cambria" pitchFamily="34" charset="-120"/>
              </a:rPr>
              <a:t>Region view</a:t>
            </a:r>
            <a:endParaRPr lang="en-US" sz="2200" dirty="0"/>
          </a:p>
        </p:txBody>
      </p:sp>
      <p:sp>
        <p:nvSpPr>
          <p:cNvPr id="7" name="Text 4"/>
          <p:cNvSpPr txBox="1"/>
          <p:nvPr/>
        </p:nvSpPr>
        <p:spPr>
          <a:xfrm>
            <a:off x="868680"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One number for the whole region</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Can look comfortable on average</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Hides where the stress is</a:t>
            </a:r>
            <a:endParaRPr lang="en-US" sz="2400" dirty="0"/>
          </a:p>
        </p:txBody>
      </p:sp>
      <p:sp>
        <p:nvSpPr>
          <p:cNvPr id="8" name="compare card"/>
          <p:cNvSpPr/>
          <p:nvPr/>
        </p:nvSpPr>
        <p:spPr>
          <a:xfrm>
            <a:off x="6507328" y="1554480"/>
            <a:ext cx="5135728" cy="4526280"/>
          </a:xfrm>
          <a:prstGeom prst="roundRect">
            <a:avLst>
              <a:gd name="adj" fmla="val 2424"/>
            </a:avLst>
          </a:prstGeom>
          <a:solidFill>
            <a:srgbClr val="E6F2F0"/>
          </a:solidFill>
          <a:ln w="12700">
            <a:solidFill>
              <a:srgbClr val="E6F2F0"/>
            </a:solidFill>
            <a:prstDash val="solid"/>
          </a:ln>
        </p:spPr>
      </p:sp>
      <p:sp>
        <p:nvSpPr>
          <p:cNvPr id="9" name="Text 6"/>
          <p:cNvSpPr txBox="1"/>
          <p:nvPr/>
        </p:nvSpPr>
        <p:spPr>
          <a:xfrm>
            <a:off x="6827368" y="1783080"/>
            <a:ext cx="4587088" cy="548640"/>
          </a:xfrm>
          <a:prstGeom prst="rect">
            <a:avLst/>
          </a:prstGeom>
          <a:noFill/>
          <a:ln/>
        </p:spPr>
        <p:txBody>
          <a:bodyPr wrap="square" lIns="0" tIns="0" rIns="0" bIns="0" rtlCol="0" anchor="t"/>
          <a:lstStyle/>
          <a:p>
            <a:pPr indent="0" marL="0">
              <a:buNone/>
            </a:pPr>
            <a:r>
              <a:rPr lang="en-US" sz="2200" b="1" dirty="0">
                <a:solidFill>
                  <a:srgbClr val="0B5550"/>
                </a:solidFill>
                <a:latin typeface="Cambria" pitchFamily="34" charset="0"/>
                <a:ea typeface="Cambria" pitchFamily="34" charset="-122"/>
                <a:cs typeface="Cambria" pitchFamily="34" charset="-120"/>
              </a:rPr>
              <a:t>Basin view</a:t>
            </a:r>
            <a:endParaRPr lang="en-US" sz="2200" dirty="0"/>
          </a:p>
        </p:txBody>
      </p:sp>
      <p:sp>
        <p:nvSpPr>
          <p:cNvPr id="10" name="Text 7"/>
          <p:cNvSpPr txBox="1"/>
          <p:nvPr/>
        </p:nvSpPr>
        <p:spPr>
          <a:xfrm>
            <a:off x="6827368" y="2468880"/>
            <a:ext cx="4495648" cy="3429000"/>
          </a:xfrm>
          <a:prstGeom prst="rect">
            <a:avLst/>
          </a:prstGeom>
          <a:noFill/>
          <a:ln/>
        </p:spPr>
        <p:txBody>
          <a:bodyPr wrap="square" lIns="0" tIns="0" rIns="0" bIns="0" rtlCol="0" anchor="t"/>
          <a:lstStyle/>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One market per river basin</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A basin can cross borders</a:t>
            </a:r>
            <a:endParaRPr lang="en-US" sz="2400" dirty="0"/>
          </a:p>
          <a:p>
            <a:pPr marL="228600" indent="-228600">
              <a:spcAft>
                <a:spcPts val="1000"/>
              </a:spcAft>
              <a:buSzPct val="100000"/>
              <a:buChar char="•"/>
            </a:pPr>
            <a:r>
              <a:rPr lang="en-US" sz="2400" dirty="0">
                <a:solidFill>
                  <a:srgbClr val="1F2933"/>
                </a:solidFill>
                <a:latin typeface="Calibri" pitchFamily="34" charset="0"/>
                <a:ea typeface="Calibri" pitchFamily="34" charset="-122"/>
                <a:cs typeface="Calibri" pitchFamily="34" charset="-120"/>
              </a:rPr>
              <a:t>Shows the one dry basin carrying most withdrawals</a:t>
            </a:r>
            <a:endParaRPr lang="en-US" sz="2400" dirty="0"/>
          </a:p>
        </p:txBody>
      </p:sp>
      <p:sp>
        <p:nvSpPr>
          <p:cNvPr id="11" name="icon circle"/>
          <p:cNvSpPr/>
          <p:nvPr/>
        </p:nvSpPr>
        <p:spPr>
          <a:xfrm>
            <a:off x="5794096" y="3515868"/>
            <a:ext cx="603504" cy="603504"/>
          </a:xfrm>
          <a:prstGeom prst="ellipse">
            <a:avLst/>
          </a:prstGeom>
          <a:solidFill>
            <a:srgbClr val="C2410C"/>
          </a:solidFill>
          <a:ln w="12700">
            <a:solidFill>
              <a:srgbClr val="C2410C"/>
            </a:solidFill>
            <a:prstDash val="solid"/>
          </a:ln>
        </p:spPr>
      </p:sp>
      <p:pic>
        <p:nvPicPr>
          <p:cNvPr id="12" name="icon" descr="preencoded.png">    </p:cNvPr>
          <p:cNvPicPr>
            <a:picLocks noChangeAspect="1"/>
          </p:cNvPicPr>
          <p:nvPr/>
        </p:nvPicPr>
        <p:blipFill>
          <a:blip r:embed="rId1"/>
          <a:stretch>
            <a:fillRect/>
          </a:stretch>
        </p:blipFill>
        <p:spPr>
          <a:xfrm>
            <a:off x="5951007" y="3672779"/>
            <a:ext cx="289682" cy="28968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IDEA</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nexus: follow one carbon price</a:t>
            </a:r>
            <a:endParaRPr lang="en-US" sz="3200" dirty="0"/>
          </a:p>
        </p:txBody>
      </p:sp>
      <p:sp>
        <p:nvSpPr>
          <p:cNvPr id="5" name="idea card"/>
          <p:cNvSpPr/>
          <p:nvPr/>
        </p:nvSpPr>
        <p:spPr>
          <a:xfrm>
            <a:off x="548640"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2880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822960"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Energy → land</a:t>
            </a:r>
            <a:endParaRPr lang="en-US" sz="2100" dirty="0"/>
          </a:p>
        </p:txBody>
      </p:sp>
      <p:sp>
        <p:nvSpPr>
          <p:cNvPr id="8" name="Text 5"/>
          <p:cNvSpPr txBox="1"/>
          <p:nvPr/>
        </p:nvSpPr>
        <p:spPr>
          <a:xfrm>
            <a:off x="822960"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carbon price raises demand for bioenergy, so energy crops become more profitable.</a:t>
            </a:r>
            <a:endParaRPr lang="en-US" sz="2000" dirty="0"/>
          </a:p>
        </p:txBody>
      </p:sp>
      <p:sp>
        <p:nvSpPr>
          <p:cNvPr id="9" name="idea card"/>
          <p:cNvSpPr/>
          <p:nvPr/>
        </p:nvSpPr>
        <p:spPr>
          <a:xfrm>
            <a:off x="3390824"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3665144" y="18288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8"/>
          <p:cNvSpPr txBox="1"/>
          <p:nvPr/>
        </p:nvSpPr>
        <p:spPr>
          <a:xfrm>
            <a:off x="3665144"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Land shifts</a:t>
            </a:r>
            <a:endParaRPr lang="en-US" sz="2100" dirty="0"/>
          </a:p>
        </p:txBody>
      </p:sp>
      <p:sp>
        <p:nvSpPr>
          <p:cNvPr id="12" name="Text 9"/>
          <p:cNvSpPr txBox="1"/>
          <p:nvPr/>
        </p:nvSpPr>
        <p:spPr>
          <a:xfrm>
            <a:off x="3665144"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Energy crops take land from food, pasture or forest, and crop prices rise.</a:t>
            </a:r>
            <a:endParaRPr lang="en-US" sz="2000" dirty="0"/>
          </a:p>
        </p:txBody>
      </p:sp>
      <p:sp>
        <p:nvSpPr>
          <p:cNvPr id="13" name="idea card"/>
          <p:cNvSpPr/>
          <p:nvPr/>
        </p:nvSpPr>
        <p:spPr>
          <a:xfrm>
            <a:off x="6233008"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4" name="number badge"/>
          <p:cNvSpPr txBox="1"/>
          <p:nvPr/>
        </p:nvSpPr>
        <p:spPr>
          <a:xfrm>
            <a:off x="6507328" y="182880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6507328"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Land → water</a:t>
            </a:r>
            <a:endParaRPr lang="en-US" sz="2100" dirty="0"/>
          </a:p>
        </p:txBody>
      </p:sp>
      <p:sp>
        <p:nvSpPr>
          <p:cNvPr id="16" name="Text 13"/>
          <p:cNvSpPr txBox="1"/>
          <p:nvPr/>
        </p:nvSpPr>
        <p:spPr>
          <a:xfrm>
            <a:off x="6507328"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More irrigated crops raise withdrawals in some basins and push water prices up.</a:t>
            </a:r>
            <a:endParaRPr lang="en-US" sz="2000" dirty="0"/>
          </a:p>
        </p:txBody>
      </p:sp>
      <p:sp>
        <p:nvSpPr>
          <p:cNvPr id="17" name="idea card"/>
          <p:cNvSpPr/>
          <p:nvPr/>
        </p:nvSpPr>
        <p:spPr>
          <a:xfrm>
            <a:off x="9075191" y="1554480"/>
            <a:ext cx="2567864" cy="452628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9349511" y="1828800"/>
            <a:ext cx="548640" cy="548640"/>
          </a:xfrm>
          <a:prstGeom prst="ellipse">
            <a:avLst/>
          </a:prstGeom>
          <a:solidFill>
            <a:srgbClr val="D97706"/>
          </a:solidFill>
          <a:ln>
            <a:solidFill>
              <a:srgbClr val="D97706"/>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9349511" y="2560320"/>
            <a:ext cx="2019224" cy="777240"/>
          </a:xfrm>
          <a:prstGeom prst="rect">
            <a:avLst/>
          </a:prstGeom>
          <a:noFill/>
          <a:ln/>
        </p:spPr>
        <p:txBody>
          <a:bodyPr wrap="square" lIns="0" tIns="0" rIns="0" bIns="0" rtlCol="0" anchor="t"/>
          <a:lstStyle/>
          <a:p>
            <a:pPr indent="0" marL="0">
              <a:buNone/>
            </a:pPr>
            <a:r>
              <a:rPr lang="en-US" sz="2100" b="1" dirty="0">
                <a:solidFill>
                  <a:srgbClr val="12263A"/>
                </a:solidFill>
                <a:latin typeface="Cambria" pitchFamily="34" charset="0"/>
                <a:ea typeface="Cambria" pitchFamily="34" charset="-122"/>
                <a:cs typeface="Cambria" pitchFamily="34" charset="-120"/>
              </a:rPr>
              <a:t>Water → energy</a:t>
            </a:r>
            <a:endParaRPr lang="en-US" sz="2100" dirty="0"/>
          </a:p>
        </p:txBody>
      </p:sp>
      <p:sp>
        <p:nvSpPr>
          <p:cNvPr id="20" name="Text 17"/>
          <p:cNvSpPr txBox="1"/>
          <p:nvPr/>
        </p:nvSpPr>
        <p:spPr>
          <a:xfrm>
            <a:off x="9349511" y="3429000"/>
            <a:ext cx="2019224" cy="24231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Power plants need cooling water, and fertiliser and farm fuel need energy.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region has plenty of water, so no water problem</a:t>
            </a:r>
            <a:endParaRPr lang="en-US" sz="21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Water clears by basin. One basin inside the region can be badly stressed.</a:t>
            </a:r>
            <a:endParaRPr lang="en-US" sz="21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Bioenergy is free carbon removal</a:t>
            </a:r>
            <a:endParaRPr lang="en-US" sz="21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It uses land that could grow food or forest, plus water and fertiliser.</a:t>
            </a:r>
            <a:endParaRPr lang="en-US" sz="21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The most profitable crop takes all the land</a:t>
            </a:r>
            <a:endParaRPr lang="en-US" sz="21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100" dirty="0">
                <a:solidFill>
                  <a:srgbClr val="1F2933"/>
                </a:solidFill>
                <a:latin typeface="Calibri" pitchFamily="34" charset="0"/>
                <a:ea typeface="Calibri" pitchFamily="34" charset="-122"/>
                <a:cs typeface="Calibri" pitchFamily="34" charset="-120"/>
              </a:rPr>
              <a:t>Land shares follow a logit rule, so shares shift gradually.</a:t>
            </a:r>
            <a:endParaRPr lang="en-US" sz="2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Yield   </a:t>
            </a:r>
            <a:pPr indent="0" marL="0">
              <a:buNone/>
            </a:pPr>
            <a:r>
              <a:rPr lang="en-US" sz="2000" dirty="0">
                <a:solidFill>
                  <a:srgbClr val="1F2933"/>
                </a:solidFill>
                <a:latin typeface="Calibri" pitchFamily="34" charset="0"/>
                <a:ea typeface="Calibri" pitchFamily="34" charset="-122"/>
                <a:cs typeface="Calibri" pitchFamily="34" charset="-120"/>
              </a:rPr>
              <a:t>How much a crop produces per unit of land, for example 3 tonnes of wheat per hectare.</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Profit per hectare   </a:t>
            </a:r>
            <a:pPr indent="0" marL="0">
              <a:buNone/>
            </a:pPr>
            <a:r>
              <a:rPr lang="en-US" sz="2000" dirty="0">
                <a:solidFill>
                  <a:srgbClr val="1F2933"/>
                </a:solidFill>
                <a:latin typeface="Calibri" pitchFamily="34" charset="0"/>
                <a:ea typeface="Calibri" pitchFamily="34" charset="-122"/>
                <a:cs typeface="Calibri" pitchFamily="34" charset="-120"/>
              </a:rPr>
              <a:t>(Price − cost) × yield. The amount a land use earns on one hectare; GCAM shares land using it.</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River basin   </a:t>
            </a:r>
            <a:pPr indent="0" marL="0">
              <a:buNone/>
            </a:pPr>
            <a:r>
              <a:rPr lang="en-US" sz="2000" dirty="0">
                <a:solidFill>
                  <a:srgbClr val="1F2933"/>
                </a:solidFill>
                <a:latin typeface="Calibri" pitchFamily="34" charset="0"/>
                <a:ea typeface="Calibri" pitchFamily="34" charset="-122"/>
                <a:cs typeface="Calibri" pitchFamily="34" charset="-120"/>
              </a:rPr>
              <a:t>The area drained by one river system. GCAM balances water supply and demand basin by basin.</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Water withdrawal   </a:t>
            </a:r>
            <a:pPr indent="0" marL="0">
              <a:buNone/>
            </a:pPr>
            <a:r>
              <a:rPr lang="en-US" sz="2000" dirty="0">
                <a:solidFill>
                  <a:srgbClr val="1F2933"/>
                </a:solidFill>
                <a:latin typeface="Calibri" pitchFamily="34" charset="0"/>
                <a:ea typeface="Calibri" pitchFamily="34" charset="-122"/>
                <a:cs typeface="Calibri" pitchFamily="34" charset="-120"/>
              </a:rPr>
              <a:t>Water taken from a river, lake or aquifer. Part is returned; the part not returned is called consumption.</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Nexus   </a:t>
            </a:r>
            <a:pPr indent="0" marL="0">
              <a:buNone/>
            </a:pPr>
            <a:r>
              <a:rPr lang="en-US" sz="2000" dirty="0">
                <a:solidFill>
                  <a:srgbClr val="1F2933"/>
                </a:solidFill>
                <a:latin typeface="Calibri" pitchFamily="34" charset="0"/>
                <a:ea typeface="Calibri" pitchFamily="34" charset="-122"/>
                <a:cs typeface="Calibri" pitchFamily="34" charset="-120"/>
              </a:rPr>
              <a:t>The links between energy, water and land: a change in one system moves the other two.</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Lab 9: maps and a first look in gcamdata</a:t>
            </a:r>
            <a:endParaRPr lang="en-US" sz="3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300" dirty="0">
                <a:solidFill>
                  <a:srgbClr val="C9D6DF"/>
                </a:solidFill>
                <a:latin typeface="Calibri" pitchFamily="34" charset="0"/>
                <a:ea typeface="Calibri" pitchFamily="34" charset="-122"/>
                <a:cs typeface="Calibri" pitchFamily="34" charset="-120"/>
              </a:rPr>
              <a:t>Map cropland by region and water withdrawals by basin with rmap, then open gcamdata and find which file holds solar's capacity factor.</a:t>
            </a:r>
            <a:endParaRPr lang="en-US" sz="23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labs/lab9.R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Map cropland by region</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Add up cropland per region in 2050, then match GCAM's region names to the map's names.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prj &lt;- loadProject("output/gcam_course.dat")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crops &lt;- prj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getQuery("aggregated land allocation")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filter(scenario == "Reference", year == 2050,</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landleaf == "crops")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group_by(region)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summarise(value = sum(value)) |&gt;</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mutate(subRegion =</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str_replace_all(region, "-", "_"))</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rmap::map(crops, shape = rmap::mapGCAMReg32,</a:t>
            </a:r>
            <a:endParaRPr lang="en-US" sz="1800" dirty="0"/>
          </a:p>
          <a:p>
            <a:pPr indent="0" marL="0">
              <a:lnSpc>
                <a:spcPct val="100000"/>
              </a:lnSpc>
              <a:buNone/>
            </a:pPr>
            <a:r>
              <a:rPr lang="en-US" sz="1800" dirty="0">
                <a:solidFill>
                  <a:srgbClr val="E8EEF2"/>
                </a:solidFill>
                <a:latin typeface="Courier New" pitchFamily="34" charset="0"/>
                <a:ea typeface="Courier New" pitchFamily="34" charset="-122"/>
                <a:cs typeface="Courier New" pitchFamily="34" charset="-120"/>
              </a:rPr>
              <a:t>          save = FALSE)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Map water by river basin (gap 1)</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Turn GCAM's water resource names into basin names, then draw them on rmap's basin map. Fill the gap with the basin map's name.</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basin &lt;- prj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getQuery("water withdrawals by basin")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filter(scenario == "Reference", year == 2050)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mutate(subRegion = str_remove(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basin, "_water withdrawals"))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group_by(subRegion)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summarise(value = sum(value))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left_join(rmap::mapping_gcambasins,</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by = "subRegion") |&gt;</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select(subRegion = subRegionMap, value)</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rmap::map(basin, shape = rmap::___,  # basin map</a:t>
            </a:r>
            <a:endParaRPr lang="en-US" sz="1700" dirty="0"/>
          </a:p>
          <a:p>
            <a:pPr indent="0" marL="0">
              <a:lnSpc>
                <a:spcPct val="100000"/>
              </a:lnSpc>
              <a:buNone/>
            </a:pPr>
            <a:r>
              <a:rPr lang="en-US" sz="1700" dirty="0">
                <a:solidFill>
                  <a:srgbClr val="E8EEF2"/>
                </a:solidFill>
                <a:latin typeface="Courier New" pitchFamily="34" charset="0"/>
                <a:ea typeface="Courier New" pitchFamily="34" charset="-122"/>
                <a:cs typeface="Courier New" pitchFamily="34" charset="-120"/>
              </a:rPr>
              <a:t>          save = FALSE)</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Open gcamdata (read only)</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gcamdata is the R package that builds every GCAM input file. It is a chain of chunks; each lists what it reads and writes.</a:t>
            </a:r>
            <a:endParaRPr lang="en-US" sz="2000" dirty="0"/>
          </a:p>
        </p:txBody>
      </p:sp>
      <p:sp>
        <p:nvSpPr>
          <p:cNvPr id="7" name="code panel"/>
          <p:cNvSpPr/>
          <p:nvPr/>
        </p:nvSpPr>
        <p:spPr>
          <a:xfrm>
            <a:off x="548640" y="2738120"/>
            <a:ext cx="11094415" cy="2931160"/>
          </a:xfrm>
          <a:prstGeom prst="roundRect">
            <a:avLst>
              <a:gd name="adj" fmla="val 3744"/>
            </a:avLst>
          </a:prstGeom>
          <a:solidFill>
            <a:srgbClr val="1E2A36"/>
          </a:solidFill>
          <a:ln w="12700">
            <a:solidFill>
              <a:srgbClr val="1E2A36"/>
            </a:solidFill>
            <a:prstDash val="solid"/>
          </a:ln>
        </p:spPr>
      </p:sp>
      <p:sp>
        <p:nvSpPr>
          <p:cNvPr id="8" name="Text 5"/>
          <p:cNvSpPr txBox="1"/>
          <p:nvPr/>
        </p:nvSpPr>
        <p:spPr>
          <a:xfrm>
            <a:off x="868680" y="3012440"/>
            <a:ext cx="10545775" cy="2519680"/>
          </a:xfrm>
          <a:prstGeom prst="rect">
            <a:avLst/>
          </a:prstGeom>
          <a:noFill/>
          <a:ln/>
        </p:spPr>
        <p:txBody>
          <a:bodyPr wrap="square" lIns="0" tIns="0" rIns="0" bIns="0" rtlCol="0" anchor="t"/>
          <a:lstStyle/>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gcamdata_dir &lt;- path.expand("~/gcamdata")</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devtools::load_all(gcamdata_dir)</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chunks &lt;- find_chunks()</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count(chunks, module)</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inputs_of("module_energy_L223.electricity")</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outputs_of(</a:t>
            </a:r>
            <a:endParaRPr lang="en-US" sz="2300" dirty="0"/>
          </a:p>
          <a:p>
            <a:pPr indent="0" marL="0">
              <a:lnSpc>
                <a:spcPct val="100000"/>
              </a:lnSpc>
              <a:buNone/>
            </a:pPr>
            <a:r>
              <a:rPr lang="en-US" sz="2300" dirty="0">
                <a:solidFill>
                  <a:srgbClr val="E8EEF2"/>
                </a:solidFill>
                <a:latin typeface="Courier New" pitchFamily="34" charset="0"/>
                <a:ea typeface="Courier New" pitchFamily="34" charset="-122"/>
                <a:cs typeface="Courier New" pitchFamily="34" charset="-120"/>
              </a:rPr>
              <a:t>  "module_energy_elec_tech_scenarios_xml")</a:t>
            </a:r>
            <a:endParaRPr lang="en-US" sz="2300" dirty="0"/>
          </a:p>
        </p:txBody>
      </p:sp>
      <p:pic>
        <p:nvPicPr>
          <p:cNvPr id="9" name="tip icon" descr="preencoded.png">    </p:cNvPr>
          <p:cNvPicPr>
            <a:picLocks noChangeAspect="1"/>
          </p:cNvPicPr>
          <p:nvPr/>
        </p:nvPicPr>
        <p:blipFill>
          <a:blip r:embed="rId1"/>
          <a:stretch>
            <a:fillRect/>
          </a:stretch>
        </p:blipFill>
        <p:spPr>
          <a:xfrm>
            <a:off x="548640" y="5916168"/>
            <a:ext cx="329184" cy="329184"/>
          </a:xfrm>
          <a:prstGeom prst="rect">
            <a:avLst/>
          </a:prstGeom>
        </p:spPr>
      </p:pic>
      <p:sp>
        <p:nvSpPr>
          <p:cNvPr id="10" name="Text 6"/>
          <p:cNvSpPr txBox="1"/>
          <p:nvPr/>
        </p:nvSpPr>
        <p:spPr>
          <a:xfrm>
            <a:off x="1005840" y="5897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Find solar's capacity factor (gap 2)</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Read one assumption file. Lines starting with # are comments. Fill the gap with the subsector that holds the PV technology.</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cf &lt;- read_csv(file.path(gcamdata_dir,</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"inst/extdata/energy",</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"A23.globaltech_capacity_factor.csv"),</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comment =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filter(cf, subsector == "___")  # holds PV</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Fill each ___ gap before running that line. Stuck? The solution file has the complete version.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world map in 32 pieces with no unmatched-region warning</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basin map where a few basins stand out dark</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filter(cf, ...) shows the PV row with values by year</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three regions have the most cropland in 2050 under Reference?</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Pick a basin that is dark on your map. Why might a region total hide its stress?</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CSV file holds solar's capacity factor, and which chunk reads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Land goes to uses with higher profit per hectare, shared gradually by a logit rule</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Bioenergy land = energy wanted ÷ (yield × energy per tonne); low yields need much more land</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Water markets clear by river basin, priced by the most expensive source needed</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Energy, land and water are solved together: the nexus</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10</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Week 10 adds emissions and policy: carbon prices, net-zero limits and carbon removal, and your first change inside gcamdata.</a:t>
            </a:r>
            <a:endParaRPr lang="en-US" sz="15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9: try the land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rmap package guide; gcamdata overview; GCAM v8.2 documentation: Land, Water Supply, Water Demand, GCAM Data System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Land, water and bioenergy</dc:title>
  <dc:subject>Modelling Climate and Energy Futures</dc:subject>
  <dc:creator>IAM course team</dc:creator>
  <cp:lastModifiedBy>IAM course team</cp:lastModifiedBy>
  <cp:revision>1</cp:revision>
  <dcterms:created xsi:type="dcterms:W3CDTF">2026-10-22T18:53:47Z</dcterms:created>
  <dcterms:modified xsi:type="dcterms:W3CDTF">2026-10-22T18:53:47Z</dcterms:modified>
</cp:coreProperties>
</file>